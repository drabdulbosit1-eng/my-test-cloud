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  <p:sldMasterId id="2147483664" r:id="rId3"/>
    <p:sldMasterId id="2147483676" r:id="rId4"/>
    <p:sldMasterId id="2147483678" r:id="rId5"/>
    <p:sldMasterId id="2147483690" r:id="rId6"/>
    <p:sldMasterId id="2147483694" r:id="rId7"/>
    <p:sldMasterId id="2147483697" r:id="rId8"/>
    <p:sldMasterId id="2147483699" r:id="rId9"/>
    <p:sldMasterId id="2147483702" r:id="rId10"/>
    <p:sldMasterId id="2147483705" r:id="rId11"/>
    <p:sldMasterId id="2147483708" r:id="rId12"/>
    <p:sldMasterId id="2147483711" r:id="rId13"/>
    <p:sldMasterId id="2147483714" r:id="rId14"/>
    <p:sldMasterId id="2147483717" r:id="rId15"/>
    <p:sldMasterId id="2147483720" r:id="rId16"/>
    <p:sldMasterId id="2147483722" r:id="rId17"/>
    <p:sldMasterId id="2147483724" r:id="rId18"/>
    <p:sldMasterId id="2147483736" r:id="rId19"/>
    <p:sldMasterId id="2147483748" r:id="rId20"/>
    <p:sldMasterId id="2147483760" r:id="rId21"/>
    <p:sldMasterId id="2147483772" r:id="rId22"/>
    <p:sldMasterId id="2147483784" r:id="rId23"/>
    <p:sldMasterId id="2147483797" r:id="rId24"/>
    <p:sldMasterId id="2147483809" r:id="rId25"/>
    <p:sldMasterId id="2147483821" r:id="rId26"/>
    <p:sldMasterId id="2147483833" r:id="rId27"/>
    <p:sldMasterId id="2147483845" r:id="rId28"/>
    <p:sldMasterId id="2147483857" r:id="rId29"/>
  </p:sldMasterIdLst>
  <p:notesMasterIdLst>
    <p:notesMasterId r:id="rId77"/>
  </p:notesMasterIdLst>
  <p:sldIdLst>
    <p:sldId id="256" r:id="rId30"/>
    <p:sldId id="307" r:id="rId83"/>
    <p:sldId id="257" r:id="rId31"/>
    <p:sldId id="265" r:id="rId32"/>
    <p:sldId id="266" r:id="rId33"/>
    <p:sldId id="267" r:id="rId34"/>
    <p:sldId id="269" r:id="rId36"/>
    <p:sldId id="263" r:id="rId37"/>
    <p:sldId id="264" r:id="rId38"/>
    <p:sldId id="260" r:id="rId39"/>
    <p:sldId id="261" r:id="rId40"/>
    <p:sldId id="262" r:id="rId41"/>
    <p:sldId id="308" r:id="rId84"/>
    <p:sldId id="258" r:id="rId42"/>
    <p:sldId id="259" r:id="rId44"/>
    <p:sldId id="270" r:id="rId45"/>
    <p:sldId id="271" r:id="rId46"/>
    <p:sldId id="272" r:id="rId47"/>
    <p:sldId id="309" r:id="rId85"/>
    <p:sldId id="304" r:id="rId43"/>
    <p:sldId id="273" r:id="rId48"/>
    <p:sldId id="274" r:id="rId49"/>
    <p:sldId id="275" r:id="rId50"/>
    <p:sldId id="276" r:id="rId51"/>
    <p:sldId id="277" r:id="rId52"/>
    <p:sldId id="278" r:id="rId53"/>
    <p:sldId id="280" r:id="rId55"/>
    <p:sldId id="281" r:id="rId56"/>
    <p:sldId id="279" r:id="rId54"/>
    <p:sldId id="286" r:id="rId60"/>
    <p:sldId id="287" r:id="rId61"/>
    <p:sldId id="288" r:id="rId62"/>
    <p:sldId id="283" r:id="rId57"/>
    <p:sldId id="305" r:id="rId58"/>
    <p:sldId id="284" r:id="rId59"/>
    <p:sldId id="302" r:id="rId63"/>
    <p:sldId id="289" r:id="rId64"/>
    <p:sldId id="290" r:id="rId65"/>
    <p:sldId id="310" r:id="rId86"/>
    <p:sldId id="311" r:id="rId87"/>
    <p:sldId id="312" r:id="rId88"/>
    <p:sldId id="297" r:id="rId66"/>
    <p:sldId id="298" r:id="rId67"/>
    <p:sldId id="299" r:id="rId68"/>
    <p:sldId id="300" r:id="rId69"/>
    <p:sldId id="291" r:id="rId70"/>
    <p:sldId id="306" r:id="rId71"/>
    <p:sldId id="294" r:id="rId76"/>
    <p:sldId id="293" r:id="rId74"/>
    <p:sldId id="295" r:id="rId75"/>
    <p:sldId id="292" r:id="rId73"/>
    <p:sldId id="282" r:id="rId72"/>
    <p:sldId id="26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48855" autoAdjust="0"/>
  </p:normalViewPr>
  <p:slideViewPr>
    <p:cSldViewPr snapToGrid="0" snapToObjects="1">
      <p:cViewPr>
        <p:scale>
          <a:sx n="66" d="100"/>
          <a:sy n="66" d="100"/>
        </p:scale>
        <p:origin x="1483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Master" Target="slideMasters/slideMaster7.xml"/><Relationship Id="rId8" Type="http://schemas.openxmlformats.org/officeDocument/2006/relationships/slideMaster" Target="slideMasters/slideMaster8.xml"/><Relationship Id="rId9" Type="http://schemas.openxmlformats.org/officeDocument/2006/relationships/slideMaster" Target="slideMasters/slideMaster9.xml"/><Relationship Id="rId10" Type="http://schemas.openxmlformats.org/officeDocument/2006/relationships/slideMaster" Target="slideMasters/slideMaster10.xml"/><Relationship Id="rId11" Type="http://schemas.openxmlformats.org/officeDocument/2006/relationships/slideMaster" Target="slideMasters/slideMaster11.xml"/><Relationship Id="rId12" Type="http://schemas.openxmlformats.org/officeDocument/2006/relationships/slideMaster" Target="slideMasters/slideMaster12.xml"/><Relationship Id="rId13" Type="http://schemas.openxmlformats.org/officeDocument/2006/relationships/slideMaster" Target="slideMasters/slideMaster13.xml"/><Relationship Id="rId14" Type="http://schemas.openxmlformats.org/officeDocument/2006/relationships/slideMaster" Target="slideMasters/slideMaster14.xml"/><Relationship Id="rId15" Type="http://schemas.openxmlformats.org/officeDocument/2006/relationships/slideMaster" Target="slideMasters/slideMaster15.xml"/><Relationship Id="rId16" Type="http://schemas.openxmlformats.org/officeDocument/2006/relationships/slideMaster" Target="slideMasters/slideMaster16.xml"/><Relationship Id="rId17" Type="http://schemas.openxmlformats.org/officeDocument/2006/relationships/slideMaster" Target="slideMasters/slideMaster17.xml"/><Relationship Id="rId18" Type="http://schemas.openxmlformats.org/officeDocument/2006/relationships/slideMaster" Target="slideMasters/slideMaster18.xml"/><Relationship Id="rId19" Type="http://schemas.openxmlformats.org/officeDocument/2006/relationships/slideMaster" Target="slideMasters/slideMaster19.xml"/><Relationship Id="rId20" Type="http://schemas.openxmlformats.org/officeDocument/2006/relationships/slideMaster" Target="slideMasters/slideMaster20.xml"/><Relationship Id="rId21" Type="http://schemas.openxmlformats.org/officeDocument/2006/relationships/slideMaster" Target="slideMasters/slideMaster21.xml"/><Relationship Id="rId22" Type="http://schemas.openxmlformats.org/officeDocument/2006/relationships/slideMaster" Target="slideMasters/slideMaster22.xml"/><Relationship Id="rId23" Type="http://schemas.openxmlformats.org/officeDocument/2006/relationships/slideMaster" Target="slideMasters/slideMaster23.xml"/><Relationship Id="rId24" Type="http://schemas.openxmlformats.org/officeDocument/2006/relationships/slideMaster" Target="slideMasters/slideMaster24.xml"/><Relationship Id="rId25" Type="http://schemas.openxmlformats.org/officeDocument/2006/relationships/slideMaster" Target="slideMasters/slideMaster25.xml"/><Relationship Id="rId26" Type="http://schemas.openxmlformats.org/officeDocument/2006/relationships/slideMaster" Target="slideMasters/slideMaster26.xml"/><Relationship Id="rId27" Type="http://schemas.openxmlformats.org/officeDocument/2006/relationships/slideMaster" Target="slideMasters/slideMaster27.xml"/><Relationship Id="rId28" Type="http://schemas.openxmlformats.org/officeDocument/2006/relationships/slideMaster" Target="slideMasters/slideMaster28.xml"/><Relationship Id="rId29" Type="http://schemas.openxmlformats.org/officeDocument/2006/relationships/slideMaster" Target="slideMasters/slideMaster29.xml"/><Relationship Id="rId30" Type="http://schemas.openxmlformats.org/officeDocument/2006/relationships/slide" Target="slides/slide1.xml"/><Relationship Id="rId31" Type="http://schemas.openxmlformats.org/officeDocument/2006/relationships/slide" Target="slides/slide2.xml"/><Relationship Id="rId32" Type="http://schemas.openxmlformats.org/officeDocument/2006/relationships/slide" Target="slides/slide3.xml"/><Relationship Id="rId33" Type="http://schemas.openxmlformats.org/officeDocument/2006/relationships/slide" Target="slides/slide4.xml"/><Relationship Id="rId34" Type="http://schemas.openxmlformats.org/officeDocument/2006/relationships/slide" Target="slides/slide5.xml"/><Relationship Id="rId35" Type="http://schemas.openxmlformats.org/officeDocument/2006/relationships/slide" Target="slides/slide6.xml"/><Relationship Id="rId36" Type="http://schemas.openxmlformats.org/officeDocument/2006/relationships/slide" Target="slides/slide7.xml"/><Relationship Id="rId37" Type="http://schemas.openxmlformats.org/officeDocument/2006/relationships/slide" Target="slides/slide8.xml"/><Relationship Id="rId38" Type="http://schemas.openxmlformats.org/officeDocument/2006/relationships/slide" Target="slides/slide9.xml"/><Relationship Id="rId39" Type="http://schemas.openxmlformats.org/officeDocument/2006/relationships/slide" Target="slides/slide10.xml"/><Relationship Id="rId40" Type="http://schemas.openxmlformats.org/officeDocument/2006/relationships/slide" Target="slides/slide11.xml"/><Relationship Id="rId41" Type="http://schemas.openxmlformats.org/officeDocument/2006/relationships/slide" Target="slides/slide12.xml"/><Relationship Id="rId42" Type="http://schemas.openxmlformats.org/officeDocument/2006/relationships/slide" Target="slides/slide13.xml"/><Relationship Id="rId43" Type="http://schemas.openxmlformats.org/officeDocument/2006/relationships/slide" Target="slides/slide14.xml"/><Relationship Id="rId44" Type="http://schemas.openxmlformats.org/officeDocument/2006/relationships/slide" Target="slides/slide15.xml"/><Relationship Id="rId45" Type="http://schemas.openxmlformats.org/officeDocument/2006/relationships/slide" Target="slides/slide16.xml"/><Relationship Id="rId46" Type="http://schemas.openxmlformats.org/officeDocument/2006/relationships/slide" Target="slides/slide17.xml"/><Relationship Id="rId47" Type="http://schemas.openxmlformats.org/officeDocument/2006/relationships/slide" Target="slides/slide18.xml"/><Relationship Id="rId48" Type="http://schemas.openxmlformats.org/officeDocument/2006/relationships/slide" Target="slides/slide19.xml"/><Relationship Id="rId49" Type="http://schemas.openxmlformats.org/officeDocument/2006/relationships/slide" Target="slides/slide20.xml"/><Relationship Id="rId50" Type="http://schemas.openxmlformats.org/officeDocument/2006/relationships/slide" Target="slides/slide21.xml"/><Relationship Id="rId51" Type="http://schemas.openxmlformats.org/officeDocument/2006/relationships/slide" Target="slides/slide22.xml"/><Relationship Id="rId52" Type="http://schemas.openxmlformats.org/officeDocument/2006/relationships/slide" Target="slides/slide23.xml"/><Relationship Id="rId53" Type="http://schemas.openxmlformats.org/officeDocument/2006/relationships/slide" Target="slides/slide24.xml"/><Relationship Id="rId54" Type="http://schemas.openxmlformats.org/officeDocument/2006/relationships/slide" Target="slides/slide25.xml"/><Relationship Id="rId55" Type="http://schemas.openxmlformats.org/officeDocument/2006/relationships/slide" Target="slides/slide26.xml"/><Relationship Id="rId56" Type="http://schemas.openxmlformats.org/officeDocument/2006/relationships/slide" Target="slides/slide27.xml"/><Relationship Id="rId57" Type="http://schemas.openxmlformats.org/officeDocument/2006/relationships/slide" Target="slides/slide28.xml"/><Relationship Id="rId58" Type="http://schemas.openxmlformats.org/officeDocument/2006/relationships/slide" Target="slides/slide29.xml"/><Relationship Id="rId59" Type="http://schemas.openxmlformats.org/officeDocument/2006/relationships/slide" Target="slides/slide30.xml"/><Relationship Id="rId60" Type="http://schemas.openxmlformats.org/officeDocument/2006/relationships/slide" Target="slides/slide31.xml"/><Relationship Id="rId61" Type="http://schemas.openxmlformats.org/officeDocument/2006/relationships/slide" Target="slides/slide32.xml"/><Relationship Id="rId62" Type="http://schemas.openxmlformats.org/officeDocument/2006/relationships/slide" Target="slides/slide33.xml"/><Relationship Id="rId63" Type="http://schemas.openxmlformats.org/officeDocument/2006/relationships/slide" Target="slides/slide34.xml"/><Relationship Id="rId64" Type="http://schemas.openxmlformats.org/officeDocument/2006/relationships/slide" Target="slides/slide35.xml"/><Relationship Id="rId65" Type="http://schemas.openxmlformats.org/officeDocument/2006/relationships/slide" Target="slides/slide36.xml"/><Relationship Id="rId66" Type="http://schemas.openxmlformats.org/officeDocument/2006/relationships/slide" Target="slides/slide37.xml"/><Relationship Id="rId67" Type="http://schemas.openxmlformats.org/officeDocument/2006/relationships/slide" Target="slides/slide38.xml"/><Relationship Id="rId68" Type="http://schemas.openxmlformats.org/officeDocument/2006/relationships/slide" Target="slides/slide39.xml"/><Relationship Id="rId69" Type="http://schemas.openxmlformats.org/officeDocument/2006/relationships/slide" Target="slides/slide40.xml"/><Relationship Id="rId70" Type="http://schemas.openxmlformats.org/officeDocument/2006/relationships/slide" Target="slides/slide41.xml"/><Relationship Id="rId71" Type="http://schemas.openxmlformats.org/officeDocument/2006/relationships/slide" Target="slides/slide42.xml"/><Relationship Id="rId72" Type="http://schemas.openxmlformats.org/officeDocument/2006/relationships/slide" Target="slides/slide43.xml"/><Relationship Id="rId73" Type="http://schemas.openxmlformats.org/officeDocument/2006/relationships/slide" Target="slides/slide44.xml"/><Relationship Id="rId74" Type="http://schemas.openxmlformats.org/officeDocument/2006/relationships/slide" Target="slides/slide45.xml"/><Relationship Id="rId75" Type="http://schemas.openxmlformats.org/officeDocument/2006/relationships/slide" Target="slides/slide46.xml"/><Relationship Id="rId76" Type="http://schemas.openxmlformats.org/officeDocument/2006/relationships/slide" Target="slides/slide47.xml"/><Relationship Id="rId77" Type="http://schemas.openxmlformats.org/officeDocument/2006/relationships/notesMaster" Target="notesMasters/notesMaster1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microsoft.com/office/2016/11/relationships/changesInfo" Target="changesInfos/changesInfo1.xml"/><Relationship Id="rId83" Type="http://schemas.openxmlformats.org/officeDocument/2006/relationships/slide" Target="slides/slide48.xml"/><Relationship Id="rId84" Type="http://schemas.openxmlformats.org/officeDocument/2006/relationships/slide" Target="slides/slide49.xml"/><Relationship Id="rId85" Type="http://schemas.openxmlformats.org/officeDocument/2006/relationships/slide" Target="slides/slide50.xml"/><Relationship Id="rId86" Type="http://schemas.openxmlformats.org/officeDocument/2006/relationships/slide" Target="slides/slide51.xml"/><Relationship Id="rId87" Type="http://schemas.openxmlformats.org/officeDocument/2006/relationships/slide" Target="slides/slide52.xml"/><Relationship Id="rId88" Type="http://schemas.openxmlformats.org/officeDocument/2006/relationships/slide" Target="slides/slide5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dina Siddikova" userId="c170bc8eab85294e" providerId="LiveId" clId="{168800AB-69B9-4C35-943D-E13185F69300}"/>
    <pc:docChg chg="custSel delMainMaster">
      <pc:chgData name="Odina Siddikova" userId="c170bc8eab85294e" providerId="LiveId" clId="{168800AB-69B9-4C35-943D-E13185F69300}" dt="2026-09-27T19:35:51.054" v="13" actId="2696"/>
      <pc:docMkLst>
        <pc:docMk/>
      </pc:docMkLst>
      <pc:sldMasterChg chg="del delSldLayout">
        <pc:chgData name="Odina Siddikova" userId="c170bc8eab85294e" providerId="LiveId" clId="{168800AB-69B9-4C35-943D-E13185F69300}" dt="2026-09-27T19:35:51.054" v="1" actId="2696"/>
        <pc:sldMasterMkLst>
          <pc:docMk/>
          <pc:sldMasterMk cId="0" sldId="2147483702"/>
        </pc:sldMasterMkLst>
        <pc:sldLayoutChg chg="del">
          <pc:chgData name="Odina Siddikova" userId="c170bc8eab85294e" providerId="LiveId" clId="{168800AB-69B9-4C35-943D-E13185F69300}" dt="2026-09-27T19:35:51.054" v="0" actId="2696"/>
          <pc:sldLayoutMkLst>
            <pc:docMk/>
            <pc:sldMasterMk cId="0" sldId="2147483702"/>
            <pc:sldLayoutMk cId="0" sldId="2147483703"/>
          </pc:sldLayoutMkLst>
        </pc:sldLayoutChg>
      </pc:sldMasterChg>
      <pc:sldMasterChg chg="del delSldLayout">
        <pc:chgData name="Odina Siddikova" userId="c170bc8eab85294e" providerId="LiveId" clId="{168800AB-69B9-4C35-943D-E13185F69300}" dt="2026-09-27T19:35:51.054" v="13" actId="2696"/>
        <pc:sldMasterMkLst>
          <pc:docMk/>
          <pc:sldMasterMk cId="0" sldId="2147483704"/>
        </pc:sldMasterMkLst>
        <pc:sldLayoutChg chg="del">
          <pc:chgData name="Odina Siddikova" userId="c170bc8eab85294e" providerId="LiveId" clId="{168800AB-69B9-4C35-943D-E13185F69300}" dt="2026-09-27T19:35:51.054" v="2" actId="2696"/>
          <pc:sldLayoutMkLst>
            <pc:docMk/>
            <pc:sldMasterMk cId="0" sldId="2147483704"/>
            <pc:sldLayoutMk cId="0" sldId="2147483705"/>
          </pc:sldLayoutMkLst>
        </pc:sldLayoutChg>
        <pc:sldLayoutChg chg="del">
          <pc:chgData name="Odina Siddikova" userId="c170bc8eab85294e" providerId="LiveId" clId="{168800AB-69B9-4C35-943D-E13185F69300}" dt="2026-09-27T19:35:51.054" v="3" actId="2696"/>
          <pc:sldLayoutMkLst>
            <pc:docMk/>
            <pc:sldMasterMk cId="0" sldId="2147483704"/>
            <pc:sldLayoutMk cId="0" sldId="2147483706"/>
          </pc:sldLayoutMkLst>
        </pc:sldLayoutChg>
        <pc:sldLayoutChg chg="del">
          <pc:chgData name="Odina Siddikova" userId="c170bc8eab85294e" providerId="LiveId" clId="{168800AB-69B9-4C35-943D-E13185F69300}" dt="2026-09-27T19:35:51.054" v="4" actId="2696"/>
          <pc:sldLayoutMkLst>
            <pc:docMk/>
            <pc:sldMasterMk cId="0" sldId="2147483704"/>
            <pc:sldLayoutMk cId="0" sldId="2147483707"/>
          </pc:sldLayoutMkLst>
        </pc:sldLayoutChg>
        <pc:sldLayoutChg chg="del">
          <pc:chgData name="Odina Siddikova" userId="c170bc8eab85294e" providerId="LiveId" clId="{168800AB-69B9-4C35-943D-E13185F69300}" dt="2026-09-27T19:35:51.054" v="5" actId="2696"/>
          <pc:sldLayoutMkLst>
            <pc:docMk/>
            <pc:sldMasterMk cId="0" sldId="2147483704"/>
            <pc:sldLayoutMk cId="0" sldId="2147483708"/>
          </pc:sldLayoutMkLst>
        </pc:sldLayoutChg>
        <pc:sldLayoutChg chg="del">
          <pc:chgData name="Odina Siddikova" userId="c170bc8eab85294e" providerId="LiveId" clId="{168800AB-69B9-4C35-943D-E13185F69300}" dt="2026-09-27T19:35:51.054" v="6" actId="2696"/>
          <pc:sldLayoutMkLst>
            <pc:docMk/>
            <pc:sldMasterMk cId="0" sldId="2147483704"/>
            <pc:sldLayoutMk cId="0" sldId="2147483709"/>
          </pc:sldLayoutMkLst>
        </pc:sldLayoutChg>
        <pc:sldLayoutChg chg="del">
          <pc:chgData name="Odina Siddikova" userId="c170bc8eab85294e" providerId="LiveId" clId="{168800AB-69B9-4C35-943D-E13185F69300}" dt="2026-09-27T19:35:51.054" v="7" actId="2696"/>
          <pc:sldLayoutMkLst>
            <pc:docMk/>
            <pc:sldMasterMk cId="0" sldId="2147483704"/>
            <pc:sldLayoutMk cId="0" sldId="2147483710"/>
          </pc:sldLayoutMkLst>
        </pc:sldLayoutChg>
        <pc:sldLayoutChg chg="del">
          <pc:chgData name="Odina Siddikova" userId="c170bc8eab85294e" providerId="LiveId" clId="{168800AB-69B9-4C35-943D-E13185F69300}" dt="2026-09-27T19:35:51.054" v="8" actId="2696"/>
          <pc:sldLayoutMkLst>
            <pc:docMk/>
            <pc:sldMasterMk cId="0" sldId="2147483704"/>
            <pc:sldLayoutMk cId="0" sldId="2147483711"/>
          </pc:sldLayoutMkLst>
        </pc:sldLayoutChg>
        <pc:sldLayoutChg chg="del">
          <pc:chgData name="Odina Siddikova" userId="c170bc8eab85294e" providerId="LiveId" clId="{168800AB-69B9-4C35-943D-E13185F69300}" dt="2026-09-27T19:35:51.054" v="9" actId="2696"/>
          <pc:sldLayoutMkLst>
            <pc:docMk/>
            <pc:sldMasterMk cId="0" sldId="2147483704"/>
            <pc:sldLayoutMk cId="0" sldId="2147483712"/>
          </pc:sldLayoutMkLst>
        </pc:sldLayoutChg>
        <pc:sldLayoutChg chg="del">
          <pc:chgData name="Odina Siddikova" userId="c170bc8eab85294e" providerId="LiveId" clId="{168800AB-69B9-4C35-943D-E13185F69300}" dt="2026-09-27T19:35:51.054" v="10" actId="2696"/>
          <pc:sldLayoutMkLst>
            <pc:docMk/>
            <pc:sldMasterMk cId="0" sldId="2147483704"/>
            <pc:sldLayoutMk cId="0" sldId="2147483713"/>
          </pc:sldLayoutMkLst>
        </pc:sldLayoutChg>
        <pc:sldLayoutChg chg="del">
          <pc:chgData name="Odina Siddikova" userId="c170bc8eab85294e" providerId="LiveId" clId="{168800AB-69B9-4C35-943D-E13185F69300}" dt="2026-09-27T19:35:51.054" v="11" actId="2696"/>
          <pc:sldLayoutMkLst>
            <pc:docMk/>
            <pc:sldMasterMk cId="0" sldId="2147483704"/>
            <pc:sldLayoutMk cId="0" sldId="2147483714"/>
          </pc:sldLayoutMkLst>
        </pc:sldLayoutChg>
        <pc:sldLayoutChg chg="del">
          <pc:chgData name="Odina Siddikova" userId="c170bc8eab85294e" providerId="LiveId" clId="{168800AB-69B9-4C35-943D-E13185F69300}" dt="2026-09-27T19:35:51.054" v="12" actId="2696"/>
          <pc:sldLayoutMkLst>
            <pc:docMk/>
            <pc:sldMasterMk cId="0" sldId="2147483704"/>
            <pc:sldLayoutMk cId="0" sldId="2147483715"/>
          </pc:sldLayoutMkLst>
        </pc:sldLayoutChg>
      </pc:sldMaster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Доля пациентов с первичным исходом*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Первичный исход</c:v>
          </c:tx>
          <c:spPr>
            <a:solidFill>
              <a:srgbClr val="0F9ED5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7F7F7F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4EBF-42D9-9591-CDE6B4EB1403}"/>
              </c:ext>
            </c:extLst>
          </c:dPt>
          <c:dPt>
            <c:idx val="1"/>
            <c:invertIfNegative val="0"/>
            <c:bubble3D val="0"/>
            <c:spPr>
              <a:solidFill>
                <a:srgbClr val="0F9ED5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4EBF-42D9-9591-CDE6B4EB140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00000"/>
                        </a:solidFill>
                        <a:latin typeface="Arial Narrow"/>
                        <a:ea typeface="Calibri"/>
                        <a:cs typeface="Calibri"/>
                      </a:rPr>
                      <a:t>15,5%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EBF-42D9-9591-CDE6B4EB140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000000"/>
                        </a:solidFill>
                        <a:latin typeface="Arial Narrow"/>
                        <a:ea typeface="Calibri"/>
                        <a:cs typeface="Calibri"/>
                      </a:rPr>
                      <a:t>11,1%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EBF-42D9-9591-CDE6B4EB140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Плацебо
340 из 2199</c:v>
                </c:pt>
                <c:pt idx="1">
                  <c:v>Канаглифлозин
245 из 2202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0.15461573442500001</c:v>
                </c:pt>
                <c:pt idx="1">
                  <c:v>0.111262488647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4EBF-42D9-9591-CDE6B4EB140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0E4"/>
            </a:solidFill>
          </a:ln>
        </c:spPr>
        <c:txPr>
          <a:bodyPr anchorCtr="1"/>
          <a:lstStyle/>
          <a:p>
            <a:pPr>
              <a:defRPr sz="1600">
                <a:solidFill>
                  <a:srgbClr val="292F33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2"/>
          <c:min val="0"/>
        </c:scaling>
        <c:delete val="0"/>
        <c:axPos val="l"/>
        <c:majorGridlines>
          <c:spPr>
            <a:ln w="5715">
              <a:solidFill>
                <a:srgbClr val="D9E0E4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00">
                <a:solidFill>
                  <a:srgbClr val="7E898E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>
          <a:latin typeface="Arial Narrow"/>
        </a:defRPr>
      </a:pPr>
      <a:endParaRPr lang="uz-Latn-UZ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title>
      <c:tx>
        <c:rich>
          <a:bodyPr/>
          <a:lstStyle/>
          <a:p>
            <a:r>
              <a:rPr lang="ru-RU" sz="1600" b="1">
                <a:solidFill>
                  <a:srgbClr val="000000"/>
                </a:solidFill>
                <a:latin typeface="Arial Narrow"/>
                <a:ea typeface="Calibri"/>
                <a:cs typeface="Calibri"/>
              </a:rPr>
              <a:t>Пациенты со снижением АКО на ≥30%
от исходного уровня к 4-му месяцу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Доля пациентов</c:v>
          </c:tx>
          <c:spPr>
            <a:solidFill>
              <a:srgbClr val="7030A0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7030A0"/>
              </a:solidFill>
            </c:spPr>
            <c:extLst>
              <c:ext xmlns:c16="http://schemas.microsoft.com/office/drawing/2014/chart" uri="{C3380CC4-5D6E-409C-BE32-E72D297353CC}">
                <c16:uniqueId val="{00000001-2F6E-45DA-9CD4-01A5868CC783}"/>
              </c:ext>
            </c:extLst>
          </c:dPt>
          <c:dPt>
            <c:idx val="1"/>
            <c:invertIfNegative val="0"/>
            <c:bubble3D val="0"/>
            <c:spPr>
              <a:solidFill>
                <a:srgbClr val="7F7F7F"/>
              </a:solidFill>
            </c:spPr>
            <c:extLst>
              <c:ext xmlns:c16="http://schemas.microsoft.com/office/drawing/2014/chart" uri="{C3380CC4-5D6E-409C-BE32-E72D297353CC}">
                <c16:uniqueId val="{00000003-2F6E-45DA-9CD4-01A5868CC783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7030A0"/>
                        </a:solidFill>
                        <a:latin typeface="Arial Narrow"/>
                        <a:ea typeface="Calibri"/>
                        <a:cs typeface="Calibri"/>
                      </a:rPr>
                      <a:t>53,2%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2F6E-45DA-9CD4-01A5868CC783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800" b="1">
                        <a:solidFill>
                          <a:srgbClr val="7F7F7F"/>
                        </a:solidFill>
                        <a:latin typeface="Arial Narrow"/>
                        <a:ea typeface="Calibri"/>
                        <a:cs typeface="Calibri"/>
                      </a:rPr>
                      <a:t>27,0%</a:t>
                    </a:r>
                  </a:p>
                </c:rich>
              </c:tx>
              <c:spPr/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2F6E-45DA-9CD4-01A5868CC78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Финеренон</c:v>
                </c:pt>
                <c:pt idx="1">
                  <c:v>Плацебо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0.53200000000000003</c:v>
                </c:pt>
                <c:pt idx="1">
                  <c:v>0.27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2F6E-45DA-9CD4-01A5868CC78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2BCC5"/>
            </a:solidFill>
          </a:ln>
        </c:spPr>
        <c:txPr>
          <a:bodyPr anchorCtr="1"/>
          <a:lstStyle/>
          <a:p>
            <a:pPr>
              <a:defRPr sz="1600">
                <a:solidFill>
                  <a:srgbClr val="293A49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6191">
              <a:solidFill>
                <a:srgbClr val="E2E7EB"/>
              </a:solidFill>
            </a:ln>
          </c:spPr>
        </c:majorGridlines>
        <c:numFmt formatCode="0%" sourceLinked="0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00">
                <a:solidFill>
                  <a:srgbClr val="53606B"/>
                </a:solidFill>
                <a:latin typeface="Arial Narrow"/>
                <a:ea typeface="Calibri"/>
                <a:cs typeface="Calibri"/>
              </a:defRPr>
            </a:pPr>
            <a:endParaRPr lang="uz-Latn-UZ"/>
          </a:p>
        </c:txPr>
        <c:crossAx val="48650112"/>
        <c:crosses val="autoZero"/>
        <c:crossBetween val="between"/>
        <c:majorUnit val="0.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txPr>
    <a:bodyPr/>
    <a:lstStyle/>
    <a:p>
      <a:pPr>
        <a:defRPr>
          <a:latin typeface="Arial Narrow"/>
        </a:defRPr>
      </a:pPr>
      <a:endParaRPr lang="uz-Latn-UZ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АКО относительно исходного</c:v>
          </c:tx>
          <c:spPr>
            <a:solidFill>
              <a:srgbClr val="7030A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4BAA22"/>
              </a:solidFill>
            </c:spPr>
            <c:extLst>
              <c:ext xmlns:c16="http://schemas.microsoft.com/office/drawing/2014/chart" uri="{C3380CC4-5D6E-409C-BE32-E72D297353CC}">
                <c16:uniqueId val="{00000001-97FC-405C-919B-7607AA9E93EF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97FC-405C-919B-7607AA9E93EF}"/>
              </c:ext>
            </c:extLst>
          </c:dPt>
          <c:dPt>
            <c:idx val="2"/>
            <c:invertIfNegative val="1"/>
            <c:bubble3D val="0"/>
            <c:spPr>
              <a:solidFill>
                <a:srgbClr val="0F9ED5"/>
              </a:solidFill>
            </c:spPr>
            <c:extLst>
              <c:ext xmlns:c16="http://schemas.microsoft.com/office/drawing/2014/chart" uri="{C3380CC4-5D6E-409C-BE32-E72D297353CC}">
                <c16:uniqueId val="{00000005-97FC-405C-919B-7607AA9E93EF}"/>
              </c:ext>
            </c:extLst>
          </c:dPt>
          <c:dLbls>
            <c:numFmt formatCode="[$-419]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Комбинация</c:v>
              </c:pt>
              <c:pt idx="1">
                <c:v>Финеренон</c:v>
              </c:pt>
              <c:pt idx="2">
                <c:v>Эмпаглифлозин</c:v>
              </c:pt>
            </c:strLit>
          </c:cat>
          <c:val>
            <c:numLit>
              <c:formatCode>General</c:formatCode>
              <c:ptCount val="3"/>
              <c:pt idx="0">
                <c:v>0.48</c:v>
              </c:pt>
              <c:pt idx="1">
                <c:v>0.68</c:v>
              </c:pt>
              <c:pt idx="2">
                <c:v>0.71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97FC-405C-919B-7607AA9E93E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666666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v>Калий &gt;5,5 ммоль/л, %</c:v>
          </c:tx>
          <c:spPr>
            <a:solidFill>
              <a:srgbClr val="7030A0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4BAA22"/>
              </a:solidFill>
            </c:spPr>
            <c:extLst>
              <c:ext xmlns:c16="http://schemas.microsoft.com/office/drawing/2014/chart" uri="{C3380CC4-5D6E-409C-BE32-E72D297353CC}">
                <c16:uniqueId val="{00000001-03D6-4498-8914-B654635C6F38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03D6-4498-8914-B654635C6F38}"/>
              </c:ext>
            </c:extLst>
          </c:dPt>
          <c:dPt>
            <c:idx val="2"/>
            <c:invertIfNegative val="1"/>
            <c:bubble3D val="0"/>
            <c:spPr>
              <a:solidFill>
                <a:srgbClr val="0F9ED5"/>
              </a:solidFill>
            </c:spPr>
            <c:extLst>
              <c:ext xmlns:c16="http://schemas.microsoft.com/office/drawing/2014/chart" uri="{C3380CC4-5D6E-409C-BE32-E72D297353CC}">
                <c16:uniqueId val="{00000005-03D6-4498-8914-B654635C6F38}"/>
              </c:ext>
            </c:extLst>
          </c:dPt>
          <c:dLbls>
            <c:numFmt formatCode="[$-419]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Комбинация</c:v>
              </c:pt>
              <c:pt idx="1">
                <c:v>Финеренон</c:v>
              </c:pt>
              <c:pt idx="2">
                <c:v>Эмпаглифлозин</c:v>
              </c:pt>
            </c:strLit>
          </c:cat>
          <c:val>
            <c:numLit>
              <c:formatCode>General</c:formatCode>
              <c:ptCount val="3"/>
              <c:pt idx="0">
                <c:v>15.1</c:v>
              </c:pt>
              <c:pt idx="1">
                <c:v>18.8</c:v>
              </c:pt>
              <c:pt idx="2">
                <c:v>9.6999999999999993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03D6-4498-8914-B654635C6F3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666666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Калий сыворотки, ммоль/л</c:v>
                </c:pt>
              </c:strCache>
            </c:strRef>
          </c:tx>
          <c:spPr>
            <a:ln w="34925">
              <a:solidFill>
                <a:srgbClr val="156082"/>
              </a:solidFill>
            </a:ln>
          </c:spPr>
          <c:marker>
            <c:symbol val="circle"/>
            <c:size val="10"/>
            <c:spPr>
              <a:solidFill>
                <a:srgbClr val="156082"/>
              </a:solidFill>
              <a:ln>
                <a:solidFill>
                  <a:srgbClr val="156082"/>
                </a:solidFill>
              </a:ln>
            </c:spPr>
          </c:marker>
          <c:dLbls>
            <c:dLbl>
              <c:idx val="2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156082"/>
                      </a:solidFill>
                    </a:defRPr>
                  </a:pPr>
                  <a:endParaRPr lang="uz-Latn-UZ"/>
                </a:p>
              </c:txPr>
              <c:dLblPos val="b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35A5-467A-8DC5-308FB4C846B8}"/>
                </c:ext>
              </c:extLst>
            </c:dLbl>
            <c:numFmt formatCode="[$-419]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>
                    <a:solidFill>
                      <a:srgbClr val="156082"/>
                    </a:solidFill>
                  </a:defRPr>
                </a:pPr>
                <a:endParaRPr lang="uz-Latn-UZ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4.5</c:v>
                </c:pt>
                <c:pt idx="1">
                  <c:v>5.7</c:v>
                </c:pt>
                <c:pt idx="2">
                  <c:v>4.9000000000000004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A5-467A-8DC5-308FB4C846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Временная отмена при калии &gt;5,5</c:v>
                </c:pt>
              </c:strCache>
            </c:strRef>
          </c:tx>
          <c:spPr>
            <a:ln w="22225">
              <a:solidFill>
                <a:srgbClr val="E97132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5.5</c:v>
                </c:pt>
                <c:pt idx="1">
                  <c:v>5.5</c:v>
                </c:pt>
                <c:pt idx="2">
                  <c:v>5.5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5A5-467A-8DC5-308FB4C846B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Возобновление при калии ≤5,0</c:v>
                </c:pt>
              </c:strCache>
            </c:strRef>
          </c:tx>
          <c:spPr>
            <a:ln w="22225">
              <a:solidFill>
                <a:srgbClr val="196B24"/>
              </a:solidFill>
              <a:prstDash val="dash"/>
            </a:ln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До начала</c:v>
                </c:pt>
                <c:pt idx="1">
                  <c:v>Через 4 недели</c:v>
                </c:pt>
                <c:pt idx="2">
                  <c:v>Повторный анализ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5A5-467A-8DC5-308FB4C846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A6A6A6"/>
            </a:solidFill>
          </a:ln>
        </c:spPr>
        <c:txPr>
          <a:bodyPr/>
          <a:lstStyle/>
          <a:p>
            <a:pPr>
              <a:defRPr sz="1400"/>
            </a:pPr>
            <a:endParaRPr lang="uz-Latn-UZ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6"/>
          <c:min val="4"/>
        </c:scaling>
        <c:delete val="0"/>
        <c:axPos val="l"/>
        <c:majorGridlines>
          <c:spPr>
            <a:ln>
              <a:solidFill>
                <a:srgbClr val="E3E3E3"/>
              </a:solidFill>
            </a:ln>
          </c:spPr>
        </c:majorGridlines>
        <c:numFmt formatCode="[$-419]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/>
            </a:pPr>
            <a:endParaRPr lang="uz-Latn-UZ"/>
          </a:p>
        </c:txPr>
        <c:crossAx val="2118791784"/>
        <c:crosses val="autoZero"/>
        <c:crossBetween val="between"/>
        <c:majorUnit val="0.5"/>
      </c:valAx>
    </c:plotArea>
    <c:legend>
      <c:legendPos val="b"/>
      <c:overlay val="0"/>
      <c:txPr>
        <a:bodyPr/>
        <a:lstStyle/>
        <a:p>
          <a:pPr>
            <a:defRPr sz="1400"/>
          </a:pPr>
          <a:endParaRPr lang="uz-Latn-UZ"/>
        </a:p>
      </c:txPr>
    </c:legend>
    <c:plotVisOnly val="1"/>
    <c:dispBlanksAs val="gap"/>
    <c:showDLblsOverMax val="0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Пациенты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</c:dPt>
          <c:dPt>
            <c:idx val="1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</c:dPt>
          <c:dPt>
            <c:idx val="2"/>
            <c:invertIfNegative val="1"/>
            <c:bubble3D val="0"/>
            <c:spPr>
              <a:solidFill>
                <a:srgbClr val="0F9ED5"/>
              </a:solidFill>
              <a:ln>
                <a:noFill/>
              </a:ln>
            </c:spPr>
          </c:dPt>
          <c:dLbls>
            <c:dLbl>
              <c:idx val="0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[$-419]0.0%" sourceLinked="0"/>
              <c:spPr/>
              <c:txPr>
                <a:bodyPr/>
                <a:lstStyle/>
                <a:p>
                  <a:pPr>
                    <a:defRPr lang="ru-RU" sz="1800" b="1">
                      <a:solidFill>
                        <a:srgbClr val="0F9ED5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[$-419]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lang="ru-RU"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Плацебо</c:v>
                </c:pt>
                <c:pt idx="1">
                  <c:v>Финеренон</c:v>
                </c:pt>
                <c:pt idx="2">
                  <c:v>Спиронолактон</c:v>
                </c:pt>
              </c:strCache>
            </c:strRef>
          </c:cat>
          <c:val>
            <c:numRef>
              <c:f>Sheet1!$B$2:$B$4</c:f>
              <c:numCache>
                <c:formatCode>0.0%</c:formatCode>
                <c:ptCount val="3"/>
                <c:pt idx="0">
                  <c:v>0.015</c:v>
                </c:pt>
                <c:pt idx="1">
                  <c:v>0.053</c:v>
                </c:pt>
                <c:pt idx="2">
                  <c:v>0.127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B8C-44E2-AFC9-E23D54C150F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1000001"/>
        <c:axId val="1000002"/>
      </c:barChart>
      <c:catAx>
        <c:axId val="1000001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lang="ru-RU" sz="1700">
                <a:solidFill>
                  <a:srgbClr val="000000"/>
                </a:solidFill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0.15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lang="ru-RU"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v>Среднегодовое изменение рСКФ</c:v>
          </c:tx>
          <c:spPr>
            <a:solidFill>
              <a:srgbClr val="7030A0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D914-4779-A17B-461073342E5B}"/>
              </c:ext>
            </c:extLst>
          </c:dPt>
          <c:dPt>
            <c:idx val="1"/>
            <c:invertIfNegative val="0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D914-4779-A17B-461073342E5B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600" b="0"/>
                    </a:pPr>
                    <a:r>
                      <a:rPr lang="ru-RU" sz="1600" b="0">
                        <a:latin typeface="Arial Narrow"/>
                        <a:cs typeface="Arial Narrow"/>
                      </a:rPr>
                      <a:t>−3,3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pPr>
                      <a:defRPr sz="1600" b="0"/>
                    </a:pPr>
                    <a:r>
                      <a:rPr lang="ru-RU" sz="1600" b="0">
                        <a:latin typeface="Arial Narrow"/>
                        <a:cs typeface="Arial Narrow"/>
                      </a:rPr>
                      <a:t>−4,0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00">
                    <a:latin typeface="Arial Narrow"/>
                    <a:ea typeface="Arial Narrow"/>
                    <a:cs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Финеренон</c:v>
              </c:pt>
              <c:pt idx="1">
                <c:v>Плацебо</c:v>
              </c:pt>
            </c:strLit>
          </c:cat>
          <c:val>
            <c:numLit>
              <c:formatCode>General</c:formatCode>
              <c:ptCount val="2"/>
              <c:pt idx="0">
                <c:v>-3.3</c:v>
              </c:pt>
              <c:pt idx="1">
                <c:v>-4</c:v>
              </c:pt>
            </c:numLit>
          </c:val>
          <c:extLst>
            <c:ext xmlns:c16="http://schemas.microsoft.com/office/drawing/2014/chart" uri="{C3380CC4-5D6E-409C-BE32-E72D297353CC}">
              <c16:uniqueId val="{00000004-D914-4779-A17B-461073342E5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1600">
                <a:solidFill>
                  <a:srgbClr val="FFFFFF"/>
                </a:solidFill>
                <a:latin typeface="Arial Narrow"/>
                <a:ea typeface="Arial Narrow"/>
                <a:cs typeface="Arial Narrow"/>
              </a:defRPr>
            </a:pPr>
            <a:endParaRPr lang="uz-Latn-UZ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  <c:spPr>
        <a:noFill/>
      </c:spPr>
    </c:plotArea>
    <c:plotVisOnly val="1"/>
    <c:dispBlanksAs val="zero"/>
    <c:showDLblsOverMax val="1"/>
  </c:chart>
  <c:spPr>
    <a:noFill/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Результат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B90-49B0-AD33-250788ABE345}"/>
              </c:ext>
            </c:extLst>
          </c:dPt>
          <c:dPt>
            <c:idx val="1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EB90-49B0-AD33-250788ABE345}"/>
              </c:ext>
            </c:extLst>
          </c:dPt>
          <c:dLbls>
            <c:dLbl>
              <c:idx val="0"/>
              <c:numFmt formatCode="[$-419]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EB90-49B0-AD33-250788ABE345}"/>
                </c:ext>
              </c:extLst>
            </c:dLbl>
            <c:dLbl>
              <c:idx val="1"/>
              <c:numFmt formatCode="[$-419]0%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EB90-49B0-AD33-250788ABE345}"/>
                </c:ext>
              </c:extLst>
            </c:dLbl>
            <c:numFmt formatCode="[$-419]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Финеренон</c:v>
                </c:pt>
                <c:pt idx="1">
                  <c:v>Плацебо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0.34</c:v>
                </c:pt>
                <c:pt idx="1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90-49B0-AD33-250788ABE3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1000001"/>
        <c:axId val="1000002"/>
      </c:barChart>
      <c:catAx>
        <c:axId val="100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0.4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10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Результат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7030A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0430-4ADD-83D7-16C1092450CA}"/>
              </c:ext>
            </c:extLst>
          </c:dPt>
          <c:dPt>
            <c:idx val="1"/>
            <c:invertIfNegative val="1"/>
            <c:bubble3D val="0"/>
            <c:spPr>
              <a:solidFill>
                <a:srgbClr val="7F7F7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0430-4ADD-83D7-16C1092450CA}"/>
              </c:ext>
            </c:extLst>
          </c:dPt>
          <c:dLbls>
            <c:dLbl>
              <c:idx val="0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030A0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0430-4ADD-83D7-16C1092450CA}"/>
                </c:ext>
              </c:extLst>
            </c:dLbl>
            <c:dLbl>
              <c:idx val="1"/>
              <c:numFmt formatCode="0" sourceLinked="0"/>
              <c:spPr>
                <a:noFill/>
                <a:ln>
                  <a:noFill/>
                </a:ln>
                <a:effectLst/>
              </c:spPr>
              <c:txPr>
                <a:bodyPr/>
                <a:lstStyle/>
                <a:p>
                  <a:pPr>
                    <a:defRPr sz="1800" b="1">
                      <a:solidFill>
                        <a:srgbClr val="7F7F7F"/>
                      </a:solidFill>
                      <a:latin typeface="Arial Narrow"/>
                    </a:defRPr>
                  </a:pPr>
                  <a:endParaRPr lang="uz-Latn-U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0430-4ADD-83D7-16C1092450CA}"/>
                </c:ext>
              </c:extLst>
            </c:dLbl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solidFill>
                      <a:srgbClr val="000000"/>
                    </a:solidFill>
                    <a:latin typeface="Arial Narrow"/>
                  </a:defRPr>
                </a:pPr>
                <a:endParaRPr lang="uz-Latn-U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Финеренон (3003 пациента)</c:v>
                </c:pt>
                <c:pt idx="1">
                  <c:v>Плацебо (2998 пациентов)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1083</c:v>
                </c:pt>
                <c:pt idx="1">
                  <c:v>1283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430-4ADD-83D7-16C1092450C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5"/>
        <c:axId val="1000001"/>
        <c:axId val="1000002"/>
      </c:barChart>
      <c:catAx>
        <c:axId val="10000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500">
                <a:latin typeface="Arial Narrow"/>
              </a:defRPr>
            </a:pPr>
            <a:endParaRPr lang="uz-Latn-UZ"/>
          </a:p>
        </c:txPr>
        <c:crossAx val="1000002"/>
        <c:crosses val="autoZero"/>
        <c:auto val="1"/>
        <c:lblAlgn val="ctr"/>
        <c:lblOffset val="100"/>
        <c:noMultiLvlLbl val="0"/>
      </c:catAx>
      <c:valAx>
        <c:axId val="1000002"/>
        <c:scaling>
          <c:orientation val="minMax"/>
          <c:max val="16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00001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Arial Narrow"/>
        </a:defRPr>
      </a:pPr>
      <a:endParaRPr lang="uz-Latn-UZ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Сегодня разберём финеренон: препарат, который снижает риск почечных и сердечно-сосудистых осложнений у взрослых с хронической болезнью почек, связанной с сахарным диабетом 2 типа. План такой. Сначала главная мысль курса. Затем как работает почка, чем её повреждает диабет и как найти пациентов с таким риском. Потом механизм действия финеренона и показание, которое из него следует. Дальше исследования, место среди других препаратов, правила назначения с контролем калия и ответы на возражения врачей.</a:t>
            </a:r>
          </a:p>
          <a:p>
            <a:endParaRPr/>
          </a:p>
          <a:p>
            <a:r>
              <a:t>После обучения вы сможете за 30 секунд объяснить врачу, как работает финеренон, у каких пациентов есть показание, что показали исследования и почему калий проверяют по простому правилу. Также нужно знать, как передавать сообщения о нежелательных явлениях по процедуре компании. Решение о лечении конкретного пациента принимает врач. Начнём с главной мысли курса.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Эти две ситуации пройдут через весь курс. Первая о том, у каких пациентов искать показание. Вторая о том, что делать, если калий повысился. У взрослого с хронической болезнью почек и диабетом 2 типа давление и уровень глюкозы в крови находятся в целевом диапазоне, но повышенная потеря альбумина с мочой сохраняется. Каких данных не хватает, чтобы обсудить дополнительное лечение?</a:t>
            </a:r>
          </a:p>
          <a:p>
            <a:endParaRPr/>
          </a:p>
          <a:p>
            <a:r>
              <a:t>Во второй ситуации после начала приёма финеренона повысился калий в крови. Всегда ли это означает окончательную отмену? При каких условиях лечение можно возобновить? К этим ситуациям вернёмся в конце курса, и вы ответите на оба вопроса сами. А пока вспомним, как работает почка и почему при диабете она страдает.</a:t>
            </a:r>
          </a:p>
          <a:p/>
          <a:p>
            <a:r>
              <a:t>Фраза для визита: «У каких ваших пациентов с хронической болезнью почек и диабетом 2 типа альбуминурия сохраняется на ингибиторе АПФ или БРА?»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 двум вопросам вернёмся в конце курса. Чтобы понять, как диабет повреждает почку и где действуют препараты, вспомним, как почка работает. Кровь поступает в клубочек по приносящей артериоле, небольшому артериальному сосуду, и покидает его по выносящей артериоле. Часть воды и мелких растворённых веществ проходит через фильтрационный барьер в капсулу Боумена. Клетки крови и большая часть белков остаются в сосудах. Так образуется первичная моча.</a:t>
            </a:r>
          </a:p>
          <a:p>
            <a:endParaRPr/>
          </a:p>
          <a:p>
            <a:r>
              <a:t>Затем жидкость проходит по канальцам. Большая часть воды, глюкоза и другие нужные вещества возвращаются в кровь. Такой процесс называют реабсорбцией, или обратным всасыванием. В конце схемы расположена собирательная трубочка. В её клетках есть минералокортикоидные рецепторы, участвующие в обмене натрия и калия. Финеренон блокирует такие рецепторы; к ним вернёмся на отдельных слайдах. Для понимания: в разговоре с врачом этот слайд не используется. Сейчас о том, как клубочек сам регулирует фильтрацию.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увидели, как кровь фильтруется и как каналец возвращает нужное. Теперь о том, как каналец сообщает клубочку, сколько соли до него дошло. Плотное пятно состоит из чувствительных клеток канальца рядом с его клубочком. На рисунке это конец восходящего колена петли Генле, участка канальца, который возвращается к своему клубочку. Клетки плотного пятна реагируют на поступление соли с канальцевой жидкостью. Когда соли поступает больше, сигнал способствует сужению приносящей артериолы, и фильтрация уменьшается. Когда соли меньше, ограничивающий сигнал ослабевает, поэтому фильтрация может увеличиться.</a:t>
            </a:r>
          </a:p>
          <a:p>
            <a:endParaRPr/>
          </a:p>
          <a:p>
            <a:r>
              <a:t>Такую местную связь канальца со своим клубочком называют тубулогломерулярной обратной связью. Для понимания: в разговоре с врачом этот слайд не используется. Запомните схему: на следующем слайде при диабете она сбивается, и клубочек перегружается.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плотное пятно держало фильтрацию в норме. При диабете эта регуляция сбивается. При диабете в первичной моче может быть больше глюкозы. Проксимальный каналец возвращает в кровь больше глюкозы и натрия, поэтому до плотного пятна доходит меньше соли. Сигнал, ограничивающий фильтрацию, ослабевает, приносящая артериола расширяется, а давление в клубочке повышается. У части пациентов развивается гиперфильтрация, то есть избыточная фильтрация в клубочке. Она бывает не у каждого человека с диабетом.</a:t>
            </a:r>
          </a:p>
          <a:p>
            <a:endParaRPr/>
          </a:p>
          <a:p>
            <a:r>
              <a:t>Длительная перегрузка может повреждать фильтрационный барьер. Поэтому сохранная расчётная фильтрация ещё не исключает повреждения почек: нужен и показатель альбумина в моче. На описанный механизм действуют ингибиторы НГЛТ2: они уменьшают обратное всасывание глюкозы и натрия в проксимальном канальце. Финеренон действует на другой путь: воспаление и фиброз через минералокортикоидный рецептор, о нём дальше. Поэтому врачу не нужно выбирать между этими препаратами, они дополняют друг друга. Перегрузка клубочка не единственный путь повреждения. Второй путь: воспаление и фиброз в канальцах и ткани между ними.</a:t>
            </a:r>
          </a:p>
          <a:p/>
          <a:p>
            <a:r>
              <a:t>Фраза для визита: «Расчётная фильтрация может быть нормальной, когда почка уже повреждена. Поэтому при диабете 2 типа раз в год проверяют и рСКФ, и альбумин в моче.»</a:t>
            </a:r>
          </a:p>
          <a:p/>
          <a:p>
            <a:r>
              <a:t>Если врач спросит: «Финеренон заменяет иНГЛТ2?» Ответ: «Нет, у них разные механизмы, и препараты можно сочетать. В CONFIDENCE (800 пациентов, 180 дней) альбуминурия снизилась от исходного на 52% при комбинации, на 32% на финереноне и на 29% на эмпаглифлозине. АКО здесь отношение альбумина к креатинину мочи.»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Для понимания: в разговоре с врачом этот слайд не используется. Мезангий поддерживает капилляры клубочка и состоит из клеток и межклеточного вещества, которое называют матриксом. При диабетической болезни почек объём матрикса может увеличиваться. В классе III, при узелковом склерозе клубочка, в мезангии формируются плотные округлые узелки.</a:t>
            </a:r>
          </a:p>
          <a:p>
            <a:endParaRPr/>
          </a:p>
          <a:p>
            <a:r>
              <a:t>На снимках разные образцы. Динамику одной почки они не показывают. Гистологический класс описывает ткань под микроскопом, а стадия хронической болезни почек по рСКФ характеризует функцию почек.</a:t>
            </a:r>
          </a:p>
          <a:p/>
          <a:p>
            <a:r>
              <a:t>Если врач спросит: «Финеренон убирает эти изменения?» Ответ: «Снимки показывают изменения при диабете. Польза финеренона оценена по клиническим исходам: почечный исход развился у 17,8% на финереноне и у 21,1% на плацебо в FIDELIO-DKD. Вопросы о тканевых эффектах передаю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Клубочек мы рассмотрели. Теперь ткань вокруг него. При диабете повреждение затрагивает и канальцы, и ткань между ними. Канальцы выстланы эпителием, слоем клеток. Между ними расположен интерстиций с кровеносными сосудами. Воспалительные клетки могут накапливаться рядом с канальцами и сосудами: в биопсиях 20 пациентов с диабетической нефропатией в интерстиции в среднем было 296,9 макрофага на мм² против 19,0 в нормальной ткани (Nguyen, 2006). При фиброзе увеличивается количество межклеточного матрикса. В его образовании участвуют миофибробласты. При атрофии эпителий становится ниже, а структура канальца меняется.</a:t>
            </a:r>
          </a:p>
          <a:p>
            <a:endParaRPr/>
          </a:p>
          <a:p>
            <a:r>
              <a:t>Воспаление и фиброз могут присутствовать одновременно, поэтому схема не означает обязательной смены стадий. Избыточная активация минералокортикоидного рецептора (МКР) поддерживает эти процессы, а финеренон блокирует этот рецептор; подробно о рецепторе поговорим позже. Клиническую пользу показали исходы: меньше почечных и сердечно-сосудистых событий в FIDELIO-DKD и FIGARO-DKD. Почки при диабете страдают не одни. Дальше о связи сердца и почек.</a:t>
            </a:r>
          </a:p>
          <a:p/>
          <a:p>
            <a:r>
              <a:t>Фраза для визита: «При диабете в почке идут воспаление и фиброз. Финеренон блокирует рецептор, который их поддерживает, и снижает риск почечных и сердечно-сосудистых событий.»</a:t>
            </a:r>
          </a:p>
          <a:p/>
          <a:p>
            <a:r>
              <a:t>Если врач спросит: «Финеренон восстанавливает ткань почки?» Ответ: «Влияние на воспаление и фиброз описано в доклинических исследованиях. Для врача важнее клинические исходы: почечный исход 17,8% на финереноне и 21,1% на плацебо в FIDELIO-DKD. По тканевым эффектам у человека передаю вопрос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увидели, что при диабете страдают клубочки, канальцы и ткань между ними. Теперь о связи двух органов: сердце и почки поражаются вместе. Сердце влияет на работу почек через кровоснабжение и венозный застой. Такое сочетание называют хроническим кардиоренальным синдромом, тип 2: болезнь сердца ухудшает работу почек. При сердечной недостаточности эти изменения могут снижать фильтрацию. При диабете и гипертензии оба органа могут повреждаться одновременно, поэтому не всегда удаётся определить, какое заболевание возникло первым.</a:t>
            </a:r>
          </a:p>
          <a:p>
            <a:endParaRPr/>
          </a:p>
          <a:p>
            <a:r>
              <a:t>При декомпенсации, выраженной гипотензии или гиповолемии врач оценивает состояние пациента и лечение.</a:t>
            </a:r>
          </a:p>
          <a:p>
            <a:endParaRPr/>
          </a:p>
          <a:p>
            <a:r>
              <a:t>Поэтому у пациентов с ХБП и диабетом 2 типа смотрят на оба органа. В показание финеренона входит снижение риска госпитализации по поводу сердечной недостаточности. В FIGARO-DKD риск такой госпитализации был ниже на 29% по сравнению с плацебо (отношение рисков 0,71; 95% ДИ 0,56–0,90). Связь работает и в обратную сторону: дальше о том, как болезнь почек нагружает сердце.</a:t>
            </a:r>
          </a:p>
          <a:p/>
          <a:p>
            <a:r>
              <a:t>Фраза для визита: «Сердце и почки при диабете могут страдать вместе. У пациентов с хронической болезнью почек и диабетом 2 типа финеренон снижает риск госпитализации по поводу сердечной недостаточности.»</a:t>
            </a:r>
          </a:p>
          <a:p/>
          <a:p>
            <a:r>
              <a:t>Если врач спросит: «А при сердечной недостаточности без хронической болезни почек?» Ответ: «Показание в инструкции относится к взрослым с хронической болезнью почек, связанной с диабетом 2 типа. По другим группам пациентов передаю ваш вопрос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Хроническая болезнь почек также увеличивает нагрузку на сердце. Задерживаются натрий и вода, активируются гормональные механизмы и симпатическая нервная система. Нарушения состава крови и уремия дополнительно влияют на работу сердца. Такое сочетание называют хроническим ренокардиальным синдромом, тип 4: болезнь почек ухудшает работу сердца.</a:t>
            </a:r>
          </a:p>
          <a:p/>
          <a:p>
            <a:r>
              <a:t>Общие для обоих органов процессы включают окислительный стресс и воспаление. На схеме показаны их основные связи. Руководство AHA/ACC/ADA/ASN 2026 рассматривает болезни сердца, почек и обмен веществ как взаимосвязанные состояния. Доказательства для финеренона дают клинические исследования, их разберём дальше.</a:t>
            </a:r>
          </a:p>
          <a:p/>
          <a:p>
            <a:r>
              <a:t>Один из путей на схеме идёт через избыток альдостерона. Он действует на сердце и почки через МКР, а финеренон блокирует этот рецептор. Финеренон назначают взрослым с ХБП, связанной с диабетом 2 типа: показание включает снижение риска почечных и сердечно-сосудистых событий, в том числе госпитализации по поводу сердечной недостаточности. В объединённом анализе FIDELITY (13 026 пациентов) такой риск был ниже на 22% по сравнению с плацебо (ОР 0,78; 95% ДИ 0,66–0,92; медиана 3,0 года). Теперь о том, как найти таких пациентов.</a:t>
            </a:r>
          </a:p>
          <a:p/>
          <a:p>
            <a:r>
              <a:t>Фраза для визита: «Доктор, при диабете и болезни почек страдают и почки, и сердце. Финеренон блокирует рецептор альдостерона и снижает риск почечных и сердечно-сосудистых событий.»</a:t>
            </a:r>
          </a:p>
          <a:p/>
          <a:p>
            <a:r>
              <a:t>Если врач спросит: «А при сердечной недостаточности без хронической болезни почек?» Ответ: «Показание относится к взрослым с ХБП, связанной с диабетом 2 типа. По другим группам пациентов передам ваш вопрос в медицинский отдел.»</a:t>
            </a:r>
          </a:p>
          <a:p/>
          <a:p>
            <a:r>
              <a:t>Если врач спросит: «У пациента с ХБП и диабетом есть и сердечная недостаточность. Можно ли назначать финеренон?» Ответ: «Сердечная недостаточность в перечне противопоказаний инструкции не стоит и группу сама по себе не исключает. В FIDELIO-DKD и FIGARO-DKD не включали пациентов с хронической симптомной сердечной недостаточностью со сниженной фракцией выброса; сердечная недостаточность в анамнезе была у 7,7% участников FIDELITY. Решение о назначении принимает врач.»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Искать начинаем с анализов. Для оценки почек нужны два разных анализа. По креатинину крови с учётом возраста и пола рассчитывают скорость клубочковой фильтрации, или рСКФ. Она характеризует фильтрационную функцию почек. Альбумин и креатинин измеряют в одной порции мочи. Их отношение обозначают сокращением АКО. Оно помогает выявить повышенную потерю альбумина.</a:t>
            </a:r>
          </a:p>
          <a:p/>
          <a:p>
            <a:r>
              <a:t>При диабете 2 типа оба показателя проверяют не реже одного раза в год. При установленной хронической болезни почек частота зависит от категории риска. Повреждение возможно уже при сохранной фильтрации. В FIDELITY у 40% участников (5195 из 13 026) рСКФ была 60 и выше, и ХБП у них определяли только по альбуминурии. Поэтому одной рСКФ недостаточно, нужно и АКО. Если альбуминурия выявлена, дальше нужно подтвердить ХБП. Критерии на следующем слайде.</a:t>
            </a:r>
          </a:p>
          <a:p/>
          <a:p>
            <a:r>
              <a:t>Фраза для визита: «Доктор, при диабете 2 типа рСКФ и АКО проверяют не реже раза в год. Повышенное АКО может указать на болезнь почек даже при сохранной рСКФ. У скольких ваших пациентов за последний год определяли оба показателя?»</a:t>
            </a:r>
          </a:p>
          <a:p/>
          <a:p>
            <a:r>
              <a:t>Если врач спросит: «А если лаборатория выдаёт АКО в мг/ммоль?» Ответ: «30 мг/г соответствует примерно 3 мг/ммоль (KDIGO 2024).»</a:t>
            </a:r>
          </a:p>
          <a:p/>
          <a:p>
            <a:r>
              <a:t>Если врач спросит: «Так бывает у 40% всех пациентов с ХБП и диабетом?» Ответ: «Нет. 40% относится к участникам FIDELITY: в исследования включали пациентов с альбуминурией, в том числе с рСКФ 60 и выше. Частоту в практике число не показывает. Оно показывает, что без АКО такие пациенты остаются вне критериев ХБП.»</a:t>
            </a:r>
          </a:p>
          <a:p/>
          <a:p>
            <a:r>
              <a:t>Если врач спросит: «Хватит ли тест-полоски?» Ответ: «Для скрининга альбуминурии определяют АКО. Вопрос о замене АКО другими тестами передам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Какие значения этих анализов говорят о ХБП? Хроническую болезнь почек можно выявить по снижению функции или признакам повреждения. Два основных лабораторных критерия: рСКФ ниже 60 мл/мин/1,73 м² или АКО не менее 30 мг/г. Одновременного наличия обоих не требуется. Существуют и другие маркеры повреждения почек.</a:t>
            </a:r>
          </a:p>
          <a:p/>
          <a:p>
            <a:r>
              <a:t>Чтобы считать изменения хроническими, они должны сохраняться не менее трёх месяцев. Повышенное АКО подтверждают повторно и оценивают временные причины, например инфекцию. Поэтому один повышенный результат ещё не подтверждает хроническую болезнь почек. При стойких признаках повреждения сохранная рСКФ её не исключает. Диагноз устанавливает врач. Теперь о том, как два показателя вместе описывают риск.</a:t>
            </a:r>
          </a:p>
          <a:p/>
          <a:p>
            <a:r>
              <a:t>Фраза для визита: «Доктор, по критериям KDIGO для ХБП достаточно одного признака. Если АКО от 30 мг/г сохраняется три месяца, это ХБП и при сохранной рСКФ. Диагноз, конечно, ставите вы.»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Здесь два показателя сведены в одну таблицу. В одной строке таблицы категория фильтрации одинакова, а альбуминурия увеличивается слева направо. Например, при рСКФ 65 мл/мин/1,73 м² и АКО 15 мг/г клетка зелёная. При той же фильтрации и АКО 350 мг/г риск уже высокий. Поэтому одного значения фильтрации для оценки недостаточно.</a:t>
            </a:r>
          </a:p>
          <a:p/>
          <a:p>
            <a:r>
              <a:t>Цвет описывает риск прогрессирования болезни почек и связанных осложнений в группах пациентов. Он не даёт точной вероятности осложнения у конкретного человека. Категории оценивают с учётом хронического характера изменений, сохраняющихся не менее трёх месяцев. Зелёная клетка при сохранной фильтрации, без альбуминурии и других признаков повреждения сама по себе не означает хроническую болезнь почек. Дальше соберём портрет такого пациента.</a:t>
            </a:r>
          </a:p>
          <a:p/>
          <a:p>
            <a:r>
              <a:t>Фраза для визита: «Доктор, при диабете АКО от 30 мг/г повышает риск даже при сохранной рСКФ. Поэтому смотрим на оба показателя.»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Пациента с ХБП и диабетом мы нашли. Чем его лечат сегодня? Для защиты почек при диабете 2 типа используют четыре группы препаратов с разными мишенями. Ингибиторы АПФ и блокаторы рецепторов ангиотензина влияют на регуляцию давления в клубочке: расширяют выносящую артериолу и уменьшают внутриклубочковое давление. Ингибиторы НГЛТ2 действуют в проксимальном канальце и уменьшают возврат натрия и глюкозы в кровь.</a:t>
            </a:r>
          </a:p>
          <a:p/>
          <a:p>
            <a:r>
              <a:t>Финеренон препятствует активации минералокортикоидного рецептора. Агонисты рецептора глюкагоноподобного пептида-1, или ГПП-1, помогают контролировать уровень глюкозы и массу тела. В исследовании FLOW для семаглутида показана польза по комбинированному исходу: тяжёлые почечные события или смерть от почечных или сердечно-сосудистых причин.</a:t>
            </a:r>
          </a:p>
          <a:p/>
          <a:p>
            <a:r>
              <a:t>Разные механизмы и результаты исследований помогают врачу выбрать лечение по диагнозу, функции почек, альбуминурии, калию и инструкции каждого препарата. Давление и уровень глюкозы продолжают контролировать. Финеренон добавляют к ингибитору АПФ или БРА. С остальными группами его сочетание разберём отдельно. Хватает ли этих препаратов? Ответ даёт исследование CREDENCE.</a:t>
            </a:r>
          </a:p>
          <a:p/>
          <a:p>
            <a:r>
              <a:t>Фраза для визита: «Доктор, у финеренона своя мишень: минералокортикоидный рецептор. Его добавляют к ингибитору АПФ или БРА.»</a:t>
            </a:r>
          </a:p>
          <a:p/>
          <a:p>
            <a:r>
              <a:t>Если врач спросит о доказательствах для ингибиторов АПФ и БРА: «Исходы при диабете 2 типа и нефропатии показаны для блокаторов рецепторов ангиотензина: лозартан в RENAAL (1513 пациентов; первичный комбинированный исход, то есть удвоение креатинина, терминальная почечная недостаточность или смерть, ниже на 16% по сравнению с плацебо, в среднем 3,4 года) и ирбесартан в IDNT (1715 пациентов с гипертензией; ниже на 20% по сравнению с плацебо, в среднем 2,6 года).»</a:t>
            </a:r>
          </a:p>
          <a:p/>
          <a:p>
            <a:r>
              <a:t>Если врач спросит: «А других агонистов ГПП-1?» Ответ: «Данные FLOW относятся к семаглутиду, по другим препаратам передам вопрос в медицинский отдел.»</a:t>
            </a:r>
          </a:p>
          <a:p/>
          <a:p>
            <a:r>
              <a:t>Если врач спросит, нужны ли все четыре группы каждому: «Набор подбирает врач по рСКФ, АКО, калию, давлению и глюкозе; финеренон добавляют к ингибитору АПФ или БРА у взрослых с ХБП и диабетом 2 типа.»</a:t>
            </a:r>
          </a:p>
          <a:p/>
          <a:p>
            <a:r>
              <a:t>Если врач спросит о сочетании с ингибиторами НГЛТ2 и агонистами ГПП-1: «В FIDELITY ингибиторы НГЛТ2 в начале исследования принимали 6,7% участников (877 человек), агонисты ГПП-1 7,2% (944 человека); результаты в этих подгруппах согласуются с общими. Рандомизированного сравнения комбинаций в FIDELITY не было; сочетание с эмпаглифлозином изучено в CONFIDENCE, оно разобрано на слайде о комбинации.»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показали, откуда берётся показание. Теперь доказательства, и сначала короткая памятка: как читать числа исследования и как пересказать их врачу. Чтобы понять результат исследования, сначала уточняем, кого лечили, с чем сравнивали препарат, какие события учитывали и как долго наблюдали пациентов. В FIDELIO-DKD участвовали пациенты с хронической болезнью почек и диабетом 2 типа. Финеренон сравнивали с плацебо на фоне ингибитора АПФ или блокатора рецепторов ангиотензина. Главный исход выбрали заранее. Его называют первичным. Вторичные исходы оценивали по статистическому плану.</a:t>
            </a:r>
          </a:p>
          <a:p/>
          <a:p>
            <a:r>
              <a:t>Первичный исход объединял почечную недостаточность, устойчивое снижение рСКФ не менее чем на 40% и смерть от почечных причин. Отношение рисков составило 0,82. Ему соответствует относительное снижение на 18% по сравнению с плацебо. Абсолютную разницу видно в процентах: 21,1% против 17,8%, то есть на 3,3 процентного пункта меньше. Доверительный интервал от 0,73 до 0,93 помогает оценить неопределённость результата. Он не включает 1.</a:t>
            </a:r>
          </a:p>
          <a:p/>
          <a:p>
            <a:r>
              <a:t>Кривая накопленной частоты показывает события к определённому моменту с учётом разной длительности наблюдения. ЧБНЛ показывает, сколько пациентов нужно лечить за заданный срок, чтобы предотвратить одно событие по сравнению с плацебо. В FIDELIO-DKD для почечного исхода это 29 пациентов за 3 года. Проценты 17,8 и 21,1 относятся к медиане 2,6 года, поэтому число 29 из их разницы напрямую не получить. Промежуточный показатель, например АКО, меняется раньше, а пользу подтверждают клинические исходы: их мы разберём на следующих слайдах. Теперь посмотрим программу исследований финеренона.</a:t>
            </a:r>
          </a:p>
          <a:p/>
          <a:p>
            <a:r>
              <a:t>Фраза для визита: «Доктор, в FIDELIO-DKD риск почечного исхода был ниже на 18% по сравнению с плацебо: у 17,8% пациентов на финереноне против 21,1% на плацебо за 2,6 года.»</a:t>
            </a:r>
          </a:p>
          <a:p/>
          <a:p>
            <a:r>
              <a:t>Если врач спросит о компонентах исхода: «Исход составной: почечная недостаточность, устойчивое снижение рСКФ на 40% и больше, смерть от почечных причин. Данные по каждому компоненту есть в публикации; запрос по ним передам в медицинский отдел.»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CREDENCE участвовал 4401 пациент с диабетом 2 типа, хронической болезнью почек и выраженной альбуминурией. Канаглифлозин, препарат группы ингибиторов НГЛТ2, сравнивали с плацебо на фоне ингибитора АПФ или блокатора рецепторов ангиотензина. Первичный исход объединял терминальную почечную недостаточность, удвоение креатинина и смерть от почечных или сердечно-сосудистых причин.</a:t>
            </a:r>
          </a:p>
          <a:p/>
          <a:p>
            <a:r>
              <a:t>При медиане наблюдения 2,6 года относительный риск этого исхода был ниже на 30%. Но осложнения продолжали возникать: за всё исследование первичный исход зарегистрировали у 11,1% пациентов на канаглифлозине. Сохраняющийся на фоне лечения риск называют остаточным. Остаточный риск остаётся даже на ингибиторе АПФ или БРА с ингибитором НГЛТ2. Поэтому нужен ещё один механизм защиты. Он связан с рецептором, который мы сейчас рассмотрим.</a:t>
            </a:r>
          </a:p>
          <a:p/>
          <a:p>
            <a:r>
              <a:t>Фраза для визита: «Доктор, в исследовании CREDENCE у пациентов с ХБП и диабетом на ингибиторе АПФ или БРА с канаглифлозином почечный или сердечно-сосудистый исход за 2,6 года возник у 11,1%. Остаточный риск есть, и у финеренона другая мишень: МКР.»</a:t>
            </a:r>
          </a:p>
          <a:p/>
          <a:p>
            <a:r>
              <a:t>Если врач спросит: «А что даёт финеренон на таком фоне?» Ответ: «В FIDELIO-DKD финеренон добавляли к ингибитору АПФ или БРА в максимально переносимой дозе: почечный исход возник у 17,8% против 21,1% на плацебо (ОР 0,82; 95% ДИ 0,73–0,93; медиана 2,6 года). В FIDELITY ингибиторы НГЛТ2 принимали 6,7% участников, и результаты в этой подгруппе согласуются с общими; рандомизированного сравнения комбинации там не было. Сочетание с эмпаглифлозином изучали в CONFIDENCE (800 пациентов, 180 дней): АКО ниже от исходного на 52% при комбинации, на 32% на финереноне, на 29% на эмпаглифлозине. Прямого сравнения с канаглифлозином нет.»</a:t>
            </a:r>
          </a:p>
          <a:p/>
          <a:p>
            <a:r>
              <a:t>Если врач спросит: «Почему 11,1%, а у вас 17,8%?» Ответ: «У CREDENCE другой первичный исход (с сердечно-сосудистой смертью), другая группа (АКО выше 300 мг/г) и другое лечение. Эти числа не сравнивают.»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Начнём с нормы: как минералокортикоидный рецептор работает в здоровой почке. В главной клетке собирательной трубочки альдостерон связывается с минералокортикоидным рецептором. Альдостерон вырабатывается корой надпочечников и участвует в обмене натрия и калия. После активации рецептора меняются регуляция генов, синтез белков, число и активность натриевых каналов и натрий-калиевых насосов.</a:t>
            </a:r>
          </a:p>
          <a:p/>
          <a:p>
            <a:r>
              <a:t>Натрий возвращается из просвета трубочки в кровь. Его обратное всасывание создаёт электрическую движущую силу для перемещения калия в просвет. Такой переход калия называют секрецией. Затем он может выводиться с мочой. Натрий-калиевый насос использует энергию аденозинтрифосфата. Поэтому блокада МКР влияет и на калий, и его контролируют по простому правилу; оно будет на слайде о назначении. А сначала посмотрим, что происходит, когда МКР активирован слишком сильно.</a:t>
            </a:r>
          </a:p>
          <a:p/>
          <a:p>
            <a:r>
              <a:t>Фраза для визита: «Доктор, альдостерон включает рецептор МКР, и тот управляет обменом натрия и калия в почке. Финеренон блокирует этот рецептор, поэтому калий проверяют по простому правилу.»</a:t>
            </a:r>
          </a:p>
          <a:p/>
          <a:p>
            <a:r>
              <a:t>Если врач спросит: «МКР есть только в почке?» Ответ: «МКР есть в почках, сердце, сосудах и иммунных клетках. Что происходит при его избыточной активации, показывает следующий слайд.»</a:t>
            </a:r>
          </a:p>
          <a:p/>
          <a:p>
            <a:r>
              <a:t>Если врач спросит: «Насколько часто растёт калий?» Ответ: «В FIDELITY (13 026 пациентов, медиана 3,0 года) нежелательные явления по гиперкалиемии были у 14,0% на финереноне против 6,9% на плацебо; окончательная отмена из-за гиперкалиемии 1,7% против 0,6%; случаев со смертельным исходом не было. Калий проверяют до начала, через 4 недели и далее периодически.»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рецептор работал в норме: регулировал натрий и калий в клетке канальца. Теперь о том, что происходит, когда он активен сильнее нормы.</a:t>
            </a:r>
          </a:p>
          <a:p/>
          <a:p>
            <a:r>
              <a:t>При диабете и хронической болезни почек сигнал минералокортикоидного рецептора может усиливаться. Такая избыточная активация способна поддерживать воспаление и накопление межклеточного матрикса. На схеме показаны разные клетки: иммунные, эпителиальные и фибробласты. Фибробласты образуют компоненты матрикса. Его избыточное накопление связано с фиброзом. На схеме фрагмент почки. Рецептор есть и в сердце, и в сосудах, и там его избыточная активация тоже поддерживает воспаление и фиброз.</a:t>
            </a:r>
          </a:p>
          <a:p/>
          <a:p>
            <a:r>
              <a:t>Если этот сигнал заблокировать, воспаление и фиброз могут стать слабее. Как это делает финеренон, показывает следующий слайд.</a:t>
            </a:r>
          </a:p>
          <a:p/>
          <a:p>
            <a:r>
              <a:t>Фраза для визита: «При диабете и ХБП минералокортикоидный рецептор может быть избыточно активен и поддерживать воспаление и фиброз в почке и сердце. Ингибиторы АПФ, БРА и иНГЛТ2 сам этот рецептор не блокируют».</a:t>
            </a:r>
          </a:p>
          <a:p/>
          <a:p>
            <a:r>
              <a:t>Если врач спросит: «Доказана ли эта связь у людей?» Связь избыточной активации МКР с воспалением и фиброзом описана в экспериментальных работах и обзорах (Agarwal, 2021). Эффект финеренона на воспаление и фиброз показан в доклинических моделях. В клинических исследованиях оценивали исходы, они показаны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 прошлом слайде рецептор работал избыточно. Теперь о том, что меняет финеренон.</a:t>
            </a:r>
          </a:p>
          <a:p/>
          <a:p>
            <a:r>
              <a:t>Финеренон связывается с минералокортикоидным рецептором внутри клетки и препятствует его активации. Поэтому его называют антагонистом рецептора. Избирательность означает преимущественное действие на эту мишень, а слово «нестероидный» описывает химическое строение. По инструкции финеренон блокирует привлечение коактиваторов: это белки-помощники, которые рецептору нужны, чтобы включить гены воспаления и фиброза. В экспериментах на животных финеренон уменьшал фиброз в сердце и почках.</a:t>
            </a:r>
          </a:p>
          <a:p/>
          <a:p>
            <a:r>
              <a:t>Клинические эффекты изучали у взрослых с хронической болезнью почек и диабетом 2 типа в FIDELIO-DKD, FIGARO-DKD и объединённом анализе FIDELITY. Финеренон сравнивали с плацебо на фоне ингибитора АПФ или блокатора рецепторов ангиотензина в максимально переносимой дозе. Блокада рецептора в почечных канальцах снижает выведение калия, поэтому его уровень в крови может повышаться. Правило простое: калий и рСКФ проверяют до начала лечения, через 4 недели после начала или повышения дозы и далее периодически. Помните схему с натрием и калием: когда рецептор заблокирован, калий хуже выходит в просвет канальца.</a:t>
            </a:r>
          </a:p>
          <a:p/>
          <a:p>
            <a:r>
              <a:t>Как блокада рецептора приводит к исходам, показывает следующий слайд: цепочка от рецептора до строк показания.</a:t>
            </a:r>
          </a:p>
          <a:p/>
          <a:p>
            <a:r>
              <a:t>Фраза для визита: «Финеренон блокирует минералокортикоидный рецептор, который при диабете и ХБП может работать избыточно. У взрослых с ХБП, альбуминурией и диабетом 2 типа на фоне ИАПФ или БРА он снизил по сравнению с плацебо риск почечных исходов (FIDELIO-DKD) и сердечно-сосудистых исходов (FIGARO-DKD). Калий проверяют до начала лечения, через 4 недели и далее периодически».</a:t>
            </a:r>
          </a:p>
          <a:p/>
          <a:p>
            <a:r>
              <a:t>Если врач спросит: «Влияние на воспаление и фиброз доказано у людей?» Данные получены в экспериментах: у мышей финеренон уменьшал фиброз сердца и инвазию макрофагов в ткань (Grune, 2018); в моделях фиброза почки он уменьшал накопление миофибробластов и коллагена, а маркеры воспаления в тестированных дозах не менялись (Droebner, 2021). У пациентов оценивали клинические исходы, они на следующих слайдах.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r>
              <a:t>В FIDELIO-DKD главным был комбинированный почечный исход. В FIGARO-DKD главным был сердечно-сосудистый исход. В обоих исследованиях участвовали взрослые с хронической болезнью почек и диабетом 2 типа. Критерии включения предусматривали альбуминурию и калий не выше 4,8 ммоль/л. Финеренон сравнивали с плацебо на фоне ингибитора АПФ или блокатора рецепторов ангиотензина в максимально переносимой дозе.</a:t>
            </a:r>
          </a:p>
          <a:p/>
          <a:p>
            <a:r>
              <a:t>FIDELITY объединил индивидуальные данные этих работ. Из 13 171 случайно распределённого участника в анализ вошли 13 026. Разница в 145 участников: их исключили до анализа из-за критических нарушений правил надлежащей клинической практики в исследовательских центрах.</a:t>
            </a:r>
          </a:p>
          <a:p/>
          <a:p>
            <a:r>
              <a:t>Объединённый анализ запланировали заранее; значения p в нём приведены без поправки на множественные сравнения. В его почечном исходе учитывали устойчивое снижение рСКФ не менее чем на 57%, а в исходных исследованиях порог был 40%, поэтому почечные результаты FIDELITY и отдельных исследований напрямую не сравнивают.</a:t>
            </a:r>
          </a:p>
          <a:p/>
          <a:p>
            <a:r>
              <a:t>Начнём с FIDELIO-DKD: исследования, где главным исходом были почки.</a:t>
            </a:r>
          </a:p>
          <a:p/>
          <a:p>
            <a:r>
              <a:t>Фраза для визита: «Финеренон изучали в двух исследованиях III фазы, более чем у 13 000 пациентов с ХБП и диабетом 2 типа на фоне ИАПФ или БРА. FIDELIO-DKD оценивал почечные исходы, FIGARO-DKD сердечно-сосудистые, а FIDELITY объединил данные обоих».</a:t>
            </a:r>
          </a:p>
          <a:p/>
          <a:p>
            <a:r>
              <a:t>Если врач спросит: «А пациенты на иНГЛТ2?» В FIDELIO-DKD и FIGARO-DKD иНГЛТ2 получали 877 из 13 026 пациентов (6,7%); в заранее заданной подгруппе результат согласуется с общим (слайд FIDELITY). Группа небольшая; комбинацию двух препаратов изучали отдельно в исследовании CONFIDENCE.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r>
              <a:t>В FIDELIO-DKD изучали взрослых с хронической болезнью почек и диабетом 2 типа. Финеренон сравнивали с плацебо на фоне ингибитора АПФ или блокатора рецепторов ангиотензина в максимально переносимой дозе. Первичный исход объединял почечную недостаточность, снижение рСКФ не менее чем на 40%, сохранявшееся не менее четырёх недель, и смерть от почечных причин.</a:t>
            </a:r>
          </a:p>
          <a:p/>
          <a:p>
            <a:r>
              <a:t>Группа плацебо показывает остаточный риск: на ИАПФ или БРА в максимально переносимой дозе почечный исход возник у 21,1% пациентов при медиане наблюдения 2,6 года. На финереноне у 17,8%.</a:t>
            </a:r>
          </a:p>
          <a:p/>
          <a:p>
            <a:r>
              <a:t>При медиане наблюдения 2,6 года отношение рисков составило 0,82, что соответствует относительному снижению на 18%. Доверительный интервал составил 0,73–0,93. За всё исследование исход зарегистрировали у 17,8% пациентов на финереноне и у 21,1% на плацебо. Кривая показывает накопленную частоту к каждому месяцу с учётом разного срока наблюдения, поэтому её конец не совпадает с долей за всё исследование.</a:t>
            </a:r>
          </a:p>
          <a:p/>
          <a:p>
            <a:r>
              <a:t>Исследователи сообщали о гиперкалиемии у 18,3% пациентов на финереноне и у 9,0% на плацебо. Окончательную отмену из-за неё зарегистрировали у 2,3% и 0,9% соответственно. Калий и рСКФ проверяют до начала лечения, через 4 недели после начала или повышения дозы и далее периодически; в исследовании гиперкалиемии со смертельным исходом не зарегистрировали.</a:t>
            </a:r>
          </a:p>
          <a:p/>
          <a:p>
            <a:r>
              <a:t>Почки показаны. Теперь сердце: FIGARO-DKD, следующий слайд.</a:t>
            </a:r>
          </a:p>
          <a:p/>
          <a:p>
            <a:r>
              <a:t>Фраза для визита: «В FIDELIO-DKD у пациентов с ХБП, диабетом 2 типа и альбуминурией на ИАПФ или БРА в максимально переносимой дозе финеренон снизил риск почечного исхода на 18% по сравнению с плацебо: исход возник у 17,8% против 21,1% при медиане наблюдения 2,6 года».</a:t>
            </a:r>
          </a:p>
          <a:p/>
          <a:p>
            <a:r>
              <a:t>Если врач спросит: «Есть ли польза для сердца?» Да, сердечно-сосудистый исход (вторичный): 13,0% против 14,8%, отношение рисков 0,86 (0,75–0,99). Подробно в FIGARO-DKD. «Сколько лечить?» ЧБНЛ 29 за 3 года. «Почему на графике 34% и 37%, а в тексте 17,8% и 21,1%?» Кривая показывает накопленную частоту к каждому месяцу, к концу графика наблюдаемых пациентов остаётся мало; 17,8% и 21,1% доля за всё исследование. «Почему в публикациях разные цифры по калию?» Исследователи сообщали о гиперкалиемии у 18,3% и 9,0%; по лабораторному критерию (калий выше 5,5 ммоль/л) в отдельном анализе было 21,4% и 9,2%, выше 6,0 ммоль/л 4,5% и 1,4% (Agarwal, JASN 2022). Определения разные, риск возрастал примерно вдвое, при регулярном контроле калия последствия сводились к минимуму.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FIGARO-DKD группа пациентов шире, чем в FIDELIO-DKD, и включает начальные стадии ХБП.</a:t>
            </a:r>
          </a:p>
          <a:p/>
          <a:p>
            <a:r>
              <a:t>В FIGARO-DKD участвовали взрослые с хронической болезнью почек и диабетом 2 типа. Финеренон сравнивали с плацебо на фоне ингибитора АПФ или блокатора рецепторов ангиотензина в максимально переносимой дозе. Первичный исход объединял сердечно-сосудистую смерть, нефатальные инфаркт и инсульт, а также госпитализацию по поводу сердечной недостаточности.</a:t>
            </a:r>
          </a:p>
          <a:p/>
          <a:p>
            <a:r>
              <a:t>При медиане наблюдения 3,4 года отношение рисков составило 0,87, что соответствует относительному снижению на 13%. Доверительный интервал составил 0,76–0,98. Основной вклад дали госпитализации по поводу сердечной недостаточности: риск ниже на 29% (отношение рисков 0,71; 95% ДИ 0,56–0,90). Снижение риска госпитализации по поводу сердечной недостаточности входит в показание у взрослых с ХБП при диабете 2 типа.</a:t>
            </a:r>
          </a:p>
          <a:p/>
          <a:p>
            <a:r>
              <a:t>Исследователи сообщали о гиперкалиемии у 10,8% пациентов на финереноне и у 5,3% на плацебо. Окончательную отмену из-за неё зарегистрировали у 1,2% и 0,4% соответственно. Калий и рСКФ проверяют до начала лечения, через 4 недели после начала или повышения дозы и далее периодически.</a:t>
            </a:r>
          </a:p>
          <a:p/>
          <a:p>
            <a:r>
              <a:t>FIDELIO-DKD и FIGARO-DKD вместе: объединённый анализ FIDELITY.</a:t>
            </a:r>
          </a:p>
          <a:p/>
          <a:p>
            <a:r>
              <a:t>Фраза для визита: «В FIGARO-DKD у пациентов с ХБП и диабетом 2 типа на ИАПФ или БРА финеренон снизил риск сердечно-сосудистых событий на 13% по сравнению с плацебо: 12,4% против 14,2% при медиане наблюдения 3,4 года. Основной вклад дали госпитализации по поводу сердечной недостаточности: риск ниже на 29%».</a:t>
            </a:r>
          </a:p>
          <a:p/>
          <a:p>
            <a:r>
              <a:t>Если врач спросит: «А остальные компоненты?» По отдельности различия по сердечно-сосудистой смерти, инфаркту и инсульту незначимы; основной вклад дали госпитализации по сердечной недостаточности. «А почки в FIGARO-DKD?» Почечный исход (вторичный) 9,5% против 10,8%, отношение рисков 0,87 (0,76–1,01), значимости не достиг. Почечную пользу показывают FIDELIO-DKD и FIDELITY. «А если у пациента есть сердечная недостаточность?» Пациентов с хронической симптомной сердечной недостаточностью со сниженной фракцией выброса в исследование не включали; сердечная недостаточность в анамнезе была у 7,7% участников объединённого анализа. Показание касается снижения риска госпитализации по сердечной недостаточности у взрослых с ХБП и диабетом 2 типа; лечение сердечной недостаточности как отдельного состояния в показание не входит, такие вопросы мы передаём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каждом исследовании мы видели свою сторону: почки в FIDELIO-DKD и сердце в FIGARO-DKD. FIDELITY объединяет их данные.</a:t>
            </a:r>
          </a:p>
          <a:p/>
          <a:p>
            <a:r>
              <a:t>FIDELITY объединил данные FIDELIO-DKD и FIGARO-DKD: 13 026 пациентов с хронической болезнью почек и диабетом 2 типа, медиана наблюдения три года. При сравнении финеренона с плацебо относительный риск комбинированного сердечно-сосудистого исхода был ниже на 14%. Для комбинированного почечного исхода относительное снижение риска составило 23%. Почечный исход включал почечную недостаточность, снижение рСКФ не менее чем на 57%, сохранявшееся не менее четырёх недель, и смерть от почечных причин.</a:t>
            </a:r>
          </a:p>
          <a:p/>
          <a:p>
            <a:r>
              <a:t>Исследователи сообщали о гиперкалиемии у 14,0% пациентов на финереноне и у 6,9% на плацебо. Окончательную отмену из-за неё зарегистрировали у 1,7% и 0,6% соответственно. Калий и рСКФ проверяют до начала лечения, через 4 недели после начала или повышения дозы и далее периодически.</a:t>
            </a:r>
          </a:p>
          <a:p/>
          <a:p>
            <a:r>
              <a:t>Одним из первых признаков ответа служит альбуминурия. Что с ней происходит в первые месяцы, на следующем слайде.</a:t>
            </a:r>
          </a:p>
          <a:p/>
          <a:p>
            <a:r>
              <a:t>Фраза для визита: «В объединённом анализе FIDELITY у 13 026 пациентов с ХБП и диабетом 2 типа при медиане наблюдения 3 года финеренон по сравнению с плацебо снизил риск сердечно-сосудистых событий на 14%, риск почечных исходов на 23% и риск госпитализаций по поводу сердечной недостаточности на 22%. Результат согласуется и у пациентов, получавших иНГЛТ2».</a:t>
            </a:r>
          </a:p>
          <a:p/>
          <a:p>
            <a:r>
              <a:t>Если врач спросит: «А пациенты на иНГЛТ2?» На старте иНГЛТ2 получали 877 пациентов (6,7%), арГПП-1 944 (7,2%); в заранее заданных подгруппах результат согласуется с общим. Рандомизированного сравнения комбинации в FIDELITY не было; об отдельном исследовании комбинации см. CONFIDENCE. «Что с калием?» Госпитализация из-за тяжёлой гиперкалиемии 0,9% против 0,2%, гипокалиемия реже: 1,1% против 2,3%. «Насколько надёжен объединённый анализ?» Анализ спланирован заранее, до объединения данных; его тесты поисковые, p без поправки на множественные сравнения, поэтому опираемся на отношения рисков и доверительные интервалы.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r>
              <a:t>В FIDELITY к четвёртому месяцу отношение альбумина к креатинину мочи при финереноне было на 32% ниже, чем при плацебо, с поправкой на исходный уровень. Разница между группами относительная. На слайде отдельно показана доля пациентов, у которых АКО снизилось не менее чем на 30% от собственного исходного уровня: 53,2% при финереноне и 27,0% при плацебо. Этот показатель рассчитали в дополнительном анализе после получения данных исследования. По инструкции в FIDELIO-DKD АКО к 4-му месяцу было ниже на 31%, в FIGARO-DKD на 32% по сравнению с плацебо.</a:t>
            </a:r>
          </a:p>
          <a:p/>
          <a:p>
            <a:r>
              <a:t>Раннее изменение альбуминурии помогает оценивать ответ на лечение. В дополнительном анализе снижение АКО объясняло от 64% до 84% почечного эффекта и от 26% до 37% сердечно-сосудистого.</a:t>
            </a:r>
          </a:p>
          <a:p/>
          <a:p>
            <a:r>
              <a:t>Альбуминурию снижает и ингибитор НГЛТ2. Часто возникает вопрос, что будет, если начать оба препарата. Об этом исследование CONFIDENCE.</a:t>
            </a:r>
          </a:p>
          <a:p/>
          <a:p>
            <a:r>
              <a:t>Фраза для визита: «В FIDELITY к 4-му месяцу АКО на финереноне было на 32% ниже, чем на плацебо. В дополнительном анализе это раннее снижение объясняло большую часть почечного эффекта финеренона».</a:t>
            </a:r>
          </a:p>
          <a:p/>
          <a:p>
            <a:r>
              <a:t>Если врач спросит: «Можно ли по АКО предсказать исход у конкретного пациента?» АКО показывает ответ на уровне групп; индивидуальный прогноз врач оценивает отдельно, с учётом калия и функции почек, которые продолжают контролировать.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r>
              <a:t>В CONFIDENCE сравнивали одновременное начало приёма финеренона и эмпаглифлозина с началом приёма каждого препарата отдельно. В основной анализ вошли 800 взрослых с хронической болезнью почек и диабетом 2 типа. Все получали ингибитор АПФ или блокатор рецепторов ангиотензина в максимально переносимой дозе.</a:t>
            </a:r>
          </a:p>
          <a:p/>
          <a:p>
            <a:r>
              <a:t>Слева показано отношение АКО к исходному уровню на 180-й день: 0,48 при комбинации, 0,68 при финереноне и 0,71 при эмпаглифлозине. Такие отношения соответствуют снижению внутри групп на 52%, 32% и 29%. В подписях приведены 95% доверительные интервалы. При сравнении групп АКО на комбинации было на 29% ниже, чем на финереноне, и на 32% ниже, чем на эмпаглифлозине. В обоих сравнениях значение p было меньше 0,001. Результаты относятся к альбуминурии. Исходы в исследовании не оценивали; пользу по исходам показывают FIDELIO-DKD, FIGARO-DKD и FIDELITY.</a:t>
            </a:r>
          </a:p>
          <a:p/>
          <a:p>
            <a:r>
              <a:t>Справа показана доля пациентов, у которых калий хотя бы раз превысил 5,5 ммоль/л: 15,1% при комбинации, 18,8% при финереноне и 9,7% при эмпаглифлозине. Различие между комбинацией и финереноном по шансам гиперкалиемии незначимо (p=0,85). Калий при сочетании контролируют по тому же правилу.</a:t>
            </a:r>
          </a:p>
          <a:p/>
          <a:p>
            <a:r>
              <a:t>Что это значит для выбора препарата: финеренон и иНГЛТ2 дополняют друг друга, врачу не нужно выбирать между ними. Об этом следующий слайд.</a:t>
            </a:r>
          </a:p>
          <a:p/>
          <a:p>
            <a:r>
              <a:t>Фраза для визита: «В исследовании CONFIDENCE у 800 пациентов с ХБП и диабетом 2 типа одновременный старт финеренона и эмпаглифлозина снизил АКО к 180-му дню на 52% от исходного. На одном финереноне снижение составило 32%, на одном эмпаглифлозине 29%; различие комбинации с каждым из препаратов значимо (p&lt;0,001). Гиперкалиемия при комбинации возникла у 15,1% пациентов, на одном финереноне у 18,8%».</a:t>
            </a:r>
          </a:p>
          <a:p/>
          <a:p>
            <a:r>
              <a:t>Если врач спросит: «Есть ли данные по исходам у комбинации?» В CONFIDENCE оценивали АКО за 180 дней, исходы не оценивали. Польза финеренона по исходам показана в FIDELIO-DKD, FIGARO-DKD и FIDELITY, в том числе у пациентов на иНГЛТ2. «Эмпаглифлозин снижает риск гиперкалиемии?» В CONFIDENCE при добавлении эмпаглифлозина значимого снижения гиперкалиемии не было: 15,1% на комбинации и 18,8% на финереноне (p=0,85); на одном эмпаглифлозине 9,7%. «Насколько комбинация лучше?» АКО на комбинации ниже, чем на финереноне, на 29% (отношение 0,71; 95% ДИ 0,61–0,82), и ниже, чем на эмпаглифлозине, на 32% (0,68; 0,59–0,79); это сравнение между группами, не путать со снижением от исходного (52%, 32%, 29%). «Почему нет группы плацебо?» В каждой группе был активный препарат и плацебо-пара другого препарата; чистой группы плацебо в исследовании не было. «Можно ли начинать финеренон и эмпаглифлозин одновременно?» В CONFIDENCE изучали одновременный старт. Схема одновременного старта двух препаратов в инструкции не описана: медицинский представитель пересказывает результаты исследования и не даёт рекомендаций по схеме назначения; порядок назначения определяет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рекомендациях ADA 2026 отдельно рассмотрены применение финеренона и начало его приёма одновременно с ингибитором НГЛТ2. Рекомендация 11.8 касается нестероидного антагониста МКР с доказанной эффективностью при ХБП с альбуминурией и рСКФ не менее 25 мл/мин/1,73 м². После начала лечения необходим контроль калия.</a:t>
            </a:r>
          </a:p>
          <a:p/>
          <a:p>
            <a:r>
              <a:t>Рекомендация 11.9 с уровнем доказательств B позволяет рассмотреть одновременное начало приёма финеренона и ингибитора НГЛТ2 у взрослых с диабетом 2 типа, АКО не менее 100 мг/г и рСКФ 30–90 мл/мин/1,73 м² на фоне ингибитора АПФ или БРА. Основанием послужило снижение альбуминурии в CONFIDENCE: к 180-му дню АКО снизилось от исходного на 52% при сочетании, на 32% на финереноне и на 29% на эмпаглифлозине.</a:t>
            </a:r>
          </a:p>
          <a:p/>
          <a:p>
            <a:r>
              <a:t>Рекомендации определили место финеренона. Теперь практический вопрос: как начать лечение, на каких анализах и с какой дозы.</a:t>
            </a:r>
          </a:p>
          <a:p/>
          <a:p>
            <a:r>
              <a:t>Фраза для визита: «Финеренон входит в рекомендации ADA для пациентов с диабетом 2 типа и ХБП с альбуминурией. У каких ваших пациентов с диабетом 2 типа альбуминурия сохраняется на фоне ингибитора АПФ или БРА?»</a:t>
            </a:r>
          </a:p>
          <a:p/>
          <a:p>
            <a:r>
              <a:t>Если врач спросит: «Есть ли исходы при одновременном старте?» Ответ: CONFIDENCE оценивал АКО за 180 дней (II фаза), клинические исходы в нём не изучали. Рекомендация 11.9 (уровень B) основана на снижении альбуминурии и допускает одновременный старт.</a:t>
            </a:r>
          </a:p>
          <a:p/>
          <a:p>
            <a:r>
              <a:t>Если врач спросит: «Написано ли это в вашей инструкции?» Ответ: Показание Финеренон-Орвилле: ХБП, связанная с диабетом 2 типа. Рекомендации описывают место препарата в схеме лечения, показание они не меняют. Одновременный старт с ингибитором НГЛТ2 в инструкции не описан: это рекомендация ADA, решение принимает врач. Условия начала и противопоказания смотрим по инструкции.</a:t>
            </a:r>
          </a:p>
          <a:p/>
          <a:p>
            <a:r>
              <a:t>Если врач спросит: «Какой уровень доказательств у рекомендации?» Ответ: У 11.9 уровень B. По 11.8 уровень уточню у медицинского отдела.</a:t>
            </a:r>
          </a:p>
          <a:p/>
          <a:p>
            <a:r>
              <a:t>Если врач спросит: «А европейские рекомендации?» Ответ: Рекомендации ESC и ERA 2026 по сердечно-сосудистым болезням и ХБП мы сверяем, класс и уровень назову после проверки.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CONFIDENCE мы увидели, что финеренон и эмпаглифлозин вместе снижают альбуминурию сильнее, чем каждый по отдельности. Теперь посмотрим, как это выглядит в схеме лечения. Препараты действуют на разные мишени. Поэтому назначение финеренона само по себе не требует отмены переносимого ингибитора НГЛТ2.</a:t>
            </a:r>
          </a:p>
          <a:p/>
          <a:p>
            <a:r>
              <a:t>В рекомендациях KDIGO препараты добавляют к терапии по показаниям. Для финеренона на этой схеме приведены диабет 2 типа, АКО не менее 30 мг/г, рСКФ не менее 25 мл/мин/1,73 м² и нормальный калий. Для ингибитора НГЛТ2 указан порог рСКФ не менее 20 мл/мин/1,73 м². Показание по инструкции Финеренон-Орвилле: ХБП, связанная с диабетом 2 типа. KDIGO описывает более узкую группу: нужны альбуминурия и ингибитор АПФ или БРА в максимальной дозе. Порог калия для старта по инструкции: не выше 4,8 ммоль/л, до 5,0 с дополнительным контролем в первые 4 недели. Сочетание и последовательность врач определяет по анализам и переносимости.</a:t>
            </a:r>
          </a:p>
          <a:p/>
          <a:p>
            <a:r>
              <a:t>Мы разобрали, как финеренон сочетается с ингибитором НГЛТ2. Теперь вопрос, который врачи задают часто: чем финеренон отличается от спиронолактона, который они знают дольше.</a:t>
            </a:r>
          </a:p>
          <a:p/>
          <a:p>
            <a:r>
              <a:t>Фраза для визита: «Финеренон и ингибитор НГЛТ2 действуют на разные мишени, врачу не нужно выбирать между ними. В исследовании CONFIDENCE при одновременном начале обоих препаратов альбуминурия снизилась на 52% от исходной, на одном финереноне на 32%, на одном эмпаглифлозине на 29%».</a:t>
            </a:r>
          </a:p>
          <a:p/>
          <a:p>
            <a:r>
              <a:t>Если врач спросит: «Можно заменить ингибитор НГЛТ2 финереноном?» Ответ: Препараты не взаимозаменяемы, у них разные механизмы, исследования и показания. Если ингибитор НГЛТ2 не подходит, финеренон назначают на фоне ингибитора АПФ или БРА.</a:t>
            </a:r>
          </a:p>
          <a:p/>
          <a:p>
            <a:r>
              <a:t>Если врач спросит: «Польза сочетания по исходам доказана?» Ответ: CONFIDENCE (II фаза) оценивал АКО за 180 дней, исходов в нём нет. По исходам финеренон изучали в FIDELITY: ингибитор НГЛТ2 получали 877 из 13 026 пациентов (6,7%), результаты в этой подгруппе согласовались с общими. Рандомизации по ингибитору НГЛТ2 в FIDELITY не было.</a:t>
            </a:r>
          </a:p>
          <a:p/>
          <a:p>
            <a:r>
              <a:t>Если врач спросит: «Не растёт ли калий при сочетании?» Ответ: В CONFIDENCE калий выше 5,5 ммоль/л хотя бы раз был у 15,1% на сочетании, у 18,8% на финереноне и у 9,7% на эмпаглифлозине. Между сочетанием и одним финереноном значимой разницы нет (p=0,85). Контроль калия сохраняется.</a:t>
            </a:r>
          </a:p>
          <a:p/>
          <a:p>
            <a:r>
              <a:t>Если врач спросит: «А арГПП-1?» Ответ: арГПП-1 действуют на обмен веществ, финеренон блокирует МКР. В FIDELITY арГПП-1 получали 944 пациента (7,2%), результаты в этой подгруппе согласовались с общими. Сочетание врач выбирает по показаниям.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  <a:p>
            <a:r>
              <a:t>Финеренон и спиронолактон блокируют один и тот же минералокортикоидный рецептор. Финеренон нестероидный, избирательно блокирует МКР, его метаболиты неактивны. Спиронолактон стероидный: он действует и на рецепторы половых гормонов, с чем связаны антиандрогенные эффекты, и у него есть активные метаболиты. В FIDELITY гинекомастия отмечена у 0,1% пациентов на финереноне и у 0,2% на плацебо.</a:t>
            </a:r>
          </a:p>
          <a:p/>
          <a:p>
            <a:r>
              <a:t>Главное различие в доказательствах. Для финеренона есть крупные исследования исходов у пациентов с ХБП и диабетом 2 типа. В FIDELITY у 13 026 пациентов по сравнению с плацебо риск почечного исхода был ниже на 23% (отношение рисков 0,77; 95% ДИ 0,67–0,88), риск сердечно-сосудистого исхода ниже на 14% (отношение рисков 0,86; 0,78–0,95); медиана наблюдения 3,0 года. Для спиронолактона и эплеренона таких исследований при ХБП и диабете 2 типа нет.</a:t>
            </a:r>
          </a:p>
          <a:p/>
          <a:p>
            <a:r>
              <a:t>Прямое сравнение есть по калию. В ARTS (II фаза, 392 пациента с сердечной недостаточностью со сниженной фракцией выброса и умеренной ХБП, 4 недели) гиперкалиемия возникла у 5,3% на финереноне и у 12,7% на спиронолактоне (p=0,048). Пациенты в ARTS другие, исследование II фазы, поэтому на визите называйте его полностью: ARTS, II фаза, сердечная недостаточность и ХБП.</a:t>
            </a:r>
          </a:p>
          <a:p/>
          <a:p>
            <a:r>
              <a:t>Рекомендация ADA называет именно нестероидный антагонист МКР с доказанной пользой. Посмотрим, что в ней записано.</a:t>
            </a:r>
          </a:p>
          <a:p/>
          <a:p>
            <a:r>
              <a:t>Фраза для визита: «Финеренон нестероидный и избирательный, и только у него есть крупные исследования исходов у пациентов с ХБП и диабетом 2 типа. По калию его сравнивали со спиронолактоном в ARTS (II фаза, сердечная недостаточность и ХБП): гиперкалиемия 5,3% против 12,7%. С финереноном спиронолактон не назначают».</a:t>
            </a:r>
          </a:p>
          <a:p/>
          <a:p>
            <a:r>
              <a:t>Если врач спросит: «Что лучше?» Ответ: Прямого сравнения по почечным и сердечно-сосудистым исходам нет, и мы его не заявляем. У пациента с ХБП и диабетом 2 типа довод за финеренон в том, что именно для этой группы есть исследования FIDELIO-DKD и FIGARO-DKD и показание в инструкции. Прямое сравнение есть по калию (ARTS).</a:t>
            </a:r>
          </a:p>
          <a:p/>
          <a:p>
            <a:r>
              <a:t>Если врач спросит: «У спиронолактона разве нет доказательств?» Ответ: Есть, в другой группе. В RALES (1663 пациента с тяжёлой СН и ФВ ЛЖ не выше 35%) спиронолактон снизил риск смерти на 30% по сравнению с плацебо (относительный риск 0,70; 95% ДИ 0,60–0,82). Гинекомастия или боль в груди отмечены у 10% мужчин на спиронолактоне и у 1% на плацебо. При ХБП и диабете 2 типа исследований исходов у спиронолактона нет.</a:t>
            </a:r>
          </a:p>
          <a:p/>
          <a:p>
            <a:r>
              <a:t>Если врач спросит: «На чём основана избирательность?» Ответ: По инструкции финеренон селективный нестероидный антагонист МКР. В лабораторных работах показана высокая избирательность финеренона и недостаток её у спиронолактона (Bärfacker L, et al. ChemMedChem 2012). Клинические данные по половым гормонам: гинекомастия в FIDELITY 0,1% и 0,2% на плацебо (все участники). В RALES у мужчин на спиронолактоне 10% против 1% на плацебо. Исследования и группы разные, прямого сравнения нет.</a:t>
            </a:r>
          </a:p>
          <a:p/>
          <a:p>
            <a:r>
              <a:t>Если врач спросит: «Какие дозы были в ARTS?» Ответ: Финеренон 2,5, 5 или 10 мг один раз в сутки либо 5 мг два раза в сутки, спиронолактон 25 или 50 мг в открытой группе. Цифра 5,3% относится ко всем дозам финеренона вместе. Зарегистрированная схема 10 и 20 мг.</a:t>
            </a:r>
          </a:p>
          <a:p/>
          <a:p>
            <a:r>
              <a:t>Если врач спросит: «А эплеренон?» Ответ: Эплеренон тоже стероидный. Исследований исходов при ХБП и диабете 2 типа у него нет, с финереноном его не назначают (инструкция).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Повышение калия связано с той же мишенью, через которую действует финеренон. В клетках собирательной трубочки сигнал альдостерона поддерживает всасывание натрия и выведение калия в мочу. При блокаде рецептора через натриевый канал проходит меньше натрия. Электрическая движущая сила для секреции калия ослабевает, и меньше калия поступает в просвет трубочки. Его концентрация в крови может повыситься.</a:t>
            </a:r>
          </a:p>
          <a:p/>
          <a:p>
            <a:r>
              <a:t>Риск зависит также от исходного калия, функции почек, сопутствующих заболеваний и лекарств.</a:t>
            </a:r>
          </a:p>
          <a:p/>
          <a:p>
            <a:r>
              <a:t>Калий зависит и от концентрации самого финеренона. Её меняют лекарства, которые влияют на фермент CYP3A4. Об этом следующий слайд.</a:t>
            </a:r>
          </a:p>
          <a:p/>
          <a:p>
            <a:r>
              <a:t>Фраза для визита: «Повышение калия при финереноне связано с механизмом действия, поэтому калий проверяют по расписанию: до начала, через 4 недели и далее периодически. В FIDELITY из-за гиперкалиемии окончательно прекратили лечение 1,7% пациентов на финереноне и 0,6% на плацебо за время наблюдения около 3 лет».</a:t>
            </a:r>
          </a:p>
          <a:p/>
          <a:p>
            <a:r>
              <a:t>Если врач спросит: «Правда, что ингибиторы НГЛТ2 снижают риск гиперкалиемии?» Ответ: В анализе FIDELIO-DKD у получавших ингибиторы НГЛТ2 или диуретики риск был ниже. Наблюдение сделано без рандомизации: пациентов на такую терапию случайно не распределяли. В CONFIDENCE калий выше 5,5 ммоль/л хотя бы раз был у 15,1% на сочетании, у 18,8% на финереноне и у 9,7% на эмпаглифлозине; между сочетанием и финереноном значимой разницы нет (p=0,85). Контроль калия сохраняется.</a:t>
            </a:r>
          </a:p>
          <a:p/>
          <a:p>
            <a:r>
              <a:t>Если врач спросит: «А если смотреть по строгому порогу?» Ответ: В FIDELIO-DKD калий выше 5,5 ммоль/л хотя бы раз отмечен у 21,4% на финереноне и 9,2% на плацебо, выше 6,0 у 4,5% и 1,4%. По протоколу исследования препарат при этом временно отменяли и возобновляли по 10 мг при калии ≤5,0.</a:t>
            </a:r>
          </a:p>
          <a:p/>
          <a:p>
            <a:r>
              <a:t>Если врач спросит: «А тяжёлая гиперкалиемия бывает?» Ответ: В FIDELITY госпитализация из-за гиперкалиемии у 0,9% на финереноне и 0,2% на плацебо, случаев со смертельным исходом не было ни в одной группе. После 4-го месяца калий в среднем вырос на 0,21 ммоль/л на финереноне и на 0,02 на плацебо и дальше держался стабильно. Гипокалиемия реже на финереноне: 1,1% против 2,3%.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Финеренон превращается в неактивные метаболиты; около 90% приходится на CYP3A4 в печени и стенке кишечника, около 10% на CYP2C8. Абсолютная биодоступность финеренона 43,5%: часть дозы метаболизируется при первом проходе через стенку кишечника и печень. Сравним два варианта при одной и той же дозе финеренона.</a:t>
            </a:r>
          </a:p>
          <a:p/>
          <a:p>
            <a:r>
              <a:t>В верхней строке показано ингибирование. Активность CYP3A4 подавляется, метаболизм замедляется. Концентрация финеренона в крови повышается. Это может увеличивать риск гиперкалиемии. Совместное применение финеренона с сильными ингибиторами CYP3A4 противопоказано. К ним относятся кларитромицин, кетоконазол, итраконазол, ритонавир и нелфинавир.</a:t>
            </a:r>
          </a:p>
          <a:p/>
          <a:p>
            <a:r>
              <a:t>С умеренными и слабыми ингибиторами нужен контроль калия. Его проверяют при начале лечения и при изменении дозы финеренона или ингибитора CYP3A4. При необходимости врач корректирует дозу финеренона. Примеры умеренных ингибиторов: эритромицин и верапамил. Пример слабого: флувоксамин.</a:t>
            </a:r>
          </a:p>
          <a:p/>
          <a:p>
            <a:r>
              <a:t>Нижняя строка показывает индукцию. Способность системы метаболизировать препарат возрастает. Концентрация финеренона снижается, и его эффект может ослабевать. Совместное применение с сильными и умеренными индукторами не рекомендуется. Сильные индукторы: рифампицин, карбамазепин и зверобой. Умеренный индуктор: эфавиренз. Грейпфрут и его сок исключают на время лечения.</a:t>
            </a:r>
          </a:p>
          <a:p/>
          <a:p>
            <a:r>
              <a:t>Теперь соберём все группы взаимодействий в одном слайде.</a:t>
            </a:r>
          </a:p>
          <a:p/>
          <a:p>
            <a:r>
              <a:t>Фраза для визита: «Перед назначением финеренона смотрим список лекарств: сильные ингибиторы CYP3A4, например кларитромицин, противопоказаны, а сильные и умеренные индукторы, например рифампицин, не рекомендуются».</a:t>
            </a:r>
          </a:p>
          <a:p/>
          <a:p>
            <a:r>
              <a:t>Если врач спросит: «Где это написано?» Ответ: Сильные ингибиторы указаны в инструкции Финеренон-Орвилле. Умеренные и слабые ингибиторы, индукторы и грейпфрут описаны в инструкции Kerendia (раздел 4.5). Конкретное сочетание и дозу оценивает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Взаимодействия различаются по требуемым действиям. Сильные ингибиторы CYP3A4 противопоказаны (инструкция Финеренон-Орвилле). К ним относятся кларитромицин, кетоконазол, итраконазол, ритонавир и нелфинавир. Финеренон также не следует назначать вместе с другими антагонистами минералокортикоидного рецептора или калийсберегающими диуретиками. При сочетании с препаратами калия и триметопримом, в том числе в составе ко-тримоксазола, нужны осторожность и контроль калия.</a:t>
            </a:r>
          </a:p>
          <a:p/>
          <a:p>
            <a:r>
              <a:t>Инструкция Kerendia (ЕС) не рекомендует сильные и умеренные индукторы CYP3A4, предусматривает исключение грейпфрута и его сока и дополнительный контроль при умеренных или слабых ингибиторах.</a:t>
            </a:r>
          </a:p>
          <a:p/>
          <a:p>
            <a:r>
              <a:t>Для проверки нужен полный список лекарств, добавок и безрецептурных средств. Представитель объясняет, почему взаимодействия имеют значение. Необходимость сочетания, изменение доз и сроки анализов определяет врач.</a:t>
            </a:r>
          </a:p>
          <a:p/>
          <a:p>
            <a:r>
              <a:t>Взаимодействия проверены. Осталось посмотреть, что нужно знать об особых группах пациентов: это следующий слайд, о безопасности.</a:t>
            </a:r>
          </a:p>
          <a:p/>
          <a:p>
            <a:r>
              <a:t>Фраза для визита: «Перед назначением финеренона врач проверяет список лекарств. Сильные ингибиторы CYP3A4 противопоказаны, другие антагонисты МКР и калийсберегающие диуретики не назначают, с препаратами калия и триметопримом контролируют калий».</a:t>
            </a:r>
          </a:p>
          <a:p/>
          <a:p>
            <a:r>
              <a:t>Если врач спросит: «Где это написано?» Ответ: Сильные ингибиторы, другие антагонисты МКР, калийсберегающие диуретики, препараты калия и триметоприм указаны в инструкции Финеренон-Орвилле. Индукторы, грейпфрут, умеренные и слабые ингибиторы описаны в инструкции Kerendia (раздел 4.5).</a:t>
            </a:r>
          </a:p>
          <a:p/>
          <a:p>
            <a:r>
              <a:t>Если врач спросит: «Что делать с НПВП и заменителями соли?» Ответ: В тексте инструкции Финеренон-Орвилле их нет. Общий клинический принцип для пациентов с ХБП: НПВП и калийсодержащие заменители соли могут повышать калий, а НПВП ещё и ухудшать функцию почек. Конкретную тактику выбирает врач, источник уточню у медицинского отдела.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Показание по инструкции Финеренон-Орвилле (перевод с узбекского): «Финеренон показан для снижения риска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сердечной недостаточности у взрослых пациентов с хронической болезнью почек, связанной с сахарным диабетом 2 типа». Перечень рисков относится именно к этой группе пациентов.</a:t>
            </a:r>
          </a:p>
          <a:p/>
          <a:p>
            <a:r>
              <a:t>Перед началом врач оценивает калий, рСКФ, противопоказания и сопутствующие препараты. При калии не выше 4,8 ммоль/л лечение можно начать, если остальные условия соблюдены. При калии выше 4,8, но не выше 5,0 ммоль/л начало можно рассмотреть с дополнительным контролем калия в первые четыре недели. При калии выше 5,0 ммоль/л лечение не начинают.</a:t>
            </a:r>
          </a:p>
          <a:p/>
          <a:p>
            <a:r>
              <a:t>Если рСКФ не менее 60 мл/мин/1,73 м², начальная доза составляет 20 мг один раз в сутки. Если рСКФ не менее 25, но ниже 60, начальная доза составляет 10 мг один раз в сутки. При рСКФ ниже 25 начинать лечение не рекомендуется. Целевая и максимальная доза составляет 20 мг один раз в сутки. Противопоказания включают гиперчувствительность к компонентам, болезнь Аддисона и одновременное применение сильных ингибиторов CYP3A4. Одной рСКФ недостаточно, чтобы решить, можно ли начать лечение.</a:t>
            </a:r>
          </a:p>
          <a:p/>
          <a:p>
            <a:r>
              <a:t>Допустим, лечение началось. Теперь о том, когда проверять калий и рСКФ дальше.</a:t>
            </a:r>
          </a:p>
          <a:p/>
          <a:p>
            <a:r>
              <a:t>Фраза для визита: «Правило старта простое: два анализа, калий и рСКФ. Калий решает, можно ли начинать, рСКФ определяет дозу, 20 или 10 мг. Целевая доза 20 мг один раз в сутки».</a:t>
            </a:r>
          </a:p>
          <a:p/>
          <a:p>
            <a:r>
              <a:t>Если врач спросит: «Почему при рСКФ 25–60 доза 10 мг?» Ответ: Начальную дозу инструкция выбирает по рСКФ. При умеренном нарушении функции почек (клиренс креатинина от 30 до 60 мл/мин) AUC финеренона по инструкции выше на 34–36%. Цель 20 мг, повышение дозы идёт по калию (слайд «Коррекция дозы»).</a:t>
            </a:r>
          </a:p>
          <a:p/>
          <a:p>
            <a:r>
              <a:t>Если врач спросит: «Можно ли начинать при калии 4,9?» Ответ: По инструкции при калии выше 4,8 и не выше 5,0 ммоль/л начало можно рассмотреть, с дополнительным контролем калия в первые 4 недели. При калии выше 5,0 лечение не начинают.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Наблюдение планируют с самого начала лечения. Калий и рСКФ определяют до первой дозы, затем через четыре недели после начала, возобновления лечения или повышения дозы (инструкция). Далее калий контролируют периодически с учётом особенностей пациента и результатов анализов.</a:t>
            </a:r>
          </a:p>
          <a:p/>
          <a:p>
            <a:r>
              <a:t>Если исходный калий выше 4,8, но не выше 5,0 ммоль/л, инструкция предусматривает дополнительный контроль в первые четыре недели. Острое заболевание, обезвоживание, ухудшение функции почек или новое взаимодействующее лекарство могут потребовать более раннего анализа. Срок определяет врач. При сочетании с ингибитором НГЛТ2 необходимость контроля калия сохраняется.</a:t>
            </a:r>
          </a:p>
          <a:p/>
          <a:p>
            <a:r>
              <a:t>Что делать, если калий вырос: алгоритм коррекции дозы на следующем слайде.</a:t>
            </a:r>
          </a:p>
          <a:p/>
          <a:p>
            <a:r>
              <a:t>Фраза для визита: «Контроль простой: калий и рСКФ до первой дозы, через 4 недели и далее периодически. При остром заболевании, обезвоживании или новом препарате анализ делают раньше».</a:t>
            </a:r>
          </a:p>
          <a:p/>
          <a:p>
            <a:r>
              <a:t>Если врач спросит: «Как часто потом?» Ответ: Инструкция: периодически, с учётом калия и особенностей пациента. В протоколах FIDELIO-DKD и FIGARO-DKD калий определяли на плановых визитах примерно каждые 4 месяца, KDIGO 2022 предлагает такой же интервал. Конкретный срок определяет врач.</a:t>
            </a:r>
          </a:p>
          <a:p/>
          <a:p>
            <a:r>
              <a:t>Если врач спросит: «После начала упала рСКФ, что делать?» Ответ: По инструкции начало лечения может привести к небольшому снижению рСКФ в первые 4 недели, затем она стабилизируется. В FIDELITY снижение рСКФ как нежелательное явление отмечено у 5,3% на финереноне и 4,2% на плацебо. Оценку и тактику выбирает врач.</a:t>
            </a:r>
          </a:p>
          <a:p/>
          <a:p>
            <a:r>
              <a:t>Если врач спросит: «Что с рСКФ после старта?» Ответ: В первые 4 недели рСКФ может немного снизиться, затем стабилизируется; калий и рСКФ проверяют через 4 недели. Решение о коррекции принимает врач.</a:t>
            </a:r>
          </a:p>
          <a:p/>
          <a:p>
            <a:r>
              <a:t>Если врач спросит: «С ингибитором НГЛТ2 калий можно контролировать реже?» Ответ: Сочетание значимо не снижало риск гиперкалиемии. В CONFIDENCE калий выше 5,5 ммоль/л хотя бы раз был у 15,1% на сочетании и у 18,8% на финереноне (p=0,85). Режим контроля тот же.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Коррекция дозы зависит от калия и изменения рСКФ. При калии 4,8 ммоль/л и ниже дозу 10 мг повышают до 20 мг один раз в сутки, а дозу 20 мг сохраняют. Есть исключение: если рСКФ снизилась более чем на 30% от предыдущего измерения, дозу 10 мг не повышают. При калии выше 4,8, но не выше 5,5 ммоль/л сохраняют текущую дозу.</a:t>
            </a:r>
          </a:p>
          <a:p/>
          <a:p>
            <a:r>
              <a:t>При калии выше 5,5 ммоль/л финеренон временно отменяют. Если в повторном анализе калий не выше 5,0 ммоль/л, врач может возобновить приём финеренона в дозе 10 мг один раз в сутки. Через четыре недели после возобновления или повышения дозы повторяют калий и рСКФ.</a:t>
            </a:r>
          </a:p>
          <a:p/>
          <a:p>
            <a:r>
              <a:t>Срочность оценки высокого калия описана в руководстве UK Kidney Association (издание июля 2026 года). При калии 6,0 ммоль/л и выше оценка срочная, без ожидания планового контроля; при 6,5 и выше нужна немедленная оценка в стационаре. Ухудшение состояния может потребовать помощи раньше. МП не определяет тактику лечения гиперкалиемии.</a:t>
            </a:r>
          </a:p>
          <a:p/>
          <a:p>
            <a:r>
              <a:t>Правило простое. Теперь разберём, откуда берётся повышение калия и насколько часто оно бывает.</a:t>
            </a:r>
          </a:p>
          <a:p/>
          <a:p>
            <a:r>
              <a:t>Фраза для визита: «Дозу выбирают по калию: при 4,8 и ниже 10 мг повышают до 20 мг, до 5,5 сохраняют, выше 5,5 временно отменяют. Калий и рСКФ проверяют через 4 недели после старта».</a:t>
            </a:r>
          </a:p>
          <a:p/>
          <a:p>
            <a:r>
              <a:t>Если врач спросит: «Почему рСКФ снизилась после старта?» В первые 4 недели возможно небольшое снижение рСКФ, затем показатель стабилизируется (по инструкции). Поэтому рСКФ и калий проверяют через 4 недели, а дозу 10 мг не повышают, если рСКФ снизилась более чем на 30% от предыдущего измерения.</a:t>
            </a:r>
          </a:p>
          <a:p/>
          <a:p>
            <a:r>
              <a:t>Если врач спросит, как вели калий в исследованиях: в FIDELITY (13 026 пациентов, медиана 3,0 года) препарат приостанавливали при калии выше 5,5 и возобновляли при 5,0 и ниже; окончательно отменили из-за гиперкалиемии 1,7% пациентов на финереноне и 0,6% на плацебо.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Кроме калия и взаимодействий врачу нужно знать ещё несколько правил: особые группы пациентов и другие нежелательные реакции. Сведения о безопасности собраны на одном слайде в трёх карточках: калий, другие реакции, особые группы. Финеренон может вызывать гиперкалиемию, гипотензию и гипонатриемию. Числа на слайде получены в FIDELITY: 13 026 пациентов, медиана наблюдения 3,0 года. Гиперкалиемия по сообщениям исследователей была у 14,0% на финереноне и у 6,9% на плацебо; окончательно отменили лечение из-за неё 1,7% и 0,6%; случаев смерти от гиперкалиемии не было. Острое повреждение почек: 3,4% и 3,6%. Серьёзные нежелательные явления: 31,6% и 33,7%. До 18 лет эффективность и безопасность не установлены, пожилым коррекция дозы не требуется, данных о применении при беременности и в период лактации в инструкции нет.</a:t>
            </a:r>
          </a:p>
          <a:p/>
          <a:p>
            <a:r>
              <a:t>При рСКФ ниже 15 мл/мин/1,73 м² лечение прекращают. При тяжёлом нарушении функции печени класса C по Чайлд–Пью его не начинают. При классе B начальную дозу не меняют и рассматривают дополнительный контроль калия. Во время беременности препарат применяют только после тщательной оценки пользы для матери и риска для плода, женщинам детородного возраста нужна эффективная контрацепция, при грудном вскармливании решают, что прекратить: кормление или лечение. Эти правила взяты из европейской инструкции Kerendia и отмечены на слайде значком ¹.</a:t>
            </a:r>
          </a:p>
          <a:p/>
          <a:p>
            <a:r>
              <a:t>Если МП узнал о нежелательном явлении, он передаёт сведения в фармаконадзор по действующей процедуре компании. Доказательства связи с препаратом ждать не нужно. Срочность медицинской помощи оценивает врач независимо от срока передачи сообщения. МП не советует лечение и не устанавливает причинную связь.</a:t>
            </a:r>
          </a:p>
          <a:p/>
          <a:p>
            <a:r>
              <a:t>Правила понятны. Проверим, как они работают на двух условных пациентах.</a:t>
            </a:r>
          </a:p>
          <a:p/>
          <a:p>
            <a:r>
              <a:t>Фраза для визита: «Калий проверяют до начала, через 4 недели и далее периодически. В FIDELITY из-за гиперкалиемии лечение окончательно отменили у 1,7% пациентов на финереноне и у 0,6% на плацебо».</a:t>
            </a:r>
          </a:p>
          <a:p/>
          <a:p>
            <a:r>
              <a:t>Если врач спросит о давлении: среднее систолическое давление через 4 месяца изменилось на −3,2 мм рт. ст. на финереноне и на +0,5 на плацебо. О полной картине (в каждой паре первое число у финеренона, второе у плацебо): любые нежелательные явления 86,1% и 86,4%; явления, приведшие к отмене, 6,4% и 5,4%; госпитализация из-за серьёзной гиперкалиемии 0,9% и 0,2%. О низком калии: гипокалиемия 1,1% на финереноне и 2,3% на плацебо. О гинекомастии: 0,1% и 0,2%. Откуда правила для печени, для рСКФ ниже 15 и по контрацепции: из европейской инструкции Kerendia; в инструкции Финеренон-Орвилле по беременности и лактации данных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Перед нами два условных случая. У первого пациента АКО составляет 320 и 360 мг/г в анализах с интервалом четыре месяца, рСКФ 48 мл/мин/1,73 м², калий 4,6 ммоль/л. Известны препараты, которые он получает: лозартан и эмпаглифлозин. У второго пациента АКО 110 мг/г определили однократно во время инфекции мочевых путей, рСКФ составляет 78, а результат калия и полный список лекарств пока неизвестны.</a:t>
            </a:r>
          </a:p>
          <a:p/>
          <a:p>
            <a:r>
              <a:t>Какие сведения уже позволяют врачу оценивать возможность начала лечения, а чего ещё не хватает? Какой результат нельзя трактовать без учёта обстоятельств, в которых сделан анализ?</a:t>
            </a:r>
          </a:p>
          <a:p/>
          <a:p>
            <a:r>
              <a:t>У пациента 1 есть все данные: подтверждённая альбуминурия, рСКФ 48, калий 4,6, лозартан в максимальной дозе, известный список лекарств; по рСКФ 48 стартовая доза 10 мг. Если врач не найдёт противопоказаний и взаимодействий, он может рассмотреть начало лечения. У пациента 2 АКО определено один раз при инфекции мочевых путей, поэтому анализ нужно повторить; сохранная рСКФ не исключает ХБП, поэтому одной рСКФ для решения недостаточно. Решение о лечении принимает врач.</a:t>
            </a:r>
          </a:p>
          <a:p/>
          <a:p>
            <a:r>
              <a:t>Следующий случай другой: у пациента с рСКФ 65 через 4 недели после старта повысился калий.</a:t>
            </a:r>
          </a:p>
          <a:p/>
          <a:p>
            <a:r>
              <a:t>Фраза для визита: «У каких ваших пациентов с ХБП и диабетом 2 типа альбуминурия сохраняется, несмотря на ингибитор АПФ или БРА в максимальной дозе (с ингибитором НГЛТ2 или без)?»</a:t>
            </a:r>
          </a:p>
          <a:p/>
          <a:p>
            <a:r>
              <a:t>Если врач спросит про калий 4,9–5,0: по инструкции начало возможно с дополнительным контролем калия в первые 4 недели; строка «Калий ≤4,8» показывает условие без оговорок.</a:t>
            </a:r>
          </a:p>
          <a:p/>
          <a:p>
            <a:r>
              <a:t>Если врач спросит: «Пациент уже получает эмпаглифлозин». Ингибитор НГЛТ2 не исключает финеренон: в FIDELITY его получали 877 из 13 026 пациентов (6,7%), и польза у них была не меньше, чем у остальных; в CONFIDENCE снижение АКО от исходного составило 52% при комбинации против 32% на финереноне и 29% на эмпаглифлозине (800 пациентов, 180 дней).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этом условном случае до лечения калий составлял 4,5 ммоль/л, рСКФ 65 мл/мин/1,73 м². Пациент начал получать финеренон 20 мг один раз в сутки. Через четыре недели калий повысился до 5,7, рСКФ составила 61. Незадолго до анализа пациент получил ко-тримоксазол.</a:t>
            </a:r>
          </a:p>
          <a:p/>
          <a:p>
            <a:r>
              <a:t>Что в этой истории требует внимания врача? Означает ли повышение калия, что лечение нужно окончательно прекратить? От чего зависят срок повторного анализа и возможность возобновления?</a:t>
            </a:r>
          </a:p>
          <a:p/>
          <a:p>
            <a:r>
              <a:t>Калий 5,7 выше 5,5, поэтому финеренон временно отменяют и ищут причину: недавно начатый курс ко-тримоксазола (триметоприм) может повышать калий. Окончательная отмена не потребовалась: при повторном анализе калий 4,9, и лечение возобновляют с 10 мг, а через 4 недели при калии 4,8 и ниже и снижении рСКФ не более чем на 30% дозу повышают до 20 мг. Врач действует по анализам; МП, получивший сообщение о нежелательном явлении, передаёт его в фармаконадзор и лечение не советует. Лечение конкретному пациенту назначает врач.</a:t>
            </a:r>
          </a:p>
          <a:p/>
          <a:p>
            <a:r>
              <a:t>Вопросы о калии мы услышим на визитах. Следующие слайды собирают возражения врачей и ответы на них.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Мы прошли путь от механизма действия до сценария визита. У взрослого с ХБП и диабетом 2 типа давление и уровень глюкозы в целевом диапазоне, но альбуминурия сохраняется. Какие сведения нужны для обсуждения дополнительного лечения?</a:t>
            </a:r>
          </a:p>
          <a:p/>
          <a:p>
            <a:r>
              <a:t>Во второй ситуации после начала приёма финеренона повысился калий. Всегда ли это означает окончательную отмену? При каких условиях врач может рассмотреть возобновление? Сначала сформулируем ответы своими словами, затем сопоставим их с разобранными данными. Начнём с первого вопроса.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Вернёмся к первому вопросу. Для первого случая нужны подтверждение хронической болезни почек, оценка функции почек и калия, список лекарств и проверка противопоказаний. Целевые давление и глюкоза сами по себе не устраняют риск осложнений. В группе плацебо FIDELITY за медиану 3,0 года составной сердечно-сосудистый исход произошёл у 14,4% пациентов, составной почечный исход у 7,1%, хотя ингибитор АПФ или БРА получали 99,8% участников. Если обсуждается сохраняющаяся альбуминурия, врач оценивает повторные результаты, длительность изменений и временные причины, например инфекцию.</a:t>
            </a:r>
          </a:p>
          <a:p/>
          <a:p>
            <a:r>
              <a:t>Калий: начинают при 4,8 ммоль/л и ниже; при значении выше 4,8 и до 5,0 начало возможно с дополнительным контролем в первые 4 недели; выше 5,0 не начинают. Стартовую дозу выбирают по рСКФ.</a:t>
            </a:r>
          </a:p>
          <a:p/>
          <a:p>
            <a:r>
              <a:t>Применимость лечения к конкретному пациенту врач определяет по инструкции, анализам и сопутствующей терапии.</a:t>
            </a:r>
          </a:p>
          <a:p/>
          <a:p>
            <a:r>
              <a:t>Теперь ответ на второй вопрос: что делать, если повысился калий.</a:t>
            </a:r>
          </a:p>
          <a:p/>
          <a:p>
            <a:r>
              <a:t>Фраза для визита: «Сначала подтверждаем альбуминурию, затем смотрим рСКФ, калий и текущее лечение. Если ингибитор АПФ или БРА в максимальной дозе уже есть, а альбуминурия сохраняется, врач может обсудить финеренон».</a:t>
            </a:r>
          </a:p>
          <a:p/>
          <a:p>
            <a:r>
              <a:t>Если врач спросит: «Альбуминурия есть в показании?» Показание шире: взрослые с ХБП, связанной с диабетом 2 типа. Повышенное АКО было критерием отбора в FIDELIO-DKD и FIGARO-DKD и используется в рекомендациях KDIGO; пользу показали именно такие пациенты.</a:t>
            </a:r>
          </a:p>
          <a:p/>
          <a:p>
            <a:r>
              <a:t>Если врач спросит: «Пациент на иНГЛТ2». В FIDELITY иНГЛТ2 получали 877 пациентов (6,7%), и польза у них была не меньше, чем у остальных.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Второй вопрос: после начала приёма финеренона повысился калий. Повышение калия не всегда требует окончательного прекращения лечения. При калии выше 5,5 ммоль/л финеренон временно отменяют и повторно определяют калий. Если в повторном анализе калий не выше 5,0 ммоль/л, врач может возобновить приём финеренона в дозе 10 мг один раз в сутки. Через четыре недели после возобновления вновь оценивают калий и рСКФ.</a:t>
            </a:r>
          </a:p>
          <a:p/>
          <a:p>
            <a:r>
              <a:t>При дальнейшем повышении дозы учитывают функцию почек. Если рСКФ снизилась более чем на 30% от предыдущего измерения, дозу с 10 до 20 мг не повышают.</a:t>
            </a:r>
          </a:p>
          <a:p/>
          <a:p>
            <a:r>
              <a:t>Срочность помощи при повышенном калии оценивают отдельно от выбора дозы. По руководству UK Kidney Association при калии 6,0 ммоль/л и выше нужна срочная оценка, при 6,5 и выше немедленная оценка в стационаре. Ухудшение состояния может требовать более срочной помощи. В FIDELITY окончательно отменили лечение из-за гиперкалиемии 1,7% пациентов на финереноне и 0,6% на плацебо. Эти частоты получены при предусмотренном контроле калия, поэтому контроль сохраняют.</a:t>
            </a:r>
          </a:p>
          <a:p/>
          <a:p>
            <a:r>
              <a:t>Мы ответили на оба вопроса. Теперь проверим себя шире.</a:t>
            </a:r>
          </a:p>
          <a:p/>
          <a:p>
            <a:r>
              <a:t>Фраза для визита: «При повышении калия финеренон временно отменяют, а когда калий 5,0 и ниже, возобновляют с 10 мг. В FIDELITY из-за гиперкалиемии окончательно отменили лечение у 1,7% пациентов на финереноне и у 0,6% на плацебо».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Шесть вопросов, которые может задать врач. Каждый ответ нужно коротко обосновать: что именно изучали, с кем сравнивали, от какого условия зависит действие. Число без группы сравнения и срока может изменить смысл ответа.</a:t>
            </a:r>
          </a:p>
          <a:p/>
          <a:p>
            <a:r>
              <a:t>Как вы ответили бы врачу своими словами? На какие вопросы можно ответить по инструкции, а какие требуют оценки конкретного пациента? К ответам вернёмся после обсуждения каждого вопроса.</a:t>
            </a:r>
          </a:p>
          <a:p/>
          <a:p>
            <a:r>
              <a:t>Ключи ответов. 1. Механизм: при диабете и ХБП минералокортикоидный рецептор активируется избыточно и запускает воспаление и фиброз; финеренон блокирует привлечение коактиваторов этих генов; к 4-му месяцу АКО ниже на 31% (FIDELIO-DKD) и 32% (FIGARO-DKD) по сравнению с плацебо. 2. FIDELIO-DKD: первичный почечный составной исход 17,8% против 21,1% на плацебо, ОР 0,82 (95% ДИ 0,73–0,93), медиана 2,6 года. FIGARO-DKD: первичный сердечно-сосудистый составной исход 12,4% против 14,2%, ОР 0,87 (0,76–0,98), медиана 3,4 года; госпитализации по СН ОР 0,71 (0,56–0,90). 3. Сахарный диабет 2 типа, ХБП, АКО ≥30 мг/г не менее 3 месяцев, рСКФ ≥25, калий ≤4,8 (4,9–5,0 с дополнительным контролем), ингибитор АПФ или БРА в максимально переносимой дозе. 4. Калий 4,8 и ниже: повысить до 20 мг; до 5,5: сохранить; выше 5,5: временно отменить, возобновить с 10 мг при 5,0 и ниже; окончательная отмена из-за гиперкалиемии 1,7% против 0,6% на плацебо (FIDELITY). 5. Спиронолактон: в ARTS (II фаза, 4 недели, СН с ФВ ЛЖ 40% и ниже и ХБП) повышение калия 5,3% на финереноне против 12,7% на спиронолактоне; у спиронолактона и эплеренона нет крупных исследований исходов при ХБП и СД2; иНГЛТ2: в CONFIDENCE снижение АКО от исходного 52% при комбинации против 32% на финереноне и 29% на эмпаглифлозине (800 пациентов, 180 дней). 6. Вне показания МП тему не начинает и отвечает через медицинский отдел; о нежелательном явлении сообщает в фармаконадзор по процедуре компании.</a:t>
            </a:r>
          </a:p>
          <a:p/>
          <a:p>
            <a:r>
              <a:t>Дополнительные вопросы для ролевой игры: почему сохранная рСКФ не исключает ХБП, какие данные дополняет АКО, какие сочетания лекарств требуют внимания.</a:t>
            </a:r>
          </a:p>
          <a:p/>
          <a:p>
            <a:r>
              <a:t>Итоги собираем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Вернёмся к главному из занятия. Финеренон-Орвилле показан взрослым с ХБП, связанной с диабетом 2 типа: он снижает риск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сердечной недостаточности. В исследованиях участвовали пациенты с альбуминурией на ингибиторе АПФ или БРА. Группу исследования и текст показания называйте раздельно.</a:t>
            </a:r>
          </a:p>
          <a:p/>
          <a:p>
            <a:r>
              <a:t>В FIDELIO-DKD относительный риск комбинированного почечного исхода был ниже на 18% по сравнению с плацебо. В FIGARO-DKD относительный риск комбинированного сердечно-сосудистого исхода был ниже на 13% по сравнению с плацебо. В объединённом анализе FIDELITY (13 026 пациентов) риск сердечно-сосудистого исхода ниже на 14% (ОР 0,86; ЧБНЛ 46 за 3 года), риск почечного исхода ниже на 23% (ОР 0,77; ЧБНЛ 60). ЧБНЛ: число больных, которых нужно лечить, чтобы предотвратить одно событие.</a:t>
            </a:r>
          </a:p>
          <a:p/>
          <a:p>
            <a:r>
              <a:t>Правило по калию простое: анализ до начала, через четыре недели после начала, возобновления или повышения дозы, далее периодически. Начинают при калии до 4,8 ммоль/л; при 4,8–5,0 можно начинать с дополнительным контролем в первые четыре недели; выше 5,0 не начинают. В FIDELITY гиперкалиемия была у 14,0% на финереноне и у 6,9% на плацебо; окончательная отмена из-за неё у 1,7% и 0,6%. До назначения проверяют противопоказания и взаимодействия. Решение о лечении принимает врач. О нежелательных явлениях сообщают в фармаконадзор. Вопросы о применении вне показания передают в медицинский отдел.</a:t>
            </a:r>
          </a:p>
          <a:p/>
          <a:p>
            <a:r>
              <a:t>Дальше научный раздел: данные по другим группам пациентов. Сами эти темы на визите вы не начинаете.</a:t>
            </a:r>
          </a:p>
          <a:p/>
          <a:p>
            <a:r>
              <a:t>Фраза для визита: «У каких ваших пациентов с ХБП и диабетом 2 типа альбуминурия сохраняется на ингибиторе АПФ или БРА? У таких пациентов финеренон снижал риск почечных и сердечно-сосудистых исходов по сравнению с плацебо. Калий проверяем до начала и через 4 недели.»</a:t>
            </a:r>
          </a:p>
          <a:p/>
          <a:p>
            <a:r>
              <a:t>Если врач спросит: «Какая польза у моего пациента?» Ответ: цифры описывают группы в исследованиях, решение о лечении конкретного пациента принимает врач.</a:t>
            </a:r>
          </a:p>
          <a:p/>
          <a:p>
            <a:r>
              <a:t>Если врач спросит: «Это относительное снижение?» Ответ: да, относительное; абсолютные доли даны рядом (17,8% и 21,1%; 12,4% и 14,2%).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Промоционная часть закончена. Научный раздел нужен, чтобы вы понимали вопрос врача и передавали его точно. Здесь сердечная недостаточность с ФВ ЛЖ 40% и выше, ХБП при диабете 1 типа, ХБП без диабета и короткое сравнение со спиронолактоном при сердечной недостаточности. У этих исследований другие пациенты, цели и иногда дозы.</a:t>
            </a:r>
          </a:p>
          <a:p>
            <a:endParaRPr/>
          </a:p>
          <a:p>
            <a:r>
              <a:t>Правило раздела: эти темы вы сами на визите не начинаете. Если врач спросил, вы не обсуждаете применение: записываете вопрос и передаёте его в медицинский отдел или медицинскому советнику. Что сказать врачу: «Спасибо за вопрос. Такие темы разбирает медицинский отдел. Я передам вопрос, и медицинский советник свяжется с вами». Материалы раздела врачу не показывают и не отправляют. Показание Финеренон-Орвилле: взрослые с ХБП, связанной с диабетом 2 типа. Снижение риска госпитализации по поводу сердечной недостаточности входит в него для этой группы. Сердечная недостаточность с ФВ ЛЖ 40% и выше без ХБП при диабете 2 типа в показание не входит.</a:t>
            </a:r>
          </a:p>
          <a:p>
            <a:endParaRPr/>
          </a:p>
          <a:p>
            <a:r>
              <a:t>Статусы регистрации даны на 03.10.2026, их обновляет медицинский отдел. Когда показание появится в инструкции Финеренон-Орвилле, соответствующий слайд переносится в промоционную часть. Учебные материалы используют и передают по действующей процедуре компании. Начнём с самой крупной группы: сердечная недостаточность с ФВ ЛЖ 40% и выше.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Слайд отвечает на вопрос «чем финеренон отличается от спиронолактона». В части B ARTS участвовали пациенты с сердечной недостаточностью со сниженной фракцией выброса и умеренным нарушением функции почек. Лечение продолжалось четыре недели. Дозы финеренона составляли 2,5, 5 или 10 мг один раз в сутки либо 5 мг дважды в сутки. Спиронолактон применяли открыто в дозах 25–50 мг один раз в сутки.</a:t>
            </a:r>
          </a:p>
          <a:p/>
          <a:p>
            <a:r>
              <a:t>Исследователи сообщали о гиперкалиемии или повышении калия у 5,3% пациентов в объединённых группах финеренона, у 12,7% при спиронолактоне и у 1,5% при плацебо. В дополнительном анализе объединили группы разных доз финеренона. Результат показывает различие в переносимости изученных схем за четыре недели. Другие данные ARTS: нарушение функции почек как нежелательное явление у 3,8% на финереноне, у 28,6% на спиронолактоне и у 9,2% на плацебо; BNP, NT-proBNP и АКО снижались на финереноне не меньше, чем на спиронолактоне (описательный анализ, значимого общего эффекта лечения не было). Калий и функцию почек контролируют при любом антагонисте минералокортикоидного рецептора.</a:t>
            </a:r>
          </a:p>
          <a:p/>
          <a:p>
            <a:r>
              <a:t>Раздел закончен. Вопросы врача по этим темам передавайте в медицинский отдел или медицинскому советнику.</a:t>
            </a:r>
          </a:p>
          <a:p/>
          <a:p>
            <a:r>
              <a:t>Если врач спросит: «А долгосрочная безопасность и клинические исходы?» Ответ: в ARTS их не оценивали. Это исследование II фазы, оно подбирало дозы для программы III фазы; дозы финеренона в ARTS были от 2,5 до 10 мг.</a:t>
            </a:r>
          </a:p>
          <a:p/>
          <a:p>
            <a:r>
              <a:t>Если врач спросит: «А гинекомастия? А эплеренон?» Ответ: ARTS эти вопросы не изучал, сравнения с эплереноном в нём не было.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FIND-CKD включало 1584 взрослых с хронической болезнью почек без диабета и с альбуминурией. Финеренон 10 или 20 мг сравнивали с плацебо на фоне ингибитора ренин-ангиотензиновой системы. Первичным исходом было среднегодовое изменение рСКФ от исходного уровня до 32-го месяца.</a:t>
            </a:r>
          </a:p>
          <a:p/>
          <a:p>
            <a:r>
              <a:t>Столбцы показывают годовой темп: −3,3 мл/мин/1,73 м² в год при финереноне и −4,0 при плацебо. В подписях приведены 95% доверительные интервалы каждой группы. Межгрупповая разница составила 0,7 с 95% доверительным интервалом от 0,3 до 1,1. Значение p было меньше 0,001. Среднегодовое снижение фильтрации на финереноне медленнее. Показатель рассчитан по модели за весь период оценки, а не по одной точке. После отмены препарата наклон составил +1,2 на финереноне и −0,5 на плацебо (рисунок 1A публикации).</a:t>
            </a:r>
          </a:p>
          <a:p/>
          <a:p>
            <a:r>
              <a:t>Вторичный комбинированный исход (почечные и сердечно-сосудистые события): ОР 0,77 (95% ДИ 0,60–0,99), p=0,04; риск ниже на 23% по сравнению с плацебо. Его проверяли по заранее заданной иерархии. Доли пациентов с событием по сообщению о докладе на ERA 2026: 13,9% на финереноне и 16,9% на плацебо (сверить с таблицей публикации). Гиперкалиемия отмечалась у 17,0% и 13,3% пациентов. Окончательную отмену из-за неё зарегистрировали у 1,5% и 0,1% соответственно. Статус на 03.10.2026: показание при ХБП без диабета нигде в мире не зарегистрировано. По сообщениям разработчика, в августе 2026 поданы заявки на расширение применения при ХБП в Китае (ХБП без диабета) и в Японии (28.08.2026); решений нет. Рекомендаций с этим показанием на дату подготовки не найдено. Вопросы врача по ХБП без диабета передавайте в медицинский отдел.</a:t>
            </a:r>
          </a:p>
          <a:p/>
          <a:p>
            <a:r>
              <a:t>Последний слайд раздела: сравнение со спиронолактоном по калию, ARTS.</a:t>
            </a:r>
          </a:p>
          <a:p/>
          <a:p>
            <a:r>
              <a:t>Если врач спросит: «А компоненты вторичного исхода?» Ответ: почечный комбинированный исход: ОР 0,78 (95% ДИ 0,60–1,01); сердечно-сосудистый комбинированный исход: ОР 0,60 (95% ДИ 0,27–1,33). Доверительные интервалы широкие и включают 1, поэтому основу составляет общий исход.</a:t>
            </a:r>
          </a:p>
          <a:p/>
          <a:p>
            <a:r>
              <a:t>Если врач спросит: «А безопасность?» Ответ: гиперкалиемия потребовала госпитализации у 0,9% на финереноне и у 0,6% на плацебо.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В FINE-ONE участвовали 242 взрослых с ХБП и диабетом 1 типа. Финеренон сравнивали с плацебо на фоне инсулина и ингибитора АПФ или БРА. Первичным исходом было изменение альбуминурии в среднем по визитам на третьем и шестом месяцах.</a:t>
            </a:r>
          </a:p>
          <a:p>
            <a:endParaRPr/>
          </a:p>
          <a:p>
            <a:r>
              <a:t>АКО снизилось от исходного уровня на 34% при финереноне и на 12% при плацебо. Межгрупповой эффект составил 25%: отношение оставшихся долей исходного АКО равно 0,75. Его 95% доверительный интервал составил 0,65–0,87. Значение p было меньше 0,001. Высоты столбиков нельзя просто вычитать, поскольку они показывают изменения внутри групп. Поэтому разницу 34% и 12% не читают как 22 процентных пункта: эффект выражен отношением геометрических средних 0,75, то есть на 25% больше снижения.</a:t>
            </a:r>
          </a:p>
          <a:p>
            <a:endParaRPr/>
          </a:p>
          <a:p>
            <a:r>
              <a:t>В FINE-ONE оценивали АКО. Диализ и другие клинические исходы не изучали, поэтому показание FDA сформулировано через ожидаемый эффект (следующий слайд). Гиперкалиемия: 10,1% на финереноне и 3,3% на плацебо; двое пациентов (1,7%) окончательно прекратили приём финеренона из-за неё. К 6-му месяцу рСКФ снизилась на 5,6 мл/мин/1,73 м² на финереноне и на 2,7 на плацебо (разница −2,9; 95% ДИ −5,1…−0,7); в период отмены значения приближались к исходным. Вопросы врача о применении при диабете 1 типа передавайте в медицинский отдел. Решение FDA рассматриваем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Результат FINE-ONE привёл к регистрационному решению. 16 сентября 2026 года FDA одобрило дополнение к американской инструкции Керендии для взрослых с ХБП, связанной с диабетом 1 типа. Формулировка относится к снижению отношения альбумина к креатинину мочи с ожидаемым уменьшением риска устойчивого снижения рСКФ и терминальной почечной недостаточности.</a:t>
            </a:r>
          </a:p>
          <a:p/>
          <a:p>
            <a:r>
              <a:t>Основанием служили снижение АКО в FINE-ONE и данные исследований при диабете 2 типа. Ожидаемую клиническую пользу нельзя считать прямым доказательством снижения потребности в диализе в FINE-ONE: такие исходы там не оценивали.</a:t>
            </a:r>
          </a:p>
          <a:p/>
          <a:p>
            <a:r>
              <a:t>Решение FDA действует в США и относится к препарату Керендия. В инструкции Финеренон-Орвилле такого показания нет. Если врач спросит о диабете 1 типа, вы не обсуждаете применение. Что сказать: «Спасибо за вопрос. Такие темы разбирает медицинский отдел. Я передам вопрос, и медицинский советник свяжется с вами». Решение о применении принимает врач.</a:t>
            </a:r>
          </a:p>
          <a:p/>
          <a:p>
            <a:r>
              <a:t>Дальше ХБП без диабета, исследование FIND-CKD.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Напомню правило: эту тему вы сами не начинаете. В анализ FINEARTS-HF вошёл 6001 пациент с симптомной сердечной недостаточностью и фракцией выброса левого желудочка 40% и выше, с диабетом или без него. Учитывали первые и повторные незапланированные госпитализации или срочные визиты из-за сердечной недостаточности, а также сердечно-сосудистую смерть. При медиане наблюдения 32 месяца частота событий первичного исхода была на 16% ниже при финереноне, чем при плацебо. Отношение частот составило 0,84 с 95% доверительным интервалом 0,74–0,95. Значение p составило 0,007.</a:t>
            </a:r>
          </a:p>
          <a:p/>
          <a:p>
            <a:r>
              <a:t>Один пациент мог перенести несколько событий, поэтому отношение частот не равно отношению долей пациентов с событием. Ухудшения сердечной недостаточности (первые и повторные): 842 события на финереноне и 1024 на плацебо, отношение частот 0,82 (95% ДИ 0,71–0,94). Сердечно-сосудистая смерть: 8,1% и 8,7%, отношение рисков 0,93 (95% ДИ 0,78–1,11), различие статистически незначимо.</a:t>
            </a:r>
          </a:p>
          <a:p/>
          <a:p>
            <a:r>
              <a:t>В FINEARTS-HF калий выше 5,5 ммоль/л встречался чаще при финереноне, чем при плацебо, а гипокалиемия реже. Контроль калия остаётся необходимым.</a:t>
            </a:r>
          </a:p>
          <a:p/>
          <a:p>
            <a:r>
              <a:t>Сводный анализ FINE-HEART объединил FIDELIO-DKD, FIGARO-DKD и FINEARTS-HF: 18 991 пациент, медиана наблюдения 2,9 года. Госпитализации по поводу СН: ОР 0,83 (95% ДИ 0,75–0,92). Смерть от любой причины: 11,0% на финереноне и 12,0% на плацебо, ОР 0,91 (0,84–0,99). Сердечно-сосудистая смерть, первичный исход анализа: 4,4% и 5,0%, ОР 0,89 (0,78–1,01), p=0,076. Составной почечный исход: ОР 0,80 (0,72–0,90). Участники FIDELIO-DKD и FIGARO-DKD относятся к группе показания Финеренон-Орвилле.</a:t>
            </a:r>
          </a:p>
          <a:p/>
          <a:p>
            <a:r>
              <a:t>Статусы регистрации при СН с ФВ ЛЖ 40% и выше на 03.10.2026: США (FDA), июль 2025; Евросоюз, решение Еврокомиссии 26.03.2026 (разработчик объявил 30.03.2026); Япония, 22.12.2025, и Великобритания, апрель 2026, по сообщениям разработчика. Список стран неполный; актуальный список ведёт медицинский отдел.</a:t>
            </a:r>
          </a:p>
          <a:p/>
          <a:p>
            <a:r>
              <a:t>Следующая группа: ХБП при диабете 1 типа.</a:t>
            </a:r>
          </a:p>
          <a:p/>
          <a:p>
            <a:r>
              <a:t>Если врач спросит: «Какая доза?» Ответ: в FINEARTS-HF максимальная доза была 20 или 40 мг в зависимости от рСКФ, в инструкции Финеренон-Орвилле максимальная доза 20 мг один раз в сутки.</a:t>
            </a:r>
          </a:p>
          <a:p/>
          <a:p>
            <a:r>
              <a:t>Если врач спросит: «А пациент с ХБП, диабетом 2 типа и СН?» Ответ: такой пациент входит в показание Финеренон-Орвилле, снижение риска госпитализации по поводу СН включено в показание (FIGARO-DKD, ОР 0,71); соответствие пациента показанию оценивает врач. Вопросы о СН без ХБП передавайте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Титул задал тему и рамки курса. Прежде чем разбирать механизм и данные, ответим на вопрос врача: зачем ему этот препарат.</a:t>
            </a:r>
          </a:p>
          <a:p/>
          <a:p>
            <a:r>
              <a:t>У взрослого с хронической болезнью почек (ХБП) и диабетом 2 типа риск осложнений остаётся высоким даже на стандартном лечении. Финеренон блокирует минералокортикоидный рецептор (МКР), а у ингибиторов АПФ, БРА и НГЛТ2 мишени другие. В исследованиях на фоне стандартной терапии риск был ниже, чем на плацебо.</a:t>
            </a:r>
          </a:p>
          <a:p/>
          <a:p>
            <a:r>
              <a:t>В FIDELIO-DKD все пациенты получали ингибитор АПФ или БРА в максимально переносимой дозе. В группе плацебо комбинированный почечный исход за время наблюдения (медиана 2,6 года) возник у 21,1%. Остаточный риск есть и на ингибиторе НГЛТ2: в CREDENCE первичный исход возник у 11,1% пациентов на канаглифлозине и у 15,5% на плацебо, все получали ингибитор АПФ или БРА. Финеренон в CREDENCE не изучали, исходы двух работ определены по-разному, поэтому числа из разных исследований между собой не сравниваем. CREDENCE разберём подробно позже. Третья карточка: в FIDELIO-DKD комбинированный почечный исход возник у 17,8% на финереноне и у 21,1% на плацебо, риск ниже на 18%. В FIGARO-DKD комбинированный сердечно-сосудистый исход возник у 12,4% и 14,2%, риск ниже на 13%; госпитализации по поводу сердечной недостаточности: риск ниже на 29%. Подробности каждого исследования будут дальше.</a:t>
            </a:r>
          </a:p>
          <a:p/>
          <a:p>
            <a:r>
              <a:t>Теперь два вопроса, на которые вы ответите к концу курса.</a:t>
            </a:r>
          </a:p>
          <a:p/>
          <a:p>
            <a:r>
              <a:t>Фраза для визита: «У пациентов с хронической болезнью почек и диабетом 2 типа риск остаётся высоким даже на ингибиторе АПФ или БРА. Финеренон блокирует минералокортикоидный рецептор, и в исследованиях FIDELIO-DKD и FIGARO-DKD на фоне ингибитора АПФ или БРА риск почечных и сердечно-сосудистых осложнений был ниже, чем на плацебо».</a:t>
            </a:r>
          </a:p>
          <a:p/>
          <a:p>
            <a:r>
              <a:t>Если врач спросит: «Вы сравниваете финеренон с канаглифлозином?» Нет. Исследования разные, исходы определены по-разному. Карточка показывает один факт: риск остаётся и на ингибиторе НГЛТ2.</a:t>
            </a:r>
          </a:p>
          <a:p/>
          <a:p>
            <a:r>
              <a:t>Если врач спросит: «Воспаление и фиброз доказаны у человека?» Ослабление сигналов воспаления и фиброза показано в доклинических исследованиях. Клинический результат показан в FIDELIO-DKD и FIGARO-DKD.</a:t>
            </a:r>
          </a:p>
          <a:p/>
          <a:p>
            <a:r>
              <a:t>Если врач спросит: «А если у пациента нет альбуминурии?» В исследования включали взрослых с диабетом 2 типа, хронической болезнью почек и альбуминурией. Показание в инструкции: взрослые с хронической болезнью почек, связанной с диабетом 2 типа. Решение о назначении принимает врач; по вопросам вне этих данных передаю запрос в медицинский отдел.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предыдущих слайдах мы разобрали, как у пациента с диабетом 2 типа оценивают почки: рСКФ, АКО и стадии риска. Теперь определим, кого из пациентов врача искать.</a:t>
            </a:r>
          </a:p>
          <a:p/>
          <a:p>
            <a:r>
              <a:t>Искать нужно взрослых с диабетом 2 типа и хронической болезнью почек (ХБП), прежде всего тех, у кого альбуминурия сохраняется на ингибиторе АПФ или БРА.</a:t>
            </a:r>
          </a:p>
          <a:p/>
          <a:p>
            <a:r>
              <a:t>Показание по инструкции: взрослые с ХБП, связанной с диабетом 2 типа. Порога АКО в показании нет. Условия начала по инструкции: рСКФ не менее 25 мл/мин/1,73 м² и калий не выше 4,8 ммоль/л. При калии выше 4,8 и до 5,0 лечение можно начинать с дополнительным контролем калия в первые 4 недели, при калии выше 5,0 лечение не начинают. АКО не менее 30 мг/г и ингибитор АПФ или БРА в максимально переносимой дозе взяты из критериев FIDELIO-DKD и FIGARO-DKD и из рекомендаций KDIGO. В тексте показания их нет, поэтому они стоят в отдельной карточке. Поводы для разговора: альбуминурия сохраняется на ингибиторе АПФ или БРА; АКО давно не определяли; АКО повышено при сохранной рСКФ. При диабете 2 типа рСКФ и АКО проверяют не реже раза в год. Задача представителя: задать вопрос и подсказать, на какие анализы посмотреть. Решение о пациенте принимает врач.</a:t>
            </a:r>
          </a:p>
          <a:p/>
          <a:p>
            <a:r>
              <a:t>Когда пациент найден, врач смотрит, что он уже получает. Следующий слайд показывает четыре группы препаратов для защиты почек.</a:t>
            </a:r>
          </a:p>
          <a:p/>
          <a:p>
            <a:r>
              <a:t>Фраза для визита: «У каких ваших пациентов с диабетом 2 типа и хронической болезнью почек альбуминурия сохраняется, несмотря на ингибитор АПФ или БРА в максимальной дозе?»</a:t>
            </a:r>
          </a:p>
          <a:p/>
          <a:p>
            <a:r>
              <a:t>Если врач спросит: «Подойдёт ли пациент с АКО ниже 30 мг/г?» В показании порога АКО нет. В FIDELIO-DKD и FIGARO-DKD участвовали пациенты с АКО от 30 мг/г; данных у пациентов без альбуминурии в этих исследованиях нет. Решение по конкретному пациенту принимает врач, вопрос о таких пациентах передаю в медицинский отдел.</a:t>
            </a:r>
          </a:p>
          <a:p/>
          <a:p>
            <a:r>
              <a:t>Если врач спросит: «В карте нет АКО». АКО определяют в разовой порции мочи вместе с креатинином; рСКФ и АКО при диабете 2 типа проверяют не реже раза в год.</a:t>
            </a:r>
          </a:p>
          <a:p/>
          <a:p>
            <a:r>
              <a:t>Если врач спросит: «Какой специалист назначает?» Решение принимает лечащий врач; пациентов с диабетом 2 типа и ХБП видят эндокринологи, терапевты, нефрологи и кардиологи.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предыдущем слайде финеренон блокировал МКР внутри клетки. Теперь соберём цепочку от этой блокады до строк показания.</a:t>
            </a:r>
          </a:p>
          <a:p/>
          <a:p>
            <a:r>
              <a:t>Блокада МКР, более низкая альбуминурия и меньший риск почечных и сердечно-сосудистых исходов образуют одну линию. У каждого звена свой источник.</a:t>
            </a:r>
          </a:p>
          <a:p/>
          <a:p>
            <a:r>
              <a:t>Звенья 1 и 2. По инструкции финеренон блокирует привлечение коактиваторов, которые включают гены воспаления и фиброза. Ослабление этих сигналов показано в доклинических исследованиях. Звено 3. По инструкции к 4-му месяцу АКО было ниже, чем на плацебо, на 31% в FIDELIO-DKD и на 32% в FIGARO-DKD; в объединённом анализе FIDELITY тоже на 32%. Правые ветки. В FIDELIO-DKD комбинированный почечный исход возник у 17,8% на финереноне и у 21,1% на плацебо, отношение рисков 0,82 (95% ДИ 0,73–0,93). В FIGARO-DKD комбинированный сердечно-сосудистый исход возник у 12,4% и 14,2%, отношение рисков 0,87 (0,76–0,98); госпитализации по поводу сердечной недостаточности: отношение рисков 0,71 (0,56–0,90). Строки показания справа входят в состав этих комбинированных исходов.</a:t>
            </a:r>
          </a:p>
          <a:p/>
          <a:p>
            <a:r>
              <a:t>Подробности каждого исследования впереди. Сначала договоримся, как читать результат: отношение рисков, доверительный интервал, проценты.</a:t>
            </a:r>
          </a:p>
          <a:p/>
          <a:p>
            <a:r>
              <a:t>Фраза для визита: «Финеренон блокирует минералокортикоидный рецептор. К 4-му месяцу альбуминурия была ниже, чем на плацебо, а в FIDELIO-DKD и FIGARO-DKD ниже был и риск почечных и сердечно-сосудистых исходов».</a:t>
            </a:r>
          </a:p>
          <a:p/>
          <a:p>
            <a:r>
              <a:t>Если врач спросит: «АКО объясняет пользу у моего пациента?» По АКО нельзя рассчитать пользу для одного пациента. В апостериорном анализе объединённых данных (12 512 пациентов) изменение АКО к 4-му месяцу объясняло 84% эффекта на комбинированный почечный исход и 37% на сердечно-сосудистый; при пороге снижения АКО на 30% доли составили 64% и 26%. Почечный исход в этом анализе определён как у FIDELITY (снижение рСКФ на 57% и больше). Авторы отмечают, что результат нельзя переносить на другие препараты.</a:t>
            </a:r>
          </a:p>
          <a:p/>
          <a:p>
            <a:r>
              <a:t>Если врач спросит: «Финеренон снижает каждый пункт показания?» Исследования оценивали комбинированные исходы. Отдельно показано снижение госпитализаций по поводу сердечной недостаточности в FIGARO-DKD. Снижение остальных компонентов по отдельности не доказано.</a:t>
            </a:r>
          </a:p>
          <a:p/>
          <a:p>
            <a:r>
              <a:t>Если врач спросит: «Почему в показании нет инсульта?» Показание приведено дословно по инструкции. В FIGARO-DKD сердечно-сосудистый исход включал также нефатальный инсульт.</a:t>
            </a:r>
          </a:p>
          <a:p/>
          <a:p>
            <a:r>
              <a:t>Если врач спросит: «Воспаление и фиброз ослабляются у пациента?» Ослабление показано в доклинических данных. У пациента измеряют АКО и оценивают исходы.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Мы разобрали, как начинать лечение и контролировать калий. Теперь вопросы, которые врач задаёт на визите. Первые четыре касаются других препаратов.</a:t>
            </a:r>
          </a:p>
          <a:p/>
          <a:p>
            <a:r>
              <a:t>На возражение отвечают тремя элементами: свойство или мишень, число с группой сравнения, название исследования. Ответ занимает одну-две фразы. Превосходство заявляем только там, где есть прямое сравнение: по частоте повышения калия в ARTS.</a:t>
            </a:r>
          </a:p>
          <a:p/>
          <a:p>
            <a:r>
              <a:t>1. Ингибитор НГЛТ2. Мишени разные: ингибитор НГЛТ2 действует в проксимальном канальце, финеренон блокирует МКР. В CONFIDENCE (800 пациентов с ХБП и диабетом 2 типа, 180 дней) АКО снизилось от исходного на 52% при одновременном начале двух препаратов, на 32% на финереноне, на 29% на эмпаглифлозине. Показатель относится к альбуминурии, клинические исходы в этом исследовании не оценивали. В FIDELITY польза финеренона отмечена и у пациентов, получавших ингибитор НГЛТ2; числа этой подгруппы на слайд не вынесены.</a:t>
            </a:r>
          </a:p>
          <a:p/>
          <a:p>
            <a:r>
              <a:t>2. Много таблеток. Финеренон принимают один раз в сутки, 10 или 20 мг, независимо от еды. В FIDELIO-DKD, чтобы предотвратить 1 почечное событие за 3 года, нужно лечить 29 пациентов (95% ДИ 16–166). Какие препараты оставить, решает врач.</a:t>
            </a:r>
          </a:p>
          <a:p/>
          <a:p>
            <a:r>
              <a:t>3. Спиронолактон. Различия касаются свойств и данных. Финеренон нестероидный, метаболиты неактивны. Исходы при ХБП и диабете 2 типа изучены в FIDELIO-DKD и FIGARO-DKD. В ARTS (часть B: II фаза, 392 пациента с сердечной недостаточностью со сниженной фракцией выброса и умеренным нарушением функции почек, 4 недели) гиперкалиемия возникла у 5,3% на финереноне (объединённые группы доз) и у 12,7% на спиронолактоне, p=0,048. Группа ARTS отличается от показания, поэтому число всегда называем вместе с группой.</a:t>
            </a:r>
          </a:p>
          <a:p/>
          <a:p>
            <a:r>
              <a:t>4. Эплеренон. Эплеренон и спиронолактон относят к стероидным антагонистам МКР. Крупных исследований исходов при ХБП и диабете 2 типа у эплеренона нет, у финеренона они есть. Эплеренон изучали при сердечной недостаточности; это другая группа пациентов, тему сами не открываем.</a:t>
            </a:r>
          </a:p>
          <a:p/>
          <a:p>
            <a:r>
              <a:t>Вторая группа возражений касается калия, функции почек, альбуминурии и стоимости.</a:t>
            </a:r>
          </a:p>
          <a:p/>
          <a:p>
            <a:r>
              <a:t>Фраза для визита: «Финеренон добавляют к ингибитору АПФ или БРА. Мишень у него другая, чем у ингибитора НГЛТ2, а исходы при ХБП и диабете 2 типа изучены в FIDELIO-DKD и FIGARO-DKD».</a:t>
            </a:r>
          </a:p>
          <a:p/>
          <a:p>
            <a:r>
              <a:t>Если врач спросит: «Сравнивали ли финеренон с эплереноном напрямую?» Да, в ARTS-HF (II фаза, 1066 пациентов с обострением хронической сердечной недостаточности со сниженной фракцией выброса и диабетом или ХБП, 90 дней). Снижение NT-proBNP более чем на 30% наблюдали у 37,2% на эплеренона и у 30,9–38,8% на разных дозах финеренона, различия незначимы. Группа ARTS-HF вне показания: данные для обсуждения передаю в медицинский отдел.</a:t>
            </a:r>
          </a:p>
          <a:p/>
          <a:p>
            <a:r>
              <a:t>Если врач спросит: «А гинекомастия?» Частоты у меня на слайдах нет; запрос передам в медицинский отдел.</a:t>
            </a:r>
          </a:p>
          <a:p/>
          <a:p>
            <a:r>
              <a:t>Если врач спросит: «Можно назначить финеренон вместе со спиронолактоном или эплереноном?» Нет. По инструкции другие антагонисты МКР вместе с финереноном не назначают.</a:t>
            </a:r>
          </a:p>
          <a:p/>
          <a:p>
            <a:r>
              <a:t>Если врач спросит: «А если пациент получает арГПП-1?» Мишени разные: арГПП-1 действуют на рецептор ГПП-1, финеренон на МКР. В противопоказаниях и взаимодействиях инструкции арГПП-1 не названы. Сочетание определяет врач.</a:t>
            </a:r>
          </a:p>
          <a:p/>
          <a:p>
            <a:r>
              <a:t>Если врач спросит: «В ARTS другая группа пациентов». Верно: исследование II фазы при сердечной недостаточности, спиронолактон назначали открыто, срок 4 недели. Число показывает частоту повышения калия в той группе. У вашего пациента калий контролируют по правилу инструкции.</a:t>
            </a:r>
          </a:p>
          <a:p/>
          <a:p>
            <a:r>
              <a:t>Если врач спросит: «Спиронолактон дешевле». Стоимость препаратов различается; условия уточняю по процедуре компании. Клинические данные при ХБП и диабете 2 типа для финеренона приведены выше.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На каждый вопрос отвечает число из исследования или правило из инструкции. Совет по конкретному пациенту представитель не даёт.</a:t>
            </a:r>
          </a:p>
          <a:p/>
          <a:p>
            <a:r>
              <a:t>1. Калий. Правило простое: калий и рСКФ определяют до начала, через 4 недели после начала, возобновления или повышения дозы и далее периодически. Перед началом калий не выше 4,8 ммоль/л; при 4,8–5,0 можно начинать с дополнительным контролем в первые 4 недели; выше 5,0 лечение не начинают. В FIDELITY гиперкалиемия возникла у 14,0% на финереноне и у 6,9% на плацебо. Из-за неё лечение окончательно отменили у 1,7% и 0,6%. При калии выше 5,5 ммоль/л препарат временно отменяют; возобновить можно при калии не выше 5,0 в дозе 10 мг.</a:t>
            </a:r>
          </a:p>
          <a:p/>
          <a:p>
            <a:r>
              <a:t>2. Низкая рСКФ. По инструкции лечение можно начинать при рСКФ не менее 25. При рСКФ от 25 до 60 начальная доза 10 мг, при 60 и выше 20 мг, ниже 25 начинать не рекомендуют. Начало лечения может дать небольшое снижение рСКФ в первые 4 недели с последующей стабилизацией. В FIDELIO-DKD участвовали пациенты с рСКФ от 25 до менее 75, преобладала 3–4-я стадия ХБП: комбинированный почечный исход 17,8% против 21,1%, риск ниже на 18%. Результат относится ко всей когорте; отдельный результат у пациентов с рСКФ ниже 60 я не называю.</a:t>
            </a:r>
          </a:p>
          <a:p/>
          <a:p>
            <a:r>
              <a:t>3. Альбуминурия небольшая, пациент стабилен. ХБП долго протекает без симптомов, поэтому стабильное состояние риск не отменяет. FIGARO-DKD включал пациентов 2–4-й стадии с умеренно повышенной альбуминурией и 1–2-й стадии с выраженной. Результат относится к исследованию в целом: сердечно-сосудистый исход 12,4% против 14,2%, риск ниже на 13%. Отдельный результат для умеренной альбуминурии я не называю.</a:t>
            </a:r>
          </a:p>
          <a:p/>
          <a:p>
            <a:r>
              <a:t>4. Дорого. Цен и условий доступности в учебных материалах нет, поэтому ответ: уточню по процедуре компании. Для оценки пользы: чтобы предотвратить 1 событие, в FIDELIO-DKD лечили 29 пациентов за 3 года (95% ДИ 16–166), в FIGARO-DKD 47 за 3,5 года (26–226). Экономической оценки ЧБНЛ не содержит.</a:t>
            </a:r>
          </a:p>
          <a:p/>
          <a:p>
            <a:r>
              <a:t>Теперь соберём всё в сценарий визита из пяти шагов.</a:t>
            </a:r>
          </a:p>
          <a:p/>
          <a:p>
            <a:r>
              <a:t>Фраза для визита: «Калий проверяют до начала, через 4 недели и далее периодически. В FIDELITY из-за гиперкалиемии лечение окончательно отменили 1,7% пациентов против 0,6% на плацебо».</a:t>
            </a:r>
          </a:p>
          <a:p/>
          <a:p>
            <a:r>
              <a:t>Если врач спросит: «Что делать при калии 5,6?» По инструкции финеренон временно отменяют, причину выясняет врач; срочность оценивают по клиническим рекомендациям. Тактику лечения гиперкалиемии представитель не определяет.</a:t>
            </a:r>
          </a:p>
          <a:p/>
          <a:p>
            <a:r>
              <a:t>Если врач спросит: «Были ли смертельные случаи гиперкалиемии?» В FIDELIO-DKD гиперкалиемии со смертельным исходом не было.</a:t>
            </a:r>
          </a:p>
          <a:p/>
          <a:p>
            <a:r>
              <a:t>Если врач спросит: «рСКФ снизилась больше чем на 30%». По инструкции в этом случае дозу не повышают с 10 до 20 мг, причину снижения оценивает врач.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Сценарий из пяти шагов удобно отработать в тройках.</a:t>
            </a:r>
          </a:p>
          <a:p/>
          <a:p>
            <a:r>
              <a:t>Визит начинается с вопроса о пациентах врача и заканчивается просьбой проверить АКО и рассмотреть финеренон, если есть показание. Между ними одно сообщение, одно доказательство и правило по калию.</a:t>
            </a:r>
          </a:p>
          <a:p/>
          <a:p>
            <a:r>
              <a:t>Шаг 1. Вопрос открывает разговор о пациентах врача, детали берём со слайда «Кого искать». Шаг 2. Одно сообщение о мишени, без деталей механизма. Шаг 3. Два числа с группой сравнения: в FIDELIO-DKD комбинированный почечный исход 17,8% против 21,1% на плацебо, риск ниже на 18%; в FIGARO-DKD комбинированный сердечно-сосудистый исход 12,4% против 14,2%, риск ниже на 13%. Шаг 4. Правило по калию: до начала, через 4 недели после начала, возобновления или повышения дозы, далее периодически. Если врач просит число, называем FIDELITY: гиперкалиемия 14,0% против 6,9% на плацебо, окончательная отмена 1,7% против 0,6%. Шаг 5. Просим проверить АКО у таких пациентов и рассмотреть финеренон, если у них есть показание; оставляем инструкцию и публикации по процедуре компании. Решение о лечении принимает врач. Темы вне показания (сердечная недостаточность без ХБП, ХБП без диабета, диабет 1 типа) представитель сам не начинает. Вопрос врача он передаёт в медицинский отдел.</a:t>
            </a:r>
          </a:p>
          <a:p/>
          <a:p>
            <a:r>
              <a:t>Упражнение (7 минут, тройки): первый играет врача и выбирает возражение с одного из двух слайдов о возражениях врача, второй проходит пять шагов, третий отмечает четыре пункта: задан ли вопрос о пациентах; названа ли группа сравнения при каждом числе; сказано ли правило по калию; прозвучало ли «решение остаётся за вами».</a:t>
            </a:r>
          </a:p>
          <a:p/>
          <a:p>
            <a:r>
              <a:t>Вернёмся к двум вопросам из начала курса и ответим на них.</a:t>
            </a:r>
          </a:p>
          <a:p/>
          <a:p>
            <a:r>
              <a:t>Фраза для визита: открывающая: «У каких ваших пациентов с диабетом 2 типа и ХБП альбуминурия сохраняется на ингибиторе АПФ или БРА?» Закрывающая: «Прошу проверить АКО у таких пациентов и рассмотреть финеренон, если есть показание. Решение о лечении остаётся за вами». Три фразы между ними произносим дословно со слайда (около 40 секунд всего при темпе 110–130 слов в минуту: 76 слов).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238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5EDE-F97E-45F9-87B0-14931A40BF47}" type="datetimeFigureOut">
              <a:rPr lang="uz-Latn-UZ" smtClean="0"/>
              <a:t>01/10/2026</a:t>
            </a:fld>
            <a:endParaRPr lang="uz-Latn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34878365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E894B79-9A81-4551-97E1-32714F48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95D54650-1D78-4E50-B4C4-7A4F9A16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6CB158F5-C2DD-4D6E-8B34-FDACBD9884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>
            <a:extLst>
              <a:ext uri="{FF2B5EF4-FFF2-40B4-BE49-F238E27FC236}">
                <a16:creationId xmlns:a16="http://schemas.microsoft.com/office/drawing/2014/main" id="{A5BAE28E-FA32-45EA-A115-54754B669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>
            <a:extLst>
              <a:ext uri="{FF2B5EF4-FFF2-40B4-BE49-F238E27FC236}">
                <a16:creationId xmlns:a16="http://schemas.microsoft.com/office/drawing/2014/main" id="{6B198587-1D52-478F-8517-DE5EA23042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>
            <a:extLst>
              <a:ext uri="{FF2B5EF4-FFF2-40B4-BE49-F238E27FC236}">
                <a16:creationId xmlns:a16="http://schemas.microsoft.com/office/drawing/2014/main" id="{786744CB-7F3D-4730-9355-DCE7F409C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>
            <a:extLst>
              <a:ext uri="{FF2B5EF4-FFF2-40B4-BE49-F238E27FC236}">
                <a16:creationId xmlns:a16="http://schemas.microsoft.com/office/drawing/2014/main" id="{A651360F-1C1A-4ADD-AC6B-AFC6B2531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>
            <a:extLst>
              <a:ext uri="{FF2B5EF4-FFF2-40B4-BE49-F238E27FC236}">
                <a16:creationId xmlns:a16="http://schemas.microsoft.com/office/drawing/2014/main" id="{9498781A-0BD2-46FF-866D-BE26B1F95DE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>
            <a:extLst>
              <a:ext uri="{FF2B5EF4-FFF2-40B4-BE49-F238E27FC236}">
                <a16:creationId xmlns:a16="http://schemas.microsoft.com/office/drawing/2014/main" id="{B8900843-D9C0-4862-918C-D93C67876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>
            <a:extLst>
              <a:ext uri="{FF2B5EF4-FFF2-40B4-BE49-F238E27FC236}">
                <a16:creationId xmlns:a16="http://schemas.microsoft.com/office/drawing/2014/main" id="{DB9BF20B-7E63-44E3-B773-B8236E61B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>
            <a:extLst>
              <a:ext uri="{FF2B5EF4-FFF2-40B4-BE49-F238E27FC236}">
                <a16:creationId xmlns:a16="http://schemas.microsoft.com/office/drawing/2014/main" id="{375669BD-3733-4FDD-BEE9-8708FDEF078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 sz="1867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>
            <a:extLst>
              <a:ext uri="{FF2B5EF4-FFF2-40B4-BE49-F238E27FC236}">
                <a16:creationId xmlns:a16="http://schemas.microsoft.com/office/drawing/2014/main" id="{BE9A2A1E-6F95-4C01-A0BC-ED41B4C20F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>
            <a:extLst>
              <a:ext uri="{FF2B5EF4-FFF2-40B4-BE49-F238E27FC236}">
                <a16:creationId xmlns:a16="http://schemas.microsoft.com/office/drawing/2014/main" id="{12CE402D-7CAB-4C73-B2ED-A2B6E0B60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3733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>
            <a:extLst>
              <a:ext uri="{FF2B5EF4-FFF2-40B4-BE49-F238E27FC236}">
                <a16:creationId xmlns:a16="http://schemas.microsoft.com/office/drawing/2014/main" id="{75482C9E-21AE-4378-B0C0-260EE8E050A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>
            <a:extLst>
              <a:ext uri="{FF2B5EF4-FFF2-40B4-BE49-F238E27FC236}">
                <a16:creationId xmlns:a16="http://schemas.microsoft.com/office/drawing/2014/main" id="{58C124E5-1C58-4273-ABE5-D0679ECA3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>
            <a:extLst>
              <a:ext uri="{FF2B5EF4-FFF2-40B4-BE49-F238E27FC236}">
                <a16:creationId xmlns:a16="http://schemas.microsoft.com/office/drawing/2014/main" id="{3B3EEF30-61D1-4DDE-92EA-52EBEC509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>
            <a:extLst>
              <a:ext uri="{FF2B5EF4-FFF2-40B4-BE49-F238E27FC236}">
                <a16:creationId xmlns:a16="http://schemas.microsoft.com/office/drawing/2014/main" id="{784B2C43-29CB-4C59-A876-E16FAF1C436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>
            <a:extLst>
              <a:ext uri="{FF2B5EF4-FFF2-40B4-BE49-F238E27FC236}">
                <a16:creationId xmlns:a16="http://schemas.microsoft.com/office/drawing/2014/main" id="{71FA5A2A-4F2A-4D8E-B691-2BDD45F34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>
            <a:extLst>
              <a:ext uri="{FF2B5EF4-FFF2-40B4-BE49-F238E27FC236}">
                <a16:creationId xmlns:a16="http://schemas.microsoft.com/office/drawing/2014/main" id="{855F8D53-7186-44C7-9807-E67997C87C5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>
            <a:extLst>
              <a:ext uri="{FF2B5EF4-FFF2-40B4-BE49-F238E27FC236}">
                <a16:creationId xmlns:a16="http://schemas.microsoft.com/office/drawing/2014/main" id="{6297B929-14C6-4ED8-87BA-189A4A264A91}"/>
              </a:ext>
            </a:extLst>
          </p:cNvPr>
          <p:cNvSpPr>
            <a:spLocks noGrp="1"/>
          </p:cNvSpPr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>
              <a:ext uri="{FF2B5EF4-FFF2-40B4-BE49-F238E27FC236}">
                <a16:creationId xmlns:a16="http://schemas.microsoft.com/office/drawing/2014/main" id="{AAA5B135-BA52-444A-BF28-CCB4FA019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>
            <a:extLst>
              <a:ext uri="{FF2B5EF4-FFF2-40B4-BE49-F238E27FC236}">
                <a16:creationId xmlns:a16="http://schemas.microsoft.com/office/drawing/2014/main" id="{DDEC3AA9-9C19-4ABD-816B-317F825FA1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>
            <a:extLst>
              <a:ext uri="{FF2B5EF4-FFF2-40B4-BE49-F238E27FC236}">
                <a16:creationId xmlns:a16="http://schemas.microsoft.com/office/drawing/2014/main" id="{B9BC143E-D44D-431D-A03A-F4C7C23E40E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marL="457200" indent="-3429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>
            <a:extLst>
              <a:ext uri="{FF2B5EF4-FFF2-40B4-BE49-F238E27FC236}">
                <a16:creationId xmlns:a16="http://schemas.microsoft.com/office/drawing/2014/main" id="{5F11B6AD-2435-4DB6-A10A-100B8BBEA9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>
            <a:extLst>
              <a:ext uri="{FF2B5EF4-FFF2-40B4-BE49-F238E27FC236}">
                <a16:creationId xmlns:a16="http://schemas.microsoft.com/office/drawing/2014/main" id="{D4C76B62-F1E4-48B3-BCC6-024165E84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>
            <a:extLst>
              <a:ext uri="{FF2B5EF4-FFF2-40B4-BE49-F238E27FC236}">
                <a16:creationId xmlns:a16="http://schemas.microsoft.com/office/drawing/2014/main" id="{033163FB-4948-46D2-834F-D497DF39275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>
            <a:extLst>
              <a:ext uri="{FF2B5EF4-FFF2-40B4-BE49-F238E27FC236}">
                <a16:creationId xmlns:a16="http://schemas.microsoft.com/office/drawing/2014/main" id="{D65D68F5-C46B-41B4-A844-14CA386555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>
            <a:extLst>
              <a:ext uri="{FF2B5EF4-FFF2-40B4-BE49-F238E27FC236}">
                <a16:creationId xmlns:a16="http://schemas.microsoft.com/office/drawing/2014/main" id="{DC006DCB-0B00-44E5-9F5E-6927400E7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SzPts val="1867"/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SzPts val="1867"/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SzPts val="1867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>
            <a:extLst>
              <a:ext uri="{FF2B5EF4-FFF2-40B4-BE49-F238E27FC236}">
                <a16:creationId xmlns:a16="http://schemas.microsoft.com/office/drawing/2014/main" id="{42C953DA-B2C2-4138-B266-F59FF1695BD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>
            <a:extLst>
              <a:ext uri="{FF2B5EF4-FFF2-40B4-BE49-F238E27FC236}">
                <a16:creationId xmlns:a16="http://schemas.microsoft.com/office/drawing/2014/main" id="{AC9AD09B-25ED-4F05-BACD-A14E3FD44B0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>
            <a:extLst>
              <a:ext uri="{FF2B5EF4-FFF2-40B4-BE49-F238E27FC236}">
                <a16:creationId xmlns:a16="http://schemas.microsoft.com/office/drawing/2014/main" id="{9E894B79-9A81-4551-97E1-32714F4820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121900" tIns="121900" rIns="121900" bIns="121900" anchor="b">
            <a:normAutofit/>
          </a:bodyPr>
          <a:lstStyle>
            <a:lvl1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1pPr>
            <a:lvl2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2pPr>
            <a:lvl3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3pPr>
            <a:lvl4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4pPr>
            <a:lvl5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5pPr>
            <a:lvl6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6pPr>
            <a:lvl7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7pPr>
            <a:lvl8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8pPr>
            <a:lvl9pPr algn="ctr">
              <a:spcBef>
                <a:spcPts val="0"/>
              </a:spcBef>
              <a:spcAft>
                <a:spcPts val="0"/>
              </a:spcAft>
              <a:buSzPts val="6933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>
            <a:extLst>
              <a:ext uri="{FF2B5EF4-FFF2-40B4-BE49-F238E27FC236}">
                <a16:creationId xmlns:a16="http://schemas.microsoft.com/office/drawing/2014/main" id="{95D54650-1D78-4E50-B4C4-7A4F9A1643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121900" tIns="121900" rIns="121900" bIns="121900" anchor="t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33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>
            <a:extLst>
              <a:ext uri="{FF2B5EF4-FFF2-40B4-BE49-F238E27FC236}">
                <a16:creationId xmlns:a16="http://schemas.microsoft.com/office/drawing/2014/main" id="{6CB158F5-C2DD-4D6E-8B34-FDACBD98841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121900" tIns="121900" rIns="121900" bIns="121900" anchor="ctr"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17257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65EDE-F97E-45F9-87B0-14931A40BF47}" type="datetimeFigureOut">
              <a:rPr lang="uz-Latn-UZ" smtClean="0"/>
              <a:t>01/10/2026</a:t>
            </a:fld>
            <a:endParaRPr lang="uz-Latn-U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z-Latn-UZ"/>
          </a:p>
        </p:txBody>
      </p:sp>
    </p:spTree>
    <p:extLst>
      <p:ext uri="{BB962C8B-B14F-4D97-AF65-F5344CB8AC3E}">
        <p14:creationId xmlns:p14="http://schemas.microsoft.com/office/powerpoint/2010/main" val="34878365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12E3968-FF3B-499D-9462-C43CE6CACC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7765EDE-F97E-45F9-87B0-14931A40BF47}" type="datetimeFigureOut">
              <a:t>01/10/2026</a:t>
            </a:fld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C45F70D-DB96-4285-B5AE-50E3E2E29F8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08EDB5D-C1FE-4484-B851-141A7BEA6BC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8326E13-B140-40B4-8E51-EE77E01D071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204577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5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7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7.xml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theme" Target="../theme/theme8.xml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slideLayout" Target="../slideLayouts/slideLayout45.xml"/><Relationship Id="rId3" Type="http://schemas.openxmlformats.org/officeDocument/2006/relationships/theme" Target="../theme/theme9.xml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slideLayout" Target="../slideLayouts/slideLayout47.xml"/><Relationship Id="rId3" Type="http://schemas.openxmlformats.org/officeDocument/2006/relationships/theme" Target="../theme/theme10.xml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theme" Target="../theme/theme11.xml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slideLayout" Target="../slideLayouts/slideLayout51.xml"/><Relationship Id="rId3" Type="http://schemas.openxmlformats.org/officeDocument/2006/relationships/theme" Target="../theme/theme12.xml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theme" Target="../theme/theme13.xml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theme" Target="../theme/theme14.xml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7.xml"/><Relationship Id="rId3" Type="http://schemas.openxmlformats.org/officeDocument/2006/relationships/theme" Target="../theme/theme15.xml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theme" Target="../theme/theme16.xml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theme" Target="../theme/theme17.xml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9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0.xml"/><Relationship Id="rId12" Type="http://schemas.openxmlformats.org/officeDocument/2006/relationships/theme" Target="../theme/theme18.xml"/></Relationships>
</file>

<file path=ppt/slideMasters/_rels/slideMaster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theme" Target="../theme/theme19.xml"/></Relationships>
</file>

<file path=ppt/slideMasters/_rels/slideMaster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slideLayout" Target="../slideLayouts/slideLayout83.xml"/><Relationship Id="rId3" Type="http://schemas.openxmlformats.org/officeDocument/2006/relationships/slideLayout" Target="../slideLayouts/slideLayout84.xml"/><Relationship Id="rId4" Type="http://schemas.openxmlformats.org/officeDocument/2006/relationships/slideLayout" Target="../slideLayouts/slideLayout85.xml"/><Relationship Id="rId5" Type="http://schemas.openxmlformats.org/officeDocument/2006/relationships/slideLayout" Target="../slideLayouts/slideLayout86.xml"/><Relationship Id="rId6" Type="http://schemas.openxmlformats.org/officeDocument/2006/relationships/slideLayout" Target="../slideLayouts/slideLayout87.xml"/><Relationship Id="rId7" Type="http://schemas.openxmlformats.org/officeDocument/2006/relationships/slideLayout" Target="../slideLayouts/slideLayout88.xml"/><Relationship Id="rId8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91.xml"/><Relationship Id="rId11" Type="http://schemas.openxmlformats.org/officeDocument/2006/relationships/slideLayout" Target="../slideLayouts/slideLayout92.xml"/><Relationship Id="rId12" Type="http://schemas.openxmlformats.org/officeDocument/2006/relationships/theme" Target="../theme/theme20.xml"/></Relationships>
</file>

<file path=ppt/slideMasters/_rels/slideMaster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3.xml"/><Relationship Id="rId2" Type="http://schemas.openxmlformats.org/officeDocument/2006/relationships/slideLayout" Target="../slideLayouts/slideLayout94.xml"/><Relationship Id="rId3" Type="http://schemas.openxmlformats.org/officeDocument/2006/relationships/slideLayout" Target="../slideLayouts/slideLayout95.xml"/><Relationship Id="rId4" Type="http://schemas.openxmlformats.org/officeDocument/2006/relationships/slideLayout" Target="../slideLayouts/slideLayout96.xml"/><Relationship Id="rId5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8.xml"/><Relationship Id="rId7" Type="http://schemas.openxmlformats.org/officeDocument/2006/relationships/slideLayout" Target="../slideLayouts/slideLayout99.xml"/><Relationship Id="rId8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3.xml"/><Relationship Id="rId12" Type="http://schemas.openxmlformats.org/officeDocument/2006/relationships/theme" Target="../theme/theme21.xml"/></Relationships>
</file>

<file path=ppt/slideMasters/_rels/slideMaster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11.xml"/><Relationship Id="rId9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4.xml"/><Relationship Id="rId12" Type="http://schemas.openxmlformats.org/officeDocument/2006/relationships/theme" Target="../theme/theme22.xml"/></Relationships>
</file>

<file path=ppt/slideMasters/_rels/slideMaster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16.xml"/><Relationship Id="rId3" Type="http://schemas.openxmlformats.org/officeDocument/2006/relationships/slideLayout" Target="../slideLayouts/slideLayout117.xml"/><Relationship Id="rId4" Type="http://schemas.openxmlformats.org/officeDocument/2006/relationships/slideLayout" Target="../slideLayouts/slideLayout118.xml"/><Relationship Id="rId5" Type="http://schemas.openxmlformats.org/officeDocument/2006/relationships/slideLayout" Target="../slideLayouts/slideLayout119.xml"/><Relationship Id="rId6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1.xml"/><Relationship Id="rId8" Type="http://schemas.openxmlformats.org/officeDocument/2006/relationships/slideLayout" Target="../slideLayouts/slideLayout122.xml"/><Relationship Id="rId9" Type="http://schemas.openxmlformats.org/officeDocument/2006/relationships/slideLayout" Target="../slideLayouts/slideLayout123.xml"/><Relationship Id="rId10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5.xml"/><Relationship Id="rId12" Type="http://schemas.openxmlformats.org/officeDocument/2006/relationships/slideLayout" Target="../slideLayouts/slideLayout126.xml"/><Relationship Id="rId13" Type="http://schemas.openxmlformats.org/officeDocument/2006/relationships/theme" Target="../theme/theme23.xml"/></Relationships>
</file>

<file path=ppt/slideMasters/_rels/slideMaster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7.xml"/><Relationship Id="rId2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9.xml"/><Relationship Id="rId4" Type="http://schemas.openxmlformats.org/officeDocument/2006/relationships/slideLayout" Target="../slideLayouts/slideLayout130.xml"/><Relationship Id="rId5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3.xml"/><Relationship Id="rId8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36.xml"/><Relationship Id="rId11" Type="http://schemas.openxmlformats.org/officeDocument/2006/relationships/slideLayout" Target="../slideLayouts/slideLayout137.xml"/><Relationship Id="rId12" Type="http://schemas.openxmlformats.org/officeDocument/2006/relationships/theme" Target="../theme/theme24.xml"/></Relationships>
</file>

<file path=ppt/slideMasters/_rels/slideMaster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48.xml"/><Relationship Id="rId12" Type="http://schemas.openxmlformats.org/officeDocument/2006/relationships/theme" Target="../theme/theme25.xml"/></Relationships>
</file>

<file path=ppt/slideMasters/_rels/slideMaster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9.xml"/><Relationship Id="rId2" Type="http://schemas.openxmlformats.org/officeDocument/2006/relationships/slideLayout" Target="../slideLayouts/slideLayout150.xml"/><Relationship Id="rId3" Type="http://schemas.openxmlformats.org/officeDocument/2006/relationships/slideLayout" Target="../slideLayouts/slideLayout151.xml"/><Relationship Id="rId4" Type="http://schemas.openxmlformats.org/officeDocument/2006/relationships/slideLayout" Target="../slideLayouts/slideLayout152.xml"/><Relationship Id="rId5" Type="http://schemas.openxmlformats.org/officeDocument/2006/relationships/slideLayout" Target="../slideLayouts/slideLayout153.xml"/><Relationship Id="rId6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155.xml"/><Relationship Id="rId8" Type="http://schemas.openxmlformats.org/officeDocument/2006/relationships/slideLayout" Target="../slideLayouts/slideLayout156.xml"/><Relationship Id="rId9" Type="http://schemas.openxmlformats.org/officeDocument/2006/relationships/slideLayout" Target="../slideLayouts/slideLayout157.xml"/><Relationship Id="rId10" Type="http://schemas.openxmlformats.org/officeDocument/2006/relationships/slideLayout" Target="../slideLayouts/slideLayout158.xml"/><Relationship Id="rId11" Type="http://schemas.openxmlformats.org/officeDocument/2006/relationships/slideLayout" Target="../slideLayouts/slideLayout159.xml"/><Relationship Id="rId12" Type="http://schemas.openxmlformats.org/officeDocument/2006/relationships/theme" Target="../theme/theme26.xml"/></Relationships>
</file>

<file path=ppt/slideMasters/_rels/slideMaster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0.xml"/><Relationship Id="rId2" Type="http://schemas.openxmlformats.org/officeDocument/2006/relationships/slideLayout" Target="../slideLayouts/slideLayout161.xml"/><Relationship Id="rId3" Type="http://schemas.openxmlformats.org/officeDocument/2006/relationships/slideLayout" Target="../slideLayouts/slideLayout162.xml"/><Relationship Id="rId4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164.xml"/><Relationship Id="rId6" Type="http://schemas.openxmlformats.org/officeDocument/2006/relationships/slideLayout" Target="../slideLayouts/slideLayout165.xml"/><Relationship Id="rId7" Type="http://schemas.openxmlformats.org/officeDocument/2006/relationships/slideLayout" Target="../slideLayouts/slideLayout166.xml"/><Relationship Id="rId8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68.xml"/><Relationship Id="rId10" Type="http://schemas.openxmlformats.org/officeDocument/2006/relationships/slideLayout" Target="../slideLayouts/slideLayout169.xml"/><Relationship Id="rId11" Type="http://schemas.openxmlformats.org/officeDocument/2006/relationships/slideLayout" Target="../slideLayouts/slideLayout170.xml"/><Relationship Id="rId12" Type="http://schemas.openxmlformats.org/officeDocument/2006/relationships/theme" Target="../theme/theme27.xml"/></Relationships>
</file>

<file path=ppt/slideMasters/_rels/slideMaster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73.xml"/><Relationship Id="rId4" Type="http://schemas.openxmlformats.org/officeDocument/2006/relationships/slideLayout" Target="../slideLayouts/slideLayout174.xml"/><Relationship Id="rId5" Type="http://schemas.openxmlformats.org/officeDocument/2006/relationships/slideLayout" Target="../slideLayouts/slideLayout175.xml"/><Relationship Id="rId6" Type="http://schemas.openxmlformats.org/officeDocument/2006/relationships/slideLayout" Target="../slideLayouts/slideLayout176.xml"/><Relationship Id="rId7" Type="http://schemas.openxmlformats.org/officeDocument/2006/relationships/slideLayout" Target="../slideLayouts/slideLayout177.xml"/><Relationship Id="rId8" Type="http://schemas.openxmlformats.org/officeDocument/2006/relationships/slideLayout" Target="../slideLayouts/slideLayout178.xml"/><Relationship Id="rId9" Type="http://schemas.openxmlformats.org/officeDocument/2006/relationships/slideLayout" Target="../slideLayouts/slideLayout179.xml"/><Relationship Id="rId10" Type="http://schemas.openxmlformats.org/officeDocument/2006/relationships/slideLayout" Target="../slideLayouts/slideLayout180.xml"/><Relationship Id="rId11" Type="http://schemas.openxmlformats.org/officeDocument/2006/relationships/slideLayout" Target="../slideLayouts/slideLayout181.xml"/><Relationship Id="rId12" Type="http://schemas.openxmlformats.org/officeDocument/2006/relationships/theme" Target="../theme/theme28.xml"/></Relationships>
</file>

<file path=ppt/slideMasters/_rels/slideMaster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theme" Target="../theme/theme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>
            <a:extLst>
              <a:ext uri="{FF2B5EF4-FFF2-40B4-BE49-F238E27FC236}">
                <a16:creationId xmlns:a16="http://schemas.microsoft.com/office/drawing/2014/main" id="{C315835C-05A4-43C1-A9CD-CEDF574DF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rmAutofit/>
          </a:bodyPr>
          <a:lstStyle>
            <a:lvl1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33"/>
              <a:buNone/>
              <a:defRPr sz="3733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>
            <a:extLst>
              <a:ext uri="{FF2B5EF4-FFF2-40B4-BE49-F238E27FC236}">
                <a16:creationId xmlns:a16="http://schemas.microsoft.com/office/drawing/2014/main" id="{2A13AC4B-ED8A-4995-8F44-E61104D24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>
            <a:normAutofit/>
          </a:bodyPr>
          <a:lstStyle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67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>
            <a:extLst>
              <a:ext uri="{FF2B5EF4-FFF2-40B4-BE49-F238E27FC236}">
                <a16:creationId xmlns:a16="http://schemas.microsoft.com/office/drawing/2014/main" id="{9D45EBC8-8535-4245-B7F3-F8BBFB08774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>
            <a:normAutofit/>
          </a:bodyPr>
          <a:lstStyle>
            <a:lvl1pPr algn="r">
              <a:buNone/>
              <a:defRPr sz="1333">
                <a:solidFill>
                  <a:schemeClr val="dk2"/>
                </a:solidFill>
              </a:defRPr>
            </a:lvl1pPr>
            <a:lvl2pPr algn="r">
              <a:buNone/>
              <a:defRPr sz="1333">
                <a:solidFill>
                  <a:schemeClr val="dk2"/>
                </a:solidFill>
              </a:defRPr>
            </a:lvl2pPr>
            <a:lvl3pPr algn="r">
              <a:buNone/>
              <a:defRPr sz="1333">
                <a:solidFill>
                  <a:schemeClr val="dk2"/>
                </a:solidFill>
              </a:defRPr>
            </a:lvl3pPr>
            <a:lvl4pPr algn="r">
              <a:buNone/>
              <a:defRPr sz="1333">
                <a:solidFill>
                  <a:schemeClr val="dk2"/>
                </a:solidFill>
              </a:defRPr>
            </a:lvl4pPr>
            <a:lvl5pPr algn="r">
              <a:buNone/>
              <a:defRPr sz="1333">
                <a:solidFill>
                  <a:schemeClr val="dk2"/>
                </a:solidFill>
              </a:defRPr>
            </a:lvl5pPr>
            <a:lvl6pPr algn="r">
              <a:buNone/>
              <a:defRPr sz="1333">
                <a:solidFill>
                  <a:schemeClr val="dk2"/>
                </a:solidFill>
              </a:defRPr>
            </a:lvl6pPr>
            <a:lvl7pPr algn="r">
              <a:buNone/>
              <a:defRPr sz="1333">
                <a:solidFill>
                  <a:schemeClr val="dk2"/>
                </a:solidFill>
              </a:defRPr>
            </a:lvl7pPr>
            <a:lvl8pPr algn="r">
              <a:buNone/>
              <a:defRPr sz="1333">
                <a:solidFill>
                  <a:schemeClr val="dk2"/>
                </a:solidFill>
              </a:defRPr>
            </a:lvl8pPr>
            <a:lvl9pPr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867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3" r:id="rId1"/>
    <p:sldLayoutId id="2147483774" r:id="rId2"/>
    <p:sldLayoutId id="2147483775" r:id="rId3"/>
    <p:sldLayoutId id="2147483776" r:id="rId4"/>
    <p:sldLayoutId id="2147483777" r:id="rId5"/>
    <p:sldLayoutId id="2147483778" r:id="rId6"/>
    <p:sldLayoutId id="2147483779" r:id="rId7"/>
    <p:sldLayoutId id="2147483780" r:id="rId8"/>
    <p:sldLayoutId id="2147483781" r:id="rId9"/>
    <p:sldLayoutId id="2147483782" r:id="rId10"/>
    <p:sldLayoutId id="21474837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2" r:id="rId1"/>
    <p:sldLayoutId id="2147483823" r:id="rId2"/>
    <p:sldLayoutId id="2147483824" r:id="rId3"/>
    <p:sldLayoutId id="2147483825" r:id="rId4"/>
    <p:sldLayoutId id="2147483826" r:id="rId5"/>
    <p:sldLayoutId id="2147483827" r:id="rId6"/>
    <p:sldLayoutId id="2147483828" r:id="rId7"/>
    <p:sldLayoutId id="2147483829" r:id="rId8"/>
    <p:sldLayoutId id="2147483830" r:id="rId9"/>
    <p:sldLayoutId id="2147483831" r:id="rId10"/>
    <p:sldLayoutId id="2147483832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1.xml"/><Relationship Id="rId4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.png"/><Relationship Id="rId8" Type="http://schemas.openxmlformats.org/officeDocument/2006/relationships/image" Target="../media/image6.png"/><Relationship Id="rId9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3.xml"/><Relationship Id="rId3" Type="http://schemas.openxmlformats.org/officeDocument/2006/relationships/chart" Target="../charts/chart2.xml"/><Relationship Id="rId4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chart" Target="../charts/chart3.xml"/><Relationship Id="rId5" Type="http://schemas.openxmlformats.org/officeDocument/2006/relationships/chart" Target="../charts/char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6.xml"/><Relationship Id="rId3" Type="http://schemas.openxmlformats.org/officeDocument/2006/relationships/chart" Target="../charts/chart5.xml"/><Relationship Id="rId4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9.xml"/><Relationship Id="rId2" Type="http://schemas.openxmlformats.org/officeDocument/2006/relationships/notesSlide" Target="../notesSlides/notesSlide43.xml"/><Relationship Id="rId3" Type="http://schemas.openxmlformats.org/officeDocument/2006/relationships/chart" Target="../charts/chart6.xml"/><Relationship Id="rId4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png"/><Relationship Id="rId4" Type="http://schemas.openxmlformats.org/officeDocument/2006/relationships/chart" Target="../charts/char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Relationship Id="rId3" Type="http://schemas.openxmlformats.org/officeDocument/2006/relationships/chart" Target="../charts/chart8.xml"/><Relationship Id="rId4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Relationship Id="rId3" Type="http://schemas.openxmlformats.org/officeDocument/2006/relationships/chart" Target="../charts/chart9.xml"/><Relationship Id="rId4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486EE4-498D-47F8-BA88-038A683979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custGeom>
            <a:avLst/>
            <a:gdLst/>
            <a:ahLst/>
            <a:cxnLst/>
            <a:rect l="0" t="0" r="r" b="b"/>
            <a:pathLst>
              <a:path w="1280000" h="720000" stroke="0" extrusionOk="0">
                <a:moveTo>
                  <a:pt x="0" y="0"/>
                </a:moveTo>
                <a:lnTo>
                  <a:pt x="611534" y="0"/>
                </a:lnTo>
                <a:cubicBezTo>
                  <a:pt x="611531" y="1719"/>
                  <a:pt x="611528" y="3437"/>
                  <a:pt x="611525" y="5156"/>
                </a:cubicBezTo>
                <a:cubicBezTo>
                  <a:pt x="611091" y="5840"/>
                  <a:pt x="609425" y="20653"/>
                  <a:pt x="608745" y="21099"/>
                </a:cubicBezTo>
                <a:lnTo>
                  <a:pt x="607820" y="43472"/>
                </a:lnTo>
                <a:cubicBezTo>
                  <a:pt x="607133" y="46292"/>
                  <a:pt x="603710" y="62855"/>
                  <a:pt x="605751" y="61466"/>
                </a:cubicBezTo>
                <a:cubicBezTo>
                  <a:pt x="601112" y="69726"/>
                  <a:pt x="603367" y="74380"/>
                  <a:pt x="600954" y="84055"/>
                </a:cubicBezTo>
                <a:cubicBezTo>
                  <a:pt x="605276" y="90010"/>
                  <a:pt x="601170" y="86569"/>
                  <a:pt x="601742" y="92273"/>
                </a:cubicBezTo>
                <a:cubicBezTo>
                  <a:pt x="597586" y="90231"/>
                  <a:pt x="603767" y="99359"/>
                  <a:pt x="598972" y="99089"/>
                </a:cubicBezTo>
                <a:cubicBezTo>
                  <a:pt x="599228" y="100136"/>
                  <a:pt x="599627" y="101158"/>
                  <a:pt x="600064" y="102187"/>
                </a:cubicBezTo>
                <a:lnTo>
                  <a:pt x="600290" y="102725"/>
                </a:lnTo>
                <a:lnTo>
                  <a:pt x="600368" y="104781"/>
                </a:lnTo>
                <a:lnTo>
                  <a:pt x="601424" y="105486"/>
                </a:lnTo>
                <a:lnTo>
                  <a:pt x="602138" y="112419"/>
                </a:lnTo>
                <a:cubicBezTo>
                  <a:pt x="599382" y="116586"/>
                  <a:pt x="603949" y="124981"/>
                  <a:pt x="600300" y="130078"/>
                </a:cubicBezTo>
                <a:cubicBezTo>
                  <a:pt x="600064" y="135496"/>
                  <a:pt x="600567" y="141493"/>
                  <a:pt x="600724" y="144927"/>
                </a:cubicBezTo>
                <a:cubicBezTo>
                  <a:pt x="602405" y="146603"/>
                  <a:pt x="599019" y="150711"/>
                  <a:pt x="601238" y="150684"/>
                </a:cubicBezTo>
                <a:lnTo>
                  <a:pt x="600582" y="152636"/>
                </a:lnTo>
                <a:lnTo>
                  <a:pt x="601416" y="154021"/>
                </a:lnTo>
                <a:cubicBezTo>
                  <a:pt x="602300" y="155436"/>
                  <a:pt x="602895" y="156545"/>
                  <a:pt x="602387" y="157723"/>
                </a:cubicBezTo>
                <a:lnTo>
                  <a:pt x="605866" y="164322"/>
                </a:lnTo>
                <a:cubicBezTo>
                  <a:pt x="607362" y="163492"/>
                  <a:pt x="605999" y="167618"/>
                  <a:pt x="607515" y="168183"/>
                </a:cubicBezTo>
                <a:cubicBezTo>
                  <a:pt x="608740" y="168468"/>
                  <a:pt x="608611" y="169786"/>
                  <a:pt x="609050" y="170814"/>
                </a:cubicBezTo>
                <a:cubicBezTo>
                  <a:pt x="610293" y="171590"/>
                  <a:pt x="611365" y="176713"/>
                  <a:pt x="611160" y="178469"/>
                </a:cubicBezTo>
                <a:cubicBezTo>
                  <a:pt x="609842" y="183388"/>
                  <a:pt x="614832" y="187622"/>
                  <a:pt x="613908" y="191559"/>
                </a:cubicBezTo>
                <a:cubicBezTo>
                  <a:pt x="614012" y="192607"/>
                  <a:pt x="614283" y="193483"/>
                  <a:pt x="614658" y="194249"/>
                </a:cubicBezTo>
                <a:lnTo>
                  <a:pt x="616833" y="196284"/>
                </a:lnTo>
                <a:lnTo>
                  <a:pt x="617351" y="197701"/>
                </a:lnTo>
                <a:lnTo>
                  <a:pt x="617626" y="197997"/>
                </a:lnTo>
                <a:lnTo>
                  <a:pt x="617728" y="198123"/>
                </a:lnTo>
                <a:lnTo>
                  <a:pt x="618529" y="199714"/>
                </a:lnTo>
                <a:lnTo>
                  <a:pt x="617542" y="202613"/>
                </a:lnTo>
                <a:lnTo>
                  <a:pt x="618551" y="208158"/>
                </a:lnTo>
                <a:cubicBezTo>
                  <a:pt x="616941" y="210625"/>
                  <a:pt x="618541" y="209668"/>
                  <a:pt x="619032" y="211340"/>
                </a:cubicBezTo>
                <a:cubicBezTo>
                  <a:pt x="619375" y="212864"/>
                  <a:pt x="620260" y="215718"/>
                  <a:pt x="620613" y="217305"/>
                </a:cubicBezTo>
                <a:cubicBezTo>
                  <a:pt x="622179" y="218397"/>
                  <a:pt x="620510" y="219238"/>
                  <a:pt x="621146" y="220864"/>
                </a:cubicBezTo>
                <a:cubicBezTo>
                  <a:pt x="621776" y="221590"/>
                  <a:pt x="621936" y="222149"/>
                  <a:pt x="621453" y="222995"/>
                </a:cubicBezTo>
                <a:cubicBezTo>
                  <a:pt x="624495" y="226324"/>
                  <a:pt x="621832" y="225184"/>
                  <a:pt x="623241" y="228471"/>
                </a:cubicBezTo>
                <a:cubicBezTo>
                  <a:pt x="624646" y="231280"/>
                  <a:pt x="625727" y="234526"/>
                  <a:pt x="628584" y="237064"/>
                </a:cubicBezTo>
                <a:cubicBezTo>
                  <a:pt x="629360" y="237500"/>
                  <a:pt x="629783" y="238747"/>
                  <a:pt x="629529" y="239850"/>
                </a:cubicBezTo>
                <a:cubicBezTo>
                  <a:pt x="629485" y="240039"/>
                  <a:pt x="629422" y="240217"/>
                  <a:pt x="629343" y="240379"/>
                </a:cubicBezTo>
                <a:cubicBezTo>
                  <a:pt x="630334" y="241116"/>
                  <a:pt x="630651" y="241805"/>
                  <a:pt x="630883" y="242385"/>
                </a:cubicBezTo>
                <a:lnTo>
                  <a:pt x="631829" y="243639"/>
                </a:lnTo>
                <a:lnTo>
                  <a:pt x="631993" y="244399"/>
                </a:lnTo>
                <a:lnTo>
                  <a:pt x="632407" y="247533"/>
                </a:lnTo>
                <a:lnTo>
                  <a:pt x="632652" y="248284"/>
                </a:lnTo>
                <a:lnTo>
                  <a:pt x="633028" y="250745"/>
                </a:lnTo>
                <a:lnTo>
                  <a:pt x="632927" y="252210"/>
                </a:lnTo>
                <a:lnTo>
                  <a:pt x="633522" y="254070"/>
                </a:lnTo>
                <a:cubicBezTo>
                  <a:pt x="633535" y="254165"/>
                  <a:pt x="633548" y="254261"/>
                  <a:pt x="633561" y="254357"/>
                </a:cubicBezTo>
                <a:lnTo>
                  <a:pt x="633359" y="254698"/>
                </a:lnTo>
                <a:cubicBezTo>
                  <a:pt x="633397" y="254875"/>
                  <a:pt x="633526" y="255089"/>
                  <a:pt x="633669" y="255323"/>
                </a:cubicBezTo>
                <a:cubicBezTo>
                  <a:pt x="633686" y="255391"/>
                  <a:pt x="633703" y="255459"/>
                  <a:pt x="633720" y="255527"/>
                </a:cubicBezTo>
                <a:lnTo>
                  <a:pt x="633970" y="257365"/>
                </a:lnTo>
                <a:cubicBezTo>
                  <a:pt x="633948" y="257509"/>
                  <a:pt x="633927" y="257654"/>
                  <a:pt x="633906" y="257799"/>
                </a:cubicBezTo>
                <a:lnTo>
                  <a:pt x="634135" y="258581"/>
                </a:lnTo>
                <a:lnTo>
                  <a:pt x="634720" y="262886"/>
                </a:lnTo>
                <a:cubicBezTo>
                  <a:pt x="635570" y="269402"/>
                  <a:pt x="636321" y="275614"/>
                  <a:pt x="636628" y="278523"/>
                </a:cubicBezTo>
                <a:cubicBezTo>
                  <a:pt x="636268" y="279086"/>
                  <a:pt x="636037" y="279695"/>
                  <a:pt x="635898" y="280335"/>
                </a:cubicBezTo>
                <a:lnTo>
                  <a:pt x="635729" y="282217"/>
                </a:lnTo>
                <a:lnTo>
                  <a:pt x="635903" y="282400"/>
                </a:lnTo>
                <a:cubicBezTo>
                  <a:pt x="636378" y="283304"/>
                  <a:pt x="636428" y="283936"/>
                  <a:pt x="636289" y="284447"/>
                </a:cubicBezTo>
                <a:lnTo>
                  <a:pt x="635981" y="284990"/>
                </a:lnTo>
                <a:cubicBezTo>
                  <a:pt x="636029" y="285468"/>
                  <a:pt x="636076" y="285946"/>
                  <a:pt x="636123" y="286424"/>
                </a:cubicBezTo>
                <a:cubicBezTo>
                  <a:pt x="636106" y="287392"/>
                  <a:pt x="636088" y="288361"/>
                  <a:pt x="636071" y="289329"/>
                </a:cubicBezTo>
                <a:lnTo>
                  <a:pt x="636371" y="289798"/>
                </a:lnTo>
                <a:lnTo>
                  <a:pt x="636775" y="294063"/>
                </a:lnTo>
                <a:lnTo>
                  <a:pt x="636928" y="294086"/>
                </a:lnTo>
                <a:cubicBezTo>
                  <a:pt x="637280" y="294235"/>
                  <a:pt x="637557" y="294528"/>
                  <a:pt x="637685" y="295132"/>
                </a:cubicBezTo>
                <a:cubicBezTo>
                  <a:pt x="639643" y="293682"/>
                  <a:pt x="638590" y="295304"/>
                  <a:pt x="638795" y="297213"/>
                </a:cubicBezTo>
                <a:cubicBezTo>
                  <a:pt x="641883" y="295386"/>
                  <a:pt x="641164" y="301123"/>
                  <a:pt x="643177" y="301568"/>
                </a:cubicBezTo>
                <a:lnTo>
                  <a:pt x="643783" y="306887"/>
                </a:lnTo>
                <a:lnTo>
                  <a:pt x="643820" y="306897"/>
                </a:lnTo>
                <a:cubicBezTo>
                  <a:pt x="643927" y="307072"/>
                  <a:pt x="644009" y="307355"/>
                  <a:pt x="644064" y="307808"/>
                </a:cubicBezTo>
                <a:cubicBezTo>
                  <a:pt x="644073" y="308033"/>
                  <a:pt x="644081" y="308259"/>
                  <a:pt x="644090" y="308485"/>
                </a:cubicBezTo>
                <a:lnTo>
                  <a:pt x="644417" y="310186"/>
                </a:lnTo>
                <a:lnTo>
                  <a:pt x="644751" y="310724"/>
                </a:lnTo>
                <a:lnTo>
                  <a:pt x="645202" y="310868"/>
                </a:lnTo>
                <a:lnTo>
                  <a:pt x="645186" y="311033"/>
                </a:lnTo>
                <a:cubicBezTo>
                  <a:pt x="644705" y="312339"/>
                  <a:pt x="643743" y="312863"/>
                  <a:pt x="646921" y="313967"/>
                </a:cubicBezTo>
                <a:cubicBezTo>
                  <a:pt x="646303" y="316887"/>
                  <a:pt x="648162" y="317168"/>
                  <a:pt x="649549" y="320835"/>
                </a:cubicBezTo>
                <a:cubicBezTo>
                  <a:pt x="648759" y="322571"/>
                  <a:pt x="649415" y="323775"/>
                  <a:pt x="650543" y="324880"/>
                </a:cubicBezTo>
                <a:cubicBezTo>
                  <a:pt x="650774" y="328615"/>
                  <a:pt x="652683" y="331770"/>
                  <a:pt x="653823" y="335837"/>
                </a:cubicBezTo>
                <a:lnTo>
                  <a:pt x="657143" y="347250"/>
                </a:lnTo>
                <a:lnTo>
                  <a:pt x="659036" y="354220"/>
                </a:lnTo>
                <a:cubicBezTo>
                  <a:pt x="659017" y="354442"/>
                  <a:pt x="659719" y="354735"/>
                  <a:pt x="660435" y="354999"/>
                </a:cubicBezTo>
                <a:lnTo>
                  <a:pt x="661122" y="355247"/>
                </a:lnTo>
                <a:lnTo>
                  <a:pt x="661720" y="358442"/>
                </a:lnTo>
                <a:lnTo>
                  <a:pt x="661455" y="360832"/>
                </a:lnTo>
                <a:lnTo>
                  <a:pt x="663267" y="369724"/>
                </a:lnTo>
                <a:lnTo>
                  <a:pt x="664001" y="378347"/>
                </a:lnTo>
                <a:cubicBezTo>
                  <a:pt x="664066" y="380050"/>
                  <a:pt x="664131" y="381753"/>
                  <a:pt x="664196" y="383457"/>
                </a:cubicBezTo>
                <a:lnTo>
                  <a:pt x="663180" y="384800"/>
                </a:lnTo>
                <a:lnTo>
                  <a:pt x="664391" y="388536"/>
                </a:lnTo>
                <a:lnTo>
                  <a:pt x="664527" y="392102"/>
                </a:lnTo>
                <a:cubicBezTo>
                  <a:pt x="664564" y="393865"/>
                  <a:pt x="664602" y="395628"/>
                  <a:pt x="664639" y="397391"/>
                </a:cubicBezTo>
                <a:cubicBezTo>
                  <a:pt x="664635" y="397497"/>
                  <a:pt x="664630" y="397603"/>
                  <a:pt x="664626" y="397709"/>
                </a:cubicBezTo>
                <a:cubicBezTo>
                  <a:pt x="664641" y="398081"/>
                  <a:pt x="664655" y="398453"/>
                  <a:pt x="664669" y="398824"/>
                </a:cubicBezTo>
                <a:cubicBezTo>
                  <a:pt x="664699" y="400222"/>
                  <a:pt x="664728" y="401620"/>
                  <a:pt x="664758" y="403018"/>
                </a:cubicBezTo>
                <a:cubicBezTo>
                  <a:pt x="665039" y="414598"/>
                  <a:pt x="662028" y="415794"/>
                  <a:pt x="662213" y="421543"/>
                </a:cubicBezTo>
                <a:lnTo>
                  <a:pt x="664831" y="425489"/>
                </a:lnTo>
                <a:lnTo>
                  <a:pt x="664794" y="430053"/>
                </a:lnTo>
                <a:cubicBezTo>
                  <a:pt x="661996" y="436656"/>
                  <a:pt x="665649" y="446245"/>
                  <a:pt x="664617" y="453663"/>
                </a:cubicBezTo>
                <a:cubicBezTo>
                  <a:pt x="664538" y="459488"/>
                  <a:pt x="664197" y="462751"/>
                  <a:pt x="664324" y="465005"/>
                </a:cubicBezTo>
                <a:cubicBezTo>
                  <a:pt x="664597" y="465754"/>
                  <a:pt x="664974" y="466469"/>
                  <a:pt x="665379" y="467185"/>
                </a:cubicBezTo>
                <a:lnTo>
                  <a:pt x="665590" y="467561"/>
                </a:lnTo>
                <a:lnTo>
                  <a:pt x="665810" y="469075"/>
                </a:lnTo>
                <a:lnTo>
                  <a:pt x="666649" y="469487"/>
                </a:lnTo>
                <a:lnTo>
                  <a:pt x="667538" y="471755"/>
                </a:lnTo>
                <a:cubicBezTo>
                  <a:pt x="667750" y="472607"/>
                  <a:pt x="667838" y="473527"/>
                  <a:pt x="667725" y="474548"/>
                </a:cubicBezTo>
                <a:cubicBezTo>
                  <a:pt x="667738" y="475136"/>
                  <a:pt x="667751" y="475724"/>
                  <a:pt x="667764" y="476312"/>
                </a:cubicBezTo>
                <a:lnTo>
                  <a:pt x="667646" y="476462"/>
                </a:lnTo>
                <a:cubicBezTo>
                  <a:pt x="667580" y="476765"/>
                  <a:pt x="667574" y="477119"/>
                  <a:pt x="667485" y="477436"/>
                </a:cubicBezTo>
                <a:cubicBezTo>
                  <a:pt x="666843" y="477949"/>
                  <a:pt x="666573" y="481064"/>
                  <a:pt x="666799" y="482110"/>
                </a:cubicBezTo>
                <a:cubicBezTo>
                  <a:pt x="667844" y="485011"/>
                  <a:pt x="665339" y="487742"/>
                  <a:pt x="666103" y="490070"/>
                </a:cubicBezTo>
                <a:cubicBezTo>
                  <a:pt x="665846" y="491871"/>
                  <a:pt x="665477" y="492426"/>
                  <a:pt x="665256" y="492917"/>
                </a:cubicBezTo>
                <a:lnTo>
                  <a:pt x="664777" y="493016"/>
                </a:lnTo>
                <a:lnTo>
                  <a:pt x="664579" y="493886"/>
                </a:lnTo>
                <a:lnTo>
                  <a:pt x="664445" y="494075"/>
                </a:lnTo>
                <a:cubicBezTo>
                  <a:pt x="664188" y="494433"/>
                  <a:pt x="663945" y="494796"/>
                  <a:pt x="663759" y="495197"/>
                </a:cubicBezTo>
                <a:lnTo>
                  <a:pt x="664205" y="500228"/>
                </a:lnTo>
                <a:lnTo>
                  <a:pt x="664690" y="501773"/>
                </a:lnTo>
                <a:lnTo>
                  <a:pt x="665312" y="502624"/>
                </a:lnTo>
                <a:lnTo>
                  <a:pt x="667286" y="508505"/>
                </a:lnTo>
                <a:lnTo>
                  <a:pt x="668908" y="512494"/>
                </a:lnTo>
                <a:lnTo>
                  <a:pt x="669511" y="513316"/>
                </a:lnTo>
                <a:lnTo>
                  <a:pt x="669378" y="514373"/>
                </a:lnTo>
                <a:cubicBezTo>
                  <a:pt x="669301" y="514510"/>
                  <a:pt x="669206" y="514625"/>
                  <a:pt x="669097" y="514715"/>
                </a:cubicBezTo>
                <a:lnTo>
                  <a:pt x="670489" y="517876"/>
                </a:lnTo>
                <a:lnTo>
                  <a:pt x="670594" y="518266"/>
                </a:lnTo>
                <a:lnTo>
                  <a:pt x="671083" y="520979"/>
                </a:lnTo>
                <a:cubicBezTo>
                  <a:pt x="671120" y="523774"/>
                  <a:pt x="671156" y="526569"/>
                  <a:pt x="671192" y="529364"/>
                </a:cubicBezTo>
                <a:cubicBezTo>
                  <a:pt x="670212" y="529106"/>
                  <a:pt x="671902" y="531280"/>
                  <a:pt x="671241" y="531827"/>
                </a:cubicBezTo>
                <a:cubicBezTo>
                  <a:pt x="670668" y="532171"/>
                  <a:pt x="671047" y="532910"/>
                  <a:pt x="671060" y="533566"/>
                </a:cubicBezTo>
                <a:cubicBezTo>
                  <a:pt x="670593" y="534195"/>
                  <a:pt x="671243" y="537299"/>
                  <a:pt x="671766" y="538280"/>
                </a:cubicBezTo>
                <a:cubicBezTo>
                  <a:pt x="673619" y="540915"/>
                  <a:pt x="672008" y="544084"/>
                  <a:pt x="673423" y="546213"/>
                </a:cubicBezTo>
                <a:cubicBezTo>
                  <a:pt x="673702" y="548028"/>
                  <a:pt x="673509" y="548645"/>
                  <a:pt x="673440" y="549169"/>
                </a:cubicBezTo>
                <a:lnTo>
                  <a:pt x="673008" y="549361"/>
                </a:lnTo>
                <a:lnTo>
                  <a:pt x="673072" y="550252"/>
                </a:lnTo>
                <a:lnTo>
                  <a:pt x="672998" y="550463"/>
                </a:lnTo>
                <a:cubicBezTo>
                  <a:pt x="672855" y="550864"/>
                  <a:pt x="672728" y="551268"/>
                  <a:pt x="672665" y="551697"/>
                </a:cubicBezTo>
                <a:cubicBezTo>
                  <a:pt x="674767" y="552110"/>
                  <a:pt x="672479" y="555422"/>
                  <a:pt x="674214" y="554988"/>
                </a:cubicBezTo>
                <a:cubicBezTo>
                  <a:pt x="674235" y="557421"/>
                  <a:pt x="677083" y="560371"/>
                  <a:pt x="675462" y="562499"/>
                </a:cubicBezTo>
                <a:cubicBezTo>
                  <a:pt x="675954" y="566116"/>
                  <a:pt x="676074" y="569387"/>
                  <a:pt x="676744" y="573237"/>
                </a:cubicBezTo>
                <a:cubicBezTo>
                  <a:pt x="677943" y="576218"/>
                  <a:pt x="676785" y="579438"/>
                  <a:pt x="678282" y="581597"/>
                </a:cubicBezTo>
                <a:cubicBezTo>
                  <a:pt x="678198" y="585035"/>
                  <a:pt x="679234" y="589327"/>
                  <a:pt x="681436" y="592029"/>
                </a:cubicBezTo>
                <a:cubicBezTo>
                  <a:pt x="681767" y="595719"/>
                  <a:pt x="683066" y="596346"/>
                  <a:pt x="682093" y="599576"/>
                </a:cubicBezTo>
                <a:cubicBezTo>
                  <a:pt x="682415" y="599846"/>
                  <a:pt x="682680" y="600163"/>
                  <a:pt x="682904" y="600510"/>
                </a:cubicBezTo>
                <a:lnTo>
                  <a:pt x="683437" y="601568"/>
                </a:lnTo>
                <a:lnTo>
                  <a:pt x="683389" y="601699"/>
                </a:lnTo>
                <a:lnTo>
                  <a:pt x="684226" y="604046"/>
                </a:lnTo>
                <a:lnTo>
                  <a:pt x="685691" y="608536"/>
                </a:lnTo>
                <a:lnTo>
                  <a:pt x="685616" y="608572"/>
                </a:lnTo>
                <a:cubicBezTo>
                  <a:pt x="685468" y="608709"/>
                  <a:pt x="685392" y="608918"/>
                  <a:pt x="685467" y="609285"/>
                </a:cubicBezTo>
                <a:cubicBezTo>
                  <a:pt x="684099" y="608738"/>
                  <a:pt x="685034" y="609517"/>
                  <a:pt x="685378" y="610645"/>
                </a:cubicBezTo>
                <a:cubicBezTo>
                  <a:pt x="683330" y="610048"/>
                  <a:pt x="685063" y="613242"/>
                  <a:pt x="684114" y="613793"/>
                </a:cubicBezTo>
                <a:cubicBezTo>
                  <a:pt x="684413" y="614636"/>
                  <a:pt x="684692" y="615515"/>
                  <a:pt x="684935" y="616413"/>
                </a:cubicBezTo>
                <a:lnTo>
                  <a:pt x="685055" y="616942"/>
                </a:lnTo>
                <a:lnTo>
                  <a:pt x="685038" y="616954"/>
                </a:lnTo>
                <a:cubicBezTo>
                  <a:pt x="685023" y="617070"/>
                  <a:pt x="685047" y="617245"/>
                  <a:pt x="685126" y="617513"/>
                </a:cubicBezTo>
                <a:lnTo>
                  <a:pt x="685503" y="618933"/>
                </a:lnTo>
                <a:cubicBezTo>
                  <a:pt x="685487" y="619053"/>
                  <a:pt x="685471" y="619172"/>
                  <a:pt x="685455" y="619291"/>
                </a:cubicBezTo>
                <a:lnTo>
                  <a:pt x="685086" y="621476"/>
                </a:lnTo>
                <a:cubicBezTo>
                  <a:pt x="685172" y="622950"/>
                  <a:pt x="685511" y="626020"/>
                  <a:pt x="685771" y="628285"/>
                </a:cubicBezTo>
                <a:cubicBezTo>
                  <a:pt x="686533" y="630468"/>
                  <a:pt x="686279" y="632563"/>
                  <a:pt x="686645" y="635070"/>
                </a:cubicBezTo>
                <a:cubicBezTo>
                  <a:pt x="688026" y="637672"/>
                  <a:pt x="686881" y="639211"/>
                  <a:pt x="687277" y="641890"/>
                </a:cubicBezTo>
                <a:cubicBezTo>
                  <a:pt x="689159" y="644040"/>
                  <a:pt x="686475" y="643924"/>
                  <a:pt x="686221" y="645348"/>
                </a:cubicBezTo>
                <a:lnTo>
                  <a:pt x="686254" y="645738"/>
                </a:lnTo>
                <a:lnTo>
                  <a:pt x="686673" y="646720"/>
                </a:lnTo>
                <a:lnTo>
                  <a:pt x="686885" y="647075"/>
                </a:lnTo>
                <a:cubicBezTo>
                  <a:pt x="687011" y="647325"/>
                  <a:pt x="687069" y="647498"/>
                  <a:pt x="687080" y="647625"/>
                </a:cubicBezTo>
                <a:cubicBezTo>
                  <a:pt x="687076" y="647631"/>
                  <a:pt x="687072" y="647637"/>
                  <a:pt x="687068" y="647643"/>
                </a:cubicBezTo>
                <a:lnTo>
                  <a:pt x="688560" y="650569"/>
                </a:lnTo>
                <a:cubicBezTo>
                  <a:pt x="687835" y="651496"/>
                  <a:pt x="690039" y="654174"/>
                  <a:pt x="688098" y="654317"/>
                </a:cubicBezTo>
                <a:cubicBezTo>
                  <a:pt x="688639" y="655362"/>
                  <a:pt x="689630" y="655823"/>
                  <a:pt x="688303" y="655765"/>
                </a:cubicBezTo>
                <a:cubicBezTo>
                  <a:pt x="688447" y="656118"/>
                  <a:pt x="688424" y="656364"/>
                  <a:pt x="688321" y="656562"/>
                </a:cubicBezTo>
                <a:lnTo>
                  <a:pt x="689494" y="658945"/>
                </a:lnTo>
                <a:cubicBezTo>
                  <a:pt x="689502" y="659059"/>
                  <a:pt x="689510" y="659174"/>
                  <a:pt x="689518" y="659288"/>
                </a:cubicBezTo>
                <a:lnTo>
                  <a:pt x="690499" y="660753"/>
                </a:lnTo>
                <a:lnTo>
                  <a:pt x="691732" y="662884"/>
                </a:lnTo>
                <a:cubicBezTo>
                  <a:pt x="691727" y="662935"/>
                  <a:pt x="691722" y="662987"/>
                  <a:pt x="691717" y="663038"/>
                </a:cubicBezTo>
                <a:lnTo>
                  <a:pt x="692411" y="663939"/>
                </a:lnTo>
                <a:cubicBezTo>
                  <a:pt x="692682" y="664218"/>
                  <a:pt x="693793" y="668176"/>
                  <a:pt x="694135" y="668338"/>
                </a:cubicBezTo>
                <a:lnTo>
                  <a:pt x="697371" y="688380"/>
                </a:lnTo>
                <a:cubicBezTo>
                  <a:pt x="699785" y="699835"/>
                  <a:pt x="702208" y="708039"/>
                  <a:pt x="704634" y="714822"/>
                </a:cubicBezTo>
                <a:lnTo>
                  <a:pt x="706606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  <a:solidFill>
            <a:srgbClr val="ECEBE9"/>
          </a:solidFill>
          <a:ln w="12700">
            <a:solidFill>
              <a:srgbClr val="16324F"/>
            </a:solidFill>
            <a:prstDash val="solid"/>
          </a:ln>
          <a:effectLst/>
        </p:spPr>
        <p:txBody>
          <a:bodyPr/>
          <a:lstStyle/>
          <a:p>
            <a:pPr>
              <a:lnSpc>
                <a:spcPct val="90000"/>
              </a:lnSpc>
            </a:pPr>
            <a:endParaRPr 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69EF342-AE56-4CBA-8A80-69B7925D9032}"/>
              </a:ext>
            </a:extLst>
          </p:cNvPr>
          <p:cNvSpPr>
            <a:spLocks noGrp="1"/>
          </p:cNvSpPr>
          <p:nvPr/>
        </p:nvSpPr>
        <p:spPr>
          <a:xfrm>
            <a:off x="838200" y="2095500"/>
            <a:ext cx="4762500" cy="7620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uz-Cyrl-UZ" sz="4000" b="0" spc="100">
                <a:solidFill>
                  <a:srgbClr val="7030A0"/>
                </a:solidFill>
                <a:latin typeface="Arial Narrow"/>
                <a:ea typeface="Arial"/>
                <a:cs typeface="Arial Narrow"/>
                <a:sym typeface="Arial" panose="020B0604020202020204" pitchFamily="34" charset="0"/>
              </a:rPr>
              <a:t>Финеренон-Орвилле</a:t>
            </a:r>
            <a:endParaRPr sz="4600" b="0">
              <a:solidFill>
                <a:srgbClr val="7030A0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Клиническая тема"/>
          <p:cNvSpPr txBox="1"/>
          <p:nvPr/>
        </p:nvSpPr>
        <p:spPr>
          <a:xfrm>
            <a:off x="838200" y="2971800"/>
            <a:ext cx="4762500" cy="1143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000000"/>
                </a:solidFill>
                <a:latin typeface="Arial Narrow"/>
                <a:cs typeface="Arial Narrow"/>
              </a:rPr>
              <a:t>Снижает риск почечных</a:t>
            </a:r>
            <a:endParaRPr sz="18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000000"/>
                </a:solidFill>
                <a:latin typeface="Arial Narrow"/>
                <a:cs typeface="Arial Narrow"/>
              </a:rPr>
              <a:t>и сердечно-сосудистых осложнений у взрослых</a:t>
            </a:r>
            <a:endParaRPr sz="18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000000"/>
                </a:solidFill>
                <a:latin typeface="Arial Narrow"/>
                <a:cs typeface="Arial Narrow"/>
              </a:rPr>
              <a:t>с хронической болезнью почек,</a:t>
            </a:r>
            <a:endParaRPr sz="18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000000"/>
                </a:solidFill>
                <a:latin typeface="Arial Narrow"/>
                <a:cs typeface="Arial Narrow"/>
              </a:rPr>
              <a:t>связанной с сахарным диабетом 2 типа</a:t>
            </a:r>
            <a:endParaRPr sz="1800" b="0" dirty="0"/>
          </a:p>
        </p:txBody>
      </p:sp>
      <p:sp>
        <p:nvSpPr>
          <p:cNvPr id="23" name="Практическая цель обучения"/>
          <p:cNvSpPr txBox="1"/>
          <p:nvPr/>
        </p:nvSpPr>
        <p:spPr>
          <a:xfrm>
            <a:off x="838200" y="4343400"/>
            <a:ext cx="4762500" cy="1117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>
                <a:solidFill>
                  <a:srgbClr val="000000"/>
                </a:solidFill>
                <a:latin typeface="Arial Narrow"/>
                <a:cs typeface="Arial Narrow"/>
              </a:rPr>
              <a:t>После курса вы сможете: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объяснить механизм действия и показание;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помочь врачу найти таких пациентов;</a:t>
            </a:r>
            <a:endParaRPr sz="1600" b="0" dirty="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ответить на вопросы о калии и других препаратах.</a:t>
            </a:r>
            <a:endParaRPr sz="1600" b="0" dirty="0"/>
          </a:p>
        </p:txBody>
      </p:sp>
      <p:grpSp>
        <p:nvGrpSpPr>
          <p:cNvPr id="4" name="Структурная формула финеренона: отдельные связи и подписи"/>
          <p:cNvGrpSpPr/>
          <p:nvPr/>
        </p:nvGrpSpPr>
        <p:grpSpPr>
          <a:xfrm>
            <a:off x="7858353" y="1249070"/>
            <a:ext cx="3206801" cy="3692895"/>
            <a:chOff x="7858353" y="1249070"/>
            <a:chExt cx="3206801" cy="3692895"/>
          </a:xfrm>
        </p:grpSpPr>
        <p:sp>
          <p:nvSpPr>
            <p:cNvPr id="5" name="Химическая связь 1 bond-0 atom-0 atom-1"/>
            <p:cNvSpPr/>
            <p:nvPr/>
          </p:nvSpPr>
          <p:spPr>
            <a:xfrm>
              <a:off x="10735056" y="2912364"/>
              <a:ext cx="330098" cy="301752"/>
            </a:xfrm>
            <a:custGeom>
              <a:avLst/>
              <a:gdLst/>
              <a:ahLst/>
              <a:cxnLst/>
              <a:rect l="l" t="t" r="r" b="b"/>
              <a:pathLst>
                <a:path w="330098" h="301752">
                  <a:moveTo>
                    <a:pt x="330098" y="301752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Химическая связь 2 bond-1 atom-1 atom-2"/>
            <p:cNvSpPr/>
            <p:nvPr/>
          </p:nvSpPr>
          <p:spPr>
            <a:xfrm>
              <a:off x="10548518" y="2912364"/>
              <a:ext cx="186538" cy="11887"/>
            </a:xfrm>
            <a:custGeom>
              <a:avLst/>
              <a:gdLst/>
              <a:ahLst/>
              <a:cxnLst/>
              <a:rect l="l" t="t" r="r" b="b"/>
              <a:pathLst>
                <a:path w="186538" h="11887">
                  <a:moveTo>
                    <a:pt x="186538" y="0"/>
                  </a:move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Химическая связь 3 bond-1 atom-1 atom-2"/>
            <p:cNvSpPr/>
            <p:nvPr/>
          </p:nvSpPr>
          <p:spPr>
            <a:xfrm>
              <a:off x="10362895" y="2924251"/>
              <a:ext cx="185623" cy="11887"/>
            </a:xfrm>
            <a:custGeom>
              <a:avLst/>
              <a:gdLst/>
              <a:ahLst/>
              <a:cxnLst/>
              <a:rect l="l" t="t" r="r" b="b"/>
              <a:pathLst>
                <a:path w="185623" h="11887">
                  <a:moveTo>
                    <a:pt x="185623" y="0"/>
                  </a:move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" name="Химическая связь 4 bond-2 atom-2 atom-3"/>
            <p:cNvSpPr/>
            <p:nvPr/>
          </p:nvSpPr>
          <p:spPr>
            <a:xfrm>
              <a:off x="10141610" y="2740457"/>
              <a:ext cx="95098" cy="128930"/>
            </a:xfrm>
            <a:custGeom>
              <a:avLst/>
              <a:gdLst/>
              <a:ahLst/>
              <a:cxnLst/>
              <a:rect l="l" t="t" r="r" b="b"/>
              <a:pathLst>
                <a:path w="95098" h="128930">
                  <a:moveTo>
                    <a:pt x="95098" y="128930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" name="Химическая связь 5 bond-2 atom-2 atom-3"/>
            <p:cNvSpPr/>
            <p:nvPr/>
          </p:nvSpPr>
          <p:spPr>
            <a:xfrm>
              <a:off x="10046513" y="2611526"/>
              <a:ext cx="95097" cy="128931"/>
            </a:xfrm>
            <a:custGeom>
              <a:avLst/>
              <a:gdLst/>
              <a:ahLst/>
              <a:cxnLst/>
              <a:rect l="l" t="t" r="r" b="b"/>
              <a:pathLst>
                <a:path w="95097" h="128931">
                  <a:moveTo>
                    <a:pt x="95097" y="128931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" name="Химическая связь 6 bond-3 atom-3 atom-4"/>
            <p:cNvSpPr/>
            <p:nvPr/>
          </p:nvSpPr>
          <p:spPr>
            <a:xfrm>
              <a:off x="10046513" y="2518258"/>
              <a:ext cx="157277" cy="93268"/>
            </a:xfrm>
            <a:custGeom>
              <a:avLst/>
              <a:gdLst/>
              <a:ahLst/>
              <a:cxnLst/>
              <a:rect l="l" t="t" r="r" b="b"/>
              <a:pathLst>
                <a:path w="157277" h="93268">
                  <a:moveTo>
                    <a:pt x="0" y="93268"/>
                  </a:moveTo>
                  <a:lnTo>
                    <a:pt x="15727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" name="Химическая связь 7 bond-3 atom-3 atom-4"/>
            <p:cNvSpPr/>
            <p:nvPr/>
          </p:nvSpPr>
          <p:spPr>
            <a:xfrm>
              <a:off x="10203790" y="2424989"/>
              <a:ext cx="158191" cy="93269"/>
            </a:xfrm>
            <a:custGeom>
              <a:avLst/>
              <a:gdLst/>
              <a:ahLst/>
              <a:cxnLst/>
              <a:rect l="l" t="t" r="r" b="b"/>
              <a:pathLst>
                <a:path w="158191" h="93269">
                  <a:moveTo>
                    <a:pt x="0" y="93269"/>
                  </a:moveTo>
                  <a:lnTo>
                    <a:pt x="158191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" name="Химическая связь 8 bond-3 atom-3 atom-4"/>
            <p:cNvSpPr/>
            <p:nvPr/>
          </p:nvSpPr>
          <p:spPr>
            <a:xfrm>
              <a:off x="10046513" y="2450592"/>
              <a:ext cx="140817" cy="83210"/>
            </a:xfrm>
            <a:custGeom>
              <a:avLst/>
              <a:gdLst/>
              <a:ahLst/>
              <a:cxnLst/>
              <a:rect l="l" t="t" r="r" b="b"/>
              <a:pathLst>
                <a:path w="140817" h="83210">
                  <a:moveTo>
                    <a:pt x="0" y="83210"/>
                  </a:moveTo>
                  <a:lnTo>
                    <a:pt x="14081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" name="Химическая связь 9 bond-3 atom-3 atom-4"/>
            <p:cNvSpPr/>
            <p:nvPr/>
          </p:nvSpPr>
          <p:spPr>
            <a:xfrm>
              <a:off x="10187330" y="2367382"/>
              <a:ext cx="139904" cy="83210"/>
            </a:xfrm>
            <a:custGeom>
              <a:avLst/>
              <a:gdLst/>
              <a:ahLst/>
              <a:cxnLst/>
              <a:rect l="l" t="t" r="r" b="b"/>
              <a:pathLst>
                <a:path w="139904" h="83210">
                  <a:moveTo>
                    <a:pt x="0" y="83210"/>
                  </a:moveTo>
                  <a:lnTo>
                    <a:pt x="139904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" name="Химическая связь 10 bond-4 atom-4 atom-5"/>
            <p:cNvSpPr/>
            <p:nvPr/>
          </p:nvSpPr>
          <p:spPr>
            <a:xfrm>
              <a:off x="10434218" y="2115922"/>
              <a:ext cx="0" cy="193852"/>
            </a:xfrm>
            <a:custGeom>
              <a:avLst/>
              <a:gdLst/>
              <a:ahLst/>
              <a:cxnLst/>
              <a:rect l="l" t="t" r="r" b="b"/>
              <a:pathLst>
                <a:path h="193852">
                  <a:moveTo>
                    <a:pt x="0" y="193852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" name="Химическая связь 11 bond-4 atom-4 atom-5"/>
            <p:cNvSpPr/>
            <p:nvPr/>
          </p:nvSpPr>
          <p:spPr>
            <a:xfrm>
              <a:off x="10434218" y="1922983"/>
              <a:ext cx="0" cy="192939"/>
            </a:xfrm>
            <a:custGeom>
              <a:avLst/>
              <a:gdLst/>
              <a:ahLst/>
              <a:cxnLst/>
              <a:rect l="l" t="t" r="r" b="b"/>
              <a:pathLst>
                <a:path h="192939">
                  <a:moveTo>
                    <a:pt x="0" y="19293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" name="Химическая связь 12 bond-5 atom-5 atom-6"/>
            <p:cNvSpPr/>
            <p:nvPr/>
          </p:nvSpPr>
          <p:spPr>
            <a:xfrm>
              <a:off x="10046513" y="1693469"/>
              <a:ext cx="387705" cy="229514"/>
            </a:xfrm>
            <a:custGeom>
              <a:avLst/>
              <a:gdLst/>
              <a:ahLst/>
              <a:cxnLst/>
              <a:rect l="l" t="t" r="r" b="b"/>
              <a:pathLst>
                <a:path w="387705" h="229514">
                  <a:moveTo>
                    <a:pt x="387705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" name="Химическая связь 13 bond-5 atom-5 atom-6"/>
            <p:cNvSpPr/>
            <p:nvPr/>
          </p:nvSpPr>
          <p:spPr>
            <a:xfrm>
              <a:off x="10046513" y="1770278"/>
              <a:ext cx="320954" cy="190196"/>
            </a:xfrm>
            <a:custGeom>
              <a:avLst/>
              <a:gdLst/>
              <a:ahLst/>
              <a:cxnLst/>
              <a:rect l="l" t="t" r="r" b="b"/>
              <a:pathLst>
                <a:path w="320954" h="190196">
                  <a:moveTo>
                    <a:pt x="320954" y="190196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" name="Химическая связь 14 bond-6 atom-6 atom-7"/>
            <p:cNvSpPr/>
            <p:nvPr/>
          </p:nvSpPr>
          <p:spPr>
            <a:xfrm>
              <a:off x="9659722" y="1693469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" name="Химическая связь 15 bond-7 atom-7 atom-8"/>
            <p:cNvSpPr/>
            <p:nvPr/>
          </p:nvSpPr>
          <p:spPr>
            <a:xfrm>
              <a:off x="9659722" y="1922983"/>
              <a:ext cx="0" cy="459029"/>
            </a:xfrm>
            <a:custGeom>
              <a:avLst/>
              <a:gdLst/>
              <a:ahLst/>
              <a:cxnLst/>
              <a:rect l="l" t="t" r="r" b="b"/>
              <a:pathLst>
                <a:path h="459029">
                  <a:moveTo>
                    <a:pt x="0" y="0"/>
                  </a:moveTo>
                  <a:lnTo>
                    <a:pt x="0" y="45902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" name="Химическая связь 16 bond-7 atom-7 atom-8"/>
            <p:cNvSpPr/>
            <p:nvPr/>
          </p:nvSpPr>
          <p:spPr>
            <a:xfrm>
              <a:off x="9725558" y="1960474"/>
              <a:ext cx="0" cy="383133"/>
            </a:xfrm>
            <a:custGeom>
              <a:avLst/>
              <a:gdLst/>
              <a:ahLst/>
              <a:cxnLst/>
              <a:rect l="l" t="t" r="r" b="b"/>
              <a:pathLst>
                <a:path h="383133">
                  <a:moveTo>
                    <a:pt x="0" y="0"/>
                  </a:moveTo>
                  <a:lnTo>
                    <a:pt x="0" y="383133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" name="Химическая связь 17 bond-8 atom-8 atom-9"/>
            <p:cNvSpPr/>
            <p:nvPr/>
          </p:nvSpPr>
          <p:spPr>
            <a:xfrm>
              <a:off x="9272016" y="2382012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" name="Химическая связь 18 bond-9 atom-9 atom-10"/>
            <p:cNvSpPr/>
            <p:nvPr/>
          </p:nvSpPr>
          <p:spPr>
            <a:xfrm>
              <a:off x="8884310" y="2382012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" name="Химическая связь 19 bond-10 atom-10 atom-11"/>
            <p:cNvSpPr/>
            <p:nvPr/>
          </p:nvSpPr>
          <p:spPr>
            <a:xfrm>
              <a:off x="8884310" y="1922983"/>
              <a:ext cx="0" cy="459029"/>
            </a:xfrm>
            <a:custGeom>
              <a:avLst/>
              <a:gdLst/>
              <a:ahLst/>
              <a:cxnLst/>
              <a:rect l="l" t="t" r="r" b="b"/>
              <a:pathLst>
                <a:path h="459029">
                  <a:moveTo>
                    <a:pt x="0" y="45902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" name="Химическая связь 20 bond-10 atom-10 atom-11"/>
            <p:cNvSpPr/>
            <p:nvPr/>
          </p:nvSpPr>
          <p:spPr>
            <a:xfrm>
              <a:off x="8951062" y="1960474"/>
              <a:ext cx="0" cy="383133"/>
            </a:xfrm>
            <a:custGeom>
              <a:avLst/>
              <a:gdLst/>
              <a:ahLst/>
              <a:cxnLst/>
              <a:rect l="l" t="t" r="r" b="b"/>
              <a:pathLst>
                <a:path h="383133">
                  <a:moveTo>
                    <a:pt x="0" y="383133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Химическая связь 21 bond-11 atom-11 atom-12"/>
            <p:cNvSpPr/>
            <p:nvPr/>
          </p:nvSpPr>
          <p:spPr>
            <a:xfrm>
              <a:off x="8884310" y="1829714"/>
              <a:ext cx="158192" cy="93269"/>
            </a:xfrm>
            <a:custGeom>
              <a:avLst/>
              <a:gdLst/>
              <a:ahLst/>
              <a:cxnLst/>
              <a:rect l="l" t="t" r="r" b="b"/>
              <a:pathLst>
                <a:path w="158192" h="93269">
                  <a:moveTo>
                    <a:pt x="0" y="93269"/>
                  </a:moveTo>
                  <a:lnTo>
                    <a:pt x="158192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Химическая связь 22 bond-11 atom-11 atom-12"/>
            <p:cNvSpPr/>
            <p:nvPr/>
          </p:nvSpPr>
          <p:spPr>
            <a:xfrm>
              <a:off x="9042502" y="1736446"/>
              <a:ext cx="157276" cy="93268"/>
            </a:xfrm>
            <a:custGeom>
              <a:avLst/>
              <a:gdLst/>
              <a:ahLst/>
              <a:cxnLst/>
              <a:rect l="l" t="t" r="r" b="b"/>
              <a:pathLst>
                <a:path w="157276" h="93268">
                  <a:moveTo>
                    <a:pt x="0" y="93268"/>
                  </a:moveTo>
                  <a:lnTo>
                    <a:pt x="157276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Химическая связь 23 bond-12 atom-11 atom-13"/>
            <p:cNvSpPr/>
            <p:nvPr/>
          </p:nvSpPr>
          <p:spPr>
            <a:xfrm>
              <a:off x="8497519" y="1693469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Химическая связь 24 bond-13 atom-10 atom-14"/>
            <p:cNvSpPr/>
            <p:nvPr/>
          </p:nvSpPr>
          <p:spPr>
            <a:xfrm>
              <a:off x="8497519" y="2382012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386791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" name="Химическая связь 25 bond-14 atom-14 atom-15"/>
            <p:cNvSpPr/>
            <p:nvPr/>
          </p:nvSpPr>
          <p:spPr>
            <a:xfrm>
              <a:off x="8464601" y="2591410"/>
              <a:ext cx="0" cy="189280"/>
            </a:xfrm>
            <a:custGeom>
              <a:avLst/>
              <a:gdLst/>
              <a:ahLst/>
              <a:cxnLst/>
              <a:rect l="l" t="t" r="r" b="b"/>
              <a:pathLst>
                <a:path h="189280">
                  <a:moveTo>
                    <a:pt x="0" y="0"/>
                  </a:moveTo>
                  <a:lnTo>
                    <a:pt x="0" y="18928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Химическая связь 26 bond-14 atom-14 atom-15"/>
            <p:cNvSpPr/>
            <p:nvPr/>
          </p:nvSpPr>
          <p:spPr>
            <a:xfrm>
              <a:off x="8464601" y="2780690"/>
              <a:ext cx="0" cy="188367"/>
            </a:xfrm>
            <a:custGeom>
              <a:avLst/>
              <a:gdLst/>
              <a:ahLst/>
              <a:cxnLst/>
              <a:rect l="l" t="t" r="r" b="b"/>
              <a:pathLst>
                <a:path h="188367">
                  <a:moveTo>
                    <a:pt x="0" y="0"/>
                  </a:moveTo>
                  <a:lnTo>
                    <a:pt x="0" y="18836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Химическая связь 27 bond-14 atom-14 atom-15"/>
            <p:cNvSpPr/>
            <p:nvPr/>
          </p:nvSpPr>
          <p:spPr>
            <a:xfrm>
              <a:off x="8530438" y="2591410"/>
              <a:ext cx="0" cy="189280"/>
            </a:xfrm>
            <a:custGeom>
              <a:avLst/>
              <a:gdLst/>
              <a:ahLst/>
              <a:cxnLst/>
              <a:rect l="l" t="t" r="r" b="b"/>
              <a:pathLst>
                <a:path h="189280">
                  <a:moveTo>
                    <a:pt x="0" y="0"/>
                  </a:moveTo>
                  <a:lnTo>
                    <a:pt x="0" y="18928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Химическая связь 28 bond-14 atom-14 atom-15"/>
            <p:cNvSpPr/>
            <p:nvPr/>
          </p:nvSpPr>
          <p:spPr>
            <a:xfrm>
              <a:off x="8530438" y="2780690"/>
              <a:ext cx="0" cy="188367"/>
            </a:xfrm>
            <a:custGeom>
              <a:avLst/>
              <a:gdLst/>
              <a:ahLst/>
              <a:cxnLst/>
              <a:rect l="l" t="t" r="r" b="b"/>
              <a:pathLst>
                <a:path h="188367">
                  <a:moveTo>
                    <a:pt x="0" y="0"/>
                  </a:moveTo>
                  <a:lnTo>
                    <a:pt x="0" y="188367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" name="Химическая связь 29 bond-15 atom-14 atom-16"/>
            <p:cNvSpPr/>
            <p:nvPr/>
          </p:nvSpPr>
          <p:spPr>
            <a:xfrm>
              <a:off x="8340242" y="2518258"/>
              <a:ext cx="157277" cy="93268"/>
            </a:xfrm>
            <a:custGeom>
              <a:avLst/>
              <a:gdLst/>
              <a:ahLst/>
              <a:cxnLst/>
              <a:rect l="l" t="t" r="r" b="b"/>
              <a:pathLst>
                <a:path w="157277" h="93268">
                  <a:moveTo>
                    <a:pt x="157277" y="93268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" name="Химическая связь 30 bond-15 atom-14 atom-16"/>
            <p:cNvSpPr/>
            <p:nvPr/>
          </p:nvSpPr>
          <p:spPr>
            <a:xfrm>
              <a:off x="8182051" y="2424989"/>
              <a:ext cx="158191" cy="93269"/>
            </a:xfrm>
            <a:custGeom>
              <a:avLst/>
              <a:gdLst/>
              <a:ahLst/>
              <a:cxnLst/>
              <a:rect l="l" t="t" r="r" b="b"/>
              <a:pathLst>
                <a:path w="158191" h="93269">
                  <a:moveTo>
                    <a:pt x="158191" y="9326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" name="Химическая связь 31 bond-16 atom-9 atom-17"/>
            <p:cNvSpPr/>
            <p:nvPr/>
          </p:nvSpPr>
          <p:spPr>
            <a:xfrm>
              <a:off x="9269273" y="2640787"/>
              <a:ext cx="5486" cy="0"/>
            </a:xfrm>
            <a:custGeom>
              <a:avLst/>
              <a:gdLst/>
              <a:ahLst/>
              <a:cxnLst/>
              <a:rect l="l" t="t" r="r" b="b"/>
              <a:pathLst>
                <a:path w="5486">
                  <a:moveTo>
                    <a:pt x="0" y="0"/>
                  </a:moveTo>
                  <a:lnTo>
                    <a:pt x="548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" name="Химическая связь 32 bond-16 atom-9 atom-17"/>
            <p:cNvSpPr/>
            <p:nvPr/>
          </p:nvSpPr>
          <p:spPr>
            <a:xfrm>
              <a:off x="9267444" y="2670962"/>
              <a:ext cx="9144" cy="0"/>
            </a:xfrm>
            <a:custGeom>
              <a:avLst/>
              <a:gdLst/>
              <a:ahLst/>
              <a:cxnLst/>
              <a:rect l="l" t="t" r="r" b="b"/>
              <a:pathLst>
                <a:path w="9144">
                  <a:moveTo>
                    <a:pt x="0" y="0"/>
                  </a:moveTo>
                  <a:lnTo>
                    <a:pt x="914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" name="Химическая связь 33 bond-16 atom-9 atom-17"/>
            <p:cNvSpPr/>
            <p:nvPr/>
          </p:nvSpPr>
          <p:spPr>
            <a:xfrm>
              <a:off x="9264701" y="2700223"/>
              <a:ext cx="14630" cy="0"/>
            </a:xfrm>
            <a:custGeom>
              <a:avLst/>
              <a:gdLst/>
              <a:ahLst/>
              <a:cxnLst/>
              <a:rect l="l" t="t" r="r" b="b"/>
              <a:pathLst>
                <a:path w="14630">
                  <a:moveTo>
                    <a:pt x="0" y="0"/>
                  </a:moveTo>
                  <a:lnTo>
                    <a:pt x="1463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" name="Химическая связь 34 bond-16 atom-9 atom-17"/>
            <p:cNvSpPr/>
            <p:nvPr/>
          </p:nvSpPr>
          <p:spPr>
            <a:xfrm>
              <a:off x="9262872" y="2729484"/>
              <a:ext cx="18288" cy="0"/>
            </a:xfrm>
            <a:custGeom>
              <a:avLst/>
              <a:gdLst/>
              <a:ahLst/>
              <a:cxnLst/>
              <a:rect l="l" t="t" r="r" b="b"/>
              <a:pathLst>
                <a:path w="18288">
                  <a:moveTo>
                    <a:pt x="0" y="0"/>
                  </a:moveTo>
                  <a:lnTo>
                    <a:pt x="1828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" name="Химическая связь 35 bond-16 atom-9 atom-17"/>
            <p:cNvSpPr/>
            <p:nvPr/>
          </p:nvSpPr>
          <p:spPr>
            <a:xfrm>
              <a:off x="9260129" y="2759659"/>
              <a:ext cx="23774" cy="0"/>
            </a:xfrm>
            <a:custGeom>
              <a:avLst/>
              <a:gdLst/>
              <a:ahLst/>
              <a:cxnLst/>
              <a:rect l="l" t="t" r="r" b="b"/>
              <a:pathLst>
                <a:path w="23774">
                  <a:moveTo>
                    <a:pt x="0" y="0"/>
                  </a:moveTo>
                  <a:lnTo>
                    <a:pt x="2377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" name="Химическая связь 36 bond-16 atom-9 atom-17"/>
            <p:cNvSpPr/>
            <p:nvPr/>
          </p:nvSpPr>
          <p:spPr>
            <a:xfrm>
              <a:off x="9257386" y="2788920"/>
              <a:ext cx="29260" cy="0"/>
            </a:xfrm>
            <a:custGeom>
              <a:avLst/>
              <a:gdLst/>
              <a:ahLst/>
              <a:cxnLst/>
              <a:rect l="l" t="t" r="r" b="b"/>
              <a:pathLst>
                <a:path w="29260">
                  <a:moveTo>
                    <a:pt x="0" y="0"/>
                  </a:moveTo>
                  <a:lnTo>
                    <a:pt x="2926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" name="Химическая связь 37 bond-16 atom-9 atom-17"/>
            <p:cNvSpPr/>
            <p:nvPr/>
          </p:nvSpPr>
          <p:spPr>
            <a:xfrm>
              <a:off x="9255557" y="2819095"/>
              <a:ext cx="32918" cy="0"/>
            </a:xfrm>
            <a:custGeom>
              <a:avLst/>
              <a:gdLst/>
              <a:ahLst/>
              <a:cxnLst/>
              <a:rect l="l" t="t" r="r" b="b"/>
              <a:pathLst>
                <a:path w="32918">
                  <a:moveTo>
                    <a:pt x="0" y="0"/>
                  </a:moveTo>
                  <a:lnTo>
                    <a:pt x="3291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" name="Химическая связь 38 bond-16 atom-9 atom-17"/>
            <p:cNvSpPr/>
            <p:nvPr/>
          </p:nvSpPr>
          <p:spPr>
            <a:xfrm>
              <a:off x="9252814" y="2848356"/>
              <a:ext cx="38404" cy="0"/>
            </a:xfrm>
            <a:custGeom>
              <a:avLst/>
              <a:gdLst/>
              <a:ahLst/>
              <a:cxnLst/>
              <a:rect l="l" t="t" r="r" b="b"/>
              <a:pathLst>
                <a:path w="38404">
                  <a:moveTo>
                    <a:pt x="0" y="0"/>
                  </a:moveTo>
                  <a:lnTo>
                    <a:pt x="38404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" name="Химическая связь 39 bond-16 atom-9 atom-17"/>
            <p:cNvSpPr/>
            <p:nvPr/>
          </p:nvSpPr>
          <p:spPr>
            <a:xfrm>
              <a:off x="9250985" y="2877617"/>
              <a:ext cx="42062" cy="0"/>
            </a:xfrm>
            <a:custGeom>
              <a:avLst/>
              <a:gdLst/>
              <a:ahLst/>
              <a:cxnLst/>
              <a:rect l="l" t="t" r="r" b="b"/>
              <a:pathLst>
                <a:path w="42062">
                  <a:moveTo>
                    <a:pt x="0" y="0"/>
                  </a:moveTo>
                  <a:lnTo>
                    <a:pt x="42062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" name="Химическая связь 40 bond-16 atom-9 atom-17"/>
            <p:cNvSpPr/>
            <p:nvPr/>
          </p:nvSpPr>
          <p:spPr>
            <a:xfrm>
              <a:off x="9248242" y="2907792"/>
              <a:ext cx="47548" cy="0"/>
            </a:xfrm>
            <a:custGeom>
              <a:avLst/>
              <a:gdLst/>
              <a:ahLst/>
              <a:cxnLst/>
              <a:rect l="l" t="t" r="r" b="b"/>
              <a:pathLst>
                <a:path w="47548">
                  <a:moveTo>
                    <a:pt x="0" y="0"/>
                  </a:moveTo>
                  <a:lnTo>
                    <a:pt x="47548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" name="Химическая связь 41 bond-16 atom-9 atom-17"/>
            <p:cNvSpPr/>
            <p:nvPr/>
          </p:nvSpPr>
          <p:spPr>
            <a:xfrm>
              <a:off x="9245498" y="2937053"/>
              <a:ext cx="53036" cy="0"/>
            </a:xfrm>
            <a:custGeom>
              <a:avLst/>
              <a:gdLst/>
              <a:ahLst/>
              <a:cxnLst/>
              <a:rect l="l" t="t" r="r" b="b"/>
              <a:pathLst>
                <a:path w="53036">
                  <a:moveTo>
                    <a:pt x="0" y="0"/>
                  </a:moveTo>
                  <a:lnTo>
                    <a:pt x="5303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" name="Химическая связь 42 bond-16 atom-9 atom-17"/>
            <p:cNvSpPr/>
            <p:nvPr/>
          </p:nvSpPr>
          <p:spPr>
            <a:xfrm>
              <a:off x="9243670" y="2967228"/>
              <a:ext cx="56692" cy="0"/>
            </a:xfrm>
            <a:custGeom>
              <a:avLst/>
              <a:gdLst/>
              <a:ahLst/>
              <a:cxnLst/>
              <a:rect l="l" t="t" r="r" b="b"/>
              <a:pathLst>
                <a:path w="56692">
                  <a:moveTo>
                    <a:pt x="0" y="0"/>
                  </a:moveTo>
                  <a:lnTo>
                    <a:pt x="56692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" name="Химическая связь 43 bond-16 atom-9 atom-17"/>
            <p:cNvSpPr/>
            <p:nvPr/>
          </p:nvSpPr>
          <p:spPr>
            <a:xfrm>
              <a:off x="9240926" y="2996489"/>
              <a:ext cx="62180" cy="0"/>
            </a:xfrm>
            <a:custGeom>
              <a:avLst/>
              <a:gdLst/>
              <a:ahLst/>
              <a:cxnLst/>
              <a:rect l="l" t="t" r="r" b="b"/>
              <a:pathLst>
                <a:path w="62180">
                  <a:moveTo>
                    <a:pt x="0" y="0"/>
                  </a:moveTo>
                  <a:lnTo>
                    <a:pt x="62180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Химическая связь 44 bond-16 atom-9 atom-17"/>
            <p:cNvSpPr/>
            <p:nvPr/>
          </p:nvSpPr>
          <p:spPr>
            <a:xfrm>
              <a:off x="9239098" y="3025750"/>
              <a:ext cx="65836" cy="0"/>
            </a:xfrm>
            <a:custGeom>
              <a:avLst/>
              <a:gdLst/>
              <a:ahLst/>
              <a:cxnLst/>
              <a:rect l="l" t="t" r="r" b="b"/>
              <a:pathLst>
                <a:path w="65836">
                  <a:moveTo>
                    <a:pt x="0" y="0"/>
                  </a:moveTo>
                  <a:lnTo>
                    <a:pt x="65836" y="0"/>
                  </a:lnTo>
                </a:path>
              </a:pathLst>
            </a:custGeom>
            <a:noFill/>
            <a:ln w="7315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Химическая связь 45 bond-17 atom-17 atom-18"/>
            <p:cNvSpPr/>
            <p:nvPr/>
          </p:nvSpPr>
          <p:spPr>
            <a:xfrm>
              <a:off x="9272016" y="3055925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0" y="0"/>
                  </a:moveTo>
                  <a:lnTo>
                    <a:pt x="387706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Химическая связь 46 bond-17 atom-17 atom-18"/>
            <p:cNvSpPr/>
            <p:nvPr/>
          </p:nvSpPr>
          <p:spPr>
            <a:xfrm>
              <a:off x="9272016" y="3133649"/>
              <a:ext cx="320954" cy="190195"/>
            </a:xfrm>
            <a:custGeom>
              <a:avLst/>
              <a:gdLst/>
              <a:ahLst/>
              <a:cxnLst/>
              <a:rect l="l" t="t" r="r" b="b"/>
              <a:pathLst>
                <a:path w="320954" h="190195">
                  <a:moveTo>
                    <a:pt x="0" y="0"/>
                  </a:moveTo>
                  <a:lnTo>
                    <a:pt x="320954" y="19019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" name="Химическая связь 47 bond-18 atom-18 atom-19"/>
            <p:cNvSpPr/>
            <p:nvPr/>
          </p:nvSpPr>
          <p:spPr>
            <a:xfrm>
              <a:off x="9659722" y="3285439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0"/>
                  </a:moveTo>
                  <a:lnTo>
                    <a:pt x="0" y="44439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" name="Химическая связь 48 bond-19 atom-19 atom-20"/>
            <p:cNvSpPr/>
            <p:nvPr/>
          </p:nvSpPr>
          <p:spPr>
            <a:xfrm>
              <a:off x="9272016" y="3729838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0"/>
                  </a:moveTo>
                  <a:lnTo>
                    <a:pt x="0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" name="Химическая связь 49 bond-19 atom-19 atom-20"/>
            <p:cNvSpPr/>
            <p:nvPr/>
          </p:nvSpPr>
          <p:spPr>
            <a:xfrm>
              <a:off x="9272016" y="3692347"/>
              <a:ext cx="320954" cy="190195"/>
            </a:xfrm>
            <a:custGeom>
              <a:avLst/>
              <a:gdLst/>
              <a:ahLst/>
              <a:cxnLst/>
              <a:rect l="l" t="t" r="r" b="b"/>
              <a:pathLst>
                <a:path w="320954" h="190195">
                  <a:moveTo>
                    <a:pt x="320954" y="0"/>
                  </a:moveTo>
                  <a:lnTo>
                    <a:pt x="0" y="19019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" name="Химическая связь 50 bond-20 atom-20 atom-21"/>
            <p:cNvSpPr/>
            <p:nvPr/>
          </p:nvSpPr>
          <p:spPr>
            <a:xfrm>
              <a:off x="8884310" y="3729838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387706" y="229514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" name="Химическая связь 51 bond-21 atom-21 atom-22"/>
            <p:cNvSpPr/>
            <p:nvPr/>
          </p:nvSpPr>
          <p:spPr>
            <a:xfrm>
              <a:off x="8884310" y="3285439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44439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" name="Химическая связь 52 bond-21 atom-21 atom-22"/>
            <p:cNvSpPr/>
            <p:nvPr/>
          </p:nvSpPr>
          <p:spPr>
            <a:xfrm>
              <a:off x="8951062" y="3323844"/>
              <a:ext cx="0" cy="368503"/>
            </a:xfrm>
            <a:custGeom>
              <a:avLst/>
              <a:gdLst/>
              <a:ahLst/>
              <a:cxnLst/>
              <a:rect l="l" t="t" r="r" b="b"/>
              <a:pathLst>
                <a:path h="368503">
                  <a:moveTo>
                    <a:pt x="0" y="368503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" name="Химическая связь 53 bond-22 atom-20 atom-23"/>
            <p:cNvSpPr/>
            <p:nvPr/>
          </p:nvSpPr>
          <p:spPr>
            <a:xfrm>
              <a:off x="9272016" y="3959352"/>
              <a:ext cx="0" cy="416052"/>
            </a:xfrm>
            <a:custGeom>
              <a:avLst/>
              <a:gdLst/>
              <a:ahLst/>
              <a:cxnLst/>
              <a:rect l="l" t="t" r="r" b="b"/>
              <a:pathLst>
                <a:path h="416052">
                  <a:moveTo>
                    <a:pt x="0" y="0"/>
                  </a:moveTo>
                  <a:lnTo>
                    <a:pt x="0" y="41605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" name="Химическая связь 54 bond-23 atom-23 atom-24"/>
            <p:cNvSpPr/>
            <p:nvPr/>
          </p:nvSpPr>
          <p:spPr>
            <a:xfrm>
              <a:off x="9272016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" name="Химическая связь 55 bond-23 atom-23 atom-24"/>
            <p:cNvSpPr/>
            <p:nvPr/>
          </p:nvSpPr>
          <p:spPr>
            <a:xfrm>
              <a:off x="9272016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" name="Химическая связь 56 bond-23 atom-23 atom-24"/>
            <p:cNvSpPr/>
            <p:nvPr/>
          </p:nvSpPr>
          <p:spPr>
            <a:xfrm>
              <a:off x="9338767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" name="Химическая связь 57 bond-23 atom-23 atom-24"/>
            <p:cNvSpPr/>
            <p:nvPr/>
          </p:nvSpPr>
          <p:spPr>
            <a:xfrm>
              <a:off x="9338767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" name="Химическая связь 58 bond-23 atom-23 atom-24"/>
            <p:cNvSpPr/>
            <p:nvPr/>
          </p:nvSpPr>
          <p:spPr>
            <a:xfrm>
              <a:off x="9205265" y="4375404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" name="Химическая связь 59 bond-23 atom-23 atom-24"/>
            <p:cNvSpPr/>
            <p:nvPr/>
          </p:nvSpPr>
          <p:spPr>
            <a:xfrm>
              <a:off x="9205265" y="4539996"/>
              <a:ext cx="0" cy="164592"/>
            </a:xfrm>
            <a:custGeom>
              <a:avLst/>
              <a:gdLst/>
              <a:ahLst/>
              <a:cxnLst/>
              <a:rect l="l" t="t" r="r" b="b"/>
              <a:pathLst>
                <a:path h="164592">
                  <a:moveTo>
                    <a:pt x="0" y="0"/>
                  </a:moveTo>
                  <a:lnTo>
                    <a:pt x="0" y="164592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" name="Химическая связь 60 bond-24 atom-18 atom-25"/>
            <p:cNvSpPr/>
            <p:nvPr/>
          </p:nvSpPr>
          <p:spPr>
            <a:xfrm>
              <a:off x="9659722" y="3285439"/>
              <a:ext cx="170992" cy="23775"/>
            </a:xfrm>
            <a:custGeom>
              <a:avLst/>
              <a:gdLst/>
              <a:ahLst/>
              <a:cxnLst/>
              <a:rect l="l" t="t" r="r" b="b"/>
              <a:pathLst>
                <a:path w="170992" h="23775">
                  <a:moveTo>
                    <a:pt x="0" y="0"/>
                  </a:moveTo>
                  <a:lnTo>
                    <a:pt x="170992" y="2377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" name="Химическая связь 61 bond-24 atom-18 atom-25"/>
            <p:cNvSpPr/>
            <p:nvPr/>
          </p:nvSpPr>
          <p:spPr>
            <a:xfrm>
              <a:off x="9830714" y="3309214"/>
              <a:ext cx="171908" cy="23774"/>
            </a:xfrm>
            <a:custGeom>
              <a:avLst/>
              <a:gdLst/>
              <a:ahLst/>
              <a:cxnLst/>
              <a:rect l="l" t="t" r="r" b="b"/>
              <a:pathLst>
                <a:path w="171908" h="23774">
                  <a:moveTo>
                    <a:pt x="0" y="0"/>
                  </a:moveTo>
                  <a:lnTo>
                    <a:pt x="171908" y="23774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" name="Химическая связь 62 bond-25 atom-25 atom-26"/>
            <p:cNvSpPr/>
            <p:nvPr/>
          </p:nvSpPr>
          <p:spPr>
            <a:xfrm>
              <a:off x="10094062" y="3453689"/>
              <a:ext cx="26517" cy="160020"/>
            </a:xfrm>
            <a:custGeom>
              <a:avLst/>
              <a:gdLst/>
              <a:ahLst/>
              <a:cxnLst/>
              <a:rect l="l" t="t" r="r" b="b"/>
              <a:pathLst>
                <a:path w="26517" h="160020">
                  <a:moveTo>
                    <a:pt x="0" y="0"/>
                  </a:moveTo>
                  <a:lnTo>
                    <a:pt x="26517" y="160020"/>
                  </a:lnTo>
                </a:path>
              </a:pathLst>
            </a:custGeom>
            <a:noFill/>
            <a:ln w="1463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1" name="Химическая связь 63 bond-25 atom-25 atom-26"/>
            <p:cNvSpPr/>
            <p:nvPr/>
          </p:nvSpPr>
          <p:spPr>
            <a:xfrm>
              <a:off x="10120579" y="3613709"/>
              <a:ext cx="26518" cy="159105"/>
            </a:xfrm>
            <a:custGeom>
              <a:avLst/>
              <a:gdLst/>
              <a:ahLst/>
              <a:cxnLst/>
              <a:rect l="l" t="t" r="r" b="b"/>
              <a:pathLst>
                <a:path w="26518" h="159105">
                  <a:moveTo>
                    <a:pt x="0" y="0"/>
                  </a:moveTo>
                  <a:lnTo>
                    <a:pt x="26518" y="15910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2" name="Химическая связь 64 bond-26 atom-6 atom-27"/>
            <p:cNvSpPr/>
            <p:nvPr/>
          </p:nvSpPr>
          <p:spPr>
            <a:xfrm>
              <a:off x="10046513" y="1249070"/>
              <a:ext cx="0" cy="444399"/>
            </a:xfrm>
            <a:custGeom>
              <a:avLst/>
              <a:gdLst/>
              <a:ahLst/>
              <a:cxnLst/>
              <a:rect l="l" t="t" r="r" b="b"/>
              <a:pathLst>
                <a:path h="444399">
                  <a:moveTo>
                    <a:pt x="0" y="444399"/>
                  </a:move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3" name="Химическая связь 65 bond-27 atom-8 atom-3"/>
            <p:cNvSpPr/>
            <p:nvPr/>
          </p:nvSpPr>
          <p:spPr>
            <a:xfrm>
              <a:off x="9659722" y="2382012"/>
              <a:ext cx="386791" cy="229514"/>
            </a:xfrm>
            <a:custGeom>
              <a:avLst/>
              <a:gdLst/>
              <a:ahLst/>
              <a:cxnLst/>
              <a:rect l="l" t="t" r="r" b="b"/>
              <a:pathLst>
                <a:path w="386791" h="229514">
                  <a:moveTo>
                    <a:pt x="0" y="0"/>
                  </a:moveTo>
                  <a:lnTo>
                    <a:pt x="386791" y="2295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4" name="Химическая связь 66 bond-28 atom-12 atom-7"/>
            <p:cNvSpPr/>
            <p:nvPr/>
          </p:nvSpPr>
          <p:spPr>
            <a:xfrm>
              <a:off x="9344254" y="1736446"/>
              <a:ext cx="157276" cy="93268"/>
            </a:xfrm>
            <a:custGeom>
              <a:avLst/>
              <a:gdLst/>
              <a:ahLst/>
              <a:cxnLst/>
              <a:rect l="l" t="t" r="r" b="b"/>
              <a:pathLst>
                <a:path w="157276" h="93268">
                  <a:moveTo>
                    <a:pt x="0" y="0"/>
                  </a:moveTo>
                  <a:lnTo>
                    <a:pt x="157276" y="93268"/>
                  </a:lnTo>
                </a:path>
              </a:pathLst>
            </a:custGeom>
            <a:noFill/>
            <a:ln w="14630">
              <a:solidFill>
                <a:srgbClr val="0000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5" name="Химическая связь 67 bond-28 atom-12 atom-7"/>
            <p:cNvSpPr/>
            <p:nvPr/>
          </p:nvSpPr>
          <p:spPr>
            <a:xfrm>
              <a:off x="9501530" y="1829714"/>
              <a:ext cx="158192" cy="93269"/>
            </a:xfrm>
            <a:custGeom>
              <a:avLst/>
              <a:gdLst/>
              <a:ahLst/>
              <a:cxnLst/>
              <a:rect l="l" t="t" r="r" b="b"/>
              <a:pathLst>
                <a:path w="158192" h="93269">
                  <a:moveTo>
                    <a:pt x="0" y="0"/>
                  </a:moveTo>
                  <a:lnTo>
                    <a:pt x="158192" y="93269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6" name="Химическая связь 68 bond-29 atom-22 atom-17"/>
            <p:cNvSpPr/>
            <p:nvPr/>
          </p:nvSpPr>
          <p:spPr>
            <a:xfrm>
              <a:off x="8884310" y="3055925"/>
              <a:ext cx="387706" cy="229514"/>
            </a:xfrm>
            <a:custGeom>
              <a:avLst/>
              <a:gdLst/>
              <a:ahLst/>
              <a:cxnLst/>
              <a:rect l="l" t="t" r="r" b="b"/>
              <a:pathLst>
                <a:path w="387706" h="229514">
                  <a:moveTo>
                    <a:pt x="0" y="229514"/>
                  </a:moveTo>
                  <a:lnTo>
                    <a:pt x="387706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7" name="Химическая связь 69 "/>
            <p:cNvSpPr/>
            <p:nvPr/>
          </p:nvSpPr>
          <p:spPr>
            <a:xfrm>
              <a:off x="10725912" y="2912364"/>
              <a:ext cx="25603" cy="15545"/>
            </a:xfrm>
            <a:custGeom>
              <a:avLst/>
              <a:gdLst/>
              <a:ahLst/>
              <a:cxnLst/>
              <a:rect l="l" t="t" r="r" b="b"/>
              <a:pathLst>
                <a:path w="25603" h="15545">
                  <a:moveTo>
                    <a:pt x="25603" y="15545"/>
                  </a:moveTo>
                  <a:lnTo>
                    <a:pt x="9144" y="0"/>
                  </a:lnTo>
                  <a:lnTo>
                    <a:pt x="0" y="914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8" name="Химическая связь 70 "/>
            <p:cNvSpPr/>
            <p:nvPr/>
          </p:nvSpPr>
          <p:spPr>
            <a:xfrm>
              <a:off x="10414102" y="1911096"/>
              <a:ext cx="20116" cy="21031"/>
            </a:xfrm>
            <a:custGeom>
              <a:avLst/>
              <a:gdLst/>
              <a:ahLst/>
              <a:cxnLst/>
              <a:rect l="l" t="t" r="r" b="b"/>
              <a:pathLst>
                <a:path w="20116" h="21031">
                  <a:moveTo>
                    <a:pt x="20116" y="21031"/>
                  </a:moveTo>
                  <a:lnTo>
                    <a:pt x="20116" y="11887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9" name="Химическая связь 71 "/>
            <p:cNvSpPr/>
            <p:nvPr/>
          </p:nvSpPr>
          <p:spPr>
            <a:xfrm>
              <a:off x="9252814" y="2599639"/>
              <a:ext cx="38404" cy="11887"/>
            </a:xfrm>
            <a:custGeom>
              <a:avLst/>
              <a:gdLst/>
              <a:ahLst/>
              <a:cxnLst/>
              <a:rect l="l" t="t" r="r" b="b"/>
              <a:pathLst>
                <a:path w="38404" h="11887">
                  <a:moveTo>
                    <a:pt x="38404" y="0"/>
                  </a:moveTo>
                  <a:lnTo>
                    <a:pt x="19202" y="11887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0" name="Химическая связь 72 "/>
            <p:cNvSpPr/>
            <p:nvPr/>
          </p:nvSpPr>
          <p:spPr>
            <a:xfrm>
              <a:off x="8489290" y="2599639"/>
              <a:ext cx="27432" cy="11887"/>
            </a:xfrm>
            <a:custGeom>
              <a:avLst/>
              <a:gdLst/>
              <a:ahLst/>
              <a:cxnLst/>
              <a:rect l="l" t="t" r="r" b="b"/>
              <a:pathLst>
                <a:path w="27432" h="11887">
                  <a:moveTo>
                    <a:pt x="27432" y="0"/>
                  </a:moveTo>
                  <a:lnTo>
                    <a:pt x="8229" y="11887"/>
                  </a:lnTo>
                  <a:lnTo>
                    <a:pt x="0" y="7315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1" name="Химическая связь 73 "/>
            <p:cNvSpPr/>
            <p:nvPr/>
          </p:nvSpPr>
          <p:spPr>
            <a:xfrm>
              <a:off x="9252814" y="3055925"/>
              <a:ext cx="38404" cy="11887"/>
            </a:xfrm>
            <a:custGeom>
              <a:avLst/>
              <a:gdLst/>
              <a:ahLst/>
              <a:cxnLst/>
              <a:rect l="l" t="t" r="r" b="b"/>
              <a:pathLst>
                <a:path w="38404" h="11887">
                  <a:moveTo>
                    <a:pt x="38404" y="11887"/>
                  </a:moveTo>
                  <a:lnTo>
                    <a:pt x="19202" y="0"/>
                  </a:lnTo>
                  <a:lnTo>
                    <a:pt x="0" y="11887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2" name="Химическая связь 74 "/>
            <p:cNvSpPr/>
            <p:nvPr/>
          </p:nvSpPr>
          <p:spPr>
            <a:xfrm>
              <a:off x="9639605" y="370789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20117" y="0"/>
                  </a:moveTo>
                  <a:lnTo>
                    <a:pt x="20117" y="21946"/>
                  </a:lnTo>
                  <a:lnTo>
                    <a:pt x="0" y="33833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3" name="Химическая связь 75 "/>
            <p:cNvSpPr/>
            <p:nvPr/>
          </p:nvSpPr>
          <p:spPr>
            <a:xfrm>
              <a:off x="8884310" y="370789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20117" y="33833"/>
                  </a:moveTo>
                  <a:lnTo>
                    <a:pt x="0" y="21946"/>
                  </a:lnTo>
                  <a:lnTo>
                    <a:pt x="0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4" name="Химическая связь 76 "/>
            <p:cNvSpPr/>
            <p:nvPr/>
          </p:nvSpPr>
          <p:spPr>
            <a:xfrm>
              <a:off x="8884310" y="3273552"/>
              <a:ext cx="20117" cy="33833"/>
            </a:xfrm>
            <a:custGeom>
              <a:avLst/>
              <a:gdLst/>
              <a:ahLst/>
              <a:cxnLst/>
              <a:rect l="l" t="t" r="r" b="b"/>
              <a:pathLst>
                <a:path w="20117" h="33833">
                  <a:moveTo>
                    <a:pt x="0" y="33833"/>
                  </a:moveTo>
                  <a:lnTo>
                    <a:pt x="0" y="11887"/>
                  </a:lnTo>
                  <a:lnTo>
                    <a:pt x="20117" y="0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5" name="Химическая связь 77 "/>
            <p:cNvSpPr/>
            <p:nvPr/>
          </p:nvSpPr>
          <p:spPr>
            <a:xfrm>
              <a:off x="9272016" y="4354373"/>
              <a:ext cx="0" cy="29261"/>
            </a:xfrm>
            <a:custGeom>
              <a:avLst/>
              <a:gdLst/>
              <a:ahLst/>
              <a:cxnLst/>
              <a:rect l="l" t="t" r="r" b="b"/>
              <a:pathLst>
                <a:path h="29261">
                  <a:moveTo>
                    <a:pt x="0" y="0"/>
                  </a:moveTo>
                  <a:lnTo>
                    <a:pt x="0" y="21031"/>
                  </a:lnTo>
                  <a:lnTo>
                    <a:pt x="0" y="29261"/>
                  </a:lnTo>
                </a:path>
              </a:pathLst>
            </a:custGeom>
            <a:noFill/>
            <a:ln w="14630">
              <a:solidFill>
                <a:srgbClr val="0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6" name="Атом 1: O"/>
            <p:cNvSpPr txBox="1"/>
            <p:nvPr/>
          </p:nvSpPr>
          <p:spPr>
            <a:xfrm>
              <a:off x="10233050" y="286097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  <p:sp>
          <p:nvSpPr>
            <p:cNvPr id="87" name="Атом 2: N"/>
            <p:cNvSpPr txBox="1"/>
            <p:nvPr/>
          </p:nvSpPr>
          <p:spPr>
            <a:xfrm>
              <a:off x="10376611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88" name="Атом 3: N"/>
            <p:cNvSpPr txBox="1"/>
            <p:nvPr/>
          </p:nvSpPr>
          <p:spPr>
            <a:xfrm>
              <a:off x="9214408" y="1612818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89" name="Атом 4: H"/>
            <p:cNvSpPr txBox="1"/>
            <p:nvPr/>
          </p:nvSpPr>
          <p:spPr>
            <a:xfrm>
              <a:off x="9214408" y="144365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H</a:t>
              </a:r>
            </a:p>
          </p:txBody>
        </p:sp>
        <p:sp>
          <p:nvSpPr>
            <p:cNvPr id="90" name="Атом 5: O"/>
            <p:cNvSpPr txBox="1"/>
            <p:nvPr/>
          </p:nvSpPr>
          <p:spPr>
            <a:xfrm>
              <a:off x="8439912" y="2960644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  <p:sp>
          <p:nvSpPr>
            <p:cNvPr id="91" name="Атом 6: H"/>
            <p:cNvSpPr txBox="1"/>
            <p:nvPr/>
          </p:nvSpPr>
          <p:spPr>
            <a:xfrm>
              <a:off x="7858353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H</a:t>
              </a:r>
            </a:p>
          </p:txBody>
        </p:sp>
        <p:sp>
          <p:nvSpPr>
            <p:cNvPr id="92" name="Атом 7: 2"/>
            <p:cNvSpPr txBox="1"/>
            <p:nvPr/>
          </p:nvSpPr>
          <p:spPr>
            <a:xfrm>
              <a:off x="7990941" y="2445471"/>
              <a:ext cx="106984" cy="152156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936" b="0">
                  <a:solidFill>
                    <a:srgbClr val="0000FF"/>
                  </a:solidFill>
                  <a:latin typeface="Arial"/>
                </a:rPr>
                <a:t>2</a:t>
              </a:r>
            </a:p>
          </p:txBody>
        </p:sp>
        <p:sp>
          <p:nvSpPr>
            <p:cNvPr id="93" name="Атом 8: N"/>
            <p:cNvSpPr txBox="1"/>
            <p:nvPr/>
          </p:nvSpPr>
          <p:spPr>
            <a:xfrm>
              <a:off x="8052206" y="2301361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94" name="Атом 9: N"/>
            <p:cNvSpPr txBox="1"/>
            <p:nvPr/>
          </p:nvSpPr>
          <p:spPr>
            <a:xfrm>
              <a:off x="9214408" y="4696175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0000FF"/>
                  </a:solidFill>
                  <a:latin typeface="Arial"/>
                </a:rPr>
                <a:t>N</a:t>
              </a:r>
            </a:p>
          </p:txBody>
        </p:sp>
        <p:sp>
          <p:nvSpPr>
            <p:cNvPr id="95" name="Атом 10: O"/>
            <p:cNvSpPr txBox="1"/>
            <p:nvPr/>
          </p:nvSpPr>
          <p:spPr>
            <a:xfrm>
              <a:off x="10017252" y="3262396"/>
              <a:ext cx="172821" cy="245790"/>
            </a:xfrm>
            <a:prstGeom prst="rect">
              <a:avLst/>
            </a:prstGeom>
            <a:noFill/>
            <a:effectLst/>
          </p:spPr>
          <p:txBody>
            <a:bodyPr wrap="square" lIns="0" tIns="0" rIns="0" bIns="0" anchor="t">
              <a:noAutofit/>
            </a:bodyPr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ru-RU" sz="1512" b="0">
                  <a:solidFill>
                    <a:srgbClr val="FF0000"/>
                  </a:solidFill>
                  <a:latin typeface="Arial"/>
                </a:rPr>
                <a:t>O</a:t>
              </a:r>
            </a:p>
          </p:txBody>
        </p:sp>
      </p:grpSp>
      <p:sp>
        <p:nvSpPr>
          <p:cNvPr id="96" name="Класс препарата"/>
          <p:cNvSpPr txBox="1"/>
          <p:nvPr/>
        </p:nvSpPr>
        <p:spPr>
          <a:xfrm>
            <a:off x="6931152" y="5175504"/>
            <a:ext cx="4983480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избирательный антагонист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минералокортикоидного рецептора</a:t>
            </a:r>
          </a:p>
        </p:txBody>
      </p:sp>
      <p:sp>
        <p:nvSpPr>
          <p:cNvPr id="97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PubChem. Finerenone.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98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99" name="Маркировка"/>
          <p:cNvSpPr txBox="1"/>
          <p:nvPr/>
        </p:nvSpPr>
        <p:spPr>
          <a:xfrm>
            <a:off x="838200" y="5702300"/>
            <a:ext cx="6096000" cy="482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 dirty="0">
                <a:solidFill>
                  <a:srgbClr val="53585A"/>
                </a:solidFill>
                <a:latin typeface="Arial Narrow"/>
                <a:cs typeface="Arial Narrow"/>
              </a:rPr>
              <a:t>Внутреннее обучение медицинских представителей.</a:t>
            </a:r>
            <a:endParaRPr sz="1200" b="0" dirty="0"/>
          </a:p>
          <a:p>
            <a:pPr algn="l">
              <a:lnSpc>
                <a:spcPct val="90000"/>
              </a:lnSpc>
            </a:pPr>
            <a:r>
              <a:rPr sz="1400" b="0" dirty="0">
                <a:solidFill>
                  <a:srgbClr val="53585A"/>
                </a:solidFill>
                <a:latin typeface="Arial Narrow"/>
                <a:cs typeface="Arial Narrow"/>
              </a:rPr>
              <a:t>Материал не предназначен для передачи врачам.</a:t>
            </a:r>
            <a:endParaRPr sz="1200" b="0" dirty="0"/>
          </a:p>
        </p:txBody>
      </p:sp>
    </p:spTree>
    <p:extLst>
      <p:ext uri="{BB962C8B-B14F-4D97-AF65-F5344CB8AC3E}">
        <p14:creationId xmlns:p14="http://schemas.microsoft.com/office/powerpoint/2010/main" val="15246151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Два вопроса курса: у каких пациентов обсуждать финеренон и как действовать при повышении калия</a:t>
            </a:r>
          </a:p>
        </p:txBody>
      </p:sp>
      <p:grpSp>
        <p:nvGrpSpPr>
          <p:cNvPr id="5" name="Исходный_визуал_S13_1"/>
          <p:cNvGrpSpPr/>
          <p:nvPr/>
        </p:nvGrpSpPr>
        <p:grpSpPr>
          <a:xfrm>
            <a:off x="952500" y="1758950"/>
            <a:ext cx="1554480" cy="1157678"/>
            <a:chOff x="548640" y="4507992"/>
            <a:chExt cx="1737360" cy="1293876"/>
          </a:xfrm>
        </p:grpSpPr>
        <p:grpSp>
          <p:nvGrpSpPr>
            <p:cNvPr id="6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7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8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9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10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11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2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3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4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5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6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7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8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9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0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1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22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23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4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5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6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7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8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9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0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1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2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grpSp>
        <p:nvGrpSpPr>
          <p:cNvPr id="36" name="Исходный_визуал_S13_1"/>
          <p:cNvGrpSpPr/>
          <p:nvPr/>
        </p:nvGrpSpPr>
        <p:grpSpPr>
          <a:xfrm>
            <a:off x="1066800" y="3968750"/>
            <a:ext cx="1321266" cy="1508760"/>
            <a:chOff x="749808" y="1399032"/>
            <a:chExt cx="1536192" cy="1754184"/>
          </a:xfrm>
        </p:grpSpPr>
        <p:grpSp>
          <p:nvGrpSpPr>
            <p:cNvPr id="37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38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39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0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1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2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3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51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2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3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4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5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6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7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8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9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63" name="Подпись_моча"/>
          <p:cNvSpPr txBox="1"/>
          <p:nvPr/>
        </p:nvSpPr>
        <p:spPr>
          <a:xfrm>
            <a:off x="660400" y="29591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Моча: альбумин и креатинин</a:t>
            </a:r>
          </a:p>
        </p:txBody>
      </p:sp>
      <p:sp>
        <p:nvSpPr>
          <p:cNvPr id="64" name="Подпись_кровь"/>
          <p:cNvSpPr txBox="1"/>
          <p:nvPr/>
        </p:nvSpPr>
        <p:spPr>
          <a:xfrm>
            <a:off x="660400" y="552450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Кровь: калий и креатинин</a:t>
            </a:r>
          </a:p>
        </p:txBody>
      </p:sp>
      <p:sp>
        <p:nvSpPr>
          <p:cNvPr id="65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6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7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почек.</a:t>
            </a:r>
            <a:endParaRPr lang="ru-RU" sz="1000" b="0" dirty="0"/>
          </a:p>
        </p:txBody>
      </p:sp>
      <p:sp>
        <p:nvSpPr>
          <p:cNvPr id="68" name="Плашка вопроса 1"/>
          <p:cNvSpPr/>
          <p:nvPr/>
        </p:nvSpPr>
        <p:spPr>
          <a:xfrm>
            <a:off x="3098800" y="1320800"/>
            <a:ext cx="86360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Вопрос 1. Кого искать</a:t>
            </a:r>
          </a:p>
        </p:txBody>
      </p:sp>
      <p:sp>
        <p:nvSpPr>
          <p:cNvPr id="69" name="Карточка вопроса 1"/>
          <p:cNvSpPr/>
          <p:nvPr/>
        </p:nvSpPr>
        <p:spPr>
          <a:xfrm>
            <a:off x="3098800" y="1752600"/>
            <a:ext cx="86360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Взрослый с ХБП и диабетом 2 типа: уровень глюкозы в крови и давление в целевом диапазоне.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Альбуминурия (повышенная потеря альбумина с мочой) сохраняется.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Какие данные нужны, чтобы обсудить дополнительное лечение?</a:t>
            </a:r>
          </a:p>
        </p:txBody>
      </p:sp>
      <p:sp>
        <p:nvSpPr>
          <p:cNvPr id="70" name="Плашка вопроса 2"/>
          <p:cNvSpPr/>
          <p:nvPr/>
        </p:nvSpPr>
        <p:spPr>
          <a:xfrm>
            <a:off x="3098800" y="3657600"/>
            <a:ext cx="86360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Вопрос 2. Калий на лечении</a:t>
            </a:r>
          </a:p>
        </p:txBody>
      </p:sp>
      <p:sp>
        <p:nvSpPr>
          <p:cNvPr id="71" name="Карточка вопроса 2"/>
          <p:cNvSpPr/>
          <p:nvPr/>
        </p:nvSpPr>
        <p:spPr>
          <a:xfrm>
            <a:off x="3098800" y="4089400"/>
            <a:ext cx="86360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После начала приёма финеренона повысился уровень калия в крови.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Всегда ли нужна окончательная отмена?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Когда можно возобновить лечение?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Заголовок">
            <a:extLst>
              <a:ext uri="{FF2B5EF4-FFF2-40B4-BE49-F238E27FC236}">
                <a16:creationId xmlns:a16="http://schemas.microsoft.com/office/drawing/2014/main" id="{4FDAC8BE-6AF4-42D7-927E-A2AD46EACCE0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Клубочек фильтрует кровь, канальцы возвращают нужные вещества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0" y="1239520"/>
            <a:ext cx="3619500" cy="4512310"/>
          </a:xfrm>
          <a:prstGeom prst="rect">
            <a:avLst/>
          </a:prstGeom>
        </p:spPr>
      </p:pic>
      <p:sp>
        <p:nvSpPr>
          <p:cNvPr id="3" name="Кровь">
            <a:extLst>
              <a:ext uri="{FF2B5EF4-FFF2-40B4-BE49-F238E27FC236}">
                <a16:creationId xmlns:a16="http://schemas.microsoft.com/office/drawing/2014/main" id="{6BCCE0D3-2EFF-4324-B253-2A79D3834E93}"/>
              </a:ext>
            </a:extLst>
          </p:cNvPr>
          <p:cNvSpPr>
            <a:spLocks noGrp="1"/>
          </p:cNvSpPr>
          <p:nvPr/>
        </p:nvSpPr>
        <p:spPr>
          <a:xfrm>
            <a:off x="4219575" y="1000125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Артерия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A7099CAF-2062-440B-9E33-068A7BBBB49A}"/>
              </a:ext>
            </a:extLst>
          </p:cNvPr>
          <p:cNvSpPr>
            <a:spLocks noGrp="1"/>
          </p:cNvSpPr>
          <p:nvPr/>
        </p:nvSpPr>
        <p:spPr>
          <a:xfrm>
            <a:off x="4495800" y="20097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27" name="Прямая со стрелкой 26"/>
          <p:cNvCxnSpPr>
            <a:stCxn id="3" idx="2"/>
            <a:endCxn id="4" idx="1"/>
          </p:cNvCxnSpPr>
          <p:nvPr/>
        </p:nvCxnSpPr>
        <p:spPr>
          <a:xfrm flipH="1">
            <a:off x="4495800" y="1266825"/>
            <a:ext cx="200025" cy="7477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A9CE5B19-4F4D-42C4-A27C-2CA7EA4C032C}"/>
              </a:ext>
            </a:extLst>
          </p:cNvPr>
          <p:cNvSpPr>
            <a:spLocks noGrp="1"/>
          </p:cNvSpPr>
          <p:nvPr/>
        </p:nvSpPr>
        <p:spPr>
          <a:xfrm>
            <a:off x="457200" y="1981200"/>
            <a:ext cx="13620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0274FB75-B327-4357-9380-CD908FFBF815}"/>
              </a:ext>
            </a:extLst>
          </p:cNvPr>
          <p:cNvSpPr>
            <a:spLocks noGrp="1"/>
          </p:cNvSpPr>
          <p:nvPr/>
        </p:nvSpPr>
        <p:spPr>
          <a:xfrm>
            <a:off x="3248025" y="25622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0" name="Прямая со стрелкой 29"/>
          <p:cNvCxnSpPr>
            <a:stCxn id="6" idx="3"/>
            <a:endCxn id="7" idx="1"/>
          </p:cNvCxnSpPr>
          <p:nvPr/>
        </p:nvCxnSpPr>
        <p:spPr>
          <a:xfrm>
            <a:off x="1819275" y="2119313"/>
            <a:ext cx="1428750" cy="447675"/>
          </a:xfrm>
          <a:prstGeom prst="straightConnector1">
            <a:avLst/>
          </a:prstGeom>
          <a:ln w="11430">
            <a:solidFill>
              <a:srgbClr val="7E919E"/>
            </a:solidFill>
            <a:prstDash val="solid"/>
            <a:tailEnd type="none" w="med" len="med"/>
          </a:ln>
        </p:spPr>
      </p:cxnSp>
      <p:sp>
        <p:nvSpPr>
          <p:cNvPr id="9" name="Капсула Боумена">
            <a:extLst>
              <a:ext uri="{FF2B5EF4-FFF2-40B4-BE49-F238E27FC236}">
                <a16:creationId xmlns:a16="http://schemas.microsoft.com/office/drawing/2014/main" id="{2AC96E8C-C676-4F38-8140-71B147A3B055}"/>
              </a:ext>
            </a:extLst>
          </p:cNvPr>
          <p:cNvSpPr>
            <a:spLocks noGrp="1"/>
          </p:cNvSpPr>
          <p:nvPr/>
        </p:nvSpPr>
        <p:spPr>
          <a:xfrm>
            <a:off x="457200" y="3076575"/>
            <a:ext cx="13620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Капсула Боумена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5A05B0F1-83EF-4762-9E16-3C8E3B51EE41}"/>
              </a:ext>
            </a:extLst>
          </p:cNvPr>
          <p:cNvSpPr>
            <a:spLocks noGrp="1"/>
          </p:cNvSpPr>
          <p:nvPr/>
        </p:nvSpPr>
        <p:spPr>
          <a:xfrm>
            <a:off x="3333750" y="27336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/>
          <p:nvPr/>
        </p:nvCxnSpPr>
        <p:spPr>
          <a:xfrm flipV="1">
            <a:off x="1819275" y="2819400"/>
            <a:ext cx="1266825" cy="495301"/>
          </a:xfrm>
          <a:prstGeom prst="straightConnector1">
            <a:avLst/>
          </a:prstGeom>
          <a:ln w="11430">
            <a:solidFill>
              <a:srgbClr val="7E919E"/>
            </a:solidFill>
            <a:prstDash val="solid"/>
            <a:tailEnd type="none" w="med" len="med"/>
          </a:ln>
        </p:spPr>
      </p:cxnSp>
      <p:sp>
        <p:nvSpPr>
          <p:cNvPr id="12" name="Каналец">
            <a:extLst>
              <a:ext uri="{FF2B5EF4-FFF2-40B4-BE49-F238E27FC236}">
                <a16:creationId xmlns:a16="http://schemas.microsoft.com/office/drawing/2014/main" id="{1A909C59-6E07-4FF7-AD42-243C4B323919}"/>
              </a:ext>
            </a:extLst>
          </p:cNvPr>
          <p:cNvSpPr>
            <a:spLocks noGrp="1"/>
          </p:cNvSpPr>
          <p:nvPr/>
        </p:nvSpPr>
        <p:spPr>
          <a:xfrm>
            <a:off x="4902200" y="4000500"/>
            <a:ext cx="1270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Проксимальный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каналец</a:t>
            </a:r>
          </a:p>
        </p:txBody>
      </p:sp>
      <p:sp>
        <p:nvSpPr>
          <p:cNvPr id="13" name="Конец выноски">
            <a:extLst>
              <a:ext uri="{FF2B5EF4-FFF2-40B4-BE49-F238E27FC236}">
                <a16:creationId xmlns:a16="http://schemas.microsoft.com/office/drawing/2014/main" id="{48F886C8-0CA4-4193-BB4C-A21FF85B2F94}"/>
              </a:ext>
            </a:extLst>
          </p:cNvPr>
          <p:cNvSpPr>
            <a:spLocks noGrp="1"/>
          </p:cNvSpPr>
          <p:nvPr/>
        </p:nvSpPr>
        <p:spPr>
          <a:xfrm>
            <a:off x="3495675" y="40957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/>
          <p:nvPr/>
        </p:nvCxnSpPr>
        <p:spPr>
          <a:xfrm flipH="1" flipV="1">
            <a:off x="3759200" y="2844800"/>
            <a:ext cx="1336675" cy="1293813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37" name="Метка_вена"/>
          <p:cNvSpPr txBox="1"/>
          <p:nvPr/>
        </p:nvSpPr>
        <p:spPr>
          <a:xfrm>
            <a:off x="4978400" y="1320800"/>
            <a:ext cx="762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Вена</a:t>
            </a:r>
          </a:p>
        </p:txBody>
      </p:sp>
      <p:cxnSp>
        <p:nvCxnSpPr>
          <p:cNvPr id="38" name="Указатель_вена"/>
          <p:cNvCxnSpPr/>
          <p:nvPr/>
        </p:nvCxnSpPr>
        <p:spPr>
          <a:xfrm flipH="1">
            <a:off x="4813300" y="1549400"/>
            <a:ext cx="266700" cy="4826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39" name="Метка_приносящая"/>
          <p:cNvSpPr txBox="1"/>
          <p:nvPr/>
        </p:nvSpPr>
        <p:spPr>
          <a:xfrm>
            <a:off x="4978400" y="1905000"/>
            <a:ext cx="12192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Приносящая артериола</a:t>
            </a:r>
          </a:p>
        </p:txBody>
      </p:sp>
      <p:cxnSp>
        <p:nvCxnSpPr>
          <p:cNvPr id="40" name="Указатель_приносящая"/>
          <p:cNvCxnSpPr/>
          <p:nvPr/>
        </p:nvCxnSpPr>
        <p:spPr>
          <a:xfrm flipH="1">
            <a:off x="3810000" y="2120900"/>
            <a:ext cx="1168400" cy="1143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1" name="Метка_выносящая"/>
          <p:cNvSpPr txBox="1"/>
          <p:nvPr/>
        </p:nvSpPr>
        <p:spPr>
          <a:xfrm>
            <a:off x="457200" y="2413000"/>
            <a:ext cx="13589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Выносящая артериола</a:t>
            </a:r>
          </a:p>
        </p:txBody>
      </p:sp>
      <p:cxnSp>
        <p:nvCxnSpPr>
          <p:cNvPr id="42" name="Указатель_выносящая"/>
          <p:cNvCxnSpPr/>
          <p:nvPr/>
        </p:nvCxnSpPr>
        <p:spPr>
          <a:xfrm flipV="1">
            <a:off x="1816100" y="2540000"/>
            <a:ext cx="1003300" cy="63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3" name="Метка_собирательная"/>
          <p:cNvSpPr txBox="1"/>
          <p:nvPr/>
        </p:nvSpPr>
        <p:spPr>
          <a:xfrm>
            <a:off x="457200" y="3683000"/>
            <a:ext cx="13589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Собирательная трубочка</a:t>
            </a:r>
          </a:p>
        </p:txBody>
      </p:sp>
      <p:cxnSp>
        <p:nvCxnSpPr>
          <p:cNvPr id="44" name="Указатель_собирательная"/>
          <p:cNvCxnSpPr/>
          <p:nvPr/>
        </p:nvCxnSpPr>
        <p:spPr>
          <a:xfrm>
            <a:off x="1816100" y="3873500"/>
            <a:ext cx="152400" cy="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5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подписи на русском.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NIDDK. Your Kidneys &amp; How They Work. Рисунок: T. Kebert &amp; umimeto.org; Jmarchn.</a:t>
            </a:r>
            <a:endParaRPr lang="ru-RU" sz="800" b="0" dirty="0"/>
          </a:p>
        </p:txBody>
      </p:sp>
      <p:pic>
        <p:nvPicPr>
          <p:cNvPr id="46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7" name="Плашка: Фильтрация"/>
          <p:cNvSpPr/>
          <p:nvPr/>
        </p:nvSpPr>
        <p:spPr>
          <a:xfrm>
            <a:off x="6223000" y="12446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Клубочек: сосудистый фильтр</a:t>
            </a:r>
          </a:p>
        </p:txBody>
      </p:sp>
      <p:sp>
        <p:nvSpPr>
          <p:cNvPr id="48" name="Карточка: Фильтрация"/>
          <p:cNvSpPr/>
          <p:nvPr/>
        </p:nvSpPr>
        <p:spPr>
          <a:xfrm>
            <a:off x="6223000" y="16002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Кровь приходит по приносящей артериоле (мелкой артерии) и уходит по выносящей. Часть воды и мелких веществ из капилляров переходит в капсулу Боумена.</a:t>
            </a:r>
          </a:p>
        </p:txBody>
      </p:sp>
      <p:sp>
        <p:nvSpPr>
          <p:cNvPr id="49" name="Плашка: Первичная моча"/>
          <p:cNvSpPr/>
          <p:nvPr/>
        </p:nvSpPr>
        <p:spPr>
          <a:xfrm>
            <a:off x="6223000" y="28194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Так образуется первичная моча</a:t>
            </a:r>
          </a:p>
        </p:txBody>
      </p:sp>
      <p:sp>
        <p:nvSpPr>
          <p:cNvPr id="50" name="Карточка: Первичная моча"/>
          <p:cNvSpPr/>
          <p:nvPr/>
        </p:nvSpPr>
        <p:spPr>
          <a:xfrm>
            <a:off x="6223000" y="31750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Жидкость поступает в канальцы. Клетки крови и большая часть белков остаются в сосудах.</a:t>
            </a:r>
          </a:p>
        </p:txBody>
      </p:sp>
      <p:sp>
        <p:nvSpPr>
          <p:cNvPr id="51" name="Плашка: Реабсорбция"/>
          <p:cNvSpPr/>
          <p:nvPr/>
        </p:nvSpPr>
        <p:spPr>
          <a:xfrm>
            <a:off x="6223000" y="4394200"/>
            <a:ext cx="5461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Канальцы возвращают нужное в кровь</a:t>
            </a:r>
          </a:p>
        </p:txBody>
      </p:sp>
      <p:sp>
        <p:nvSpPr>
          <p:cNvPr id="52" name="Карточка: Реабсорбция"/>
          <p:cNvSpPr/>
          <p:nvPr/>
        </p:nvSpPr>
        <p:spPr>
          <a:xfrm>
            <a:off x="6223000" y="4749800"/>
            <a:ext cx="5461000" cy="1041400"/>
          </a:xfrm>
          <a:prstGeom prst="roundRect">
            <a:avLst>
              <a:gd name="adj" fmla="val 975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01600" bIns="762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Большая часть воды, глюкоза и другие нужные вещества возвращаются в кровь. Обратное всасывание называется реабсорбцией.</a:t>
            </a:r>
          </a:p>
        </p:txBody>
      </p:sp>
    </p:spTree>
    <p:extLst>
      <p:ext uri="{BB962C8B-B14F-4D97-AF65-F5344CB8AC3E}">
        <p14:creationId xmlns:p14="http://schemas.microsoft.com/office/powerpoint/2010/main" val="6509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Заголовок">
            <a:extLst>
              <a:ext uri="{FF2B5EF4-FFF2-40B4-BE49-F238E27FC236}">
                <a16:creationId xmlns:a16="http://schemas.microsoft.com/office/drawing/2014/main" id="{8C688344-BDA6-4F92-88EE-223A0DAD7EC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Плотное пятно измеряет соль в канальце и регулирует фильтрацию в своём клубочке</a:t>
            </a:r>
          </a:p>
        </p:txBody>
      </p:sp>
      <p:pic>
        <p:nvPicPr>
          <p:cNvPr id="30" name="Рисунок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24000" y="1047750"/>
            <a:ext cx="5048250" cy="5048250"/>
          </a:xfrm>
          <a:prstGeom prst="rect">
            <a:avLst/>
          </a:prstGeom>
        </p:spPr>
      </p:pic>
      <p:sp>
        <p:nvSpPr>
          <p:cNvPr id="3" name="Приносящая артериола">
            <a:extLst>
              <a:ext uri="{FF2B5EF4-FFF2-40B4-BE49-F238E27FC236}">
                <a16:creationId xmlns:a16="http://schemas.microsoft.com/office/drawing/2014/main" id="{DCEBA2B9-3863-4334-96C8-BE4161295476}"/>
              </a:ext>
            </a:extLst>
          </p:cNvPr>
          <p:cNvSpPr>
            <a:spLocks noGrp="1"/>
          </p:cNvSpPr>
          <p:nvPr/>
        </p:nvSpPr>
        <p:spPr>
          <a:xfrm>
            <a:off x="866775" y="1238250"/>
            <a:ext cx="18097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Приносящая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артериола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FC17EEED-2A0F-4128-A9C6-06A0D3FBCD42}"/>
              </a:ext>
            </a:extLst>
          </p:cNvPr>
          <p:cNvSpPr>
            <a:spLocks noGrp="1"/>
          </p:cNvSpPr>
          <p:nvPr/>
        </p:nvSpPr>
        <p:spPr>
          <a:xfrm>
            <a:off x="2419350" y="24860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>
            <a:stCxn id="3" idx="2"/>
            <a:endCxn id="4" idx="1"/>
          </p:cNvCxnSpPr>
          <p:nvPr/>
        </p:nvCxnSpPr>
        <p:spPr>
          <a:xfrm>
            <a:off x="1771650" y="1743075"/>
            <a:ext cx="647700" cy="747713"/>
          </a:xfrm>
          <a:prstGeom prst="straightConnector1">
            <a:avLst/>
          </a:prstGeom>
          <a:ln w="11430">
            <a:solidFill>
              <a:srgbClr val="1F4E79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FA687F3E-2687-45E4-B257-C4EE5CDC6F7D}"/>
              </a:ext>
            </a:extLst>
          </p:cNvPr>
          <p:cNvSpPr>
            <a:spLocks noGrp="1"/>
          </p:cNvSpPr>
          <p:nvPr/>
        </p:nvSpPr>
        <p:spPr>
          <a:xfrm>
            <a:off x="4448175" y="151447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E136A304-9A07-403D-96D5-7356959E0C16}"/>
              </a:ext>
            </a:extLst>
          </p:cNvPr>
          <p:cNvSpPr>
            <a:spLocks noGrp="1"/>
          </p:cNvSpPr>
          <p:nvPr/>
        </p:nvSpPr>
        <p:spPr>
          <a:xfrm>
            <a:off x="4552950" y="28289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>
            <a:stCxn id="6" idx="2"/>
            <a:endCxn id="7" idx="1"/>
          </p:cNvCxnSpPr>
          <p:nvPr/>
        </p:nvCxnSpPr>
        <p:spPr>
          <a:xfrm flipH="1">
            <a:off x="4552950" y="1800225"/>
            <a:ext cx="609600" cy="1033463"/>
          </a:xfrm>
          <a:prstGeom prst="straightConnector1">
            <a:avLst/>
          </a:prstGeom>
          <a:ln w="11430">
            <a:solidFill>
              <a:srgbClr val="7E919E"/>
            </a:solidFill>
            <a:prstDash val="solid"/>
            <a:tailEnd type="none" w="med" len="med"/>
          </a:ln>
        </p:spPr>
      </p:cxnSp>
      <p:sp>
        <p:nvSpPr>
          <p:cNvPr id="9" name="Плотное пятно">
            <a:extLst>
              <a:ext uri="{FF2B5EF4-FFF2-40B4-BE49-F238E27FC236}">
                <a16:creationId xmlns:a16="http://schemas.microsoft.com/office/drawing/2014/main" id="{36BD0485-D319-4957-A8B3-2DD05C453C45}"/>
              </a:ext>
            </a:extLst>
          </p:cNvPr>
          <p:cNvSpPr>
            <a:spLocks noGrp="1"/>
          </p:cNvSpPr>
          <p:nvPr/>
        </p:nvSpPr>
        <p:spPr>
          <a:xfrm>
            <a:off x="457200" y="3857625"/>
            <a:ext cx="155257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Плотное пятно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1112075A-558E-4B59-96C8-A85E3CE0687D}"/>
              </a:ext>
            </a:extLst>
          </p:cNvPr>
          <p:cNvSpPr>
            <a:spLocks noGrp="1"/>
          </p:cNvSpPr>
          <p:nvPr/>
        </p:nvSpPr>
        <p:spPr>
          <a:xfrm>
            <a:off x="2343150" y="363855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9" name="Прямая со стрелкой 38"/>
          <p:cNvCxnSpPr/>
          <p:nvPr/>
        </p:nvCxnSpPr>
        <p:spPr>
          <a:xfrm flipV="1">
            <a:off x="1574800" y="3644900"/>
            <a:ext cx="762000" cy="342900"/>
          </a:xfrm>
          <a:prstGeom prst="straightConnector1">
            <a:avLst/>
          </a:prstGeom>
          <a:ln w="19050">
            <a:solidFill>
              <a:srgbClr val="202020"/>
            </a:solidFill>
            <a:prstDash val="solid"/>
            <a:tailEnd type="none" w="med" len="med"/>
          </a:ln>
        </p:spPr>
      </p:cxnSp>
      <p:sp>
        <p:nvSpPr>
          <p:cNvPr id="12" name="Плотное пятно подпись">
            <a:extLst>
              <a:ext uri="{FF2B5EF4-FFF2-40B4-BE49-F238E27FC236}">
                <a16:creationId xmlns:a16="http://schemas.microsoft.com/office/drawing/2014/main" id="{53140CD5-9B8F-4252-B2B9-93074B5BAF5E}"/>
              </a:ext>
            </a:extLst>
          </p:cNvPr>
          <p:cNvSpPr>
            <a:spLocks noGrp="1"/>
          </p:cNvSpPr>
          <p:nvPr/>
        </p:nvSpPr>
        <p:spPr>
          <a:xfrm>
            <a:off x="457200" y="4200525"/>
            <a:ext cx="15430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Чувствительные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клетки канальца</a:t>
            </a:r>
          </a:p>
        </p:txBody>
      </p:sp>
      <p:sp>
        <p:nvSpPr>
          <p:cNvPr id="13" name="Поздний участок канальца">
            <a:extLst>
              <a:ext uri="{FF2B5EF4-FFF2-40B4-BE49-F238E27FC236}">
                <a16:creationId xmlns:a16="http://schemas.microsoft.com/office/drawing/2014/main" id="{2423AF95-68A2-4190-AF7A-8DC2BABABD9C}"/>
              </a:ext>
            </a:extLst>
          </p:cNvPr>
          <p:cNvSpPr>
            <a:spLocks noGrp="1"/>
          </p:cNvSpPr>
          <p:nvPr/>
        </p:nvSpPr>
        <p:spPr>
          <a:xfrm>
            <a:off x="3076575" y="5715000"/>
            <a:ext cx="34671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Восходящее колено петли Генле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прилежит к своему клубочку</a:t>
            </a:r>
          </a:p>
        </p:txBody>
      </p:sp>
      <p:sp>
        <p:nvSpPr>
          <p:cNvPr id="14" name="Конец выноски">
            <a:extLst>
              <a:ext uri="{FF2B5EF4-FFF2-40B4-BE49-F238E27FC236}">
                <a16:creationId xmlns:a16="http://schemas.microsoft.com/office/drawing/2014/main" id="{A97A2654-56F7-49F7-BC51-175F92E33492}"/>
              </a:ext>
            </a:extLst>
          </p:cNvPr>
          <p:cNvSpPr>
            <a:spLocks noGrp="1"/>
          </p:cNvSpPr>
          <p:nvPr/>
        </p:nvSpPr>
        <p:spPr>
          <a:xfrm>
            <a:off x="2952750" y="53625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43" name="Прямая со стрелкой 42"/>
          <p:cNvCxnSpPr/>
          <p:nvPr/>
        </p:nvCxnSpPr>
        <p:spPr>
          <a:xfrm flipH="1" flipV="1">
            <a:off x="2997200" y="5029200"/>
            <a:ext cx="88900" cy="711200"/>
          </a:xfrm>
          <a:prstGeom prst="straightConnector1">
            <a:avLst/>
          </a:prstGeom>
          <a:ln w="11430">
            <a:solidFill>
              <a:srgbClr val="7E919E"/>
            </a:solidFill>
            <a:prstDash val="solid"/>
            <a:tailEnd type="none" w="med" len="med"/>
          </a:ln>
        </p:spPr>
      </p:cxnSp>
      <p:sp>
        <p:nvSpPr>
          <p:cNvPr id="55" name="Метка_выносящая"/>
          <p:cNvSpPr txBox="1"/>
          <p:nvPr/>
        </p:nvSpPr>
        <p:spPr>
          <a:xfrm>
            <a:off x="457200" y="5080000"/>
            <a:ext cx="16510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Выносящая артериола</a:t>
            </a:r>
          </a:p>
        </p:txBody>
      </p:sp>
      <p:cxnSp>
        <p:nvCxnSpPr>
          <p:cNvPr id="56" name="Указатель_выносящая"/>
          <p:cNvCxnSpPr/>
          <p:nvPr/>
        </p:nvCxnSpPr>
        <p:spPr>
          <a:xfrm flipV="1">
            <a:off x="1524000" y="4826000"/>
            <a:ext cx="762000" cy="317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57" name="Метка_проксимальный"/>
          <p:cNvSpPr txBox="1"/>
          <p:nvPr/>
        </p:nvSpPr>
        <p:spPr>
          <a:xfrm>
            <a:off x="5308600" y="1905000"/>
            <a:ext cx="1270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Проксимальный каналец</a:t>
            </a:r>
          </a:p>
        </p:txBody>
      </p:sp>
      <p:cxnSp>
        <p:nvCxnSpPr>
          <p:cNvPr id="58" name="Указатель_проксимальный"/>
          <p:cNvCxnSpPr/>
          <p:nvPr/>
        </p:nvCxnSpPr>
        <p:spPr>
          <a:xfrm flipH="1">
            <a:off x="5918200" y="2336800"/>
            <a:ext cx="101600" cy="5588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59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Vallon V, Thomson SC. Nat Rev Nephrol. 2020;16:317–336.</a:t>
            </a:r>
            <a:endParaRPr lang="ru-RU" sz="800" b="0" dirty="0"/>
          </a:p>
        </p:txBody>
      </p:sp>
      <p:pic>
        <p:nvPicPr>
          <p:cNvPr id="60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1" name="Плашка: определение"/>
          <p:cNvSpPr/>
          <p:nvPr/>
        </p:nvSpPr>
        <p:spPr>
          <a:xfrm>
            <a:off x="6985000" y="11938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Плотное пятно</a:t>
            </a:r>
          </a:p>
        </p:txBody>
      </p:sp>
      <p:sp>
        <p:nvSpPr>
          <p:cNvPr id="62" name="Карточка: определение"/>
          <p:cNvSpPr/>
          <p:nvPr/>
        </p:nvSpPr>
        <p:spPr>
          <a:xfrm>
            <a:off x="6985000" y="1524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Группа клеток канальца, которая измеряет содержание соли (хлорида натрия) в канальцевой жидкости и сообщает об этом приносящей артериоле.</a:t>
            </a:r>
          </a:p>
        </p:txBody>
      </p:sp>
      <p:sp>
        <p:nvSpPr>
          <p:cNvPr id="63" name="Плашка: Соли много"/>
          <p:cNvSpPr/>
          <p:nvPr/>
        </p:nvSpPr>
        <p:spPr>
          <a:xfrm>
            <a:off x="6985000" y="25908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Соли много</a:t>
            </a:r>
          </a:p>
        </p:txBody>
      </p:sp>
      <p:sp>
        <p:nvSpPr>
          <p:cNvPr id="64" name="Карточка: Соли много"/>
          <p:cNvSpPr/>
          <p:nvPr/>
        </p:nvSpPr>
        <p:spPr>
          <a:xfrm>
            <a:off x="6985000" y="2921000"/>
            <a:ext cx="4699000" cy="132080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5" name="Соли много: шаг 1"/>
          <p:cNvSpPr txBox="1"/>
          <p:nvPr/>
        </p:nvSpPr>
        <p:spPr>
          <a:xfrm>
            <a:off x="7137400" y="29972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больше соли</a:t>
            </a:r>
          </a:p>
        </p:txBody>
      </p:sp>
      <p:sp>
        <p:nvSpPr>
          <p:cNvPr id="66" name="Соли много: шеврон 1"/>
          <p:cNvSpPr/>
          <p:nvPr/>
        </p:nvSpPr>
        <p:spPr>
          <a:xfrm rot="5400000">
            <a:off x="9277350" y="32131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Соли много: шаг 2"/>
          <p:cNvSpPr txBox="1"/>
          <p:nvPr/>
        </p:nvSpPr>
        <p:spPr>
          <a:xfrm>
            <a:off x="7137400" y="34544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 сужается</a:t>
            </a:r>
          </a:p>
        </p:txBody>
      </p:sp>
      <p:sp>
        <p:nvSpPr>
          <p:cNvPr id="68" name="Соли много: шеврон 2"/>
          <p:cNvSpPr/>
          <p:nvPr/>
        </p:nvSpPr>
        <p:spPr>
          <a:xfrm rot="5400000">
            <a:off x="9277350" y="36703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Соли много: шаг 3"/>
          <p:cNvSpPr txBox="1"/>
          <p:nvPr/>
        </p:nvSpPr>
        <p:spPr>
          <a:xfrm>
            <a:off x="7137400" y="39116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Фильтрация уменьшается</a:t>
            </a:r>
          </a:p>
        </p:txBody>
      </p:sp>
      <p:sp>
        <p:nvSpPr>
          <p:cNvPr id="70" name="Плашка: Соли мало"/>
          <p:cNvSpPr/>
          <p:nvPr/>
        </p:nvSpPr>
        <p:spPr>
          <a:xfrm>
            <a:off x="6985000" y="4419600"/>
            <a:ext cx="4699000" cy="3302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Соли мало</a:t>
            </a:r>
          </a:p>
        </p:txBody>
      </p:sp>
      <p:sp>
        <p:nvSpPr>
          <p:cNvPr id="71" name="Карточка: Соли мало"/>
          <p:cNvSpPr/>
          <p:nvPr/>
        </p:nvSpPr>
        <p:spPr>
          <a:xfrm>
            <a:off x="6985000" y="4749800"/>
            <a:ext cx="4699000" cy="132080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2" name="Соли мало: шаг 1"/>
          <p:cNvSpPr txBox="1"/>
          <p:nvPr/>
        </p:nvSpPr>
        <p:spPr>
          <a:xfrm>
            <a:off x="7137400" y="48260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меньше соли</a:t>
            </a:r>
          </a:p>
        </p:txBody>
      </p:sp>
      <p:sp>
        <p:nvSpPr>
          <p:cNvPr id="73" name="Соли мало: шеврон 1"/>
          <p:cNvSpPr/>
          <p:nvPr/>
        </p:nvSpPr>
        <p:spPr>
          <a:xfrm rot="5400000">
            <a:off x="9277350" y="50419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Соли мало: шаг 2"/>
          <p:cNvSpPr txBox="1"/>
          <p:nvPr/>
        </p:nvSpPr>
        <p:spPr>
          <a:xfrm>
            <a:off x="7137400" y="52832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Сигнал, ограничивающий фильтрацию, ослабевает</a:t>
            </a:r>
          </a:p>
        </p:txBody>
      </p:sp>
      <p:sp>
        <p:nvSpPr>
          <p:cNvPr id="75" name="Соли мало: шеврон 2"/>
          <p:cNvSpPr/>
          <p:nvPr/>
        </p:nvSpPr>
        <p:spPr>
          <a:xfrm rot="5400000">
            <a:off x="9277350" y="54991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Соли мало: шаг 3"/>
          <p:cNvSpPr txBox="1"/>
          <p:nvPr/>
        </p:nvSpPr>
        <p:spPr>
          <a:xfrm>
            <a:off x="7137400" y="5740400"/>
            <a:ext cx="4394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Фильтрация может увеличиться</a:t>
            </a:r>
          </a:p>
        </p:txBody>
      </p:sp>
    </p:spTree>
    <p:extLst>
      <p:ext uri="{BB962C8B-B14F-4D97-AF65-F5344CB8AC3E}">
        <p14:creationId xmlns:p14="http://schemas.microsoft.com/office/powerpoint/2010/main" val="225056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">
            <a:extLst>
              <a:ext uri="{FF2B5EF4-FFF2-40B4-BE49-F238E27FC236}">
                <a16:creationId xmlns:a16="http://schemas.microsoft.com/office/drawing/2014/main" id="{7C1241FB-DAD9-4279-BA90-416BC346476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При диабете фильтрация в клубочке может стать избыточной; на этот механизм действуют ингибиторы НГЛТ2</a:t>
            </a:r>
          </a:p>
        </p:txBody>
      </p:sp>
      <p:pic>
        <p:nvPicPr>
          <p:cNvPr id="27" name="Рисунок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33500" y="1258094"/>
            <a:ext cx="3333750" cy="4156075"/>
          </a:xfrm>
          <a:prstGeom prst="rect">
            <a:avLst/>
          </a:prstGeom>
        </p:spPr>
      </p:pic>
      <p:sp>
        <p:nvSpPr>
          <p:cNvPr id="3" name="Плотное пятно">
            <a:extLst>
              <a:ext uri="{FF2B5EF4-FFF2-40B4-BE49-F238E27FC236}">
                <a16:creationId xmlns:a16="http://schemas.microsoft.com/office/drawing/2014/main" id="{270045B5-E304-432C-A2AE-D10E4E162FF9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7526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Плотное пятно</a:t>
            </a:r>
          </a:p>
        </p:txBody>
      </p:sp>
      <p:sp>
        <p:nvSpPr>
          <p:cNvPr id="4" name="Конец выноски">
            <a:extLst>
              <a:ext uri="{FF2B5EF4-FFF2-40B4-BE49-F238E27FC236}">
                <a16:creationId xmlns:a16="http://schemas.microsoft.com/office/drawing/2014/main" id="{17BDB29E-E77B-41C1-B030-19990CA7866B}"/>
              </a:ext>
            </a:extLst>
          </p:cNvPr>
          <p:cNvSpPr>
            <a:spLocks noGrp="1"/>
          </p:cNvSpPr>
          <p:nvPr/>
        </p:nvSpPr>
        <p:spPr>
          <a:xfrm>
            <a:off x="3181350" y="225742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0" name="Прямая со стрелкой 29"/>
          <p:cNvCxnSpPr>
            <a:stCxn id="3" idx="3"/>
            <a:endCxn id="4" idx="1"/>
          </p:cNvCxnSpPr>
          <p:nvPr/>
        </p:nvCxnSpPr>
        <p:spPr>
          <a:xfrm>
            <a:off x="2209800" y="1571625"/>
            <a:ext cx="971550" cy="690563"/>
          </a:xfrm>
          <a:prstGeom prst="straightConnector1">
            <a:avLst/>
          </a:prstGeom>
          <a:ln w="11430">
            <a:solidFill>
              <a:srgbClr val="783686"/>
            </a:solidFill>
            <a:prstDash val="solid"/>
            <a:tailEnd type="none" w="med" len="med"/>
          </a:ln>
        </p:spPr>
      </p:cxnSp>
      <p:sp>
        <p:nvSpPr>
          <p:cNvPr id="6" name="Клубочек">
            <a:extLst>
              <a:ext uri="{FF2B5EF4-FFF2-40B4-BE49-F238E27FC236}">
                <a16:creationId xmlns:a16="http://schemas.microsoft.com/office/drawing/2014/main" id="{492037FF-C929-4B27-B3B4-AC203C498A22}"/>
              </a:ext>
            </a:extLst>
          </p:cNvPr>
          <p:cNvSpPr>
            <a:spLocks noGrp="1"/>
          </p:cNvSpPr>
          <p:nvPr/>
        </p:nvSpPr>
        <p:spPr>
          <a:xfrm>
            <a:off x="457200" y="2886075"/>
            <a:ext cx="12954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Клубочек</a:t>
            </a:r>
          </a:p>
        </p:txBody>
      </p:sp>
      <p:sp>
        <p:nvSpPr>
          <p:cNvPr id="7" name="Конец выноски">
            <a:extLst>
              <a:ext uri="{FF2B5EF4-FFF2-40B4-BE49-F238E27FC236}">
                <a16:creationId xmlns:a16="http://schemas.microsoft.com/office/drawing/2014/main" id="{6F8FBE3A-DE4C-4EC0-8768-600F454BC13A}"/>
              </a:ext>
            </a:extLst>
          </p:cNvPr>
          <p:cNvSpPr>
            <a:spLocks noGrp="1"/>
          </p:cNvSpPr>
          <p:nvPr/>
        </p:nvSpPr>
        <p:spPr>
          <a:xfrm>
            <a:off x="3105150" y="2466975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3" name="Прямая со стрелкой 32"/>
          <p:cNvCxnSpPr>
            <a:stCxn id="6" idx="3"/>
            <a:endCxn id="7" idx="1"/>
          </p:cNvCxnSpPr>
          <p:nvPr/>
        </p:nvCxnSpPr>
        <p:spPr>
          <a:xfrm flipV="1">
            <a:off x="1752600" y="2471738"/>
            <a:ext cx="1352550" cy="557213"/>
          </a:xfrm>
          <a:prstGeom prst="straightConnector1">
            <a:avLst/>
          </a:prstGeom>
          <a:ln w="11430">
            <a:solidFill>
              <a:srgbClr val="7E919E"/>
            </a:solidFill>
            <a:prstDash val="solid"/>
            <a:tailEnd type="none" w="med" len="med"/>
          </a:ln>
        </p:spPr>
      </p:cxnSp>
      <p:sp>
        <p:nvSpPr>
          <p:cNvPr id="9" name="Проксимальный каналец">
            <a:extLst>
              <a:ext uri="{FF2B5EF4-FFF2-40B4-BE49-F238E27FC236}">
                <a16:creationId xmlns:a16="http://schemas.microsoft.com/office/drawing/2014/main" id="{1CFEC412-D18F-4170-A1BD-34567292CE4F}"/>
              </a:ext>
            </a:extLst>
          </p:cNvPr>
          <p:cNvSpPr>
            <a:spLocks noGrp="1"/>
          </p:cNvSpPr>
          <p:nvPr/>
        </p:nvSpPr>
        <p:spPr>
          <a:xfrm>
            <a:off x="4886325" y="3086100"/>
            <a:ext cx="1609725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Проксимальный</a:t>
            </a:r>
          </a:p>
          <a:p>
            <a:pPr algn="l"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каналец</a:t>
            </a:r>
          </a:p>
        </p:txBody>
      </p:sp>
      <p:sp>
        <p:nvSpPr>
          <p:cNvPr id="10" name="Конец выноски">
            <a:extLst>
              <a:ext uri="{FF2B5EF4-FFF2-40B4-BE49-F238E27FC236}">
                <a16:creationId xmlns:a16="http://schemas.microsoft.com/office/drawing/2014/main" id="{708583DB-31FF-4FC5-BF37-48CF23B52495}"/>
              </a:ext>
            </a:extLst>
          </p:cNvPr>
          <p:cNvSpPr>
            <a:spLocks noGrp="1"/>
          </p:cNvSpPr>
          <p:nvPr/>
        </p:nvSpPr>
        <p:spPr>
          <a:xfrm>
            <a:off x="3581400" y="3009900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cxnSp>
        <p:nvCxnSpPr>
          <p:cNvPr id="36" name="Прямая со стрелкой 35"/>
          <p:cNvCxnSpPr/>
          <p:nvPr/>
        </p:nvCxnSpPr>
        <p:spPr>
          <a:xfrm flipH="1" flipV="1">
            <a:off x="3657600" y="2857500"/>
            <a:ext cx="1228725" cy="476251"/>
          </a:xfrm>
          <a:prstGeom prst="straightConnector1">
            <a:avLst/>
          </a:prstGeom>
          <a:ln w="11430">
            <a:solidFill>
              <a:srgbClr val="303030"/>
            </a:solidFill>
            <a:prstDash val="solid"/>
            <a:tailEnd type="none" w="med" len="med"/>
          </a:ln>
        </p:spPr>
      </p:cxnSp>
      <p:sp>
        <p:nvSpPr>
          <p:cNvPr id="12" name="Проксимальный каналец пояснение">
            <a:extLst>
              <a:ext uri="{FF2B5EF4-FFF2-40B4-BE49-F238E27FC236}">
                <a16:creationId xmlns:a16="http://schemas.microsoft.com/office/drawing/2014/main" id="{268DB1BA-CD19-4E8D-90CE-086F77B45B0B}"/>
              </a:ext>
            </a:extLst>
          </p:cNvPr>
          <p:cNvSpPr>
            <a:spLocks noGrp="1"/>
          </p:cNvSpPr>
          <p:nvPr/>
        </p:nvSpPr>
        <p:spPr>
          <a:xfrm>
            <a:off x="4886325" y="3800475"/>
            <a:ext cx="161925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Возвращает в кровь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глюкозу и натрий</a:t>
            </a:r>
          </a:p>
          <a:p>
            <a:pPr algn="l"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через НГЛТ2</a:t>
            </a:r>
          </a:p>
        </p:txBody>
      </p:sp>
      <p:sp>
        <p:nvSpPr>
          <p:cNvPr id="23" name="Сохранная рСКФ">
            <a:extLst>
              <a:ext uri="{FF2B5EF4-FFF2-40B4-BE49-F238E27FC236}">
                <a16:creationId xmlns:a16="http://schemas.microsoft.com/office/drawing/2014/main" id="{F9ED8BAC-DA0A-41B2-A9A7-9B6DEE11EEA5}"/>
              </a:ext>
            </a:extLst>
          </p:cNvPr>
          <p:cNvSpPr>
            <a:spLocks noGrp="1"/>
          </p:cNvSpPr>
          <p:nvPr/>
        </p:nvSpPr>
        <p:spPr>
          <a:xfrm>
            <a:off x="457200" y="5848350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Повреждение почек возможно и при сохранной рСКФ, поэтому проверяют и альбумин в моче.</a:t>
            </a:r>
            <a:endParaRPr lang="ru-RU" sz="1400"/>
          </a:p>
        </p:txBody>
      </p:sp>
      <p:sp>
        <p:nvSpPr>
          <p:cNvPr id="47" name="Метка_приносящая"/>
          <p:cNvSpPr txBox="1"/>
          <p:nvPr/>
        </p:nvSpPr>
        <p:spPr>
          <a:xfrm>
            <a:off x="4724400" y="1905000"/>
            <a:ext cx="1651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202020"/>
                </a:solidFill>
                <a:latin typeface="Arial Narrow"/>
                <a:cs typeface="Arial Narrow"/>
              </a:rPr>
              <a:t>Приносящая артериола</a:t>
            </a:r>
          </a:p>
        </p:txBody>
      </p:sp>
      <p:cxnSp>
        <p:nvCxnSpPr>
          <p:cNvPr id="48" name="Указатель_приносящая"/>
          <p:cNvCxnSpPr/>
          <p:nvPr/>
        </p:nvCxnSpPr>
        <p:spPr>
          <a:xfrm flipH="1">
            <a:off x="3606800" y="2120900"/>
            <a:ext cx="1117600" cy="635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49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Vallon V, Thomson SC. Nat Rev Nephrol. 2020;16:317–336. Tonneijck L, et al. J Am Soc Nephrol. 2017;28:1023–1039. KDIGO 2024. Kidney Int. 105(4S):S117–S314.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подписи на русском. Рисунок: T. Kebert &amp; umimeto.org; Jmarchn.</a:t>
            </a:r>
            <a:endParaRPr lang="ru-RU" sz="800" b="0" dirty="0"/>
          </a:p>
        </p:txBody>
      </p:sp>
      <p:pic>
        <p:nvPicPr>
          <p:cNvPr id="50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51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НГЛТ2: натрий-глюкозный котранспортёр 2 типа; иНГЛТ2: ингибиторы НГЛТ2.</a:t>
            </a:r>
            <a:endParaRPr lang="ru-RU" sz="1000" b="0" dirty="0"/>
          </a:p>
        </p:txBody>
      </p:sp>
      <p:sp>
        <p:nvSpPr>
          <p:cNvPr id="52" name="Карточка: Глюкоза в моче"/>
          <p:cNvSpPr/>
          <p:nvPr/>
        </p:nvSpPr>
        <p:spPr>
          <a:xfrm>
            <a:off x="6578600" y="11684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 первичной моче больше глюкозы</a:t>
            </a:r>
          </a:p>
        </p:txBody>
      </p:sp>
      <p:sp>
        <p:nvSpPr>
          <p:cNvPr id="53" name="Шеврон: Глюкоза в моче"/>
          <p:cNvSpPr/>
          <p:nvPr/>
        </p:nvSpPr>
        <p:spPr>
          <a:xfrm rot="5400000">
            <a:off x="9099550" y="14986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Карточка: Возврат глюкозы и натрия"/>
          <p:cNvSpPr/>
          <p:nvPr/>
        </p:nvSpPr>
        <p:spPr>
          <a:xfrm>
            <a:off x="6578600" y="1727200"/>
            <a:ext cx="5156200" cy="6350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Проксимальный каналец возвращает в кровь больше глюкозы и натрия</a:t>
            </a:r>
          </a:p>
        </p:txBody>
      </p:sp>
      <p:sp>
        <p:nvSpPr>
          <p:cNvPr id="55" name="Шеврон: Возврат глюкозы и натрия"/>
          <p:cNvSpPr/>
          <p:nvPr/>
        </p:nvSpPr>
        <p:spPr>
          <a:xfrm rot="5400000">
            <a:off x="9099550" y="23114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Карточка: Меньше соли у плотного пятна"/>
          <p:cNvSpPr/>
          <p:nvPr/>
        </p:nvSpPr>
        <p:spPr>
          <a:xfrm>
            <a:off x="6578600" y="25400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 плотному пятну поступает меньше соли</a:t>
            </a:r>
          </a:p>
        </p:txBody>
      </p:sp>
      <p:sp>
        <p:nvSpPr>
          <p:cNvPr id="57" name="Шеврон: Меньше соли у плотного пятна"/>
          <p:cNvSpPr/>
          <p:nvPr/>
        </p:nvSpPr>
        <p:spPr>
          <a:xfrm rot="5400000">
            <a:off x="9099550" y="28702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Карточка: Слабее сигнал"/>
          <p:cNvSpPr/>
          <p:nvPr/>
        </p:nvSpPr>
        <p:spPr>
          <a:xfrm>
            <a:off x="6578600" y="3098800"/>
            <a:ext cx="5156200" cy="381000"/>
          </a:xfrm>
          <a:prstGeom prst="roundRect">
            <a:avLst>
              <a:gd name="adj" fmla="val 2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Сигнал, ограничивающий фильтрацию, ослабевает</a:t>
            </a:r>
          </a:p>
        </p:txBody>
      </p:sp>
      <p:sp>
        <p:nvSpPr>
          <p:cNvPr id="59" name="Шеврон: Слабее сигнал"/>
          <p:cNvSpPr/>
          <p:nvPr/>
        </p:nvSpPr>
        <p:spPr>
          <a:xfrm rot="5400000">
            <a:off x="9099550" y="34290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Плашка: Гиперфильтрация"/>
          <p:cNvSpPr/>
          <p:nvPr/>
        </p:nvSpPr>
        <p:spPr>
          <a:xfrm>
            <a:off x="6578600" y="3657600"/>
            <a:ext cx="5156200" cy="279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Гиперфильтрация</a:t>
            </a:r>
          </a:p>
        </p:txBody>
      </p:sp>
      <p:sp>
        <p:nvSpPr>
          <p:cNvPr id="61" name="Карточка: Гиперфильтрация"/>
          <p:cNvSpPr/>
          <p:nvPr/>
        </p:nvSpPr>
        <p:spPr>
          <a:xfrm>
            <a:off x="6578600" y="3937000"/>
            <a:ext cx="51562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Приносящая артериола расширяется, давление в клубочке растёт: у части пациентов клубочек фильтрует больше нормы (гиперфильтрация).</a:t>
            </a:r>
          </a:p>
        </p:txBody>
      </p:sp>
      <p:sp>
        <p:nvSpPr>
          <p:cNvPr id="62" name="Шеврон: Гиперфильтрация"/>
          <p:cNvSpPr/>
          <p:nvPr/>
        </p:nvSpPr>
        <p:spPr>
          <a:xfrm rot="5400000">
            <a:off x="9099550" y="4775200"/>
            <a:ext cx="1143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Карточка: Повреждение барьера"/>
          <p:cNvSpPr/>
          <p:nvPr/>
        </p:nvSpPr>
        <p:spPr>
          <a:xfrm>
            <a:off x="6578600" y="5003800"/>
            <a:ext cx="5156200" cy="6350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Длительная перегрузка может повреждать фильтрационный барьер.</a:t>
            </a:r>
          </a:p>
        </p:txBody>
      </p:sp>
      <p:sp>
        <p:nvSpPr>
          <p:cNvPr id="64" name="Метка_иНГЛТ2"/>
          <p:cNvSpPr/>
          <p:nvPr/>
        </p:nvSpPr>
        <p:spPr>
          <a:xfrm>
            <a:off x="4864100" y="4635500"/>
            <a:ext cx="1689100" cy="558800"/>
          </a:xfrm>
          <a:prstGeom prst="roundRect">
            <a:avLst>
              <a:gd name="adj" fmla="val 18181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76200" rIns="50800" tIns="25400" bIns="25400"/>
          <a:lstStyle/>
          <a:p>
            <a:pPr algn="l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иНГЛТ2 блокируют этот транспорт</a:t>
            </a:r>
          </a:p>
        </p:txBody>
      </p:sp>
    </p:spTree>
    <p:extLst>
      <p:ext uri="{BB962C8B-B14F-4D97-AF65-F5344CB8AC3E}">
        <p14:creationId xmlns:p14="http://schemas.microsoft.com/office/powerpoint/2010/main" val="716935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При диабете в клубочке расширяется мезангий и могут появиться узелки</a:t>
            </a:r>
            <a:endParaRPr lang="ru-RU" sz="2000" b="0" dirty="0"/>
          </a:p>
        </p:txBody>
      </p:sp>
      <p:sp>
        <p:nvSpPr>
          <p:cNvPr id="4" name="Контрольный образец"/>
          <p:cNvSpPr txBox="1"/>
          <p:nvPr/>
        </p:nvSpPr>
        <p:spPr>
          <a:xfrm>
            <a:off x="502920" y="16093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Контрольный образец</a:t>
            </a:r>
          </a:p>
        </p:txBody>
      </p:sp>
      <p:pic>
        <p:nvPicPr>
          <p:cNvPr id="5" name="Контроль: исходная панель 1B" descr="image.png"/>
          <p:cNvPicPr>
            <a:picLocks noChangeAspect="1"/>
          </p:cNvPicPr>
          <p:nvPr/>
        </p:nvPicPr>
        <p:blipFill>
          <a:blip r:embed="rId3"/>
          <a:srcRect l="3456" t="26663" r="74542" b="57729"/>
          <a:stretch>
            <a:fillRect/>
          </a:stretch>
        </p:blipFill>
        <p:spPr>
          <a:xfrm>
            <a:off x="502920" y="1856231"/>
            <a:ext cx="3236976" cy="3236976"/>
          </a:xfrm>
          <a:prstGeom prst="rect">
            <a:avLst/>
          </a:prstGeom>
        </p:spPr>
      </p:pic>
      <p:sp>
        <p:nvSpPr>
          <p:cNvPr id="7" name="Класс II"/>
          <p:cNvSpPr txBox="1"/>
          <p:nvPr/>
        </p:nvSpPr>
        <p:spPr>
          <a:xfrm>
            <a:off x="4389120" y="16093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Класс II</a:t>
            </a:r>
          </a:p>
        </p:txBody>
      </p:sp>
      <p:pic>
        <p:nvPicPr>
          <p:cNvPr id="8" name="Класс II: исходная панель 1B" descr="image.png"/>
          <p:cNvPicPr>
            <a:picLocks noChangeAspect="1"/>
          </p:cNvPicPr>
          <p:nvPr/>
        </p:nvPicPr>
        <p:blipFill>
          <a:blip r:embed="rId3"/>
          <a:srcRect l="48307" t="26713" r="29690" b="57679"/>
          <a:stretch>
            <a:fillRect/>
          </a:stretch>
        </p:blipFill>
        <p:spPr>
          <a:xfrm>
            <a:off x="4389120" y="1856231"/>
            <a:ext cx="3236976" cy="3236976"/>
          </a:xfrm>
          <a:prstGeom prst="rect">
            <a:avLst/>
          </a:prstGeom>
        </p:spPr>
      </p:pic>
      <p:sp>
        <p:nvSpPr>
          <p:cNvPr id="10" name="Класс III"/>
          <p:cNvSpPr txBox="1"/>
          <p:nvPr/>
        </p:nvSpPr>
        <p:spPr>
          <a:xfrm>
            <a:off x="8275320" y="1609344"/>
            <a:ext cx="3474720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Класс III</a:t>
            </a:r>
          </a:p>
        </p:txBody>
      </p:sp>
      <p:pic>
        <p:nvPicPr>
          <p:cNvPr id="11" name="Класс III: исходная панель 1B" descr="image.png"/>
          <p:cNvPicPr>
            <a:picLocks noChangeAspect="1"/>
          </p:cNvPicPr>
          <p:nvPr/>
        </p:nvPicPr>
        <p:blipFill>
          <a:blip r:embed="rId3"/>
          <a:srcRect l="70733" t="26663" r="7264" b="57729"/>
          <a:stretch>
            <a:fillRect/>
          </a:stretch>
        </p:blipFill>
        <p:spPr>
          <a:xfrm>
            <a:off x="8275320" y="1856231"/>
            <a:ext cx="3236976" cy="3236976"/>
          </a:xfrm>
          <a:prstGeom prst="rect">
            <a:avLst/>
          </a:prstGeom>
        </p:spPr>
      </p:pic>
      <p:cxnSp>
        <p:nvCxnSpPr>
          <p:cNvPr id="12" name="Подложка указателя матрикса"/>
          <p:cNvCxnSpPr/>
          <p:nvPr/>
        </p:nvCxnSpPr>
        <p:spPr>
          <a:xfrm>
            <a:off x="5295473" y="3199577"/>
            <a:ext cx="210403" cy="291327"/>
          </a:xfrm>
          <a:prstGeom prst="line">
            <a:avLst/>
          </a:prstGeom>
          <a:ln w="355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Область мезангиального матрикса"/>
          <p:cNvCxnSpPr/>
          <p:nvPr/>
        </p:nvCxnSpPr>
        <p:spPr>
          <a:xfrm>
            <a:off x="5295473" y="3199577"/>
            <a:ext cx="210403" cy="291327"/>
          </a:xfrm>
          <a:prstGeom prst="line">
            <a:avLst/>
          </a:prstGeom>
          <a:ln w="15875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Матрикс"/>
          <p:cNvSpPr txBox="1"/>
          <p:nvPr/>
        </p:nvSpPr>
        <p:spPr>
          <a:xfrm>
            <a:off x="4470400" y="2717800"/>
            <a:ext cx="1168400" cy="4572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Мезангиальный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матрикс</a:t>
            </a:r>
          </a:p>
        </p:txBody>
      </p:sp>
      <p:cxnSp>
        <p:nvCxnSpPr>
          <p:cNvPr id="16" name="Подложка указателя узла"/>
          <p:cNvCxnSpPr/>
          <p:nvPr/>
        </p:nvCxnSpPr>
        <p:spPr>
          <a:xfrm>
            <a:off x="8938900" y="4057375"/>
            <a:ext cx="339882" cy="388437"/>
          </a:xfrm>
          <a:prstGeom prst="line">
            <a:avLst/>
          </a:prstGeom>
          <a:ln w="3556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Область узла склероза"/>
          <p:cNvCxnSpPr/>
          <p:nvPr/>
        </p:nvCxnSpPr>
        <p:spPr>
          <a:xfrm>
            <a:off x="8938900" y="4057375"/>
            <a:ext cx="339882" cy="388437"/>
          </a:xfrm>
          <a:prstGeom prst="line">
            <a:avLst/>
          </a:prstGeom>
          <a:ln w="15875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Узел склероза"/>
          <p:cNvSpPr txBox="1"/>
          <p:nvPr/>
        </p:nvSpPr>
        <p:spPr>
          <a:xfrm>
            <a:off x="8331200" y="3520439"/>
            <a:ext cx="1778000" cy="482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Узелок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Киммелстила–Уилсона</a:t>
            </a:r>
          </a:p>
        </p:txBody>
      </p:sp>
      <p:sp>
        <p:nvSpPr>
          <p:cNvPr id="23" name="ШИК-окраска. Линейка 20 мкм. Образцы разных людей; классы не"/>
          <p:cNvSpPr txBox="1"/>
          <p:nvPr/>
        </p:nvSpPr>
        <p:spPr>
          <a:xfrm>
            <a:off x="457200" y="6032500"/>
            <a:ext cx="10817352" cy="2413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Показаны разные образцы, динамику одной почки они не отражают. Гистологический класс не равен стадии ХБП по рСКФ.</a:t>
            </a:r>
            <a:endParaRPr lang="ru-RU" sz="1400"/>
          </a:p>
        </p:txBody>
      </p:sp>
      <p:sp>
        <p:nvSpPr>
          <p:cNvPr id="24" name="Метка_мезангий"/>
          <p:cNvSpPr txBox="1"/>
          <p:nvPr/>
        </p:nvSpPr>
        <p:spPr>
          <a:xfrm>
            <a:off x="584200" y="2819400"/>
            <a:ext cx="889000" cy="2286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Мезангий</a:t>
            </a:r>
          </a:p>
        </p:txBody>
      </p:sp>
      <p:cxnSp>
        <p:nvCxnSpPr>
          <p:cNvPr id="25" name="Указатель_мезангий"/>
          <p:cNvCxnSpPr/>
          <p:nvPr/>
        </p:nvCxnSpPr>
        <p:spPr>
          <a:xfrm>
            <a:off x="1270000" y="3048000"/>
            <a:ext cx="736600" cy="279400"/>
          </a:xfrm>
          <a:prstGeom prst="line">
            <a:avLst/>
          </a:prstGeom>
          <a:ln w="15875">
            <a:solidFill>
              <a:srgbClr val="156082"/>
            </a:solidFill>
            <a:tailEnd type="triangle" w="med" len="med"/>
          </a:ln>
        </p:spPr>
      </p:cxnSp>
      <p:sp>
        <p:nvSpPr>
          <p:cNvPr id="26" name="Источники"/>
          <p:cNvSpPr txBox="1"/>
          <p:nvPr/>
        </p:nvSpPr>
        <p:spPr>
          <a:xfrm>
            <a:off x="457200" y="65074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Рисунок адаптирован: панели вырезаны, подписи на русском.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Bai Y et al. Front Endocrinol. 2022;13:984452. Cohen Tervaert TW et al. JASN. 2010;21:556–563.</a:t>
            </a:r>
            <a:endParaRPr lang="ru-RU" sz="800" b="0" dirty="0"/>
          </a:p>
        </p:txBody>
      </p:sp>
      <p:pic>
        <p:nvPicPr>
          <p:cNvPr id="27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8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29" name="Плашка: Сохранная структура"/>
          <p:cNvSpPr/>
          <p:nvPr/>
        </p:nvSpPr>
        <p:spPr>
          <a:xfrm>
            <a:off x="508000" y="12573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Сохранная структура</a:t>
            </a:r>
          </a:p>
        </p:txBody>
      </p:sp>
      <p:sp>
        <p:nvSpPr>
          <p:cNvPr id="30" name="Плашка: Расширение мезангия"/>
          <p:cNvSpPr/>
          <p:nvPr/>
        </p:nvSpPr>
        <p:spPr>
          <a:xfrm>
            <a:off x="4394200" y="12573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Расширение мезангия</a:t>
            </a:r>
          </a:p>
        </p:txBody>
      </p:sp>
      <p:sp>
        <p:nvSpPr>
          <p:cNvPr id="31" name="Плашка: Узелковый склероз"/>
          <p:cNvSpPr/>
          <p:nvPr/>
        </p:nvSpPr>
        <p:spPr>
          <a:xfrm>
            <a:off x="8280400" y="1257300"/>
            <a:ext cx="34290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Узелковый склероз</a:t>
            </a:r>
          </a:p>
        </p:txBody>
      </p:sp>
      <p:sp>
        <p:nvSpPr>
          <p:cNvPr id="32" name="Карточка: Мезангий состоит из клет"/>
          <p:cNvSpPr/>
          <p:nvPr/>
        </p:nvSpPr>
        <p:spPr>
          <a:xfrm>
            <a:off x="508000" y="5130800"/>
            <a:ext cx="3429000" cy="8382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Мезангий состоит из клеток и матрикса и поддерживает капилляры.</a:t>
            </a:r>
          </a:p>
        </p:txBody>
      </p:sp>
      <p:sp>
        <p:nvSpPr>
          <p:cNvPr id="33" name="Карточка: Мезангиальный матрикс ув"/>
          <p:cNvSpPr/>
          <p:nvPr/>
        </p:nvSpPr>
        <p:spPr>
          <a:xfrm>
            <a:off x="4394200" y="5130800"/>
            <a:ext cx="3429000" cy="8382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Мезангиальный матрикс увеличен. Узелкового склероза нет.</a:t>
            </a:r>
          </a:p>
        </p:txBody>
      </p:sp>
      <p:sp>
        <p:nvSpPr>
          <p:cNvPr id="34" name="Карточка: В мезангии образуются ок"/>
          <p:cNvSpPr/>
          <p:nvPr/>
        </p:nvSpPr>
        <p:spPr>
          <a:xfrm>
            <a:off x="8280400" y="5130800"/>
            <a:ext cx="3429000" cy="8382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27000" rIns="127000" tIns="38100" bIns="38100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мезангии образуются округлые узелки из межклеточного матрикса (склероз: рубцовое уплотнение).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При диабете в канальцах и ткани между ними развиваются воспаление и фиброз</a:t>
            </a:r>
            <a:endParaRPr sz="2000" b="0" dirty="0"/>
          </a:p>
        </p:txBody>
      </p:sp>
      <p:grpSp>
        <p:nvGrpSpPr>
          <p:cNvPr id="4" name="Сохранная ткань: редактируемая схема"/>
          <p:cNvGrpSpPr/>
          <p:nvPr/>
        </p:nvGrpSpPr>
        <p:grpSpPr>
          <a:xfrm>
            <a:off x="500268" y="1923098"/>
            <a:ext cx="3247031" cy="2826647"/>
            <a:chOff x="500268" y="1923098"/>
            <a:chExt cx="3247031" cy="2826647"/>
          </a:xfrm>
        </p:grpSpPr>
        <p:sp>
          <p:nvSpPr>
            <p:cNvPr id="5" name="Интерстиций"/>
            <p:cNvSpPr/>
            <p:nvPr/>
          </p:nvSpPr>
          <p:spPr>
            <a:xfrm>
              <a:off x="5002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4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9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4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AF2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" name="Стромальная клетка"/>
            <p:cNvSpPr/>
            <p:nvPr/>
          </p:nvSpPr>
          <p:spPr>
            <a:xfrm rot="4260000">
              <a:off x="2041676" y="3122203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Стромальная клетка"/>
            <p:cNvSpPr/>
            <p:nvPr/>
          </p:nvSpPr>
          <p:spPr>
            <a:xfrm rot="6000000">
              <a:off x="2886304" y="3992750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Стромальная клетка"/>
            <p:cNvSpPr/>
            <p:nvPr/>
          </p:nvSpPr>
          <p:spPr>
            <a:xfrm rot="4680000">
              <a:off x="1997100" y="2864879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" name="Стромальная клетка"/>
            <p:cNvSpPr/>
            <p:nvPr/>
          </p:nvSpPr>
          <p:spPr>
            <a:xfrm rot="2820000">
              <a:off x="2876596" y="3696464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" name="Стромальная клетка"/>
            <p:cNvSpPr/>
            <p:nvPr/>
          </p:nvSpPr>
          <p:spPr>
            <a:xfrm rot="3960000">
              <a:off x="2471708" y="4415081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" name="Стромальная клетка"/>
            <p:cNvSpPr/>
            <p:nvPr/>
          </p:nvSpPr>
          <p:spPr>
            <a:xfrm rot="1080000">
              <a:off x="659794" y="3672310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" name="Стромальная клетка"/>
            <p:cNvSpPr/>
            <p:nvPr/>
          </p:nvSpPr>
          <p:spPr>
            <a:xfrm rot="2520000">
              <a:off x="1282621" y="3352815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" name="Стромальная клетка"/>
            <p:cNvSpPr/>
            <p:nvPr/>
          </p:nvSpPr>
          <p:spPr>
            <a:xfrm rot="5100000">
              <a:off x="904811" y="3203497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" name="Стромальная клетка"/>
            <p:cNvSpPr/>
            <p:nvPr/>
          </p:nvSpPr>
          <p:spPr>
            <a:xfrm rot="7380000">
              <a:off x="2068923" y="3332092"/>
              <a:ext cx="118872" cy="50292"/>
            </a:xfrm>
            <a:prstGeom prst="ellipse">
              <a:avLst/>
            </a:prstGeom>
            <a:solidFill>
              <a:srgbClr val="BAA3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" name="Базальная мембрана канальца"/>
            <p:cNvSpPr/>
            <p:nvPr/>
          </p:nvSpPr>
          <p:spPr>
            <a:xfrm>
              <a:off x="683304" y="2071667"/>
              <a:ext cx="1337077" cy="1165489"/>
            </a:xfrm>
            <a:custGeom>
              <a:avLst/>
              <a:gdLst/>
              <a:ahLst/>
              <a:cxnLst/>
              <a:rect l="l" t="t" r="r" b="b"/>
              <a:pathLst>
                <a:path w="1337077" h="1165489">
                  <a:moveTo>
                    <a:pt x="1319930" y="385209"/>
                  </a:moveTo>
                  <a:lnTo>
                    <a:pt x="1327084" y="414760"/>
                  </a:lnTo>
                  <a:lnTo>
                    <a:pt x="1332412" y="444732"/>
                  </a:lnTo>
                  <a:lnTo>
                    <a:pt x="1335785" y="475057"/>
                  </a:lnTo>
                  <a:lnTo>
                    <a:pt x="1337077" y="505646"/>
                  </a:lnTo>
                  <a:lnTo>
                    <a:pt x="1336179" y="536387"/>
                  </a:lnTo>
                  <a:lnTo>
                    <a:pt x="1333007" y="567150"/>
                  </a:lnTo>
                  <a:lnTo>
                    <a:pt x="1327521" y="597788"/>
                  </a:lnTo>
                  <a:lnTo>
                    <a:pt x="1319727" y="628149"/>
                  </a:lnTo>
                  <a:lnTo>
                    <a:pt x="1309681" y="658084"/>
                  </a:lnTo>
                  <a:lnTo>
                    <a:pt x="1297494" y="687453"/>
                  </a:lnTo>
                  <a:lnTo>
                    <a:pt x="1283321" y="716143"/>
                  </a:lnTo>
                  <a:lnTo>
                    <a:pt x="1267358" y="744067"/>
                  </a:lnTo>
                  <a:lnTo>
                    <a:pt x="1249820" y="771177"/>
                  </a:lnTo>
                  <a:lnTo>
                    <a:pt x="1230936" y="797462"/>
                  </a:lnTo>
                  <a:lnTo>
                    <a:pt x="1210927" y="822948"/>
                  </a:lnTo>
                  <a:lnTo>
                    <a:pt x="1189989" y="847693"/>
                  </a:lnTo>
                  <a:lnTo>
                    <a:pt x="1168285" y="871778"/>
                  </a:lnTo>
                  <a:lnTo>
                    <a:pt x="1145928" y="895295"/>
                  </a:lnTo>
                  <a:lnTo>
                    <a:pt x="1122982" y="918336"/>
                  </a:lnTo>
                  <a:lnTo>
                    <a:pt x="1099455" y="940974"/>
                  </a:lnTo>
                  <a:lnTo>
                    <a:pt x="1075303" y="963255"/>
                  </a:lnTo>
                  <a:lnTo>
                    <a:pt x="1050444" y="985185"/>
                  </a:lnTo>
                  <a:lnTo>
                    <a:pt x="1024765" y="1006718"/>
                  </a:lnTo>
                  <a:lnTo>
                    <a:pt x="998139" y="1027758"/>
                  </a:lnTo>
                  <a:lnTo>
                    <a:pt x="970443" y="1048153"/>
                  </a:lnTo>
                  <a:lnTo>
                    <a:pt x="941575" y="1067704"/>
                  </a:lnTo>
                  <a:lnTo>
                    <a:pt x="911465" y="1086174"/>
                  </a:lnTo>
                  <a:lnTo>
                    <a:pt x="880094" y="1103298"/>
                  </a:lnTo>
                  <a:lnTo>
                    <a:pt x="847496" y="1118805"/>
                  </a:lnTo>
                  <a:lnTo>
                    <a:pt x="813762" y="1132427"/>
                  </a:lnTo>
                  <a:lnTo>
                    <a:pt x="779041" y="1143923"/>
                  </a:lnTo>
                  <a:lnTo>
                    <a:pt x="743531" y="1153092"/>
                  </a:lnTo>
                  <a:lnTo>
                    <a:pt x="707468" y="1159788"/>
                  </a:lnTo>
                  <a:lnTo>
                    <a:pt x="671113" y="1163926"/>
                  </a:lnTo>
                  <a:lnTo>
                    <a:pt x="634735" y="1165489"/>
                  </a:lnTo>
                  <a:lnTo>
                    <a:pt x="598595" y="1164527"/>
                  </a:lnTo>
                  <a:lnTo>
                    <a:pt x="562930" y="1161151"/>
                  </a:lnTo>
                  <a:lnTo>
                    <a:pt x="527943" y="1155524"/>
                  </a:lnTo>
                  <a:lnTo>
                    <a:pt x="493791" y="1147850"/>
                  </a:lnTo>
                  <a:lnTo>
                    <a:pt x="460584" y="1138353"/>
                  </a:lnTo>
                  <a:lnTo>
                    <a:pt x="428382" y="1127267"/>
                  </a:lnTo>
                  <a:lnTo>
                    <a:pt x="397201" y="1114815"/>
                  </a:lnTo>
                  <a:lnTo>
                    <a:pt x="367021" y="1101197"/>
                  </a:lnTo>
                  <a:lnTo>
                    <a:pt x="337799" y="1086579"/>
                  </a:lnTo>
                  <a:lnTo>
                    <a:pt x="309483" y="1071086"/>
                  </a:lnTo>
                  <a:lnTo>
                    <a:pt x="282022" y="1054795"/>
                  </a:lnTo>
                  <a:lnTo>
                    <a:pt x="255381" y="1037743"/>
                  </a:lnTo>
                  <a:lnTo>
                    <a:pt x="229553" y="1019925"/>
                  </a:lnTo>
                  <a:lnTo>
                    <a:pt x="204562" y="1001307"/>
                  </a:lnTo>
                  <a:lnTo>
                    <a:pt x="180469" y="981836"/>
                  </a:lnTo>
                  <a:lnTo>
                    <a:pt x="157370" y="961450"/>
                  </a:lnTo>
                  <a:lnTo>
                    <a:pt x="135391" y="940092"/>
                  </a:lnTo>
                  <a:lnTo>
                    <a:pt x="114677" y="917718"/>
                  </a:lnTo>
                  <a:lnTo>
                    <a:pt x="95383" y="894309"/>
                  </a:lnTo>
                  <a:lnTo>
                    <a:pt x="77660" y="869872"/>
                  </a:lnTo>
                  <a:lnTo>
                    <a:pt x="61645" y="844447"/>
                  </a:lnTo>
                  <a:lnTo>
                    <a:pt x="47445" y="818101"/>
                  </a:lnTo>
                  <a:lnTo>
                    <a:pt x="35134" y="790924"/>
                  </a:lnTo>
                  <a:lnTo>
                    <a:pt x="24743" y="763026"/>
                  </a:lnTo>
                  <a:lnTo>
                    <a:pt x="16264" y="734525"/>
                  </a:lnTo>
                  <a:lnTo>
                    <a:pt x="9648" y="705538"/>
                  </a:lnTo>
                  <a:lnTo>
                    <a:pt x="4816" y="676176"/>
                  </a:lnTo>
                  <a:lnTo>
                    <a:pt x="1669" y="646532"/>
                  </a:lnTo>
                  <a:lnTo>
                    <a:pt x="97" y="616681"/>
                  </a:lnTo>
                  <a:lnTo>
                    <a:pt x="0" y="586679"/>
                  </a:lnTo>
                  <a:lnTo>
                    <a:pt x="1292" y="556560"/>
                  </a:lnTo>
                  <a:lnTo>
                    <a:pt x="3919" y="526346"/>
                  </a:lnTo>
                  <a:lnTo>
                    <a:pt x="7866" y="496051"/>
                  </a:lnTo>
                  <a:lnTo>
                    <a:pt x="13157" y="465691"/>
                  </a:lnTo>
                  <a:lnTo>
                    <a:pt x="19861" y="435294"/>
                  </a:lnTo>
                  <a:lnTo>
                    <a:pt x="28081" y="404907"/>
                  </a:lnTo>
                  <a:lnTo>
                    <a:pt x="37950" y="374609"/>
                  </a:lnTo>
                  <a:lnTo>
                    <a:pt x="49616" y="344508"/>
                  </a:lnTo>
                  <a:lnTo>
                    <a:pt x="63225" y="314753"/>
                  </a:lnTo>
                  <a:lnTo>
                    <a:pt x="78908" y="285521"/>
                  </a:lnTo>
                  <a:lnTo>
                    <a:pt x="96766" y="257021"/>
                  </a:lnTo>
                  <a:lnTo>
                    <a:pt x="116854" y="229481"/>
                  </a:lnTo>
                  <a:lnTo>
                    <a:pt x="139172" y="203133"/>
                  </a:lnTo>
                  <a:lnTo>
                    <a:pt x="163660" y="178205"/>
                  </a:lnTo>
                  <a:lnTo>
                    <a:pt x="190196" y="154904"/>
                  </a:lnTo>
                  <a:lnTo>
                    <a:pt x="218599" y="133401"/>
                  </a:lnTo>
                  <a:lnTo>
                    <a:pt x="248644" y="113821"/>
                  </a:lnTo>
                  <a:lnTo>
                    <a:pt x="280066" y="96232"/>
                  </a:lnTo>
                  <a:lnTo>
                    <a:pt x="312582" y="80645"/>
                  </a:lnTo>
                  <a:lnTo>
                    <a:pt x="345908" y="67010"/>
                  </a:lnTo>
                  <a:lnTo>
                    <a:pt x="379773" y="55220"/>
                  </a:lnTo>
                  <a:lnTo>
                    <a:pt x="413937" y="45124"/>
                  </a:lnTo>
                  <a:lnTo>
                    <a:pt x="448202" y="36536"/>
                  </a:lnTo>
                  <a:lnTo>
                    <a:pt x="482424" y="29254"/>
                  </a:lnTo>
                  <a:lnTo>
                    <a:pt x="516511" y="23074"/>
                  </a:lnTo>
                  <a:lnTo>
                    <a:pt x="550426" y="17809"/>
                  </a:lnTo>
                  <a:lnTo>
                    <a:pt x="584179" y="13303"/>
                  </a:lnTo>
                  <a:lnTo>
                    <a:pt x="617816" y="9449"/>
                  </a:lnTo>
                  <a:lnTo>
                    <a:pt x="651406" y="6189"/>
                  </a:lnTo>
                  <a:lnTo>
                    <a:pt x="685027" y="3527"/>
                  </a:lnTo>
                  <a:lnTo>
                    <a:pt x="718748" y="1525"/>
                  </a:lnTo>
                  <a:lnTo>
                    <a:pt x="752615" y="297"/>
                  </a:lnTo>
                  <a:lnTo>
                    <a:pt x="786640" y="0"/>
                  </a:lnTo>
                  <a:lnTo>
                    <a:pt x="820792" y="823"/>
                  </a:lnTo>
                  <a:lnTo>
                    <a:pt x="854991" y="2968"/>
                  </a:lnTo>
                  <a:lnTo>
                    <a:pt x="889115" y="6635"/>
                  </a:lnTo>
                  <a:lnTo>
                    <a:pt x="922996" y="12007"/>
                  </a:lnTo>
                  <a:lnTo>
                    <a:pt x="956438" y="19237"/>
                  </a:lnTo>
                  <a:lnTo>
                    <a:pt x="989222" y="28432"/>
                  </a:lnTo>
                  <a:lnTo>
                    <a:pt x="1021127" y="39651"/>
                  </a:lnTo>
                  <a:lnTo>
                    <a:pt x="1051935" y="52901"/>
                  </a:lnTo>
                  <a:lnTo>
                    <a:pt x="1081454" y="68135"/>
                  </a:lnTo>
                  <a:lnTo>
                    <a:pt x="1109521" y="85261"/>
                  </a:lnTo>
                  <a:lnTo>
                    <a:pt x="1136014" y="104149"/>
                  </a:lnTo>
                  <a:lnTo>
                    <a:pt x="1160852" y="124643"/>
                  </a:lnTo>
                  <a:lnTo>
                    <a:pt x="1183997" y="146572"/>
                  </a:lnTo>
                  <a:lnTo>
                    <a:pt x="1205447" y="169761"/>
                  </a:lnTo>
                  <a:lnTo>
                    <a:pt x="1225229" y="194047"/>
                  </a:lnTo>
                  <a:lnTo>
                    <a:pt x="1243388" y="219280"/>
                  </a:lnTo>
                  <a:lnTo>
                    <a:pt x="1259971" y="245337"/>
                  </a:lnTo>
                  <a:lnTo>
                    <a:pt x="1275021" y="272117"/>
                  </a:lnTo>
                  <a:lnTo>
                    <a:pt x="1288561" y="299544"/>
                  </a:lnTo>
                  <a:lnTo>
                    <a:pt x="1300587" y="327562"/>
                  </a:lnTo>
                  <a:lnTo>
                    <a:pt x="1311066" y="356130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" name="Клетка однослойного эпителия"/>
            <p:cNvSpPr/>
            <p:nvPr/>
          </p:nvSpPr>
          <p:spPr>
            <a:xfrm>
              <a:off x="1788242" y="2462800"/>
              <a:ext cx="207610" cy="194210"/>
            </a:xfrm>
            <a:custGeom>
              <a:avLst/>
              <a:gdLst/>
              <a:ahLst/>
              <a:cxnLst/>
              <a:rect l="l" t="t" r="r" b="b"/>
              <a:pathLst>
                <a:path w="207610" h="194210">
                  <a:moveTo>
                    <a:pt x="192881" y="0"/>
                  </a:moveTo>
                  <a:lnTo>
                    <a:pt x="197433" y="18912"/>
                  </a:lnTo>
                  <a:lnTo>
                    <a:pt x="201192" y="38005"/>
                  </a:lnTo>
                  <a:lnTo>
                    <a:pt x="204125" y="57260"/>
                  </a:lnTo>
                  <a:lnTo>
                    <a:pt x="206195" y="76655"/>
                  </a:lnTo>
                  <a:lnTo>
                    <a:pt x="207368" y="96164"/>
                  </a:lnTo>
                  <a:lnTo>
                    <a:pt x="207610" y="115756"/>
                  </a:lnTo>
                  <a:lnTo>
                    <a:pt x="206894" y="135396"/>
                  </a:lnTo>
                  <a:lnTo>
                    <a:pt x="205197" y="155046"/>
                  </a:lnTo>
                  <a:lnTo>
                    <a:pt x="202504" y="174666"/>
                  </a:lnTo>
                  <a:lnTo>
                    <a:pt x="198810" y="194210"/>
                  </a:lnTo>
                  <a:lnTo>
                    <a:pt x="1416" y="176941"/>
                  </a:lnTo>
                  <a:lnTo>
                    <a:pt x="4249" y="164275"/>
                  </a:lnTo>
                  <a:lnTo>
                    <a:pt x="6389" y="151576"/>
                  </a:lnTo>
                  <a:lnTo>
                    <a:pt x="7838" y="138871"/>
                  </a:lnTo>
                  <a:lnTo>
                    <a:pt x="8608" y="126185"/>
                  </a:lnTo>
                  <a:lnTo>
                    <a:pt x="8712" y="113544"/>
                  </a:lnTo>
                  <a:lnTo>
                    <a:pt x="8169" y="100970"/>
                  </a:lnTo>
                  <a:lnTo>
                    <a:pt x="7003" y="88481"/>
                  </a:lnTo>
                  <a:lnTo>
                    <a:pt x="5236" y="76095"/>
                  </a:lnTo>
                  <a:lnTo>
                    <a:pt x="2894" y="63825"/>
                  </a:lnTo>
                  <a:lnTo>
                    <a:pt x="0" y="5168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" name="Ядро эпителиальной клетки"/>
            <p:cNvSpPr/>
            <p:nvPr/>
          </p:nvSpPr>
          <p:spPr>
            <a:xfrm rot="21300000">
              <a:off x="1846588" y="250170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" name="Ядрышко"/>
            <p:cNvSpPr/>
            <p:nvPr/>
          </p:nvSpPr>
          <p:spPr>
            <a:xfrm>
              <a:off x="1875849" y="25533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" name="Клетка однослойного эпителия"/>
            <p:cNvSpPr/>
            <p:nvPr/>
          </p:nvSpPr>
          <p:spPr>
            <a:xfrm>
              <a:off x="1727238" y="2639741"/>
              <a:ext cx="259814" cy="200044"/>
            </a:xfrm>
            <a:custGeom>
              <a:avLst/>
              <a:gdLst/>
              <a:ahLst/>
              <a:cxnLst/>
              <a:rect l="l" t="t" r="r" b="b"/>
              <a:pathLst>
                <a:path w="259814" h="200044">
                  <a:moveTo>
                    <a:pt x="259814" y="17269"/>
                  </a:moveTo>
                  <a:lnTo>
                    <a:pt x="255122" y="36696"/>
                  </a:lnTo>
                  <a:lnTo>
                    <a:pt x="249446" y="55959"/>
                  </a:lnTo>
                  <a:lnTo>
                    <a:pt x="242811" y="75018"/>
                  </a:lnTo>
                  <a:lnTo>
                    <a:pt x="235250" y="93832"/>
                  </a:lnTo>
                  <a:lnTo>
                    <a:pt x="226810" y="112366"/>
                  </a:lnTo>
                  <a:lnTo>
                    <a:pt x="217541" y="130591"/>
                  </a:lnTo>
                  <a:lnTo>
                    <a:pt x="207506" y="148483"/>
                  </a:lnTo>
                  <a:lnTo>
                    <a:pt x="196767" y="166027"/>
                  </a:lnTo>
                  <a:lnTo>
                    <a:pt x="185395" y="183214"/>
                  </a:lnTo>
                  <a:lnTo>
                    <a:pt x="173460" y="200044"/>
                  </a:lnTo>
                  <a:lnTo>
                    <a:pt x="0" y="119158"/>
                  </a:lnTo>
                  <a:lnTo>
                    <a:pt x="8511" y="108131"/>
                  </a:lnTo>
                  <a:lnTo>
                    <a:pt x="16635" y="96881"/>
                  </a:lnTo>
                  <a:lnTo>
                    <a:pt x="24325" y="85409"/>
                  </a:lnTo>
                  <a:lnTo>
                    <a:pt x="31533" y="73723"/>
                  </a:lnTo>
                  <a:lnTo>
                    <a:pt x="38213" y="61832"/>
                  </a:lnTo>
                  <a:lnTo>
                    <a:pt x="44324" y="49753"/>
                  </a:lnTo>
                  <a:lnTo>
                    <a:pt x="49828" y="37506"/>
                  </a:lnTo>
                  <a:lnTo>
                    <a:pt x="54694" y="25113"/>
                  </a:lnTo>
                  <a:lnTo>
                    <a:pt x="58897" y="12602"/>
                  </a:lnTo>
                  <a:lnTo>
                    <a:pt x="62420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" name="Ядро эпителиальной клетки"/>
            <p:cNvSpPr/>
            <p:nvPr/>
          </p:nvSpPr>
          <p:spPr>
            <a:xfrm rot="900000">
              <a:off x="1810257" y="265953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" name="Ядрышко"/>
            <p:cNvSpPr/>
            <p:nvPr/>
          </p:nvSpPr>
          <p:spPr>
            <a:xfrm>
              <a:off x="1839518" y="27111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" name="Клетка однослойного эпителия"/>
            <p:cNvSpPr/>
            <p:nvPr/>
          </p:nvSpPr>
          <p:spPr>
            <a:xfrm>
              <a:off x="1629253" y="2758899"/>
              <a:ext cx="271445" cy="233844"/>
            </a:xfrm>
            <a:custGeom>
              <a:avLst/>
              <a:gdLst/>
              <a:ahLst/>
              <a:cxnLst/>
              <a:rect l="l" t="t" r="r" b="b"/>
              <a:pathLst>
                <a:path w="271445" h="233844">
                  <a:moveTo>
                    <a:pt x="271445" y="80886"/>
                  </a:moveTo>
                  <a:lnTo>
                    <a:pt x="259014" y="97366"/>
                  </a:lnTo>
                  <a:lnTo>
                    <a:pt x="246155" y="113511"/>
                  </a:lnTo>
                  <a:lnTo>
                    <a:pt x="232926" y="129343"/>
                  </a:lnTo>
                  <a:lnTo>
                    <a:pt x="219382" y="144887"/>
                  </a:lnTo>
                  <a:lnTo>
                    <a:pt x="205566" y="160175"/>
                  </a:lnTo>
                  <a:lnTo>
                    <a:pt x="191513" y="175237"/>
                  </a:lnTo>
                  <a:lnTo>
                    <a:pt x="177244" y="190106"/>
                  </a:lnTo>
                  <a:lnTo>
                    <a:pt x="162773" y="204813"/>
                  </a:lnTo>
                  <a:lnTo>
                    <a:pt x="148098" y="219386"/>
                  </a:lnTo>
                  <a:lnTo>
                    <a:pt x="133208" y="233844"/>
                  </a:lnTo>
                  <a:lnTo>
                    <a:pt x="0" y="100636"/>
                  </a:lnTo>
                  <a:lnTo>
                    <a:pt x="10526" y="91098"/>
                  </a:lnTo>
                  <a:lnTo>
                    <a:pt x="20905" y="81490"/>
                  </a:lnTo>
                  <a:lnTo>
                    <a:pt x="31145" y="71797"/>
                  </a:lnTo>
                  <a:lnTo>
                    <a:pt x="41245" y="62002"/>
                  </a:lnTo>
                  <a:lnTo>
                    <a:pt x="51200" y="52086"/>
                  </a:lnTo>
                  <a:lnTo>
                    <a:pt x="60993" y="42028"/>
                  </a:lnTo>
                  <a:lnTo>
                    <a:pt x="70601" y="31808"/>
                  </a:lnTo>
                  <a:lnTo>
                    <a:pt x="79994" y="21407"/>
                  </a:lnTo>
                  <a:lnTo>
                    <a:pt x="89136" y="10809"/>
                  </a:lnTo>
                  <a:lnTo>
                    <a:pt x="97985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" name="Ядро эпителиальной клетки"/>
            <p:cNvSpPr/>
            <p:nvPr/>
          </p:nvSpPr>
          <p:spPr>
            <a:xfrm rot="2100000">
              <a:off x="1708828" y="279657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" name="Ядрышко"/>
            <p:cNvSpPr/>
            <p:nvPr/>
          </p:nvSpPr>
          <p:spPr>
            <a:xfrm>
              <a:off x="1738089" y="284823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" name="Клетка однослойного эпителия"/>
            <p:cNvSpPr/>
            <p:nvPr/>
          </p:nvSpPr>
          <p:spPr>
            <a:xfrm>
              <a:off x="1510801" y="2859535"/>
              <a:ext cx="251660" cy="269574"/>
            </a:xfrm>
            <a:custGeom>
              <a:avLst/>
              <a:gdLst/>
              <a:ahLst/>
              <a:cxnLst/>
              <a:rect l="l" t="t" r="r" b="b"/>
              <a:pathLst>
                <a:path w="251660" h="269574">
                  <a:moveTo>
                    <a:pt x="251660" y="133208"/>
                  </a:moveTo>
                  <a:lnTo>
                    <a:pt x="236534" y="147566"/>
                  </a:lnTo>
                  <a:lnTo>
                    <a:pt x="221143" y="161830"/>
                  </a:lnTo>
                  <a:lnTo>
                    <a:pt x="205449" y="175993"/>
                  </a:lnTo>
                  <a:lnTo>
                    <a:pt x="189411" y="190041"/>
                  </a:lnTo>
                  <a:lnTo>
                    <a:pt x="172984" y="203945"/>
                  </a:lnTo>
                  <a:lnTo>
                    <a:pt x="156124" y="217666"/>
                  </a:lnTo>
                  <a:lnTo>
                    <a:pt x="138788" y="231155"/>
                  </a:lnTo>
                  <a:lnTo>
                    <a:pt x="120937" y="244350"/>
                  </a:lnTo>
                  <a:lnTo>
                    <a:pt x="102542" y="257182"/>
                  </a:lnTo>
                  <a:lnTo>
                    <a:pt x="83578" y="269574"/>
                  </a:lnTo>
                  <a:lnTo>
                    <a:pt x="0" y="90342"/>
                  </a:lnTo>
                  <a:lnTo>
                    <a:pt x="13323" y="82081"/>
                  </a:lnTo>
                  <a:lnTo>
                    <a:pt x="26258" y="73543"/>
                  </a:lnTo>
                  <a:lnTo>
                    <a:pt x="38820" y="64780"/>
                  </a:lnTo>
                  <a:lnTo>
                    <a:pt x="51029" y="55834"/>
                  </a:lnTo>
                  <a:lnTo>
                    <a:pt x="62911" y="46744"/>
                  </a:lnTo>
                  <a:lnTo>
                    <a:pt x="74496" y="37543"/>
                  </a:lnTo>
                  <a:lnTo>
                    <a:pt x="85813" y="28254"/>
                  </a:lnTo>
                  <a:lnTo>
                    <a:pt x="96892" y="18895"/>
                  </a:lnTo>
                  <a:lnTo>
                    <a:pt x="107764" y="9476"/>
                  </a:lnTo>
                  <a:lnTo>
                    <a:pt x="118452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" name="Ядро эпителиальной клетки"/>
            <p:cNvSpPr/>
            <p:nvPr/>
          </p:nvSpPr>
          <p:spPr>
            <a:xfrm rot="3300000">
              <a:off x="1580827" y="291544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" name="Ядрышко"/>
            <p:cNvSpPr/>
            <p:nvPr/>
          </p:nvSpPr>
          <p:spPr>
            <a:xfrm>
              <a:off x="1610088" y="296710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" name="Клетка однослойного эпителия"/>
            <p:cNvSpPr/>
            <p:nvPr/>
          </p:nvSpPr>
          <p:spPr>
            <a:xfrm>
              <a:off x="1358639" y="2949877"/>
              <a:ext cx="235740" cy="260969"/>
            </a:xfrm>
            <a:custGeom>
              <a:avLst/>
              <a:gdLst/>
              <a:ahLst/>
              <a:cxnLst/>
              <a:rect l="l" t="t" r="r" b="b"/>
              <a:pathLst>
                <a:path w="235740" h="260969">
                  <a:moveTo>
                    <a:pt x="235740" y="179232"/>
                  </a:moveTo>
                  <a:lnTo>
                    <a:pt x="216196" y="191102"/>
                  </a:lnTo>
                  <a:lnTo>
                    <a:pt x="196070" y="202362"/>
                  </a:lnTo>
                  <a:lnTo>
                    <a:pt x="175373" y="212927"/>
                  </a:lnTo>
                  <a:lnTo>
                    <a:pt x="154129" y="222710"/>
                  </a:lnTo>
                  <a:lnTo>
                    <a:pt x="132374" y="231630"/>
                  </a:lnTo>
                  <a:lnTo>
                    <a:pt x="110157" y="239611"/>
                  </a:lnTo>
                  <a:lnTo>
                    <a:pt x="87535" y="246585"/>
                  </a:lnTo>
                  <a:lnTo>
                    <a:pt x="64575" y="252498"/>
                  </a:lnTo>
                  <a:lnTo>
                    <a:pt x="41354" y="257303"/>
                  </a:lnTo>
                  <a:lnTo>
                    <a:pt x="17952" y="260969"/>
                  </a:lnTo>
                  <a:lnTo>
                    <a:pt x="0" y="55774"/>
                  </a:lnTo>
                  <a:lnTo>
                    <a:pt x="16279" y="53083"/>
                  </a:lnTo>
                  <a:lnTo>
                    <a:pt x="32449" y="49660"/>
                  </a:lnTo>
                  <a:lnTo>
                    <a:pt x="48452" y="45525"/>
                  </a:lnTo>
                  <a:lnTo>
                    <a:pt x="64237" y="40710"/>
                  </a:lnTo>
                  <a:lnTo>
                    <a:pt x="79755" y="35251"/>
                  </a:lnTo>
                  <a:lnTo>
                    <a:pt x="94965" y="29192"/>
                  </a:lnTo>
                  <a:lnTo>
                    <a:pt x="109832" y="22583"/>
                  </a:lnTo>
                  <a:lnTo>
                    <a:pt x="124331" y="15478"/>
                  </a:lnTo>
                  <a:lnTo>
                    <a:pt x="138444" y="7931"/>
                  </a:lnTo>
                  <a:lnTo>
                    <a:pt x="152162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Ядро эпителиальной клетки"/>
            <p:cNvSpPr/>
            <p:nvPr/>
          </p:nvSpPr>
          <p:spPr>
            <a:xfrm rot="4500000">
              <a:off x="1417931" y="30130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Ядрышко"/>
            <p:cNvSpPr/>
            <p:nvPr/>
          </p:nvSpPr>
          <p:spPr>
            <a:xfrm>
              <a:off x="1447192" y="306475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Клетка однослойного эпителия"/>
            <p:cNvSpPr/>
            <p:nvPr/>
          </p:nvSpPr>
          <p:spPr>
            <a:xfrm>
              <a:off x="1149672" y="2993797"/>
              <a:ext cx="226919" cy="221111"/>
            </a:xfrm>
            <a:custGeom>
              <a:avLst/>
              <a:gdLst/>
              <a:ahLst/>
              <a:cxnLst/>
              <a:rect l="l" t="t" r="r" b="b"/>
              <a:pathLst>
                <a:path w="226919" h="221111">
                  <a:moveTo>
                    <a:pt x="226919" y="217049"/>
                  </a:moveTo>
                  <a:lnTo>
                    <a:pt x="203419" y="219559"/>
                  </a:lnTo>
                  <a:lnTo>
                    <a:pt x="179905" y="220909"/>
                  </a:lnTo>
                  <a:lnTo>
                    <a:pt x="156459" y="221111"/>
                  </a:lnTo>
                  <a:lnTo>
                    <a:pt x="133162" y="220189"/>
                  </a:lnTo>
                  <a:lnTo>
                    <a:pt x="110086" y="218180"/>
                  </a:lnTo>
                  <a:lnTo>
                    <a:pt x="87297" y="215132"/>
                  </a:lnTo>
                  <a:lnTo>
                    <a:pt x="64852" y="211103"/>
                  </a:lnTo>
                  <a:lnTo>
                    <a:pt x="42799" y="206157"/>
                  </a:lnTo>
                  <a:lnTo>
                    <a:pt x="21172" y="200366"/>
                  </a:lnTo>
                  <a:lnTo>
                    <a:pt x="0" y="193802"/>
                  </a:lnTo>
                  <a:lnTo>
                    <a:pt x="51929" y="0"/>
                  </a:lnTo>
                  <a:lnTo>
                    <a:pt x="66520" y="3943"/>
                  </a:lnTo>
                  <a:lnTo>
                    <a:pt x="81437" y="7380"/>
                  </a:lnTo>
                  <a:lnTo>
                    <a:pt x="96662" y="10265"/>
                  </a:lnTo>
                  <a:lnTo>
                    <a:pt x="112171" y="12554"/>
                  </a:lnTo>
                  <a:lnTo>
                    <a:pt x="127932" y="14205"/>
                  </a:lnTo>
                  <a:lnTo>
                    <a:pt x="143906" y="15182"/>
                  </a:lnTo>
                  <a:lnTo>
                    <a:pt x="160049" y="15453"/>
                  </a:lnTo>
                  <a:lnTo>
                    <a:pt x="176310" y="14998"/>
                  </a:lnTo>
                  <a:lnTo>
                    <a:pt x="192635" y="13800"/>
                  </a:lnTo>
                  <a:lnTo>
                    <a:pt x="208967" y="1185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Ядро эпителиальной клетки"/>
            <p:cNvSpPr/>
            <p:nvPr/>
          </p:nvSpPr>
          <p:spPr>
            <a:xfrm rot="5700000">
              <a:off x="1223317" y="303961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" name="Ядрышко"/>
            <p:cNvSpPr/>
            <p:nvPr/>
          </p:nvSpPr>
          <p:spPr>
            <a:xfrm>
              <a:off x="1252578" y="309127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Клетка однослойного эпителия"/>
            <p:cNvSpPr/>
            <p:nvPr/>
          </p:nvSpPr>
          <p:spPr>
            <a:xfrm>
              <a:off x="962767" y="2935681"/>
              <a:ext cx="238834" cy="251918"/>
            </a:xfrm>
            <a:custGeom>
              <a:avLst/>
              <a:gdLst/>
              <a:ahLst/>
              <a:cxnLst/>
              <a:rect l="l" t="t" r="r" b="b"/>
              <a:pathLst>
                <a:path w="238834" h="251918">
                  <a:moveTo>
                    <a:pt x="186905" y="251918"/>
                  </a:moveTo>
                  <a:lnTo>
                    <a:pt x="166203" y="244655"/>
                  </a:lnTo>
                  <a:lnTo>
                    <a:pt x="145976" y="236765"/>
                  </a:lnTo>
                  <a:lnTo>
                    <a:pt x="126224" y="228317"/>
                  </a:lnTo>
                  <a:lnTo>
                    <a:pt x="106936" y="219374"/>
                  </a:lnTo>
                  <a:lnTo>
                    <a:pt x="88098" y="209991"/>
                  </a:lnTo>
                  <a:lnTo>
                    <a:pt x="69692" y="200217"/>
                  </a:lnTo>
                  <a:lnTo>
                    <a:pt x="51698" y="190092"/>
                  </a:lnTo>
                  <a:lnTo>
                    <a:pt x="34096" y="179643"/>
                  </a:lnTo>
                  <a:lnTo>
                    <a:pt x="16868" y="168892"/>
                  </a:lnTo>
                  <a:lnTo>
                    <a:pt x="0" y="157850"/>
                  </a:lnTo>
                  <a:lnTo>
                    <a:pt x="110528" y="0"/>
                  </a:lnTo>
                  <a:lnTo>
                    <a:pt x="122072" y="6892"/>
                  </a:lnTo>
                  <a:lnTo>
                    <a:pt x="133870" y="13592"/>
                  </a:lnTo>
                  <a:lnTo>
                    <a:pt x="145931" y="20091"/>
                  </a:lnTo>
                  <a:lnTo>
                    <a:pt x="158269" y="26376"/>
                  </a:lnTo>
                  <a:lnTo>
                    <a:pt x="170897" y="32428"/>
                  </a:lnTo>
                  <a:lnTo>
                    <a:pt x="183830" y="38222"/>
                  </a:lnTo>
                  <a:lnTo>
                    <a:pt x="197082" y="43726"/>
                  </a:lnTo>
                  <a:lnTo>
                    <a:pt x="210662" y="48905"/>
                  </a:lnTo>
                  <a:lnTo>
                    <a:pt x="224579" y="53716"/>
                  </a:lnTo>
                  <a:lnTo>
                    <a:pt x="238834" y="58116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Ядро эпителиальной клетки"/>
            <p:cNvSpPr/>
            <p:nvPr/>
          </p:nvSpPr>
          <p:spPr>
            <a:xfrm rot="6900000">
              <a:off x="1048200" y="298704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Ядрышко"/>
            <p:cNvSpPr/>
            <p:nvPr/>
          </p:nvSpPr>
          <p:spPr>
            <a:xfrm>
              <a:off x="1077461" y="303870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" name="Клетка однослойного эпителия"/>
            <p:cNvSpPr/>
            <p:nvPr/>
          </p:nvSpPr>
          <p:spPr>
            <a:xfrm>
              <a:off x="815184" y="2854947"/>
              <a:ext cx="258111" cy="238584"/>
            </a:xfrm>
            <a:custGeom>
              <a:avLst/>
              <a:gdLst/>
              <a:ahLst/>
              <a:cxnLst/>
              <a:rect l="l" t="t" r="r" b="b"/>
              <a:pathLst>
                <a:path w="258111" h="238584">
                  <a:moveTo>
                    <a:pt x="147583" y="238584"/>
                  </a:moveTo>
                  <a:lnTo>
                    <a:pt x="131066" y="227254"/>
                  </a:lnTo>
                  <a:lnTo>
                    <a:pt x="114897" y="215631"/>
                  </a:lnTo>
                  <a:lnTo>
                    <a:pt x="99080" y="203705"/>
                  </a:lnTo>
                  <a:lnTo>
                    <a:pt x="83626" y="191461"/>
                  </a:lnTo>
                  <a:lnTo>
                    <a:pt x="68554" y="178881"/>
                  </a:lnTo>
                  <a:lnTo>
                    <a:pt x="53889" y="165946"/>
                  </a:lnTo>
                  <a:lnTo>
                    <a:pt x="39663" y="152638"/>
                  </a:lnTo>
                  <a:lnTo>
                    <a:pt x="25912" y="138939"/>
                  </a:lnTo>
                  <a:lnTo>
                    <a:pt x="12677" y="124835"/>
                  </a:lnTo>
                  <a:lnTo>
                    <a:pt x="0" y="110316"/>
                  </a:lnTo>
                  <a:lnTo>
                    <a:pt x="157548" y="0"/>
                  </a:lnTo>
                  <a:lnTo>
                    <a:pt x="166137" y="9194"/>
                  </a:lnTo>
                  <a:lnTo>
                    <a:pt x="175119" y="18113"/>
                  </a:lnTo>
                  <a:lnTo>
                    <a:pt x="184465" y="26763"/>
                  </a:lnTo>
                  <a:lnTo>
                    <a:pt x="194146" y="35155"/>
                  </a:lnTo>
                  <a:lnTo>
                    <a:pt x="204136" y="43299"/>
                  </a:lnTo>
                  <a:lnTo>
                    <a:pt x="214413" y="51209"/>
                  </a:lnTo>
                  <a:lnTo>
                    <a:pt x="224960" y="58897"/>
                  </a:lnTo>
                  <a:lnTo>
                    <a:pt x="235763" y="66374"/>
                  </a:lnTo>
                  <a:lnTo>
                    <a:pt x="246814" y="73651"/>
                  </a:lnTo>
                  <a:lnTo>
                    <a:pt x="258111" y="80734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" name="Ядро эпителиальной клетки"/>
            <p:cNvSpPr/>
            <p:nvPr/>
          </p:nvSpPr>
          <p:spPr>
            <a:xfrm rot="8100000">
              <a:off x="908520" y="28970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" name="Ядрышко"/>
            <p:cNvSpPr/>
            <p:nvPr/>
          </p:nvSpPr>
          <p:spPr>
            <a:xfrm>
              <a:off x="937781" y="294869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" name="Клетка однослойного эпителия"/>
            <p:cNvSpPr/>
            <p:nvPr/>
          </p:nvSpPr>
          <p:spPr>
            <a:xfrm>
              <a:off x="726919" y="2748780"/>
              <a:ext cx="245813" cy="216483"/>
            </a:xfrm>
            <a:custGeom>
              <a:avLst/>
              <a:gdLst/>
              <a:ahLst/>
              <a:cxnLst/>
              <a:rect l="l" t="t" r="r" b="b"/>
              <a:pathLst>
                <a:path w="245813" h="216483">
                  <a:moveTo>
                    <a:pt x="88265" y="216483"/>
                  </a:moveTo>
                  <a:lnTo>
                    <a:pt x="76190" y="201544"/>
                  </a:lnTo>
                  <a:lnTo>
                    <a:pt x="64758" y="186187"/>
                  </a:lnTo>
                  <a:lnTo>
                    <a:pt x="54009" y="170418"/>
                  </a:lnTo>
                  <a:lnTo>
                    <a:pt x="43977" y="154248"/>
                  </a:lnTo>
                  <a:lnTo>
                    <a:pt x="34693" y="137695"/>
                  </a:lnTo>
                  <a:lnTo>
                    <a:pt x="26178" y="120782"/>
                  </a:lnTo>
                  <a:lnTo>
                    <a:pt x="18448" y="103534"/>
                  </a:lnTo>
                  <a:lnTo>
                    <a:pt x="11510" y="85981"/>
                  </a:lnTo>
                  <a:lnTo>
                    <a:pt x="5363" y="68154"/>
                  </a:lnTo>
                  <a:lnTo>
                    <a:pt x="0" y="50083"/>
                  </a:lnTo>
                  <a:lnTo>
                    <a:pt x="186913" y="0"/>
                  </a:lnTo>
                  <a:lnTo>
                    <a:pt x="190382" y="11588"/>
                  </a:lnTo>
                  <a:lnTo>
                    <a:pt x="194397" y="23008"/>
                  </a:lnTo>
                  <a:lnTo>
                    <a:pt x="198965" y="34240"/>
                  </a:lnTo>
                  <a:lnTo>
                    <a:pt x="204086" y="45265"/>
                  </a:lnTo>
                  <a:lnTo>
                    <a:pt x="209756" y="56062"/>
                  </a:lnTo>
                  <a:lnTo>
                    <a:pt x="215964" y="66616"/>
                  </a:lnTo>
                  <a:lnTo>
                    <a:pt x="222696" y="76912"/>
                  </a:lnTo>
                  <a:lnTo>
                    <a:pt x="229932" y="86941"/>
                  </a:lnTo>
                  <a:lnTo>
                    <a:pt x="237646" y="96693"/>
                  </a:lnTo>
                  <a:lnTo>
                    <a:pt x="245813" y="10616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" name="Ядро эпителиальной клетки"/>
            <p:cNvSpPr/>
            <p:nvPr/>
          </p:nvSpPr>
          <p:spPr>
            <a:xfrm rot="9300000">
              <a:off x="806924" y="27777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" name="Ядрышко"/>
            <p:cNvSpPr/>
            <p:nvPr/>
          </p:nvSpPr>
          <p:spPr>
            <a:xfrm>
              <a:off x="836185" y="282939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" name="Клетка однослойного эпителия"/>
            <p:cNvSpPr/>
            <p:nvPr/>
          </p:nvSpPr>
          <p:spPr>
            <a:xfrm>
              <a:off x="709481" y="2610302"/>
              <a:ext cx="204351" cy="188561"/>
            </a:xfrm>
            <a:custGeom>
              <a:avLst/>
              <a:gdLst/>
              <a:ahLst/>
              <a:cxnLst/>
              <a:rect l="l" t="t" r="r" b="b"/>
              <a:pathLst>
                <a:path w="204351" h="188561">
                  <a:moveTo>
                    <a:pt x="17438" y="188561"/>
                  </a:moveTo>
                  <a:lnTo>
                    <a:pt x="12842" y="170279"/>
                  </a:lnTo>
                  <a:lnTo>
                    <a:pt x="8994" y="151813"/>
                  </a:lnTo>
                  <a:lnTo>
                    <a:pt x="5867" y="133191"/>
                  </a:lnTo>
                  <a:lnTo>
                    <a:pt x="3433" y="114437"/>
                  </a:lnTo>
                  <a:lnTo>
                    <a:pt x="1663" y="95571"/>
                  </a:lnTo>
                  <a:lnTo>
                    <a:pt x="528" y="76609"/>
                  </a:lnTo>
                  <a:lnTo>
                    <a:pt x="0" y="57564"/>
                  </a:lnTo>
                  <a:lnTo>
                    <a:pt x="59" y="38443"/>
                  </a:lnTo>
                  <a:lnTo>
                    <a:pt x="686" y="19254"/>
                  </a:lnTo>
                  <a:lnTo>
                    <a:pt x="1872" y="0"/>
                  </a:lnTo>
                  <a:lnTo>
                    <a:pt x="196174" y="17000"/>
                  </a:lnTo>
                  <a:lnTo>
                    <a:pt x="195084" y="29442"/>
                  </a:lnTo>
                  <a:lnTo>
                    <a:pt x="194383" y="41835"/>
                  </a:lnTo>
                  <a:lnTo>
                    <a:pt x="194077" y="54176"/>
                  </a:lnTo>
                  <a:lnTo>
                    <a:pt x="194178" y="66461"/>
                  </a:lnTo>
                  <a:lnTo>
                    <a:pt x="194703" y="78683"/>
                  </a:lnTo>
                  <a:lnTo>
                    <a:pt x="195668" y="90834"/>
                  </a:lnTo>
                  <a:lnTo>
                    <a:pt x="197096" y="102904"/>
                  </a:lnTo>
                  <a:lnTo>
                    <a:pt x="199006" y="114878"/>
                  </a:lnTo>
                  <a:lnTo>
                    <a:pt x="201418" y="126742"/>
                  </a:lnTo>
                  <a:lnTo>
                    <a:pt x="204351" y="138478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" name="Ядро эпителиальной клетки"/>
            <p:cNvSpPr/>
            <p:nvPr/>
          </p:nvSpPr>
          <p:spPr>
            <a:xfrm rot="10500000">
              <a:off x="765804" y="263079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" name="Ядрышко"/>
            <p:cNvSpPr/>
            <p:nvPr/>
          </p:nvSpPr>
          <p:spPr>
            <a:xfrm>
              <a:off x="795065" y="268246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" name="Клетка однослойного эпителия"/>
            <p:cNvSpPr/>
            <p:nvPr/>
          </p:nvSpPr>
          <p:spPr>
            <a:xfrm>
              <a:off x="711353" y="2415939"/>
              <a:ext cx="228912" cy="211363"/>
            </a:xfrm>
            <a:custGeom>
              <a:avLst/>
              <a:gdLst/>
              <a:ahLst/>
              <a:cxnLst/>
              <a:rect l="l" t="t" r="r" b="b"/>
              <a:pathLst>
                <a:path w="228912" h="211363">
                  <a:moveTo>
                    <a:pt x="0" y="194363"/>
                  </a:moveTo>
                  <a:lnTo>
                    <a:pt x="1742" y="175048"/>
                  </a:lnTo>
                  <a:lnTo>
                    <a:pt x="4046" y="155674"/>
                  </a:lnTo>
                  <a:lnTo>
                    <a:pt x="6928" y="136245"/>
                  </a:lnTo>
                  <a:lnTo>
                    <a:pt x="10410" y="116771"/>
                  </a:lnTo>
                  <a:lnTo>
                    <a:pt x="14523" y="97262"/>
                  </a:lnTo>
                  <a:lnTo>
                    <a:pt x="19305" y="77734"/>
                  </a:lnTo>
                  <a:lnTo>
                    <a:pt x="24799" y="58211"/>
                  </a:lnTo>
                  <a:lnTo>
                    <a:pt x="31050" y="38721"/>
                  </a:lnTo>
                  <a:lnTo>
                    <a:pt x="38108" y="19303"/>
                  </a:lnTo>
                  <a:lnTo>
                    <a:pt x="46019" y="0"/>
                  </a:lnTo>
                  <a:lnTo>
                    <a:pt x="228912" y="85285"/>
                  </a:lnTo>
                  <a:lnTo>
                    <a:pt x="223158" y="97852"/>
                  </a:lnTo>
                  <a:lnTo>
                    <a:pt x="217995" y="110483"/>
                  </a:lnTo>
                  <a:lnTo>
                    <a:pt x="213389" y="123147"/>
                  </a:lnTo>
                  <a:lnTo>
                    <a:pt x="209308" y="135824"/>
                  </a:lnTo>
                  <a:lnTo>
                    <a:pt x="205721" y="148493"/>
                  </a:lnTo>
                  <a:lnTo>
                    <a:pt x="202598" y="161141"/>
                  </a:lnTo>
                  <a:lnTo>
                    <a:pt x="199913" y="173758"/>
                  </a:lnTo>
                  <a:lnTo>
                    <a:pt x="197645" y="186337"/>
                  </a:lnTo>
                  <a:lnTo>
                    <a:pt x="195778" y="198872"/>
                  </a:lnTo>
                  <a:lnTo>
                    <a:pt x="194302" y="21136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" name="Ядро эпителиальной клетки"/>
            <p:cNvSpPr/>
            <p:nvPr/>
          </p:nvSpPr>
          <p:spPr>
            <a:xfrm rot="11700000">
              <a:off x="779579" y="247354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" name="Ядрышко"/>
            <p:cNvSpPr/>
            <p:nvPr/>
          </p:nvSpPr>
          <p:spPr>
            <a:xfrm>
              <a:off x="808839" y="252521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" name="Клетка однослойного эпителия"/>
            <p:cNvSpPr/>
            <p:nvPr/>
          </p:nvSpPr>
          <p:spPr>
            <a:xfrm>
              <a:off x="757372" y="2242882"/>
              <a:ext cx="276859" cy="258342"/>
            </a:xfrm>
            <a:custGeom>
              <a:avLst/>
              <a:gdLst/>
              <a:ahLst/>
              <a:cxnLst/>
              <a:rect l="l" t="t" r="r" b="b"/>
              <a:pathLst>
                <a:path w="276859" h="258342">
                  <a:moveTo>
                    <a:pt x="0" y="173057"/>
                  </a:moveTo>
                  <a:lnTo>
                    <a:pt x="8809" y="153921"/>
                  </a:lnTo>
                  <a:lnTo>
                    <a:pt x="18556" y="135010"/>
                  </a:lnTo>
                  <a:lnTo>
                    <a:pt x="29273" y="116387"/>
                  </a:lnTo>
                  <a:lnTo>
                    <a:pt x="40985" y="98122"/>
                  </a:lnTo>
                  <a:lnTo>
                    <a:pt x="53706" y="80285"/>
                  </a:lnTo>
                  <a:lnTo>
                    <a:pt x="67436" y="62949"/>
                  </a:lnTo>
                  <a:lnTo>
                    <a:pt x="82164" y="46186"/>
                  </a:lnTo>
                  <a:lnTo>
                    <a:pt x="97867" y="30065"/>
                  </a:lnTo>
                  <a:lnTo>
                    <a:pt x="114509" y="14650"/>
                  </a:lnTo>
                  <a:lnTo>
                    <a:pt x="132038" y="0"/>
                  </a:lnTo>
                  <a:lnTo>
                    <a:pt x="276859" y="144820"/>
                  </a:lnTo>
                  <a:lnTo>
                    <a:pt x="264499" y="154519"/>
                  </a:lnTo>
                  <a:lnTo>
                    <a:pt x="252745" y="164698"/>
                  </a:lnTo>
                  <a:lnTo>
                    <a:pt x="241632" y="175321"/>
                  </a:lnTo>
                  <a:lnTo>
                    <a:pt x="231185" y="186344"/>
                  </a:lnTo>
                  <a:lnTo>
                    <a:pt x="221424" y="197723"/>
                  </a:lnTo>
                  <a:lnTo>
                    <a:pt x="212355" y="209411"/>
                  </a:lnTo>
                  <a:lnTo>
                    <a:pt x="203980" y="221361"/>
                  </a:lnTo>
                  <a:lnTo>
                    <a:pt x="196289" y="233529"/>
                  </a:lnTo>
                  <a:lnTo>
                    <a:pt x="189267" y="245869"/>
                  </a:lnTo>
                  <a:lnTo>
                    <a:pt x="182893" y="25834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" name="Ядро эпителиальной клетки"/>
            <p:cNvSpPr/>
            <p:nvPr/>
          </p:nvSpPr>
          <p:spPr>
            <a:xfrm rot="12900000">
              <a:off x="852571" y="231794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" name="Ядрышко"/>
            <p:cNvSpPr/>
            <p:nvPr/>
          </p:nvSpPr>
          <p:spPr>
            <a:xfrm>
              <a:off x="881831" y="236960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Клетка однослойного эпителия"/>
            <p:cNvSpPr/>
            <p:nvPr/>
          </p:nvSpPr>
          <p:spPr>
            <a:xfrm>
              <a:off x="889410" y="2143677"/>
              <a:ext cx="290089" cy="244025"/>
            </a:xfrm>
            <a:custGeom>
              <a:avLst/>
              <a:gdLst/>
              <a:ahLst/>
              <a:cxnLst/>
              <a:rect l="l" t="t" r="r" b="b"/>
              <a:pathLst>
                <a:path w="290089" h="244025">
                  <a:moveTo>
                    <a:pt x="0" y="99205"/>
                  </a:moveTo>
                  <a:lnTo>
                    <a:pt x="18358" y="85368"/>
                  </a:lnTo>
                  <a:lnTo>
                    <a:pt x="37472" y="72384"/>
                  </a:lnTo>
                  <a:lnTo>
                    <a:pt x="57265" y="60282"/>
                  </a:lnTo>
                  <a:lnTo>
                    <a:pt x="77651" y="49076"/>
                  </a:lnTo>
                  <a:lnTo>
                    <a:pt x="98542" y="38771"/>
                  </a:lnTo>
                  <a:lnTo>
                    <a:pt x="119847" y="29357"/>
                  </a:lnTo>
                  <a:lnTo>
                    <a:pt x="141478" y="20811"/>
                  </a:lnTo>
                  <a:lnTo>
                    <a:pt x="163348" y="13101"/>
                  </a:lnTo>
                  <a:lnTo>
                    <a:pt x="185378" y="6182"/>
                  </a:lnTo>
                  <a:lnTo>
                    <a:pt x="207496" y="0"/>
                  </a:lnTo>
                  <a:lnTo>
                    <a:pt x="290089" y="177120"/>
                  </a:lnTo>
                  <a:lnTo>
                    <a:pt x="274665" y="181417"/>
                  </a:lnTo>
                  <a:lnTo>
                    <a:pt x="259292" y="186188"/>
                  </a:lnTo>
                  <a:lnTo>
                    <a:pt x="244018" y="191468"/>
                  </a:lnTo>
                  <a:lnTo>
                    <a:pt x="228900" y="197283"/>
                  </a:lnTo>
                  <a:lnTo>
                    <a:pt x="213995" y="203655"/>
                  </a:lnTo>
                  <a:lnTo>
                    <a:pt x="199365" y="210595"/>
                  </a:lnTo>
                  <a:lnTo>
                    <a:pt x="185072" y="218110"/>
                  </a:lnTo>
                  <a:lnTo>
                    <a:pt x="171179" y="226196"/>
                  </a:lnTo>
                  <a:lnTo>
                    <a:pt x="157743" y="234840"/>
                  </a:lnTo>
                  <a:lnTo>
                    <a:pt x="144821" y="24402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Ядро эпителиальной клетки"/>
            <p:cNvSpPr/>
            <p:nvPr/>
          </p:nvSpPr>
          <p:spPr>
            <a:xfrm rot="14100000">
              <a:off x="1002267" y="220189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Ядрышко"/>
            <p:cNvSpPr/>
            <p:nvPr/>
          </p:nvSpPr>
          <p:spPr>
            <a:xfrm>
              <a:off x="1031528" y="225355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" name="Клетка однослойного эпителия"/>
            <p:cNvSpPr/>
            <p:nvPr/>
          </p:nvSpPr>
          <p:spPr>
            <a:xfrm>
              <a:off x="1096906" y="2108700"/>
              <a:ext cx="234110" cy="212097"/>
            </a:xfrm>
            <a:custGeom>
              <a:avLst/>
              <a:gdLst/>
              <a:ahLst/>
              <a:cxnLst/>
              <a:rect l="l" t="t" r="r" b="b"/>
              <a:pathLst>
                <a:path w="234110" h="212097">
                  <a:moveTo>
                    <a:pt x="0" y="34977"/>
                  </a:moveTo>
                  <a:lnTo>
                    <a:pt x="22144" y="29474"/>
                  </a:lnTo>
                  <a:lnTo>
                    <a:pt x="44261" y="24583"/>
                  </a:lnTo>
                  <a:lnTo>
                    <a:pt x="66312" y="20237"/>
                  </a:lnTo>
                  <a:lnTo>
                    <a:pt x="88267" y="16370"/>
                  </a:lnTo>
                  <a:lnTo>
                    <a:pt x="110111" y="12916"/>
                  </a:lnTo>
                  <a:lnTo>
                    <a:pt x="131837" y="9814"/>
                  </a:lnTo>
                  <a:lnTo>
                    <a:pt x="153451" y="7011"/>
                  </a:lnTo>
                  <a:lnTo>
                    <a:pt x="174967" y="4462"/>
                  </a:lnTo>
                  <a:lnTo>
                    <a:pt x="196406" y="2132"/>
                  </a:lnTo>
                  <a:lnTo>
                    <a:pt x="217793" y="0"/>
                  </a:lnTo>
                  <a:lnTo>
                    <a:pt x="234110" y="186501"/>
                  </a:lnTo>
                  <a:lnTo>
                    <a:pt x="219249" y="188174"/>
                  </a:lnTo>
                  <a:lnTo>
                    <a:pt x="204350" y="189975"/>
                  </a:lnTo>
                  <a:lnTo>
                    <a:pt x="189394" y="191918"/>
                  </a:lnTo>
                  <a:lnTo>
                    <a:pt x="174366" y="194027"/>
                  </a:lnTo>
                  <a:lnTo>
                    <a:pt x="159256" y="196331"/>
                  </a:lnTo>
                  <a:lnTo>
                    <a:pt x="144061" y="198863"/>
                  </a:lnTo>
                  <a:lnTo>
                    <a:pt x="128782" y="201664"/>
                  </a:lnTo>
                  <a:lnTo>
                    <a:pt x="113430" y="204775"/>
                  </a:lnTo>
                  <a:lnTo>
                    <a:pt x="98025" y="208238"/>
                  </a:lnTo>
                  <a:lnTo>
                    <a:pt x="82593" y="21209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" name="Ядро эпителиальной клетки"/>
            <p:cNvSpPr/>
            <p:nvPr/>
          </p:nvSpPr>
          <p:spPr>
            <a:xfrm rot="15300000">
              <a:off x="1186852" y="215069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" name="Ядрышко"/>
            <p:cNvSpPr/>
            <p:nvPr/>
          </p:nvSpPr>
          <p:spPr>
            <a:xfrm>
              <a:off x="1216113" y="220236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" name="Клетка однослойного эпителия"/>
            <p:cNvSpPr/>
            <p:nvPr/>
          </p:nvSpPr>
          <p:spPr>
            <a:xfrm>
              <a:off x="1314699" y="2099952"/>
              <a:ext cx="216127" cy="195249"/>
            </a:xfrm>
            <a:custGeom>
              <a:avLst/>
              <a:gdLst/>
              <a:ahLst/>
              <a:cxnLst/>
              <a:rect l="l" t="t" r="r" b="b"/>
              <a:pathLst>
                <a:path w="216127" h="195249">
                  <a:moveTo>
                    <a:pt x="0" y="8748"/>
                  </a:moveTo>
                  <a:lnTo>
                    <a:pt x="21364" y="6803"/>
                  </a:lnTo>
                  <a:lnTo>
                    <a:pt x="42736" y="5045"/>
                  </a:lnTo>
                  <a:lnTo>
                    <a:pt x="64143" y="3492"/>
                  </a:lnTo>
                  <a:lnTo>
                    <a:pt x="85609" y="2168"/>
                  </a:lnTo>
                  <a:lnTo>
                    <a:pt x="107153" y="1112"/>
                  </a:lnTo>
                  <a:lnTo>
                    <a:pt x="128786" y="371"/>
                  </a:lnTo>
                  <a:lnTo>
                    <a:pt x="150512" y="0"/>
                  </a:lnTo>
                  <a:lnTo>
                    <a:pt x="172324" y="58"/>
                  </a:lnTo>
                  <a:lnTo>
                    <a:pt x="194204" y="611"/>
                  </a:lnTo>
                  <a:lnTo>
                    <a:pt x="216127" y="1723"/>
                  </a:lnTo>
                  <a:lnTo>
                    <a:pt x="166290" y="187715"/>
                  </a:lnTo>
                  <a:lnTo>
                    <a:pt x="151103" y="187302"/>
                  </a:lnTo>
                  <a:lnTo>
                    <a:pt x="135938" y="187249"/>
                  </a:lnTo>
                  <a:lnTo>
                    <a:pt x="120813" y="187514"/>
                  </a:lnTo>
                  <a:lnTo>
                    <a:pt x="105742" y="188055"/>
                  </a:lnTo>
                  <a:lnTo>
                    <a:pt x="90729" y="188834"/>
                  </a:lnTo>
                  <a:lnTo>
                    <a:pt x="75774" y="189814"/>
                  </a:lnTo>
                  <a:lnTo>
                    <a:pt x="60870" y="190966"/>
                  </a:lnTo>
                  <a:lnTo>
                    <a:pt x="46004" y="192266"/>
                  </a:lnTo>
                  <a:lnTo>
                    <a:pt x="31159" y="193697"/>
                  </a:lnTo>
                  <a:lnTo>
                    <a:pt x="16317" y="195249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" name="Ядро эпителиальной клетки"/>
            <p:cNvSpPr/>
            <p:nvPr/>
          </p:nvSpPr>
          <p:spPr>
            <a:xfrm rot="16500000">
              <a:off x="1367591" y="213238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" name="Ядрышко"/>
            <p:cNvSpPr/>
            <p:nvPr/>
          </p:nvSpPr>
          <p:spPr>
            <a:xfrm>
              <a:off x="1396852" y="218404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" name="Клетка однослойного эпителия"/>
            <p:cNvSpPr/>
            <p:nvPr/>
          </p:nvSpPr>
          <p:spPr>
            <a:xfrm>
              <a:off x="1480989" y="2101675"/>
              <a:ext cx="260005" cy="217366"/>
            </a:xfrm>
            <a:custGeom>
              <a:avLst/>
              <a:gdLst/>
              <a:ahLst/>
              <a:cxnLst/>
              <a:rect l="l" t="t" r="r" b="b"/>
              <a:pathLst>
                <a:path w="260005" h="217366">
                  <a:moveTo>
                    <a:pt x="49837" y="0"/>
                  </a:moveTo>
                  <a:lnTo>
                    <a:pt x="71765" y="1736"/>
                  </a:lnTo>
                  <a:lnTo>
                    <a:pt x="93652" y="4158"/>
                  </a:lnTo>
                  <a:lnTo>
                    <a:pt x="115446" y="7320"/>
                  </a:lnTo>
                  <a:lnTo>
                    <a:pt x="137087" y="11273"/>
                  </a:lnTo>
                  <a:lnTo>
                    <a:pt x="158509" y="16056"/>
                  </a:lnTo>
                  <a:lnTo>
                    <a:pt x="179646" y="21701"/>
                  </a:lnTo>
                  <a:lnTo>
                    <a:pt x="200429" y="28227"/>
                  </a:lnTo>
                  <a:lnTo>
                    <a:pt x="220792" y="35643"/>
                  </a:lnTo>
                  <a:lnTo>
                    <a:pt x="240670" y="43949"/>
                  </a:lnTo>
                  <a:lnTo>
                    <a:pt x="260005" y="53132"/>
                  </a:lnTo>
                  <a:lnTo>
                    <a:pt x="145007" y="217366"/>
                  </a:lnTo>
                  <a:lnTo>
                    <a:pt x="131727" y="211708"/>
                  </a:lnTo>
                  <a:lnTo>
                    <a:pt x="118057" y="206623"/>
                  </a:lnTo>
                  <a:lnTo>
                    <a:pt x="104039" y="202119"/>
                  </a:lnTo>
                  <a:lnTo>
                    <a:pt x="89717" y="198196"/>
                  </a:lnTo>
                  <a:lnTo>
                    <a:pt x="75138" y="194846"/>
                  </a:lnTo>
                  <a:lnTo>
                    <a:pt x="60349" y="192057"/>
                  </a:lnTo>
                  <a:lnTo>
                    <a:pt x="45397" y="189806"/>
                  </a:lnTo>
                  <a:lnTo>
                    <a:pt x="30327" y="188067"/>
                  </a:lnTo>
                  <a:lnTo>
                    <a:pt x="15183" y="186808"/>
                  </a:lnTo>
                  <a:lnTo>
                    <a:pt x="0" y="18599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" name="Ядро эпителиальной клетки"/>
            <p:cNvSpPr/>
            <p:nvPr/>
          </p:nvSpPr>
          <p:spPr>
            <a:xfrm rot="17700000">
              <a:off x="1550425" y="214440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" name="Ядрышко"/>
            <p:cNvSpPr/>
            <p:nvPr/>
          </p:nvSpPr>
          <p:spPr>
            <a:xfrm>
              <a:off x="1579685" y="21960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" name="Клетка однослойного эпителия"/>
            <p:cNvSpPr/>
            <p:nvPr/>
          </p:nvSpPr>
          <p:spPr>
            <a:xfrm>
              <a:off x="1625996" y="2154807"/>
              <a:ext cx="270622" cy="247365"/>
            </a:xfrm>
            <a:custGeom>
              <a:avLst/>
              <a:gdLst/>
              <a:ahLst/>
              <a:cxnLst/>
              <a:rect l="l" t="t" r="r" b="b"/>
              <a:pathLst>
                <a:path w="270622" h="247365">
                  <a:moveTo>
                    <a:pt x="114998" y="0"/>
                  </a:moveTo>
                  <a:lnTo>
                    <a:pt x="133735" y="10039"/>
                  </a:lnTo>
                  <a:lnTo>
                    <a:pt x="151828" y="20902"/>
                  </a:lnTo>
                  <a:lnTo>
                    <a:pt x="169241" y="32552"/>
                  </a:lnTo>
                  <a:lnTo>
                    <a:pt x="185944" y="44946"/>
                  </a:lnTo>
                  <a:lnTo>
                    <a:pt x="201917" y="58036"/>
                  </a:lnTo>
                  <a:lnTo>
                    <a:pt x="217145" y="71772"/>
                  </a:lnTo>
                  <a:lnTo>
                    <a:pt x="231626" y="86101"/>
                  </a:lnTo>
                  <a:lnTo>
                    <a:pt x="245361" y="100973"/>
                  </a:lnTo>
                  <a:lnTo>
                    <a:pt x="258356" y="116340"/>
                  </a:lnTo>
                  <a:lnTo>
                    <a:pt x="270622" y="132156"/>
                  </a:lnTo>
                  <a:lnTo>
                    <a:pt x="106086" y="247365"/>
                  </a:lnTo>
                  <a:lnTo>
                    <a:pt x="97799" y="237328"/>
                  </a:lnTo>
                  <a:lnTo>
                    <a:pt x="89001" y="227591"/>
                  </a:lnTo>
                  <a:lnTo>
                    <a:pt x="79683" y="218183"/>
                  </a:lnTo>
                  <a:lnTo>
                    <a:pt x="69840" y="209137"/>
                  </a:lnTo>
                  <a:lnTo>
                    <a:pt x="59469" y="200483"/>
                  </a:lnTo>
                  <a:lnTo>
                    <a:pt x="48575" y="192257"/>
                  </a:lnTo>
                  <a:lnTo>
                    <a:pt x="37164" y="184490"/>
                  </a:lnTo>
                  <a:lnTo>
                    <a:pt x="25251" y="177213"/>
                  </a:lnTo>
                  <a:lnTo>
                    <a:pt x="12854" y="170453"/>
                  </a:lnTo>
                  <a:lnTo>
                    <a:pt x="0" y="16423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" name="Ядро эпителиальной клетки"/>
            <p:cNvSpPr/>
            <p:nvPr/>
          </p:nvSpPr>
          <p:spPr>
            <a:xfrm rot="18900000">
              <a:off x="1708120" y="222062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" name="Ядрышко"/>
            <p:cNvSpPr/>
            <p:nvPr/>
          </p:nvSpPr>
          <p:spPr>
            <a:xfrm>
              <a:off x="1737380" y="227228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" name="Клетка однослойного эпителия"/>
            <p:cNvSpPr/>
            <p:nvPr/>
          </p:nvSpPr>
          <p:spPr>
            <a:xfrm>
              <a:off x="1732082" y="2286963"/>
              <a:ext cx="249041" cy="227520"/>
            </a:xfrm>
            <a:custGeom>
              <a:avLst/>
              <a:gdLst/>
              <a:ahLst/>
              <a:cxnLst/>
              <a:rect l="l" t="t" r="r" b="b"/>
              <a:pathLst>
                <a:path w="249041" h="227520">
                  <a:moveTo>
                    <a:pt x="164536" y="0"/>
                  </a:moveTo>
                  <a:lnTo>
                    <a:pt x="176086" y="16222"/>
                  </a:lnTo>
                  <a:lnTo>
                    <a:pt x="186933" y="32814"/>
                  </a:lnTo>
                  <a:lnTo>
                    <a:pt x="197090" y="49743"/>
                  </a:lnTo>
                  <a:lnTo>
                    <a:pt x="206565" y="66982"/>
                  </a:lnTo>
                  <a:lnTo>
                    <a:pt x="215365" y="84506"/>
                  </a:lnTo>
                  <a:lnTo>
                    <a:pt x="223489" y="102298"/>
                  </a:lnTo>
                  <a:lnTo>
                    <a:pt x="230933" y="120340"/>
                  </a:lnTo>
                  <a:lnTo>
                    <a:pt x="237686" y="138620"/>
                  </a:lnTo>
                  <a:lnTo>
                    <a:pt x="243729" y="157123"/>
                  </a:lnTo>
                  <a:lnTo>
                    <a:pt x="249041" y="175837"/>
                  </a:lnTo>
                  <a:lnTo>
                    <a:pt x="56160" y="227520"/>
                  </a:lnTo>
                  <a:lnTo>
                    <a:pt x="52737" y="215515"/>
                  </a:lnTo>
                  <a:lnTo>
                    <a:pt x="48802" y="203658"/>
                  </a:lnTo>
                  <a:lnTo>
                    <a:pt x="44373" y="191954"/>
                  </a:lnTo>
                  <a:lnTo>
                    <a:pt x="39462" y="180413"/>
                  </a:lnTo>
                  <a:lnTo>
                    <a:pt x="34074" y="169043"/>
                  </a:lnTo>
                  <a:lnTo>
                    <a:pt x="28216" y="157855"/>
                  </a:lnTo>
                  <a:lnTo>
                    <a:pt x="21884" y="146861"/>
                  </a:lnTo>
                  <a:lnTo>
                    <a:pt x="15076" y="136076"/>
                  </a:lnTo>
                  <a:lnTo>
                    <a:pt x="7784" y="125519"/>
                  </a:lnTo>
                  <a:lnTo>
                    <a:pt x="0" y="11520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" name="Ядро эпителиальной клетки"/>
            <p:cNvSpPr/>
            <p:nvPr/>
          </p:nvSpPr>
          <p:spPr>
            <a:xfrm rot="20100000">
              <a:off x="1807455" y="23491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" name="Ядрышко"/>
            <p:cNvSpPr/>
            <p:nvPr/>
          </p:nvSpPr>
          <p:spPr>
            <a:xfrm>
              <a:off x="1836716" y="24007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" name="Просвет канальца"/>
            <p:cNvSpPr/>
            <p:nvPr/>
          </p:nvSpPr>
          <p:spPr>
            <a:xfrm>
              <a:off x="902350" y="2284336"/>
              <a:ext cx="893191" cy="720900"/>
            </a:xfrm>
            <a:custGeom>
              <a:avLst/>
              <a:gdLst/>
              <a:ahLst/>
              <a:cxnLst/>
              <a:rect l="l" t="t" r="r" b="b"/>
              <a:pathLst>
                <a:path w="893191" h="720900">
                  <a:moveTo>
                    <a:pt x="883515" y="230784"/>
                  </a:moveTo>
                  <a:lnTo>
                    <a:pt x="887847" y="248899"/>
                  </a:lnTo>
                  <a:lnTo>
                    <a:pt x="890956" y="267299"/>
                  </a:lnTo>
                  <a:lnTo>
                    <a:pt x="892762" y="285943"/>
                  </a:lnTo>
                  <a:lnTo>
                    <a:pt x="893191" y="304778"/>
                  </a:lnTo>
                  <a:lnTo>
                    <a:pt x="892173" y="323738"/>
                  </a:lnTo>
                  <a:lnTo>
                    <a:pt x="889662" y="342746"/>
                  </a:lnTo>
                  <a:lnTo>
                    <a:pt x="885632" y="361716"/>
                  </a:lnTo>
                  <a:lnTo>
                    <a:pt x="880091" y="380555"/>
                  </a:lnTo>
                  <a:lnTo>
                    <a:pt x="873078" y="399174"/>
                  </a:lnTo>
                  <a:lnTo>
                    <a:pt x="864662" y="417489"/>
                  </a:lnTo>
                  <a:lnTo>
                    <a:pt x="854943" y="435428"/>
                  </a:lnTo>
                  <a:lnTo>
                    <a:pt x="844044" y="452936"/>
                  </a:lnTo>
                  <a:lnTo>
                    <a:pt x="832102" y="469979"/>
                  </a:lnTo>
                  <a:lnTo>
                    <a:pt x="819258" y="486544"/>
                  </a:lnTo>
                  <a:lnTo>
                    <a:pt x="805652" y="502638"/>
                  </a:lnTo>
                  <a:lnTo>
                    <a:pt x="791406" y="518290"/>
                  </a:lnTo>
                  <a:lnTo>
                    <a:pt x="776623" y="533540"/>
                  </a:lnTo>
                  <a:lnTo>
                    <a:pt x="761375" y="548435"/>
                  </a:lnTo>
                  <a:lnTo>
                    <a:pt x="745702" y="563024"/>
                  </a:lnTo>
                  <a:lnTo>
                    <a:pt x="729611" y="577346"/>
                  </a:lnTo>
                  <a:lnTo>
                    <a:pt x="713079" y="591424"/>
                  </a:lnTo>
                  <a:lnTo>
                    <a:pt x="696058" y="605261"/>
                  </a:lnTo>
                  <a:lnTo>
                    <a:pt x="678483" y="618828"/>
                  </a:lnTo>
                  <a:lnTo>
                    <a:pt x="660281" y="632071"/>
                  </a:lnTo>
                  <a:lnTo>
                    <a:pt x="641382" y="644900"/>
                  </a:lnTo>
                  <a:lnTo>
                    <a:pt x="621730" y="657204"/>
                  </a:lnTo>
                  <a:lnTo>
                    <a:pt x="601289" y="668843"/>
                  </a:lnTo>
                  <a:lnTo>
                    <a:pt x="580055" y="679666"/>
                  </a:lnTo>
                  <a:lnTo>
                    <a:pt x="558056" y="689515"/>
                  </a:lnTo>
                  <a:lnTo>
                    <a:pt x="535359" y="698236"/>
                  </a:lnTo>
                  <a:lnTo>
                    <a:pt x="512062" y="705686"/>
                  </a:lnTo>
                  <a:lnTo>
                    <a:pt x="488295" y="711747"/>
                  </a:lnTo>
                  <a:lnTo>
                    <a:pt x="464211" y="716332"/>
                  </a:lnTo>
                  <a:lnTo>
                    <a:pt x="439977" y="719387"/>
                  </a:lnTo>
                  <a:lnTo>
                    <a:pt x="415762" y="720900"/>
                  </a:lnTo>
                  <a:lnTo>
                    <a:pt x="391733" y="720893"/>
                  </a:lnTo>
                  <a:lnTo>
                    <a:pt x="368040" y="719429"/>
                  </a:lnTo>
                  <a:lnTo>
                    <a:pt x="344810" y="716597"/>
                  </a:lnTo>
                  <a:lnTo>
                    <a:pt x="322142" y="712512"/>
                  </a:lnTo>
                  <a:lnTo>
                    <a:pt x="300106" y="707301"/>
                  </a:lnTo>
                  <a:lnTo>
                    <a:pt x="278740" y="701096"/>
                  </a:lnTo>
                  <a:lnTo>
                    <a:pt x="258055" y="694027"/>
                  </a:lnTo>
                  <a:lnTo>
                    <a:pt x="238042" y="686209"/>
                  </a:lnTo>
                  <a:lnTo>
                    <a:pt x="218675" y="677738"/>
                  </a:lnTo>
                  <a:lnTo>
                    <a:pt x="199924" y="668687"/>
                  </a:lnTo>
                  <a:lnTo>
                    <a:pt x="181761" y="659104"/>
                  </a:lnTo>
                  <a:lnTo>
                    <a:pt x="164169" y="649012"/>
                  </a:lnTo>
                  <a:lnTo>
                    <a:pt x="147146" y="638409"/>
                  </a:lnTo>
                  <a:lnTo>
                    <a:pt x="130712" y="627278"/>
                  </a:lnTo>
                  <a:lnTo>
                    <a:pt x="114908" y="615590"/>
                  </a:lnTo>
                  <a:lnTo>
                    <a:pt x="99798" y="603312"/>
                  </a:lnTo>
                  <a:lnTo>
                    <a:pt x="85463" y="590410"/>
                  </a:lnTo>
                  <a:lnTo>
                    <a:pt x="71996" y="576862"/>
                  </a:lnTo>
                  <a:lnTo>
                    <a:pt x="59496" y="562656"/>
                  </a:lnTo>
                  <a:lnTo>
                    <a:pt x="48059" y="547799"/>
                  </a:lnTo>
                  <a:lnTo>
                    <a:pt x="37770" y="532313"/>
                  </a:lnTo>
                  <a:lnTo>
                    <a:pt x="28697" y="516239"/>
                  </a:lnTo>
                  <a:lnTo>
                    <a:pt x="20887" y="499631"/>
                  </a:lnTo>
                  <a:lnTo>
                    <a:pt x="14358" y="482555"/>
                  </a:lnTo>
                  <a:lnTo>
                    <a:pt x="9105" y="465081"/>
                  </a:lnTo>
                  <a:lnTo>
                    <a:pt x="5098" y="447281"/>
                  </a:lnTo>
                  <a:lnTo>
                    <a:pt x="2287" y="429223"/>
                  </a:lnTo>
                  <a:lnTo>
                    <a:pt x="610" y="410965"/>
                  </a:lnTo>
                  <a:lnTo>
                    <a:pt x="0" y="392555"/>
                  </a:lnTo>
                  <a:lnTo>
                    <a:pt x="393" y="374030"/>
                  </a:lnTo>
                  <a:lnTo>
                    <a:pt x="1736" y="355415"/>
                  </a:lnTo>
                  <a:lnTo>
                    <a:pt x="3994" y="336726"/>
                  </a:lnTo>
                  <a:lnTo>
                    <a:pt x="7158" y="317976"/>
                  </a:lnTo>
                  <a:lnTo>
                    <a:pt x="11241" y="299177"/>
                  </a:lnTo>
                  <a:lnTo>
                    <a:pt x="16285" y="280348"/>
                  </a:lnTo>
                  <a:lnTo>
                    <a:pt x="22351" y="261519"/>
                  </a:lnTo>
                  <a:lnTo>
                    <a:pt x="29519" y="242736"/>
                  </a:lnTo>
                  <a:lnTo>
                    <a:pt x="37875" y="224064"/>
                  </a:lnTo>
                  <a:lnTo>
                    <a:pt x="47508" y="205587"/>
                  </a:lnTo>
                  <a:lnTo>
                    <a:pt x="58493" y="187411"/>
                  </a:lnTo>
                  <a:lnTo>
                    <a:pt x="70887" y="169655"/>
                  </a:lnTo>
                  <a:lnTo>
                    <a:pt x="84719" y="152453"/>
                  </a:lnTo>
                  <a:lnTo>
                    <a:pt x="99981" y="135942"/>
                  </a:lnTo>
                  <a:lnTo>
                    <a:pt x="116632" y="120254"/>
                  </a:lnTo>
                  <a:lnTo>
                    <a:pt x="134589" y="105513"/>
                  </a:lnTo>
                  <a:lnTo>
                    <a:pt x="153736" y="91823"/>
                  </a:lnTo>
                  <a:lnTo>
                    <a:pt x="173927" y="79259"/>
                  </a:lnTo>
                  <a:lnTo>
                    <a:pt x="194995" y="67868"/>
                  </a:lnTo>
                  <a:lnTo>
                    <a:pt x="216761" y="57662"/>
                  </a:lnTo>
                  <a:lnTo>
                    <a:pt x="239046" y="48618"/>
                  </a:lnTo>
                  <a:lnTo>
                    <a:pt x="261680" y="40682"/>
                  </a:lnTo>
                  <a:lnTo>
                    <a:pt x="284513" y="33771"/>
                  </a:lnTo>
                  <a:lnTo>
                    <a:pt x="307421" y="27786"/>
                  </a:lnTo>
                  <a:lnTo>
                    <a:pt x="330312" y="22613"/>
                  </a:lnTo>
                  <a:lnTo>
                    <a:pt x="353128" y="18139"/>
                  </a:lnTo>
                  <a:lnTo>
                    <a:pt x="375844" y="14259"/>
                  </a:lnTo>
                  <a:lnTo>
                    <a:pt x="398463" y="10885"/>
                  </a:lnTo>
                  <a:lnTo>
                    <a:pt x="421011" y="7956"/>
                  </a:lnTo>
                  <a:lnTo>
                    <a:pt x="443527" y="5439"/>
                  </a:lnTo>
                  <a:lnTo>
                    <a:pt x="466054" y="3336"/>
                  </a:lnTo>
                  <a:lnTo>
                    <a:pt x="488629" y="1681"/>
                  </a:lnTo>
                  <a:lnTo>
                    <a:pt x="511273" y="539"/>
                  </a:lnTo>
                  <a:lnTo>
                    <a:pt x="533988" y="0"/>
                  </a:lnTo>
                  <a:lnTo>
                    <a:pt x="556747" y="172"/>
                  </a:lnTo>
                  <a:lnTo>
                    <a:pt x="579494" y="1171"/>
                  </a:lnTo>
                  <a:lnTo>
                    <a:pt x="602146" y="3111"/>
                  </a:lnTo>
                  <a:lnTo>
                    <a:pt x="624592" y="6100"/>
                  </a:lnTo>
                  <a:lnTo>
                    <a:pt x="646705" y="10226"/>
                  </a:lnTo>
                  <a:lnTo>
                    <a:pt x="668345" y="15552"/>
                  </a:lnTo>
                  <a:lnTo>
                    <a:pt x="689368" y="22113"/>
                  </a:lnTo>
                  <a:lnTo>
                    <a:pt x="709638" y="29914"/>
                  </a:lnTo>
                  <a:lnTo>
                    <a:pt x="729032" y="38930"/>
                  </a:lnTo>
                  <a:lnTo>
                    <a:pt x="747446" y="49107"/>
                  </a:lnTo>
                  <a:lnTo>
                    <a:pt x="764804" y="60373"/>
                  </a:lnTo>
                  <a:lnTo>
                    <a:pt x="781054" y="72635"/>
                  </a:lnTo>
                  <a:lnTo>
                    <a:pt x="796172" y="85794"/>
                  </a:lnTo>
                  <a:lnTo>
                    <a:pt x="810156" y="99748"/>
                  </a:lnTo>
                  <a:lnTo>
                    <a:pt x="823022" y="114401"/>
                  </a:lnTo>
                  <a:lnTo>
                    <a:pt x="834797" y="129664"/>
                  </a:lnTo>
                  <a:lnTo>
                    <a:pt x="845509" y="145463"/>
                  </a:lnTo>
                  <a:lnTo>
                    <a:pt x="855184" y="161735"/>
                  </a:lnTo>
                  <a:lnTo>
                    <a:pt x="863835" y="178435"/>
                  </a:lnTo>
                  <a:lnTo>
                    <a:pt x="871458" y="195527"/>
                  </a:lnTo>
                  <a:lnTo>
                    <a:pt x="878032" y="212985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1" name="Базальная мембрана канальца"/>
            <p:cNvSpPr/>
            <p:nvPr/>
          </p:nvSpPr>
          <p:spPr>
            <a:xfrm>
              <a:off x="2237738" y="2356897"/>
              <a:ext cx="1325180" cy="1186829"/>
            </a:xfrm>
            <a:custGeom>
              <a:avLst/>
              <a:gdLst/>
              <a:ahLst/>
              <a:cxnLst/>
              <a:rect l="l" t="t" r="r" b="b"/>
              <a:pathLst>
                <a:path w="1325180" h="1186829">
                  <a:moveTo>
                    <a:pt x="1261704" y="809470"/>
                  </a:moveTo>
                  <a:lnTo>
                    <a:pt x="1247702" y="835897"/>
                  </a:lnTo>
                  <a:lnTo>
                    <a:pt x="1233007" y="861760"/>
                  </a:lnTo>
                  <a:lnTo>
                    <a:pt x="1217674" y="887134"/>
                  </a:lnTo>
                  <a:lnTo>
                    <a:pt x="1201696" y="912078"/>
                  </a:lnTo>
                  <a:lnTo>
                    <a:pt x="1185010" y="936615"/>
                  </a:lnTo>
                  <a:lnTo>
                    <a:pt x="1167512" y="960732"/>
                  </a:lnTo>
                  <a:lnTo>
                    <a:pt x="1149071" y="984370"/>
                  </a:lnTo>
                  <a:lnTo>
                    <a:pt x="1129541" y="1007429"/>
                  </a:lnTo>
                  <a:lnTo>
                    <a:pt x="1108784" y="1029771"/>
                  </a:lnTo>
                  <a:lnTo>
                    <a:pt x="1086681" y="1051228"/>
                  </a:lnTo>
                  <a:lnTo>
                    <a:pt x="1063144" y="1071612"/>
                  </a:lnTo>
                  <a:lnTo>
                    <a:pt x="1038129" y="1090731"/>
                  </a:lnTo>
                  <a:lnTo>
                    <a:pt x="1011636" y="1108399"/>
                  </a:lnTo>
                  <a:lnTo>
                    <a:pt x="983715" y="1124452"/>
                  </a:lnTo>
                  <a:lnTo>
                    <a:pt x="954455" y="1138754"/>
                  </a:lnTo>
                  <a:lnTo>
                    <a:pt x="923983" y="1151211"/>
                  </a:lnTo>
                  <a:lnTo>
                    <a:pt x="892452" y="1161767"/>
                  </a:lnTo>
                  <a:lnTo>
                    <a:pt x="860029" y="1170413"/>
                  </a:lnTo>
                  <a:lnTo>
                    <a:pt x="826882" y="1177174"/>
                  </a:lnTo>
                  <a:lnTo>
                    <a:pt x="793173" y="1182110"/>
                  </a:lnTo>
                  <a:lnTo>
                    <a:pt x="759050" y="1185298"/>
                  </a:lnTo>
                  <a:lnTo>
                    <a:pt x="724638" y="1186829"/>
                  </a:lnTo>
                  <a:lnTo>
                    <a:pt x="690040" y="1186789"/>
                  </a:lnTo>
                  <a:lnTo>
                    <a:pt x="655339" y="1185253"/>
                  </a:lnTo>
                  <a:lnTo>
                    <a:pt x="620603" y="1182273"/>
                  </a:lnTo>
                  <a:lnTo>
                    <a:pt x="585889" y="1177875"/>
                  </a:lnTo>
                  <a:lnTo>
                    <a:pt x="551257" y="1172053"/>
                  </a:lnTo>
                  <a:lnTo>
                    <a:pt x="516774" y="1164773"/>
                  </a:lnTo>
                  <a:lnTo>
                    <a:pt x="482527" y="1155979"/>
                  </a:lnTo>
                  <a:lnTo>
                    <a:pt x="448624" y="1145599"/>
                  </a:lnTo>
                  <a:lnTo>
                    <a:pt x="415202" y="1133556"/>
                  </a:lnTo>
                  <a:lnTo>
                    <a:pt x="382424" y="1119780"/>
                  </a:lnTo>
                  <a:lnTo>
                    <a:pt x="350475" y="1104221"/>
                  </a:lnTo>
                  <a:lnTo>
                    <a:pt x="319556" y="1086858"/>
                  </a:lnTo>
                  <a:lnTo>
                    <a:pt x="289871" y="1067707"/>
                  </a:lnTo>
                  <a:lnTo>
                    <a:pt x="261618" y="1046827"/>
                  </a:lnTo>
                  <a:lnTo>
                    <a:pt x="234972" y="1024321"/>
                  </a:lnTo>
                  <a:lnTo>
                    <a:pt x="210075" y="1000333"/>
                  </a:lnTo>
                  <a:lnTo>
                    <a:pt x="187024" y="975039"/>
                  </a:lnTo>
                  <a:lnTo>
                    <a:pt x="165862" y="948642"/>
                  </a:lnTo>
                  <a:lnTo>
                    <a:pt x="146576" y="921354"/>
                  </a:lnTo>
                  <a:lnTo>
                    <a:pt x="129096" y="893386"/>
                  </a:lnTo>
                  <a:lnTo>
                    <a:pt x="113302" y="864935"/>
                  </a:lnTo>
                  <a:lnTo>
                    <a:pt x="99036" y="836169"/>
                  </a:lnTo>
                  <a:lnTo>
                    <a:pt x="86110" y="807221"/>
                  </a:lnTo>
                  <a:lnTo>
                    <a:pt x="74329" y="778179"/>
                  </a:lnTo>
                  <a:lnTo>
                    <a:pt x="63508" y="749088"/>
                  </a:lnTo>
                  <a:lnTo>
                    <a:pt x="53487" y="719951"/>
                  </a:lnTo>
                  <a:lnTo>
                    <a:pt x="44148" y="690735"/>
                  </a:lnTo>
                  <a:lnTo>
                    <a:pt x="35433" y="661382"/>
                  </a:lnTo>
                  <a:lnTo>
                    <a:pt x="27344" y="631818"/>
                  </a:lnTo>
                  <a:lnTo>
                    <a:pt x="19954" y="601975"/>
                  </a:lnTo>
                  <a:lnTo>
                    <a:pt x="13400" y="571796"/>
                  </a:lnTo>
                  <a:lnTo>
                    <a:pt x="7876" y="541253"/>
                  </a:lnTo>
                  <a:lnTo>
                    <a:pt x="3622" y="510356"/>
                  </a:lnTo>
                  <a:lnTo>
                    <a:pt x="905" y="479162"/>
                  </a:lnTo>
                  <a:lnTo>
                    <a:pt x="0" y="447773"/>
                  </a:lnTo>
                  <a:lnTo>
                    <a:pt x="1171" y="416338"/>
                  </a:lnTo>
                  <a:lnTo>
                    <a:pt x="4652" y="385046"/>
                  </a:lnTo>
                  <a:lnTo>
                    <a:pt x="10629" y="354116"/>
                  </a:lnTo>
                  <a:lnTo>
                    <a:pt x="19226" y="323786"/>
                  </a:lnTo>
                  <a:lnTo>
                    <a:pt x="30498" y="294294"/>
                  </a:lnTo>
                  <a:lnTo>
                    <a:pt x="44429" y="265870"/>
                  </a:lnTo>
                  <a:lnTo>
                    <a:pt x="60929" y="238718"/>
                  </a:lnTo>
                  <a:lnTo>
                    <a:pt x="79848" y="213005"/>
                  </a:lnTo>
                  <a:lnTo>
                    <a:pt x="100985" y="188855"/>
                  </a:lnTo>
                  <a:lnTo>
                    <a:pt x="124102" y="166342"/>
                  </a:lnTo>
                  <a:lnTo>
                    <a:pt x="148939" y="145493"/>
                  </a:lnTo>
                  <a:lnTo>
                    <a:pt x="175238" y="126288"/>
                  </a:lnTo>
                  <a:lnTo>
                    <a:pt x="202748" y="108675"/>
                  </a:lnTo>
                  <a:lnTo>
                    <a:pt x="231248" y="92573"/>
                  </a:lnTo>
                  <a:lnTo>
                    <a:pt x="260549" y="77888"/>
                  </a:lnTo>
                  <a:lnTo>
                    <a:pt x="290505" y="64530"/>
                  </a:lnTo>
                  <a:lnTo>
                    <a:pt x="321008" y="52417"/>
                  </a:lnTo>
                  <a:lnTo>
                    <a:pt x="351989" y="41492"/>
                  </a:lnTo>
                  <a:lnTo>
                    <a:pt x="383410" y="31728"/>
                  </a:lnTo>
                  <a:lnTo>
                    <a:pt x="415253" y="23134"/>
                  </a:lnTo>
                  <a:lnTo>
                    <a:pt x="447512" y="15749"/>
                  </a:lnTo>
                  <a:lnTo>
                    <a:pt x="480177" y="9644"/>
                  </a:lnTo>
                  <a:lnTo>
                    <a:pt x="513232" y="4914"/>
                  </a:lnTo>
                  <a:lnTo>
                    <a:pt x="546639" y="1664"/>
                  </a:lnTo>
                  <a:lnTo>
                    <a:pt x="580339" y="0"/>
                  </a:lnTo>
                  <a:lnTo>
                    <a:pt x="614250" y="19"/>
                  </a:lnTo>
                  <a:lnTo>
                    <a:pt x="648265" y="1794"/>
                  </a:lnTo>
                  <a:lnTo>
                    <a:pt x="682264" y="5369"/>
                  </a:lnTo>
                  <a:lnTo>
                    <a:pt x="716116" y="10751"/>
                  </a:lnTo>
                  <a:lnTo>
                    <a:pt x="749693" y="17909"/>
                  </a:lnTo>
                  <a:lnTo>
                    <a:pt x="782875" y="26773"/>
                  </a:lnTo>
                  <a:lnTo>
                    <a:pt x="815564" y="37241"/>
                  </a:lnTo>
                  <a:lnTo>
                    <a:pt x="847684" y="49190"/>
                  </a:lnTo>
                  <a:lnTo>
                    <a:pt x="879192" y="62480"/>
                  </a:lnTo>
                  <a:lnTo>
                    <a:pt x="910071" y="76974"/>
                  </a:lnTo>
                  <a:lnTo>
                    <a:pt x="940334" y="92543"/>
                  </a:lnTo>
                  <a:lnTo>
                    <a:pt x="970009" y="109081"/>
                  </a:lnTo>
                  <a:lnTo>
                    <a:pt x="999136" y="126511"/>
                  </a:lnTo>
                  <a:lnTo>
                    <a:pt x="1027750" y="144792"/>
                  </a:lnTo>
                  <a:lnTo>
                    <a:pt x="1055872" y="163919"/>
                  </a:lnTo>
                  <a:lnTo>
                    <a:pt x="1083493" y="183922"/>
                  </a:lnTo>
                  <a:lnTo>
                    <a:pt x="1110566" y="204858"/>
                  </a:lnTo>
                  <a:lnTo>
                    <a:pt x="1136996" y="226801"/>
                  </a:lnTo>
                  <a:lnTo>
                    <a:pt x="1162640" y="249831"/>
                  </a:lnTo>
                  <a:lnTo>
                    <a:pt x="1187306" y="274023"/>
                  </a:lnTo>
                  <a:lnTo>
                    <a:pt x="1210758" y="299429"/>
                  </a:lnTo>
                  <a:lnTo>
                    <a:pt x="1232728" y="326070"/>
                  </a:lnTo>
                  <a:lnTo>
                    <a:pt x="1252932" y="353926"/>
                  </a:lnTo>
                  <a:lnTo>
                    <a:pt x="1271083" y="382932"/>
                  </a:lnTo>
                  <a:lnTo>
                    <a:pt x="1286913" y="412972"/>
                  </a:lnTo>
                  <a:lnTo>
                    <a:pt x="1300189" y="443887"/>
                  </a:lnTo>
                  <a:lnTo>
                    <a:pt x="1310732" y="475480"/>
                  </a:lnTo>
                  <a:lnTo>
                    <a:pt x="1318426" y="507525"/>
                  </a:lnTo>
                  <a:lnTo>
                    <a:pt x="1323230" y="539783"/>
                  </a:lnTo>
                  <a:lnTo>
                    <a:pt x="1325180" y="572012"/>
                  </a:lnTo>
                  <a:lnTo>
                    <a:pt x="1324390" y="603987"/>
                  </a:lnTo>
                  <a:lnTo>
                    <a:pt x="1321036" y="635511"/>
                  </a:lnTo>
                  <a:lnTo>
                    <a:pt x="1315353" y="666423"/>
                  </a:lnTo>
                  <a:lnTo>
                    <a:pt x="1307610" y="696609"/>
                  </a:lnTo>
                  <a:lnTo>
                    <a:pt x="1298099" y="726005"/>
                  </a:lnTo>
                  <a:lnTo>
                    <a:pt x="1287106" y="754592"/>
                  </a:lnTo>
                  <a:lnTo>
                    <a:pt x="1274898" y="782394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2" name="Клетка однослойного эпителия"/>
            <p:cNvSpPr/>
            <p:nvPr/>
          </p:nvSpPr>
          <p:spPr>
            <a:xfrm>
              <a:off x="3228925" y="3093174"/>
              <a:ext cx="244639" cy="221520"/>
            </a:xfrm>
            <a:custGeom>
              <a:avLst/>
              <a:gdLst/>
              <a:ahLst/>
              <a:cxnLst/>
              <a:rect l="l" t="t" r="r" b="b"/>
              <a:pathLst>
                <a:path w="244639" h="221520">
                  <a:moveTo>
                    <a:pt x="244639" y="63774"/>
                  </a:moveTo>
                  <a:lnTo>
                    <a:pt x="235381" y="80436"/>
                  </a:lnTo>
                  <a:lnTo>
                    <a:pt x="225872" y="96839"/>
                  </a:lnTo>
                  <a:lnTo>
                    <a:pt x="216140" y="113014"/>
                  </a:lnTo>
                  <a:lnTo>
                    <a:pt x="206200" y="128990"/>
                  </a:lnTo>
                  <a:lnTo>
                    <a:pt x="196054" y="144790"/>
                  </a:lnTo>
                  <a:lnTo>
                    <a:pt x="185690" y="160432"/>
                  </a:lnTo>
                  <a:lnTo>
                    <a:pt x="175088" y="175928"/>
                  </a:lnTo>
                  <a:lnTo>
                    <a:pt x="164215" y="191280"/>
                  </a:lnTo>
                  <a:lnTo>
                    <a:pt x="153033" y="206483"/>
                  </a:lnTo>
                  <a:lnTo>
                    <a:pt x="141497" y="221520"/>
                  </a:lnTo>
                  <a:lnTo>
                    <a:pt x="0" y="102789"/>
                  </a:lnTo>
                  <a:lnTo>
                    <a:pt x="7801" y="93015"/>
                  </a:lnTo>
                  <a:lnTo>
                    <a:pt x="15354" y="83127"/>
                  </a:lnTo>
                  <a:lnTo>
                    <a:pt x="22691" y="73135"/>
                  </a:lnTo>
                  <a:lnTo>
                    <a:pt x="29837" y="63044"/>
                  </a:lnTo>
                  <a:lnTo>
                    <a:pt x="36815" y="52853"/>
                  </a:lnTo>
                  <a:lnTo>
                    <a:pt x="43640" y="42555"/>
                  </a:lnTo>
                  <a:lnTo>
                    <a:pt x="50320" y="32138"/>
                  </a:lnTo>
                  <a:lnTo>
                    <a:pt x="56851" y="21586"/>
                  </a:lnTo>
                  <a:lnTo>
                    <a:pt x="63225" y="10880"/>
                  </a:lnTo>
                  <a:lnTo>
                    <a:pt x="69421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3" name="Ядро эпителиальной клетки"/>
            <p:cNvSpPr/>
            <p:nvPr/>
          </p:nvSpPr>
          <p:spPr>
            <a:xfrm rot="1800000">
              <a:off x="3296454" y="312386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4" name="Ядрышко"/>
            <p:cNvSpPr/>
            <p:nvPr/>
          </p:nvSpPr>
          <p:spPr>
            <a:xfrm>
              <a:off x="3325715" y="317552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5" name="Клетка однослойного эпителия"/>
            <p:cNvSpPr/>
            <p:nvPr/>
          </p:nvSpPr>
          <p:spPr>
            <a:xfrm>
              <a:off x="3130786" y="3195963"/>
              <a:ext cx="239636" cy="251274"/>
            </a:xfrm>
            <a:custGeom>
              <a:avLst/>
              <a:gdLst/>
              <a:ahLst/>
              <a:cxnLst/>
              <a:rect l="l" t="t" r="r" b="b"/>
              <a:pathLst>
                <a:path w="239636" h="251274">
                  <a:moveTo>
                    <a:pt x="239636" y="118731"/>
                  </a:moveTo>
                  <a:lnTo>
                    <a:pt x="227700" y="133578"/>
                  </a:lnTo>
                  <a:lnTo>
                    <a:pt x="215314" y="148202"/>
                  </a:lnTo>
                  <a:lnTo>
                    <a:pt x="202434" y="162563"/>
                  </a:lnTo>
                  <a:lnTo>
                    <a:pt x="189016" y="176612"/>
                  </a:lnTo>
                  <a:lnTo>
                    <a:pt x="175022" y="190298"/>
                  </a:lnTo>
                  <a:lnTo>
                    <a:pt x="160423" y="203563"/>
                  </a:lnTo>
                  <a:lnTo>
                    <a:pt x="145198" y="216350"/>
                  </a:lnTo>
                  <a:lnTo>
                    <a:pt x="129332" y="228601"/>
                  </a:lnTo>
                  <a:lnTo>
                    <a:pt x="112824" y="240260"/>
                  </a:lnTo>
                  <a:lnTo>
                    <a:pt x="95679" y="251274"/>
                  </a:lnTo>
                  <a:lnTo>
                    <a:pt x="0" y="85552"/>
                  </a:lnTo>
                  <a:lnTo>
                    <a:pt x="11756" y="78517"/>
                  </a:lnTo>
                  <a:lnTo>
                    <a:pt x="23060" y="71046"/>
                  </a:lnTo>
                  <a:lnTo>
                    <a:pt x="33909" y="63175"/>
                  </a:lnTo>
                  <a:lnTo>
                    <a:pt x="44307" y="54940"/>
                  </a:lnTo>
                  <a:lnTo>
                    <a:pt x="54262" y="46381"/>
                  </a:lnTo>
                  <a:lnTo>
                    <a:pt x="63790" y="37535"/>
                  </a:lnTo>
                  <a:lnTo>
                    <a:pt x="72913" y="28441"/>
                  </a:lnTo>
                  <a:lnTo>
                    <a:pt x="81659" y="19133"/>
                  </a:lnTo>
                  <a:lnTo>
                    <a:pt x="90056" y="9643"/>
                  </a:lnTo>
                  <a:lnTo>
                    <a:pt x="98139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6" name="Ядро эпителиальной клетки"/>
            <p:cNvSpPr/>
            <p:nvPr/>
          </p:nvSpPr>
          <p:spPr>
            <a:xfrm rot="3000000">
              <a:off x="3197292" y="324512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7" name="Ядрышко"/>
            <p:cNvSpPr/>
            <p:nvPr/>
          </p:nvSpPr>
          <p:spPr>
            <a:xfrm>
              <a:off x="3226553" y="329679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8" name="Клетка однослойного эпителия"/>
            <p:cNvSpPr/>
            <p:nvPr/>
          </p:nvSpPr>
          <p:spPr>
            <a:xfrm>
              <a:off x="2993028" y="3281515"/>
              <a:ext cx="233437" cy="233644"/>
            </a:xfrm>
            <a:custGeom>
              <a:avLst/>
              <a:gdLst/>
              <a:ahLst/>
              <a:cxnLst/>
              <a:rect l="l" t="t" r="r" b="b"/>
              <a:pathLst>
                <a:path w="233437" h="233644">
                  <a:moveTo>
                    <a:pt x="233437" y="165722"/>
                  </a:moveTo>
                  <a:lnTo>
                    <a:pt x="215673" y="176044"/>
                  </a:lnTo>
                  <a:lnTo>
                    <a:pt x="197312" y="185634"/>
                  </a:lnTo>
                  <a:lnTo>
                    <a:pt x="178388" y="194457"/>
                  </a:lnTo>
                  <a:lnTo>
                    <a:pt x="158938" y="202488"/>
                  </a:lnTo>
                  <a:lnTo>
                    <a:pt x="139007" y="209710"/>
                  </a:lnTo>
                  <a:lnTo>
                    <a:pt x="118640" y="216115"/>
                  </a:lnTo>
                  <a:lnTo>
                    <a:pt x="97886" y="221701"/>
                  </a:lnTo>
                  <a:lnTo>
                    <a:pt x="76793" y="226475"/>
                  </a:lnTo>
                  <a:lnTo>
                    <a:pt x="55410" y="230450"/>
                  </a:lnTo>
                  <a:lnTo>
                    <a:pt x="33783" y="233644"/>
                  </a:lnTo>
                  <a:lnTo>
                    <a:pt x="0" y="42051"/>
                  </a:lnTo>
                  <a:lnTo>
                    <a:pt x="14982" y="40248"/>
                  </a:lnTo>
                  <a:lnTo>
                    <a:pt x="29782" y="37925"/>
                  </a:lnTo>
                  <a:lnTo>
                    <a:pt x="44370" y="35069"/>
                  </a:lnTo>
                  <a:lnTo>
                    <a:pt x="58711" y="31673"/>
                  </a:lnTo>
                  <a:lnTo>
                    <a:pt x="72771" y="27730"/>
                  </a:lnTo>
                  <a:lnTo>
                    <a:pt x="86517" y="23240"/>
                  </a:lnTo>
                  <a:lnTo>
                    <a:pt x="99917" y="18209"/>
                  </a:lnTo>
                  <a:lnTo>
                    <a:pt x="112941" y="12647"/>
                  </a:lnTo>
                  <a:lnTo>
                    <a:pt x="125561" y="6570"/>
                  </a:lnTo>
                  <a:lnTo>
                    <a:pt x="137758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9" name="Ядро эпителиальной клетки"/>
            <p:cNvSpPr/>
            <p:nvPr/>
          </p:nvSpPr>
          <p:spPr>
            <a:xfrm rot="4200000">
              <a:off x="3051872" y="333030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0" name="Ядрышко"/>
            <p:cNvSpPr/>
            <p:nvPr/>
          </p:nvSpPr>
          <p:spPr>
            <a:xfrm>
              <a:off x="3081133" y="33819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1" name="Клетка однослойного эпителия"/>
            <p:cNvSpPr/>
            <p:nvPr/>
          </p:nvSpPr>
          <p:spPr>
            <a:xfrm>
              <a:off x="2804539" y="3316181"/>
              <a:ext cx="222272" cy="204395"/>
            </a:xfrm>
            <a:custGeom>
              <a:avLst/>
              <a:gdLst/>
              <a:ahLst/>
              <a:cxnLst/>
              <a:rect l="l" t="t" r="r" b="b"/>
              <a:pathLst>
                <a:path w="222272" h="204395">
                  <a:moveTo>
                    <a:pt x="222272" y="198978"/>
                  </a:moveTo>
                  <a:lnTo>
                    <a:pt x="200441" y="201413"/>
                  </a:lnTo>
                  <a:lnTo>
                    <a:pt x="178447" y="203111"/>
                  </a:lnTo>
                  <a:lnTo>
                    <a:pt x="156324" y="204097"/>
                  </a:lnTo>
                  <a:lnTo>
                    <a:pt x="134102" y="204395"/>
                  </a:lnTo>
                  <a:lnTo>
                    <a:pt x="111807" y="204025"/>
                  </a:lnTo>
                  <a:lnTo>
                    <a:pt x="89464" y="203004"/>
                  </a:lnTo>
                  <a:lnTo>
                    <a:pt x="67092" y="201345"/>
                  </a:lnTo>
                  <a:lnTo>
                    <a:pt x="44711" y="199056"/>
                  </a:lnTo>
                  <a:lnTo>
                    <a:pt x="22341" y="196138"/>
                  </a:lnTo>
                  <a:lnTo>
                    <a:pt x="0" y="192588"/>
                  </a:lnTo>
                  <a:lnTo>
                    <a:pt x="33958" y="0"/>
                  </a:lnTo>
                  <a:lnTo>
                    <a:pt x="49532" y="2664"/>
                  </a:lnTo>
                  <a:lnTo>
                    <a:pt x="65117" y="4911"/>
                  </a:lnTo>
                  <a:lnTo>
                    <a:pt x="80700" y="6742"/>
                  </a:lnTo>
                  <a:lnTo>
                    <a:pt x="96268" y="8156"/>
                  </a:lnTo>
                  <a:lnTo>
                    <a:pt x="111807" y="9149"/>
                  </a:lnTo>
                  <a:lnTo>
                    <a:pt x="127303" y="9711"/>
                  </a:lnTo>
                  <a:lnTo>
                    <a:pt x="142740" y="9830"/>
                  </a:lnTo>
                  <a:lnTo>
                    <a:pt x="158097" y="9493"/>
                  </a:lnTo>
                  <a:lnTo>
                    <a:pt x="173355" y="8684"/>
                  </a:lnTo>
                  <a:lnTo>
                    <a:pt x="188489" y="738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2" name="Ядро эпителиальной клетки"/>
            <p:cNvSpPr/>
            <p:nvPr/>
          </p:nvSpPr>
          <p:spPr>
            <a:xfrm rot="5400000">
              <a:off x="2870626" y="33525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3" name="Ядрышко"/>
            <p:cNvSpPr/>
            <p:nvPr/>
          </p:nvSpPr>
          <p:spPr>
            <a:xfrm>
              <a:off x="2899887" y="340424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4" name="Клетка однослойного эпителия"/>
            <p:cNvSpPr/>
            <p:nvPr/>
          </p:nvSpPr>
          <p:spPr>
            <a:xfrm>
              <a:off x="2589552" y="3264379"/>
              <a:ext cx="248945" cy="244390"/>
            </a:xfrm>
            <a:custGeom>
              <a:avLst/>
              <a:gdLst/>
              <a:ahLst/>
              <a:cxnLst/>
              <a:rect l="l" t="t" r="r" b="b"/>
              <a:pathLst>
                <a:path w="248945" h="244390">
                  <a:moveTo>
                    <a:pt x="214987" y="244390"/>
                  </a:moveTo>
                  <a:lnTo>
                    <a:pt x="192697" y="240198"/>
                  </a:lnTo>
                  <a:lnTo>
                    <a:pt x="170483" y="235351"/>
                  </a:lnTo>
                  <a:lnTo>
                    <a:pt x="148375" y="229830"/>
                  </a:lnTo>
                  <a:lnTo>
                    <a:pt x="126404" y="223615"/>
                  </a:lnTo>
                  <a:lnTo>
                    <a:pt x="104611" y="216685"/>
                  </a:lnTo>
                  <a:lnTo>
                    <a:pt x="83038" y="209017"/>
                  </a:lnTo>
                  <a:lnTo>
                    <a:pt x="61735" y="200593"/>
                  </a:lnTo>
                  <a:lnTo>
                    <a:pt x="40756" y="191395"/>
                  </a:lnTo>
                  <a:lnTo>
                    <a:pt x="20157" y="181412"/>
                  </a:lnTo>
                  <a:lnTo>
                    <a:pt x="0" y="170639"/>
                  </a:lnTo>
                  <a:lnTo>
                    <a:pt x="98519" y="0"/>
                  </a:lnTo>
                  <a:lnTo>
                    <a:pt x="112678" y="7407"/>
                  </a:lnTo>
                  <a:lnTo>
                    <a:pt x="127132" y="14298"/>
                  </a:lnTo>
                  <a:lnTo>
                    <a:pt x="141839" y="20675"/>
                  </a:lnTo>
                  <a:lnTo>
                    <a:pt x="156761" y="26546"/>
                  </a:lnTo>
                  <a:lnTo>
                    <a:pt x="171859" y="31921"/>
                  </a:lnTo>
                  <a:lnTo>
                    <a:pt x="187101" y="36811"/>
                  </a:lnTo>
                  <a:lnTo>
                    <a:pt x="202454" y="41231"/>
                  </a:lnTo>
                  <a:lnTo>
                    <a:pt x="217895" y="45194"/>
                  </a:lnTo>
                  <a:lnTo>
                    <a:pt x="233398" y="48714"/>
                  </a:lnTo>
                  <a:lnTo>
                    <a:pt x="248945" y="5180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5" name="Ядро эпителиальной клетки"/>
            <p:cNvSpPr/>
            <p:nvPr/>
          </p:nvSpPr>
          <p:spPr>
            <a:xfrm rot="6600000">
              <a:off x="2683411" y="33186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6" name="Ядрышко"/>
            <p:cNvSpPr/>
            <p:nvPr/>
          </p:nvSpPr>
          <p:spPr>
            <a:xfrm>
              <a:off x="2712672" y="33703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7" name="Клетка однослойного эпителия"/>
            <p:cNvSpPr/>
            <p:nvPr/>
          </p:nvSpPr>
          <p:spPr>
            <a:xfrm>
              <a:off x="2424176" y="3165104"/>
              <a:ext cx="263895" cy="269914"/>
            </a:xfrm>
            <a:custGeom>
              <a:avLst/>
              <a:gdLst/>
              <a:ahLst/>
              <a:cxnLst/>
              <a:rect l="l" t="t" r="r" b="b"/>
              <a:pathLst>
                <a:path w="263895" h="269914">
                  <a:moveTo>
                    <a:pt x="165376" y="269914"/>
                  </a:moveTo>
                  <a:lnTo>
                    <a:pt x="145722" y="258353"/>
                  </a:lnTo>
                  <a:lnTo>
                    <a:pt x="126631" y="246013"/>
                  </a:lnTo>
                  <a:lnTo>
                    <a:pt x="108162" y="232915"/>
                  </a:lnTo>
                  <a:lnTo>
                    <a:pt x="90371" y="219084"/>
                  </a:lnTo>
                  <a:lnTo>
                    <a:pt x="73306" y="204558"/>
                  </a:lnTo>
                  <a:lnTo>
                    <a:pt x="57009" y="189380"/>
                  </a:lnTo>
                  <a:lnTo>
                    <a:pt x="41514" y="173602"/>
                  </a:lnTo>
                  <a:lnTo>
                    <a:pt x="26842" y="157282"/>
                  </a:lnTo>
                  <a:lnTo>
                    <a:pt x="13004" y="140481"/>
                  </a:lnTo>
                  <a:lnTo>
                    <a:pt x="0" y="123264"/>
                  </a:lnTo>
                  <a:lnTo>
                    <a:pt x="146901" y="0"/>
                  </a:lnTo>
                  <a:lnTo>
                    <a:pt x="156182" y="11564"/>
                  </a:lnTo>
                  <a:lnTo>
                    <a:pt x="166035" y="22864"/>
                  </a:lnTo>
                  <a:lnTo>
                    <a:pt x="176462" y="33859"/>
                  </a:lnTo>
                  <a:lnTo>
                    <a:pt x="187453" y="44507"/>
                  </a:lnTo>
                  <a:lnTo>
                    <a:pt x="198992" y="54770"/>
                  </a:lnTo>
                  <a:lnTo>
                    <a:pt x="211056" y="64614"/>
                  </a:lnTo>
                  <a:lnTo>
                    <a:pt x="223615" y="74008"/>
                  </a:lnTo>
                  <a:lnTo>
                    <a:pt x="236633" y="82928"/>
                  </a:lnTo>
                  <a:lnTo>
                    <a:pt x="250074" y="91355"/>
                  </a:lnTo>
                  <a:lnTo>
                    <a:pt x="263895" y="99275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8" name="Ядро эпителиальной клетки"/>
            <p:cNvSpPr/>
            <p:nvPr/>
          </p:nvSpPr>
          <p:spPr>
            <a:xfrm rot="7800000">
              <a:off x="2517118" y="32254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9" name="Ядрышко"/>
            <p:cNvSpPr/>
            <p:nvPr/>
          </p:nvSpPr>
          <p:spPr>
            <a:xfrm>
              <a:off x="2546379" y="327714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0" name="Клетка однослойного эпителия"/>
            <p:cNvSpPr/>
            <p:nvPr/>
          </p:nvSpPr>
          <p:spPr>
            <a:xfrm>
              <a:off x="2332460" y="3043229"/>
              <a:ext cx="238617" cy="245139"/>
            </a:xfrm>
            <a:custGeom>
              <a:avLst/>
              <a:gdLst/>
              <a:ahLst/>
              <a:cxnLst/>
              <a:rect l="l" t="t" r="r" b="b"/>
              <a:pathLst>
                <a:path w="238617" h="245139">
                  <a:moveTo>
                    <a:pt x="91716" y="245139"/>
                  </a:moveTo>
                  <a:lnTo>
                    <a:pt x="79534" y="227572"/>
                  </a:lnTo>
                  <a:lnTo>
                    <a:pt x="68149" y="209718"/>
                  </a:lnTo>
                  <a:lnTo>
                    <a:pt x="57527" y="191640"/>
                  </a:lnTo>
                  <a:lnTo>
                    <a:pt x="47622" y="173396"/>
                  </a:lnTo>
                  <a:lnTo>
                    <a:pt x="38382" y="155035"/>
                  </a:lnTo>
                  <a:lnTo>
                    <a:pt x="29748" y="136602"/>
                  </a:lnTo>
                  <a:lnTo>
                    <a:pt x="21657" y="118132"/>
                  </a:lnTo>
                  <a:lnTo>
                    <a:pt x="14043" y="99651"/>
                  </a:lnTo>
                  <a:lnTo>
                    <a:pt x="6844" y="81175"/>
                  </a:lnTo>
                  <a:lnTo>
                    <a:pt x="0" y="62710"/>
                  </a:lnTo>
                  <a:lnTo>
                    <a:pt x="172296" y="0"/>
                  </a:lnTo>
                  <a:lnTo>
                    <a:pt x="177314" y="12300"/>
                  </a:lnTo>
                  <a:lnTo>
                    <a:pt x="182579" y="24614"/>
                  </a:lnTo>
                  <a:lnTo>
                    <a:pt x="188132" y="36937"/>
                  </a:lnTo>
                  <a:lnTo>
                    <a:pt x="194017" y="49259"/>
                  </a:lnTo>
                  <a:lnTo>
                    <a:pt x="200278" y="61565"/>
                  </a:lnTo>
                  <a:lnTo>
                    <a:pt x="206959" y="73831"/>
                  </a:lnTo>
                  <a:lnTo>
                    <a:pt x="214101" y="86030"/>
                  </a:lnTo>
                  <a:lnTo>
                    <a:pt x="221739" y="98129"/>
                  </a:lnTo>
                  <a:lnTo>
                    <a:pt x="229903" y="110091"/>
                  </a:lnTo>
                  <a:lnTo>
                    <a:pt x="238617" y="12187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1" name="Ядро эпителиальной клетки"/>
            <p:cNvSpPr/>
            <p:nvPr/>
          </p:nvSpPr>
          <p:spPr>
            <a:xfrm rot="9000000">
              <a:off x="2409308" y="30833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2" name="Ядрышко"/>
            <p:cNvSpPr/>
            <p:nvPr/>
          </p:nvSpPr>
          <p:spPr>
            <a:xfrm>
              <a:off x="2438568" y="31350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3" name="Клетка однослойного эпителия"/>
            <p:cNvSpPr/>
            <p:nvPr/>
          </p:nvSpPr>
          <p:spPr>
            <a:xfrm>
              <a:off x="2277097" y="2918676"/>
              <a:ext cx="227659" cy="187263"/>
            </a:xfrm>
            <a:custGeom>
              <a:avLst/>
              <a:gdLst/>
              <a:ahLst/>
              <a:cxnLst/>
              <a:rect l="l" t="t" r="r" b="b"/>
              <a:pathLst>
                <a:path w="227659" h="187263">
                  <a:moveTo>
                    <a:pt x="55363" y="187263"/>
                  </a:moveTo>
                  <a:lnTo>
                    <a:pt x="48819" y="168808"/>
                  </a:lnTo>
                  <a:lnTo>
                    <a:pt x="42530" y="150353"/>
                  </a:lnTo>
                  <a:lnTo>
                    <a:pt x="36462" y="131880"/>
                  </a:lnTo>
                  <a:lnTo>
                    <a:pt x="30591" y="113367"/>
                  </a:lnTo>
                  <a:lnTo>
                    <a:pt x="24908" y="94789"/>
                  </a:lnTo>
                  <a:lnTo>
                    <a:pt x="19419" y="76117"/>
                  </a:lnTo>
                  <a:lnTo>
                    <a:pt x="14142" y="57325"/>
                  </a:lnTo>
                  <a:lnTo>
                    <a:pt x="9113" y="38387"/>
                  </a:lnTo>
                  <a:lnTo>
                    <a:pt x="4379" y="19284"/>
                  </a:lnTo>
                  <a:lnTo>
                    <a:pt x="0" y="0"/>
                  </a:lnTo>
                  <a:lnTo>
                    <a:pt x="186527" y="0"/>
                  </a:lnTo>
                  <a:lnTo>
                    <a:pt x="189844" y="12807"/>
                  </a:lnTo>
                  <a:lnTo>
                    <a:pt x="193406" y="25500"/>
                  </a:lnTo>
                  <a:lnTo>
                    <a:pt x="197169" y="38088"/>
                  </a:lnTo>
                  <a:lnTo>
                    <a:pt x="201103" y="50583"/>
                  </a:lnTo>
                  <a:lnTo>
                    <a:pt x="205183" y="63002"/>
                  </a:lnTo>
                  <a:lnTo>
                    <a:pt x="209395" y="75361"/>
                  </a:lnTo>
                  <a:lnTo>
                    <a:pt x="213738" y="87680"/>
                  </a:lnTo>
                  <a:lnTo>
                    <a:pt x="218217" y="99975"/>
                  </a:lnTo>
                  <a:lnTo>
                    <a:pt x="222849" y="112262"/>
                  </a:lnTo>
                  <a:lnTo>
                    <a:pt x="227659" y="124553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4" name="Ядро эпителиальной клетки"/>
            <p:cNvSpPr/>
            <p:nvPr/>
          </p:nvSpPr>
          <p:spPr>
            <a:xfrm rot="10200000">
              <a:off x="2350027" y="293064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5" name="Ядрышко"/>
            <p:cNvSpPr/>
            <p:nvPr/>
          </p:nvSpPr>
          <p:spPr>
            <a:xfrm>
              <a:off x="2379288" y="298230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6" name="Клетка однослойного эпителия"/>
            <p:cNvSpPr/>
            <p:nvPr/>
          </p:nvSpPr>
          <p:spPr>
            <a:xfrm>
              <a:off x="2262707" y="2719108"/>
              <a:ext cx="200917" cy="199568"/>
            </a:xfrm>
            <a:custGeom>
              <a:avLst/>
              <a:gdLst/>
              <a:ahLst/>
              <a:cxnLst/>
              <a:rect l="l" t="t" r="r" b="b"/>
              <a:pathLst>
                <a:path w="200917" h="199568">
                  <a:moveTo>
                    <a:pt x="14390" y="199568"/>
                  </a:moveTo>
                  <a:lnTo>
                    <a:pt x="10436" y="180096"/>
                  </a:lnTo>
                  <a:lnTo>
                    <a:pt x="6989" y="160440"/>
                  </a:lnTo>
                  <a:lnTo>
                    <a:pt x="4132" y="140610"/>
                  </a:lnTo>
                  <a:lnTo>
                    <a:pt x="1956" y="120628"/>
                  </a:lnTo>
                  <a:lnTo>
                    <a:pt x="549" y="100527"/>
                  </a:lnTo>
                  <a:lnTo>
                    <a:pt x="0" y="80349"/>
                  </a:lnTo>
                  <a:lnTo>
                    <a:pt x="391" y="60144"/>
                  </a:lnTo>
                  <a:lnTo>
                    <a:pt x="1796" y="39973"/>
                  </a:lnTo>
                  <a:lnTo>
                    <a:pt x="4282" y="19901"/>
                  </a:lnTo>
                  <a:lnTo>
                    <a:pt x="7900" y="0"/>
                  </a:lnTo>
                  <a:lnTo>
                    <a:pt x="193569" y="67578"/>
                  </a:lnTo>
                  <a:lnTo>
                    <a:pt x="191338" y="80680"/>
                  </a:lnTo>
                  <a:lnTo>
                    <a:pt x="189897" y="93910"/>
                  </a:lnTo>
                  <a:lnTo>
                    <a:pt x="189207" y="107221"/>
                  </a:lnTo>
                  <a:lnTo>
                    <a:pt x="189223" y="120569"/>
                  </a:lnTo>
                  <a:lnTo>
                    <a:pt x="189892" y="133913"/>
                  </a:lnTo>
                  <a:lnTo>
                    <a:pt x="191155" y="147219"/>
                  </a:lnTo>
                  <a:lnTo>
                    <a:pt x="192951" y="160456"/>
                  </a:lnTo>
                  <a:lnTo>
                    <a:pt x="195218" y="173602"/>
                  </a:lnTo>
                  <a:lnTo>
                    <a:pt x="197893" y="186643"/>
                  </a:lnTo>
                  <a:lnTo>
                    <a:pt x="200917" y="199568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7" name="Ядро эпителиальной клетки"/>
            <p:cNvSpPr/>
            <p:nvPr/>
          </p:nvSpPr>
          <p:spPr>
            <a:xfrm rot="11400000">
              <a:off x="2315994" y="277070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8" name="Ядрышко"/>
            <p:cNvSpPr/>
            <p:nvPr/>
          </p:nvSpPr>
          <p:spPr>
            <a:xfrm>
              <a:off x="2345255" y="28223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99" name="Клетка однослойного эпителия"/>
            <p:cNvSpPr/>
            <p:nvPr/>
          </p:nvSpPr>
          <p:spPr>
            <a:xfrm>
              <a:off x="2270607" y="2544722"/>
              <a:ext cx="252602" cy="241964"/>
            </a:xfrm>
            <a:custGeom>
              <a:avLst/>
              <a:gdLst/>
              <a:ahLst/>
              <a:cxnLst/>
              <a:rect l="l" t="t" r="r" b="b"/>
              <a:pathLst>
                <a:path w="252602" h="241964">
                  <a:moveTo>
                    <a:pt x="0" y="174386"/>
                  </a:moveTo>
                  <a:lnTo>
                    <a:pt x="4791" y="154729"/>
                  </a:lnTo>
                  <a:lnTo>
                    <a:pt x="10778" y="135392"/>
                  </a:lnTo>
                  <a:lnTo>
                    <a:pt x="17973" y="116448"/>
                  </a:lnTo>
                  <a:lnTo>
                    <a:pt x="26369" y="97968"/>
                  </a:lnTo>
                  <a:lnTo>
                    <a:pt x="35945" y="80019"/>
                  </a:lnTo>
                  <a:lnTo>
                    <a:pt x="46667" y="62660"/>
                  </a:lnTo>
                  <a:lnTo>
                    <a:pt x="58486" y="45941"/>
                  </a:lnTo>
                  <a:lnTo>
                    <a:pt x="71345" y="29905"/>
                  </a:lnTo>
                  <a:lnTo>
                    <a:pt x="85175" y="14584"/>
                  </a:lnTo>
                  <a:lnTo>
                    <a:pt x="99902" y="0"/>
                  </a:lnTo>
                  <a:lnTo>
                    <a:pt x="252602" y="128130"/>
                  </a:lnTo>
                  <a:lnTo>
                    <a:pt x="242577" y="137560"/>
                  </a:lnTo>
                  <a:lnTo>
                    <a:pt x="233186" y="147489"/>
                  </a:lnTo>
                  <a:lnTo>
                    <a:pt x="224480" y="157905"/>
                  </a:lnTo>
                  <a:lnTo>
                    <a:pt x="216505" y="168786"/>
                  </a:lnTo>
                  <a:lnTo>
                    <a:pt x="209302" y="180107"/>
                  </a:lnTo>
                  <a:lnTo>
                    <a:pt x="202904" y="191833"/>
                  </a:lnTo>
                  <a:lnTo>
                    <a:pt x="197333" y="203927"/>
                  </a:lnTo>
                  <a:lnTo>
                    <a:pt x="192604" y="216345"/>
                  </a:lnTo>
                  <a:lnTo>
                    <a:pt x="188718" y="229041"/>
                  </a:lnTo>
                  <a:lnTo>
                    <a:pt x="185669" y="24196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0" name="Ядро эпителиальной клетки"/>
            <p:cNvSpPr/>
            <p:nvPr/>
          </p:nvSpPr>
          <p:spPr>
            <a:xfrm rot="12600000">
              <a:off x="2350977" y="26104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1" name="Ядрышко"/>
            <p:cNvSpPr/>
            <p:nvPr/>
          </p:nvSpPr>
          <p:spPr>
            <a:xfrm>
              <a:off x="2380238" y="26621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2" name="Клетка однослойного эпителия"/>
            <p:cNvSpPr/>
            <p:nvPr/>
          </p:nvSpPr>
          <p:spPr>
            <a:xfrm>
              <a:off x="2370509" y="2438003"/>
              <a:ext cx="276036" cy="234849"/>
            </a:xfrm>
            <a:custGeom>
              <a:avLst/>
              <a:gdLst/>
              <a:ahLst/>
              <a:cxnLst/>
              <a:rect l="l" t="t" r="r" b="b"/>
              <a:pathLst>
                <a:path w="276036" h="234849">
                  <a:moveTo>
                    <a:pt x="0" y="106719"/>
                  </a:moveTo>
                  <a:lnTo>
                    <a:pt x="15544" y="92883"/>
                  </a:lnTo>
                  <a:lnTo>
                    <a:pt x="31825" y="79797"/>
                  </a:lnTo>
                  <a:lnTo>
                    <a:pt x="48759" y="67454"/>
                  </a:lnTo>
                  <a:lnTo>
                    <a:pt x="66270" y="55839"/>
                  </a:lnTo>
                  <a:lnTo>
                    <a:pt x="84281" y="44931"/>
                  </a:lnTo>
                  <a:lnTo>
                    <a:pt x="102724" y="34703"/>
                  </a:lnTo>
                  <a:lnTo>
                    <a:pt x="121536" y="25127"/>
                  </a:lnTo>
                  <a:lnTo>
                    <a:pt x="140664" y="16171"/>
                  </a:lnTo>
                  <a:lnTo>
                    <a:pt x="160061" y="7804"/>
                  </a:lnTo>
                  <a:lnTo>
                    <a:pt x="179691" y="0"/>
                  </a:lnTo>
                  <a:lnTo>
                    <a:pt x="276036" y="166874"/>
                  </a:lnTo>
                  <a:lnTo>
                    <a:pt x="262508" y="171753"/>
                  </a:lnTo>
                  <a:lnTo>
                    <a:pt x="249149" y="177006"/>
                  </a:lnTo>
                  <a:lnTo>
                    <a:pt x="235986" y="182653"/>
                  </a:lnTo>
                  <a:lnTo>
                    <a:pt x="223051" y="188715"/>
                  </a:lnTo>
                  <a:lnTo>
                    <a:pt x="210382" y="195212"/>
                  </a:lnTo>
                  <a:lnTo>
                    <a:pt x="198023" y="202165"/>
                  </a:lnTo>
                  <a:lnTo>
                    <a:pt x="186021" y="209593"/>
                  </a:lnTo>
                  <a:lnTo>
                    <a:pt x="174430" y="217509"/>
                  </a:lnTo>
                  <a:lnTo>
                    <a:pt x="163304" y="225926"/>
                  </a:lnTo>
                  <a:lnTo>
                    <a:pt x="152700" y="23484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3" name="Ядро эпителиальной клетки"/>
            <p:cNvSpPr/>
            <p:nvPr/>
          </p:nvSpPr>
          <p:spPr>
            <a:xfrm rot="13800000">
              <a:off x="2474642" y="24947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4" name="Ядрышко"/>
            <p:cNvSpPr/>
            <p:nvPr/>
          </p:nvSpPr>
          <p:spPr>
            <a:xfrm>
              <a:off x="2503903" y="254644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5" name="Клетка однослойного эпителия"/>
            <p:cNvSpPr/>
            <p:nvPr/>
          </p:nvSpPr>
          <p:spPr>
            <a:xfrm>
              <a:off x="2550200" y="2388393"/>
              <a:ext cx="238468" cy="216484"/>
            </a:xfrm>
            <a:custGeom>
              <a:avLst/>
              <a:gdLst/>
              <a:ahLst/>
              <a:cxnLst/>
              <a:rect l="l" t="t" r="r" b="b"/>
              <a:pathLst>
                <a:path w="238468" h="216484">
                  <a:moveTo>
                    <a:pt x="0" y="49610"/>
                  </a:moveTo>
                  <a:lnTo>
                    <a:pt x="19834" y="42344"/>
                  </a:lnTo>
                  <a:lnTo>
                    <a:pt x="39850" y="35596"/>
                  </a:lnTo>
                  <a:lnTo>
                    <a:pt x="60034" y="29352"/>
                  </a:lnTo>
                  <a:lnTo>
                    <a:pt x="80376" y="23606"/>
                  </a:lnTo>
                  <a:lnTo>
                    <a:pt x="100871" y="18356"/>
                  </a:lnTo>
                  <a:lnTo>
                    <a:pt x="121516" y="13611"/>
                  </a:lnTo>
                  <a:lnTo>
                    <a:pt x="142311" y="9382"/>
                  </a:lnTo>
                  <a:lnTo>
                    <a:pt x="163253" y="5687"/>
                  </a:lnTo>
                  <a:lnTo>
                    <a:pt x="184338" y="2551"/>
                  </a:lnTo>
                  <a:lnTo>
                    <a:pt x="205561" y="0"/>
                  </a:lnTo>
                  <a:lnTo>
                    <a:pt x="238468" y="186620"/>
                  </a:lnTo>
                  <a:lnTo>
                    <a:pt x="223758" y="188004"/>
                  </a:lnTo>
                  <a:lnTo>
                    <a:pt x="209152" y="189777"/>
                  </a:lnTo>
                  <a:lnTo>
                    <a:pt x="194653" y="191921"/>
                  </a:lnTo>
                  <a:lnTo>
                    <a:pt x="180265" y="194420"/>
                  </a:lnTo>
                  <a:lnTo>
                    <a:pt x="165987" y="197263"/>
                  </a:lnTo>
                  <a:lnTo>
                    <a:pt x="151821" y="200441"/>
                  </a:lnTo>
                  <a:lnTo>
                    <a:pt x="137769" y="203949"/>
                  </a:lnTo>
                  <a:lnTo>
                    <a:pt x="123834" y="207788"/>
                  </a:lnTo>
                  <a:lnTo>
                    <a:pt x="110022" y="211964"/>
                  </a:lnTo>
                  <a:lnTo>
                    <a:pt x="96345" y="21648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6" name="Ядро эпителиальной клетки"/>
            <p:cNvSpPr/>
            <p:nvPr/>
          </p:nvSpPr>
          <p:spPr>
            <a:xfrm rot="15000000">
              <a:off x="2639211" y="24334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7" name="Ядрышко"/>
            <p:cNvSpPr/>
            <p:nvPr/>
          </p:nvSpPr>
          <p:spPr>
            <a:xfrm>
              <a:off x="2668472" y="24851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8" name="Клетка однослойного эпителия"/>
            <p:cNvSpPr/>
            <p:nvPr/>
          </p:nvSpPr>
          <p:spPr>
            <a:xfrm>
              <a:off x="2755761" y="2384531"/>
              <a:ext cx="215636" cy="201468"/>
            </a:xfrm>
            <a:custGeom>
              <a:avLst/>
              <a:gdLst/>
              <a:ahLst/>
              <a:cxnLst/>
              <a:rect l="l" t="t" r="r" b="b"/>
              <a:pathLst>
                <a:path w="215636" h="201468">
                  <a:moveTo>
                    <a:pt x="0" y="3862"/>
                  </a:moveTo>
                  <a:lnTo>
                    <a:pt x="21351" y="1923"/>
                  </a:lnTo>
                  <a:lnTo>
                    <a:pt x="42816" y="627"/>
                  </a:lnTo>
                  <a:lnTo>
                    <a:pt x="64376" y="0"/>
                  </a:lnTo>
                  <a:lnTo>
                    <a:pt x="86008" y="69"/>
                  </a:lnTo>
                  <a:lnTo>
                    <a:pt x="107686" y="853"/>
                  </a:lnTo>
                  <a:lnTo>
                    <a:pt x="129380" y="2370"/>
                  </a:lnTo>
                  <a:lnTo>
                    <a:pt x="151056" y="4628"/>
                  </a:lnTo>
                  <a:lnTo>
                    <a:pt x="172681" y="7631"/>
                  </a:lnTo>
                  <a:lnTo>
                    <a:pt x="194219" y="11373"/>
                  </a:lnTo>
                  <a:lnTo>
                    <a:pt x="215636" y="15843"/>
                  </a:lnTo>
                  <a:lnTo>
                    <a:pt x="182906" y="201468"/>
                  </a:lnTo>
                  <a:lnTo>
                    <a:pt x="167961" y="198209"/>
                  </a:lnTo>
                  <a:lnTo>
                    <a:pt x="152942" y="195429"/>
                  </a:lnTo>
                  <a:lnTo>
                    <a:pt x="137874" y="193137"/>
                  </a:lnTo>
                  <a:lnTo>
                    <a:pt x="122781" y="191336"/>
                  </a:lnTo>
                  <a:lnTo>
                    <a:pt x="107686" y="190025"/>
                  </a:lnTo>
                  <a:lnTo>
                    <a:pt x="92613" y="189198"/>
                  </a:lnTo>
                  <a:lnTo>
                    <a:pt x="77581" y="188845"/>
                  </a:lnTo>
                  <a:lnTo>
                    <a:pt x="62610" y="188953"/>
                  </a:lnTo>
                  <a:lnTo>
                    <a:pt x="47714" y="189504"/>
                  </a:lnTo>
                  <a:lnTo>
                    <a:pt x="32907" y="19048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09" name="Ядро эпителиальной клетки"/>
            <p:cNvSpPr/>
            <p:nvPr/>
          </p:nvSpPr>
          <p:spPr>
            <a:xfrm rot="16200000">
              <a:off x="2817727" y="241745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0" name="Ядрышко"/>
            <p:cNvSpPr/>
            <p:nvPr/>
          </p:nvSpPr>
          <p:spPr>
            <a:xfrm>
              <a:off x="2846988" y="246912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1" name="Клетка однослойного эпителия"/>
            <p:cNvSpPr/>
            <p:nvPr/>
          </p:nvSpPr>
          <p:spPr>
            <a:xfrm>
              <a:off x="2938667" y="2400374"/>
              <a:ext cx="235527" cy="240266"/>
            </a:xfrm>
            <a:custGeom>
              <a:avLst/>
              <a:gdLst/>
              <a:ahLst/>
              <a:cxnLst/>
              <a:rect l="l" t="t" r="r" b="b"/>
              <a:pathLst>
                <a:path w="235527" h="240266">
                  <a:moveTo>
                    <a:pt x="32730" y="0"/>
                  </a:moveTo>
                  <a:lnTo>
                    <a:pt x="53996" y="5179"/>
                  </a:lnTo>
                  <a:lnTo>
                    <a:pt x="75082" y="11041"/>
                  </a:lnTo>
                  <a:lnTo>
                    <a:pt x="95963" y="17555"/>
                  </a:lnTo>
                  <a:lnTo>
                    <a:pt x="116621" y="24687"/>
                  </a:lnTo>
                  <a:lnTo>
                    <a:pt x="137042" y="32399"/>
                  </a:lnTo>
                  <a:lnTo>
                    <a:pt x="157220" y="40650"/>
                  </a:lnTo>
                  <a:lnTo>
                    <a:pt x="177151" y="49403"/>
                  </a:lnTo>
                  <a:lnTo>
                    <a:pt x="196840" y="58618"/>
                  </a:lnTo>
                  <a:lnTo>
                    <a:pt x="216295" y="68264"/>
                  </a:lnTo>
                  <a:lnTo>
                    <a:pt x="235527" y="78309"/>
                  </a:lnTo>
                  <a:lnTo>
                    <a:pt x="142021" y="240266"/>
                  </a:lnTo>
                  <a:lnTo>
                    <a:pt x="128516" y="233353"/>
                  </a:lnTo>
                  <a:lnTo>
                    <a:pt x="114861" y="226701"/>
                  </a:lnTo>
                  <a:lnTo>
                    <a:pt x="101049" y="220330"/>
                  </a:lnTo>
                  <a:lnTo>
                    <a:pt x="87076" y="214262"/>
                  </a:lnTo>
                  <a:lnTo>
                    <a:pt x="72939" y="208522"/>
                  </a:lnTo>
                  <a:lnTo>
                    <a:pt x="58640" y="203135"/>
                  </a:lnTo>
                  <a:lnTo>
                    <a:pt x="44185" y="198127"/>
                  </a:lnTo>
                  <a:lnTo>
                    <a:pt x="29583" y="193524"/>
                  </a:lnTo>
                  <a:lnTo>
                    <a:pt x="14849" y="189350"/>
                  </a:lnTo>
                  <a:lnTo>
                    <a:pt x="0" y="18562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2" name="Ядро эпителиальной клетки"/>
            <p:cNvSpPr/>
            <p:nvPr/>
          </p:nvSpPr>
          <p:spPr>
            <a:xfrm rot="17400000">
              <a:off x="2996655" y="245806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3" name="Ядрышко"/>
            <p:cNvSpPr/>
            <p:nvPr/>
          </p:nvSpPr>
          <p:spPr>
            <a:xfrm>
              <a:off x="3025916" y="250972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4" name="Клетка однослойного эпителия"/>
            <p:cNvSpPr/>
            <p:nvPr/>
          </p:nvSpPr>
          <p:spPr>
            <a:xfrm>
              <a:off x="3080688" y="2478683"/>
              <a:ext cx="275396" cy="244356"/>
            </a:xfrm>
            <a:custGeom>
              <a:avLst/>
              <a:gdLst/>
              <a:ahLst/>
              <a:cxnLst/>
              <a:rect l="l" t="t" r="r" b="b"/>
              <a:pathLst>
                <a:path w="275396" h="244356">
                  <a:moveTo>
                    <a:pt x="93506" y="0"/>
                  </a:moveTo>
                  <a:lnTo>
                    <a:pt x="112527" y="10423"/>
                  </a:lnTo>
                  <a:lnTo>
                    <a:pt x="131353" y="21205"/>
                  </a:lnTo>
                  <a:lnTo>
                    <a:pt x="149996" y="32339"/>
                  </a:lnTo>
                  <a:lnTo>
                    <a:pt x="168465" y="43821"/>
                  </a:lnTo>
                  <a:lnTo>
                    <a:pt x="186766" y="55658"/>
                  </a:lnTo>
                  <a:lnTo>
                    <a:pt x="204897" y="67860"/>
                  </a:lnTo>
                  <a:lnTo>
                    <a:pt x="222849" y="80448"/>
                  </a:lnTo>
                  <a:lnTo>
                    <a:pt x="240603" y="93442"/>
                  </a:lnTo>
                  <a:lnTo>
                    <a:pt x="258132" y="106870"/>
                  </a:lnTo>
                  <a:lnTo>
                    <a:pt x="275396" y="120759"/>
                  </a:lnTo>
                  <a:lnTo>
                    <a:pt x="128099" y="244356"/>
                  </a:lnTo>
                  <a:lnTo>
                    <a:pt x="115906" y="234930"/>
                  </a:lnTo>
                  <a:lnTo>
                    <a:pt x="103536" y="225806"/>
                  </a:lnTo>
                  <a:lnTo>
                    <a:pt x="91015" y="216966"/>
                  </a:lnTo>
                  <a:lnTo>
                    <a:pt x="78363" y="208391"/>
                  </a:lnTo>
                  <a:lnTo>
                    <a:pt x="65591" y="200068"/>
                  </a:lnTo>
                  <a:lnTo>
                    <a:pt x="52707" y="191985"/>
                  </a:lnTo>
                  <a:lnTo>
                    <a:pt x="39711" y="184133"/>
                  </a:lnTo>
                  <a:lnTo>
                    <a:pt x="26599" y="176510"/>
                  </a:lnTo>
                  <a:lnTo>
                    <a:pt x="13365" y="169116"/>
                  </a:lnTo>
                  <a:lnTo>
                    <a:pt x="0" y="16195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5" name="Ядро эпителиальной клетки"/>
            <p:cNvSpPr/>
            <p:nvPr/>
          </p:nvSpPr>
          <p:spPr>
            <a:xfrm rot="18600000">
              <a:off x="3158723" y="254314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6" name="Ядрышко"/>
            <p:cNvSpPr/>
            <p:nvPr/>
          </p:nvSpPr>
          <p:spPr>
            <a:xfrm>
              <a:off x="3187983" y="259480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7" name="Клетка однослойного эпителия"/>
            <p:cNvSpPr/>
            <p:nvPr/>
          </p:nvSpPr>
          <p:spPr>
            <a:xfrm>
              <a:off x="3208787" y="2599442"/>
              <a:ext cx="290444" cy="236716"/>
            </a:xfrm>
            <a:custGeom>
              <a:avLst/>
              <a:gdLst/>
              <a:ahLst/>
              <a:cxnLst/>
              <a:rect l="l" t="t" r="r" b="b"/>
              <a:pathLst>
                <a:path w="290444" h="236716">
                  <a:moveTo>
                    <a:pt x="147297" y="0"/>
                  </a:moveTo>
                  <a:lnTo>
                    <a:pt x="164247" y="14378"/>
                  </a:lnTo>
                  <a:lnTo>
                    <a:pt x="180824" y="29270"/>
                  </a:lnTo>
                  <a:lnTo>
                    <a:pt x="196958" y="44698"/>
                  </a:lnTo>
                  <a:lnTo>
                    <a:pt x="212572" y="60680"/>
                  </a:lnTo>
                  <a:lnTo>
                    <a:pt x="227583" y="77223"/>
                  </a:lnTo>
                  <a:lnTo>
                    <a:pt x="241901" y="94330"/>
                  </a:lnTo>
                  <a:lnTo>
                    <a:pt x="255435" y="111992"/>
                  </a:lnTo>
                  <a:lnTo>
                    <a:pt x="268095" y="130190"/>
                  </a:lnTo>
                  <a:lnTo>
                    <a:pt x="279793" y="148897"/>
                  </a:lnTo>
                  <a:lnTo>
                    <a:pt x="290444" y="168074"/>
                  </a:lnTo>
                  <a:lnTo>
                    <a:pt x="101853" y="236716"/>
                  </a:lnTo>
                  <a:lnTo>
                    <a:pt x="94180" y="223890"/>
                  </a:lnTo>
                  <a:lnTo>
                    <a:pt x="85786" y="211360"/>
                  </a:lnTo>
                  <a:lnTo>
                    <a:pt x="76731" y="199152"/>
                  </a:lnTo>
                  <a:lnTo>
                    <a:pt x="67075" y="187286"/>
                  </a:lnTo>
                  <a:lnTo>
                    <a:pt x="56883" y="175777"/>
                  </a:lnTo>
                  <a:lnTo>
                    <a:pt x="46218" y="164629"/>
                  </a:lnTo>
                  <a:lnTo>
                    <a:pt x="35142" y="153845"/>
                  </a:lnTo>
                  <a:lnTo>
                    <a:pt x="23712" y="143418"/>
                  </a:lnTo>
                  <a:lnTo>
                    <a:pt x="11982" y="133340"/>
                  </a:lnTo>
                  <a:lnTo>
                    <a:pt x="0" y="123597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8" name="Ядро эпителиальной клетки"/>
            <p:cNvSpPr/>
            <p:nvPr/>
          </p:nvSpPr>
          <p:spPr>
            <a:xfrm rot="19800000">
              <a:off x="3301886" y="266161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19" name="Ядрышко"/>
            <p:cNvSpPr/>
            <p:nvPr/>
          </p:nvSpPr>
          <p:spPr>
            <a:xfrm>
              <a:off x="3331146" y="271328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0" name="Клетка однослойного эпителия"/>
            <p:cNvSpPr/>
            <p:nvPr/>
          </p:nvSpPr>
          <p:spPr>
            <a:xfrm>
              <a:off x="3310640" y="2767516"/>
              <a:ext cx="229715" cy="204059"/>
            </a:xfrm>
            <a:custGeom>
              <a:avLst/>
              <a:gdLst/>
              <a:ahLst/>
              <a:cxnLst/>
              <a:rect l="l" t="t" r="r" b="b"/>
              <a:pathLst>
                <a:path w="229715" h="204059">
                  <a:moveTo>
                    <a:pt x="188591" y="0"/>
                  </a:moveTo>
                  <a:lnTo>
                    <a:pt x="198122" y="19599"/>
                  </a:lnTo>
                  <a:lnTo>
                    <a:pt x="206467" y="39563"/>
                  </a:lnTo>
                  <a:lnTo>
                    <a:pt x="213573" y="59829"/>
                  </a:lnTo>
                  <a:lnTo>
                    <a:pt x="219402" y="80328"/>
                  </a:lnTo>
                  <a:lnTo>
                    <a:pt x="223930" y="100984"/>
                  </a:lnTo>
                  <a:lnTo>
                    <a:pt x="227149" y="121725"/>
                  </a:lnTo>
                  <a:lnTo>
                    <a:pt x="229069" y="142473"/>
                  </a:lnTo>
                  <a:lnTo>
                    <a:pt x="229715" y="163156"/>
                  </a:lnTo>
                  <a:lnTo>
                    <a:pt x="229128" y="183706"/>
                  </a:lnTo>
                  <a:lnTo>
                    <a:pt x="227363" y="204059"/>
                  </a:lnTo>
                  <a:lnTo>
                    <a:pt x="29843" y="204059"/>
                  </a:lnTo>
                  <a:lnTo>
                    <a:pt x="30779" y="190632"/>
                  </a:lnTo>
                  <a:lnTo>
                    <a:pt x="30895" y="177059"/>
                  </a:lnTo>
                  <a:lnTo>
                    <a:pt x="30152" y="163380"/>
                  </a:lnTo>
                  <a:lnTo>
                    <a:pt x="28523" y="149640"/>
                  </a:lnTo>
                  <a:lnTo>
                    <a:pt x="25991" y="135886"/>
                  </a:lnTo>
                  <a:lnTo>
                    <a:pt x="22551" y="122170"/>
                  </a:lnTo>
                  <a:lnTo>
                    <a:pt x="18209" y="108539"/>
                  </a:lnTo>
                  <a:lnTo>
                    <a:pt x="12984" y="95044"/>
                  </a:lnTo>
                  <a:lnTo>
                    <a:pt x="6901" y="81730"/>
                  </a:lnTo>
                  <a:lnTo>
                    <a:pt x="0" y="6864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1" name="Ядро эпителиальной клетки"/>
            <p:cNvSpPr/>
            <p:nvPr/>
          </p:nvSpPr>
          <p:spPr>
            <a:xfrm rot="21000000">
              <a:off x="3385921" y="28203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2" name="Ядрышко"/>
            <p:cNvSpPr/>
            <p:nvPr/>
          </p:nvSpPr>
          <p:spPr>
            <a:xfrm>
              <a:off x="3415182" y="287201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3" name="Клетка однослойного эпителия"/>
            <p:cNvSpPr/>
            <p:nvPr/>
          </p:nvSpPr>
          <p:spPr>
            <a:xfrm>
              <a:off x="3298346" y="2971575"/>
              <a:ext cx="239657" cy="185373"/>
            </a:xfrm>
            <a:custGeom>
              <a:avLst/>
              <a:gdLst/>
              <a:ahLst/>
              <a:cxnLst/>
              <a:rect l="l" t="t" r="r" b="b"/>
              <a:pathLst>
                <a:path w="239657" h="185373">
                  <a:moveTo>
                    <a:pt x="239657" y="0"/>
                  </a:moveTo>
                  <a:lnTo>
                    <a:pt x="236782" y="20101"/>
                  </a:lnTo>
                  <a:lnTo>
                    <a:pt x="232875" y="39904"/>
                  </a:lnTo>
                  <a:lnTo>
                    <a:pt x="228022" y="59373"/>
                  </a:lnTo>
                  <a:lnTo>
                    <a:pt x="222314" y="78482"/>
                  </a:lnTo>
                  <a:lnTo>
                    <a:pt x="215846" y="97215"/>
                  </a:lnTo>
                  <a:lnTo>
                    <a:pt x="208712" y="115567"/>
                  </a:lnTo>
                  <a:lnTo>
                    <a:pt x="201001" y="133543"/>
                  </a:lnTo>
                  <a:lnTo>
                    <a:pt x="192799" y="151155"/>
                  </a:lnTo>
                  <a:lnTo>
                    <a:pt x="184183" y="168423"/>
                  </a:lnTo>
                  <a:lnTo>
                    <a:pt x="175218" y="185373"/>
                  </a:lnTo>
                  <a:lnTo>
                    <a:pt x="0" y="121599"/>
                  </a:lnTo>
                  <a:lnTo>
                    <a:pt x="5988" y="110524"/>
                  </a:lnTo>
                  <a:lnTo>
                    <a:pt x="11729" y="99234"/>
                  </a:lnTo>
                  <a:lnTo>
                    <a:pt x="17177" y="87710"/>
                  </a:lnTo>
                  <a:lnTo>
                    <a:pt x="22279" y="75940"/>
                  </a:lnTo>
                  <a:lnTo>
                    <a:pt x="26975" y="63912"/>
                  </a:lnTo>
                  <a:lnTo>
                    <a:pt x="31203" y="51623"/>
                  </a:lnTo>
                  <a:lnTo>
                    <a:pt x="34897" y="39075"/>
                  </a:lnTo>
                  <a:lnTo>
                    <a:pt x="37992" y="26277"/>
                  </a:lnTo>
                  <a:lnTo>
                    <a:pt x="40425" y="13244"/>
                  </a:lnTo>
                  <a:lnTo>
                    <a:pt x="4213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4" name="Ядро эпителиальной клетки"/>
            <p:cNvSpPr/>
            <p:nvPr/>
          </p:nvSpPr>
          <p:spPr>
            <a:xfrm rot="600000">
              <a:off x="3370259" y="29851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5" name="Ядрышко"/>
            <p:cNvSpPr/>
            <p:nvPr/>
          </p:nvSpPr>
          <p:spPr>
            <a:xfrm>
              <a:off x="3399520" y="303684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6" name="Просвет канальца"/>
            <p:cNvSpPr/>
            <p:nvPr/>
          </p:nvSpPr>
          <p:spPr>
            <a:xfrm>
              <a:off x="2452396" y="2571540"/>
              <a:ext cx="885604" cy="752635"/>
            </a:xfrm>
            <a:custGeom>
              <a:avLst/>
              <a:gdLst/>
              <a:ahLst/>
              <a:cxnLst/>
              <a:rect l="l" t="t" r="r" b="b"/>
              <a:pathLst>
                <a:path w="885604" h="752635">
                  <a:moveTo>
                    <a:pt x="848421" y="522534"/>
                  </a:moveTo>
                  <a:lnTo>
                    <a:pt x="839599" y="539132"/>
                  </a:lnTo>
                  <a:lnTo>
                    <a:pt x="830258" y="555355"/>
                  </a:lnTo>
                  <a:lnTo>
                    <a:pt x="820433" y="571246"/>
                  </a:lnTo>
                  <a:lnTo>
                    <a:pt x="810122" y="586833"/>
                  </a:lnTo>
                  <a:lnTo>
                    <a:pt x="799291" y="602129"/>
                  </a:lnTo>
                  <a:lnTo>
                    <a:pt x="787875" y="617118"/>
                  </a:lnTo>
                  <a:lnTo>
                    <a:pt x="775796" y="631764"/>
                  </a:lnTo>
                  <a:lnTo>
                    <a:pt x="762966" y="646001"/>
                  </a:lnTo>
                  <a:lnTo>
                    <a:pt x="749299" y="659745"/>
                  </a:lnTo>
                  <a:lnTo>
                    <a:pt x="734724" y="672893"/>
                  </a:lnTo>
                  <a:lnTo>
                    <a:pt x="719186" y="685331"/>
                  </a:lnTo>
                  <a:lnTo>
                    <a:pt x="702658" y="696944"/>
                  </a:lnTo>
                  <a:lnTo>
                    <a:pt x="685144" y="707621"/>
                  </a:lnTo>
                  <a:lnTo>
                    <a:pt x="666673" y="717264"/>
                  </a:lnTo>
                  <a:lnTo>
                    <a:pt x="647304" y="725795"/>
                  </a:lnTo>
                  <a:lnTo>
                    <a:pt x="627118" y="733156"/>
                  </a:lnTo>
                  <a:lnTo>
                    <a:pt x="606214" y="739318"/>
                  </a:lnTo>
                  <a:lnTo>
                    <a:pt x="584696" y="744276"/>
                  </a:lnTo>
                  <a:lnTo>
                    <a:pt x="562676" y="748045"/>
                  </a:lnTo>
                  <a:lnTo>
                    <a:pt x="540259" y="750661"/>
                  </a:lnTo>
                  <a:lnTo>
                    <a:pt x="517541" y="752174"/>
                  </a:lnTo>
                  <a:lnTo>
                    <a:pt x="494605" y="752635"/>
                  </a:lnTo>
                  <a:lnTo>
                    <a:pt x="471521" y="752098"/>
                  </a:lnTo>
                  <a:lnTo>
                    <a:pt x="448346" y="750607"/>
                  </a:lnTo>
                  <a:lnTo>
                    <a:pt x="425127" y="748195"/>
                  </a:lnTo>
                  <a:lnTo>
                    <a:pt x="401904" y="744876"/>
                  </a:lnTo>
                  <a:lnTo>
                    <a:pt x="378720" y="740650"/>
                  </a:lnTo>
                  <a:lnTo>
                    <a:pt x="355620" y="735500"/>
                  </a:lnTo>
                  <a:lnTo>
                    <a:pt x="332661" y="729393"/>
                  </a:lnTo>
                  <a:lnTo>
                    <a:pt x="309914" y="722291"/>
                  </a:lnTo>
                  <a:lnTo>
                    <a:pt x="287467" y="714151"/>
                  </a:lnTo>
                  <a:lnTo>
                    <a:pt x="265424" y="704939"/>
                  </a:lnTo>
                  <a:lnTo>
                    <a:pt x="243903" y="694627"/>
                  </a:lnTo>
                  <a:lnTo>
                    <a:pt x="223033" y="683209"/>
                  </a:lnTo>
                  <a:lnTo>
                    <a:pt x="202944" y="670699"/>
                  </a:lnTo>
                  <a:lnTo>
                    <a:pt x="183763" y="657138"/>
                  </a:lnTo>
                  <a:lnTo>
                    <a:pt x="165603" y="642590"/>
                  </a:lnTo>
                  <a:lnTo>
                    <a:pt x="148560" y="627144"/>
                  </a:lnTo>
                  <a:lnTo>
                    <a:pt x="132697" y="610907"/>
                  </a:lnTo>
                  <a:lnTo>
                    <a:pt x="118048" y="594003"/>
                  </a:lnTo>
                  <a:lnTo>
                    <a:pt x="104612" y="576557"/>
                  </a:lnTo>
                  <a:lnTo>
                    <a:pt x="92350" y="558697"/>
                  </a:lnTo>
                  <a:lnTo>
                    <a:pt x="81196" y="540539"/>
                  </a:lnTo>
                  <a:lnTo>
                    <a:pt x="71055" y="522183"/>
                  </a:lnTo>
                  <a:lnTo>
                    <a:pt x="61816" y="503707"/>
                  </a:lnTo>
                  <a:lnTo>
                    <a:pt x="53363" y="485165"/>
                  </a:lnTo>
                  <a:lnTo>
                    <a:pt x="45582" y="466584"/>
                  </a:lnTo>
                  <a:lnTo>
                    <a:pt x="38377" y="447967"/>
                  </a:lnTo>
                  <a:lnTo>
                    <a:pt x="31678" y="429298"/>
                  </a:lnTo>
                  <a:lnTo>
                    <a:pt x="25447" y="410544"/>
                  </a:lnTo>
                  <a:lnTo>
                    <a:pt x="19688" y="391669"/>
                  </a:lnTo>
                  <a:lnTo>
                    <a:pt x="14445" y="372635"/>
                  </a:lnTo>
                  <a:lnTo>
                    <a:pt x="9802" y="353415"/>
                  </a:lnTo>
                  <a:lnTo>
                    <a:pt x="5881" y="334001"/>
                  </a:lnTo>
                  <a:lnTo>
                    <a:pt x="2828" y="314406"/>
                  </a:lnTo>
                  <a:lnTo>
                    <a:pt x="811" y="294669"/>
                  </a:lnTo>
                  <a:lnTo>
                    <a:pt x="0" y="274859"/>
                  </a:lnTo>
                  <a:lnTo>
                    <a:pt x="560" y="255071"/>
                  </a:lnTo>
                  <a:lnTo>
                    <a:pt x="2639" y="235421"/>
                  </a:lnTo>
                  <a:lnTo>
                    <a:pt x="6351" y="216045"/>
                  </a:lnTo>
                  <a:lnTo>
                    <a:pt x="11778" y="197087"/>
                  </a:lnTo>
                  <a:lnTo>
                    <a:pt x="18953" y="178692"/>
                  </a:lnTo>
                  <a:lnTo>
                    <a:pt x="27869" y="160997"/>
                  </a:lnTo>
                  <a:lnTo>
                    <a:pt x="38472" y="144123"/>
                  </a:lnTo>
                  <a:lnTo>
                    <a:pt x="50669" y="128170"/>
                  </a:lnTo>
                  <a:lnTo>
                    <a:pt x="64334" y="113211"/>
                  </a:lnTo>
                  <a:lnTo>
                    <a:pt x="79318" y="99289"/>
                  </a:lnTo>
                  <a:lnTo>
                    <a:pt x="95460" y="86418"/>
                  </a:lnTo>
                  <a:lnTo>
                    <a:pt x="112596" y="74587"/>
                  </a:lnTo>
                  <a:lnTo>
                    <a:pt x="130567" y="63764"/>
                  </a:lnTo>
                  <a:lnTo>
                    <a:pt x="149232" y="53901"/>
                  </a:lnTo>
                  <a:lnTo>
                    <a:pt x="168470" y="44944"/>
                  </a:lnTo>
                  <a:lnTo>
                    <a:pt x="188185" y="36837"/>
                  </a:lnTo>
                  <a:lnTo>
                    <a:pt x="208306" y="29536"/>
                  </a:lnTo>
                  <a:lnTo>
                    <a:pt x="228785" y="23007"/>
                  </a:lnTo>
                  <a:lnTo>
                    <a:pt x="249595" y="17235"/>
                  </a:lnTo>
                  <a:lnTo>
                    <a:pt x="270719" y="12226"/>
                  </a:lnTo>
                  <a:lnTo>
                    <a:pt x="292152" y="8005"/>
                  </a:lnTo>
                  <a:lnTo>
                    <a:pt x="313883" y="4614"/>
                  </a:lnTo>
                  <a:lnTo>
                    <a:pt x="335899" y="2108"/>
                  </a:lnTo>
                  <a:lnTo>
                    <a:pt x="358174" y="550"/>
                  </a:lnTo>
                  <a:lnTo>
                    <a:pt x="380668" y="0"/>
                  </a:lnTo>
                  <a:lnTo>
                    <a:pt x="403327" y="516"/>
                  </a:lnTo>
                  <a:lnTo>
                    <a:pt x="426081" y="2137"/>
                  </a:lnTo>
                  <a:lnTo>
                    <a:pt x="448852" y="4888"/>
                  </a:lnTo>
                  <a:lnTo>
                    <a:pt x="471555" y="8771"/>
                  </a:lnTo>
                  <a:lnTo>
                    <a:pt x="494106" y="13764"/>
                  </a:lnTo>
                  <a:lnTo>
                    <a:pt x="516424" y="19825"/>
                  </a:lnTo>
                  <a:lnTo>
                    <a:pt x="538442" y="26891"/>
                  </a:lnTo>
                  <a:lnTo>
                    <a:pt x="560109" y="34887"/>
                  </a:lnTo>
                  <a:lnTo>
                    <a:pt x="581389" y="43730"/>
                  </a:lnTo>
                  <a:lnTo>
                    <a:pt x="602268" y="53337"/>
                  </a:lnTo>
                  <a:lnTo>
                    <a:pt x="622746" y="63631"/>
                  </a:lnTo>
                  <a:lnTo>
                    <a:pt x="642836" y="74549"/>
                  </a:lnTo>
                  <a:lnTo>
                    <a:pt x="662557" y="86043"/>
                  </a:lnTo>
                  <a:lnTo>
                    <a:pt x="681926" y="98088"/>
                  </a:lnTo>
                  <a:lnTo>
                    <a:pt x="700951" y="110679"/>
                  </a:lnTo>
                  <a:lnTo>
                    <a:pt x="719624" y="123829"/>
                  </a:lnTo>
                  <a:lnTo>
                    <a:pt x="737914" y="137569"/>
                  </a:lnTo>
                  <a:lnTo>
                    <a:pt x="755758" y="151938"/>
                  </a:lnTo>
                  <a:lnTo>
                    <a:pt x="773067" y="166977"/>
                  </a:lnTo>
                  <a:lnTo>
                    <a:pt x="789718" y="182725"/>
                  </a:lnTo>
                  <a:lnTo>
                    <a:pt x="805566" y="199205"/>
                  </a:lnTo>
                  <a:lnTo>
                    <a:pt x="820440" y="216423"/>
                  </a:lnTo>
                  <a:lnTo>
                    <a:pt x="834164" y="234359"/>
                  </a:lnTo>
                  <a:lnTo>
                    <a:pt x="846555" y="252967"/>
                  </a:lnTo>
                  <a:lnTo>
                    <a:pt x="857446" y="272173"/>
                  </a:lnTo>
                  <a:lnTo>
                    <a:pt x="866687" y="291876"/>
                  </a:lnTo>
                  <a:lnTo>
                    <a:pt x="874163" y="311953"/>
                  </a:lnTo>
                  <a:lnTo>
                    <a:pt x="879799" y="332269"/>
                  </a:lnTo>
                  <a:lnTo>
                    <a:pt x="883564" y="352677"/>
                  </a:lnTo>
                  <a:lnTo>
                    <a:pt x="885477" y="373033"/>
                  </a:lnTo>
                  <a:lnTo>
                    <a:pt x="885604" y="393203"/>
                  </a:lnTo>
                  <a:lnTo>
                    <a:pt x="884051" y="413070"/>
                  </a:lnTo>
                  <a:lnTo>
                    <a:pt x="880960" y="432538"/>
                  </a:lnTo>
                  <a:lnTo>
                    <a:pt x="876498" y="451541"/>
                  </a:lnTo>
                  <a:lnTo>
                    <a:pt x="870841" y="470040"/>
                  </a:lnTo>
                  <a:lnTo>
                    <a:pt x="864170" y="488027"/>
                  </a:lnTo>
                  <a:lnTo>
                    <a:pt x="856649" y="505513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7" name="Базальная мембрана канальца"/>
            <p:cNvSpPr/>
            <p:nvPr/>
          </p:nvSpPr>
          <p:spPr>
            <a:xfrm>
              <a:off x="1165711" y="3449824"/>
              <a:ext cx="1508127" cy="1138637"/>
            </a:xfrm>
            <a:custGeom>
              <a:avLst/>
              <a:gdLst/>
              <a:ahLst/>
              <a:cxnLst/>
              <a:rect l="l" t="t" r="r" b="b"/>
              <a:pathLst>
                <a:path w="1508127" h="1138637">
                  <a:moveTo>
                    <a:pt x="1500569" y="485690"/>
                  </a:moveTo>
                  <a:lnTo>
                    <a:pt x="1505687" y="515132"/>
                  </a:lnTo>
                  <a:lnTo>
                    <a:pt x="1508127" y="544979"/>
                  </a:lnTo>
                  <a:lnTo>
                    <a:pt x="1507915" y="575078"/>
                  </a:lnTo>
                  <a:lnTo>
                    <a:pt x="1505130" y="605280"/>
                  </a:lnTo>
                  <a:lnTo>
                    <a:pt x="1499890" y="635453"/>
                  </a:lnTo>
                  <a:lnTo>
                    <a:pt x="1492343" y="665482"/>
                  </a:lnTo>
                  <a:lnTo>
                    <a:pt x="1482643" y="695273"/>
                  </a:lnTo>
                  <a:lnTo>
                    <a:pt x="1470945" y="724755"/>
                  </a:lnTo>
                  <a:lnTo>
                    <a:pt x="1457385" y="753870"/>
                  </a:lnTo>
                  <a:lnTo>
                    <a:pt x="1442068" y="782575"/>
                  </a:lnTo>
                  <a:lnTo>
                    <a:pt x="1425070" y="810827"/>
                  </a:lnTo>
                  <a:lnTo>
                    <a:pt x="1406427" y="838581"/>
                  </a:lnTo>
                  <a:lnTo>
                    <a:pt x="1386145" y="865778"/>
                  </a:lnTo>
                  <a:lnTo>
                    <a:pt x="1364201" y="892341"/>
                  </a:lnTo>
                  <a:lnTo>
                    <a:pt x="1340560" y="918170"/>
                  </a:lnTo>
                  <a:lnTo>
                    <a:pt x="1315182" y="943141"/>
                  </a:lnTo>
                  <a:lnTo>
                    <a:pt x="1288041" y="967111"/>
                  </a:lnTo>
                  <a:lnTo>
                    <a:pt x="1259132" y="989918"/>
                  </a:lnTo>
                  <a:lnTo>
                    <a:pt x="1228488" y="1011396"/>
                  </a:lnTo>
                  <a:lnTo>
                    <a:pt x="1196182" y="1031381"/>
                  </a:lnTo>
                  <a:lnTo>
                    <a:pt x="1162332" y="1049722"/>
                  </a:lnTo>
                  <a:lnTo>
                    <a:pt x="1127102" y="1066297"/>
                  </a:lnTo>
                  <a:lnTo>
                    <a:pt x="1090691" y="1081019"/>
                  </a:lnTo>
                  <a:lnTo>
                    <a:pt x="1053325" y="1093847"/>
                  </a:lnTo>
                  <a:lnTo>
                    <a:pt x="1015246" y="1104787"/>
                  </a:lnTo>
                  <a:lnTo>
                    <a:pt x="976694" y="1113897"/>
                  </a:lnTo>
                  <a:lnTo>
                    <a:pt x="937890" y="1121283"/>
                  </a:lnTo>
                  <a:lnTo>
                    <a:pt x="899028" y="1127089"/>
                  </a:lnTo>
                  <a:lnTo>
                    <a:pt x="860256" y="1131486"/>
                  </a:lnTo>
                  <a:lnTo>
                    <a:pt x="821676" y="1134663"/>
                  </a:lnTo>
                  <a:lnTo>
                    <a:pt x="783336" y="1136806"/>
                  </a:lnTo>
                  <a:lnTo>
                    <a:pt x="745236" y="1138084"/>
                  </a:lnTo>
                  <a:lnTo>
                    <a:pt x="707333" y="1138637"/>
                  </a:lnTo>
                  <a:lnTo>
                    <a:pt x="669557" y="1138558"/>
                  </a:lnTo>
                  <a:lnTo>
                    <a:pt x="631822" y="1137890"/>
                  </a:lnTo>
                  <a:lnTo>
                    <a:pt x="594046" y="1136616"/>
                  </a:lnTo>
                  <a:lnTo>
                    <a:pt x="556168" y="1134665"/>
                  </a:lnTo>
                  <a:lnTo>
                    <a:pt x="518166" y="1131910"/>
                  </a:lnTo>
                  <a:lnTo>
                    <a:pt x="480066" y="1128186"/>
                  </a:lnTo>
                  <a:lnTo>
                    <a:pt x="441954" y="1123293"/>
                  </a:lnTo>
                  <a:lnTo>
                    <a:pt x="403980" y="1117022"/>
                  </a:lnTo>
                  <a:lnTo>
                    <a:pt x="366353" y="1109166"/>
                  </a:lnTo>
                  <a:lnTo>
                    <a:pt x="329335" y="1099536"/>
                  </a:lnTo>
                  <a:lnTo>
                    <a:pt x="293229" y="1087980"/>
                  </a:lnTo>
                  <a:lnTo>
                    <a:pt x="258360" y="1074395"/>
                  </a:lnTo>
                  <a:lnTo>
                    <a:pt x="225056" y="1058733"/>
                  </a:lnTo>
                  <a:lnTo>
                    <a:pt x="193631" y="1041005"/>
                  </a:lnTo>
                  <a:lnTo>
                    <a:pt x="164362" y="1021285"/>
                  </a:lnTo>
                  <a:lnTo>
                    <a:pt x="137474" y="999701"/>
                  </a:lnTo>
                  <a:lnTo>
                    <a:pt x="113129" y="976426"/>
                  </a:lnTo>
                  <a:lnTo>
                    <a:pt x="91417" y="951669"/>
                  </a:lnTo>
                  <a:lnTo>
                    <a:pt x="72356" y="925656"/>
                  </a:lnTo>
                  <a:lnTo>
                    <a:pt x="55895" y="898623"/>
                  </a:lnTo>
                  <a:lnTo>
                    <a:pt x="41927" y="870794"/>
                  </a:lnTo>
                  <a:lnTo>
                    <a:pt x="30299" y="842376"/>
                  </a:lnTo>
                  <a:lnTo>
                    <a:pt x="20832" y="813545"/>
                  </a:lnTo>
                  <a:lnTo>
                    <a:pt x="13337" y="784445"/>
                  </a:lnTo>
                  <a:lnTo>
                    <a:pt x="7639" y="755183"/>
                  </a:lnTo>
                  <a:lnTo>
                    <a:pt x="3583" y="725830"/>
                  </a:lnTo>
                  <a:lnTo>
                    <a:pt x="1059" y="696432"/>
                  </a:lnTo>
                  <a:lnTo>
                    <a:pt x="0" y="667011"/>
                  </a:lnTo>
                  <a:lnTo>
                    <a:pt x="390" y="637579"/>
                  </a:lnTo>
                  <a:lnTo>
                    <a:pt x="2260" y="608144"/>
                  </a:lnTo>
                  <a:lnTo>
                    <a:pt x="5685" y="578723"/>
                  </a:lnTo>
                  <a:lnTo>
                    <a:pt x="10765" y="549345"/>
                  </a:lnTo>
                  <a:lnTo>
                    <a:pt x="17618" y="520058"/>
                  </a:lnTo>
                  <a:lnTo>
                    <a:pt x="26361" y="490933"/>
                  </a:lnTo>
                  <a:lnTo>
                    <a:pt x="37098" y="462058"/>
                  </a:lnTo>
                  <a:lnTo>
                    <a:pt x="49902" y="433537"/>
                  </a:lnTo>
                  <a:lnTo>
                    <a:pt x="64808" y="405483"/>
                  </a:lnTo>
                  <a:lnTo>
                    <a:pt x="81807" y="378011"/>
                  </a:lnTo>
                  <a:lnTo>
                    <a:pt x="100844" y="351226"/>
                  </a:lnTo>
                  <a:lnTo>
                    <a:pt x="121819" y="325221"/>
                  </a:lnTo>
                  <a:lnTo>
                    <a:pt x="144599" y="300063"/>
                  </a:lnTo>
                  <a:lnTo>
                    <a:pt x="169023" y="275794"/>
                  </a:lnTo>
                  <a:lnTo>
                    <a:pt x="194923" y="252428"/>
                  </a:lnTo>
                  <a:lnTo>
                    <a:pt x="222129" y="229954"/>
                  </a:lnTo>
                  <a:lnTo>
                    <a:pt x="250490" y="208338"/>
                  </a:lnTo>
                  <a:lnTo>
                    <a:pt x="279879" y="187535"/>
                  </a:lnTo>
                  <a:lnTo>
                    <a:pt x="310207" y="167497"/>
                  </a:lnTo>
                  <a:lnTo>
                    <a:pt x="341420" y="148183"/>
                  </a:lnTo>
                  <a:lnTo>
                    <a:pt x="373502" y="129574"/>
                  </a:lnTo>
                  <a:lnTo>
                    <a:pt x="406468" y="111680"/>
                  </a:lnTo>
                  <a:lnTo>
                    <a:pt x="440356" y="94548"/>
                  </a:lnTo>
                  <a:lnTo>
                    <a:pt x="475211" y="78267"/>
                  </a:lnTo>
                  <a:lnTo>
                    <a:pt x="511072" y="62971"/>
                  </a:lnTo>
                  <a:lnTo>
                    <a:pt x="547959" y="48830"/>
                  </a:lnTo>
                  <a:lnTo>
                    <a:pt x="585855" y="36049"/>
                  </a:lnTo>
                  <a:lnTo>
                    <a:pt x="624700" y="24850"/>
                  </a:lnTo>
                  <a:lnTo>
                    <a:pt x="664383" y="15464"/>
                  </a:lnTo>
                  <a:lnTo>
                    <a:pt x="704737" y="8111"/>
                  </a:lnTo>
                  <a:lnTo>
                    <a:pt x="745546" y="2987"/>
                  </a:lnTo>
                  <a:lnTo>
                    <a:pt x="786552" y="249"/>
                  </a:lnTo>
                  <a:lnTo>
                    <a:pt x="827467" y="0"/>
                  </a:lnTo>
                  <a:lnTo>
                    <a:pt x="867990" y="2282"/>
                  </a:lnTo>
                  <a:lnTo>
                    <a:pt x="907825" y="7072"/>
                  </a:lnTo>
                  <a:lnTo>
                    <a:pt x="946699" y="14279"/>
                  </a:lnTo>
                  <a:lnTo>
                    <a:pt x="984377" y="23754"/>
                  </a:lnTo>
                  <a:lnTo>
                    <a:pt x="1020680" y="35297"/>
                  </a:lnTo>
                  <a:lnTo>
                    <a:pt x="1055489" y="48667"/>
                  </a:lnTo>
                  <a:lnTo>
                    <a:pt x="1088754" y="63604"/>
                  </a:lnTo>
                  <a:lnTo>
                    <a:pt x="1120490" y="79843"/>
                  </a:lnTo>
                  <a:lnTo>
                    <a:pt x="1150767" y="97130"/>
                  </a:lnTo>
                  <a:lnTo>
                    <a:pt x="1179705" y="115239"/>
                  </a:lnTo>
                  <a:lnTo>
                    <a:pt x="1207450" y="133985"/>
                  </a:lnTo>
                  <a:lnTo>
                    <a:pt x="1234159" y="153230"/>
                  </a:lnTo>
                  <a:lnTo>
                    <a:pt x="1259981" y="172893"/>
                  </a:lnTo>
                  <a:lnTo>
                    <a:pt x="1285036" y="192942"/>
                  </a:lnTo>
                  <a:lnTo>
                    <a:pt x="1309401" y="213398"/>
                  </a:lnTo>
                  <a:lnTo>
                    <a:pt x="1333096" y="234318"/>
                  </a:lnTo>
                  <a:lnTo>
                    <a:pt x="1356080" y="255790"/>
                  </a:lnTo>
                  <a:lnTo>
                    <a:pt x="1378249" y="277914"/>
                  </a:lnTo>
                  <a:lnTo>
                    <a:pt x="1399440" y="300793"/>
                  </a:lnTo>
                  <a:lnTo>
                    <a:pt x="1419440" y="324514"/>
                  </a:lnTo>
                  <a:lnTo>
                    <a:pt x="1438004" y="349144"/>
                  </a:lnTo>
                  <a:lnTo>
                    <a:pt x="1454871" y="374714"/>
                  </a:lnTo>
                  <a:lnTo>
                    <a:pt x="1469780" y="401216"/>
                  </a:lnTo>
                  <a:lnTo>
                    <a:pt x="1482492" y="428607"/>
                  </a:lnTo>
                  <a:lnTo>
                    <a:pt x="1492806" y="456802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8" name="Клетка однослойного эпителия"/>
            <p:cNvSpPr/>
            <p:nvPr/>
          </p:nvSpPr>
          <p:spPr>
            <a:xfrm>
              <a:off x="2436452" y="3939177"/>
              <a:ext cx="212849" cy="180970"/>
            </a:xfrm>
            <a:custGeom>
              <a:avLst/>
              <a:gdLst/>
              <a:ahLst/>
              <a:cxnLst/>
              <a:rect l="l" t="t" r="r" b="b"/>
              <a:pathLst>
                <a:path w="212849" h="180970">
                  <a:moveTo>
                    <a:pt x="203763" y="0"/>
                  </a:moveTo>
                  <a:lnTo>
                    <a:pt x="207600" y="17634"/>
                  </a:lnTo>
                  <a:lnTo>
                    <a:pt x="210396" y="35468"/>
                  </a:lnTo>
                  <a:lnTo>
                    <a:pt x="212144" y="53465"/>
                  </a:lnTo>
                  <a:lnTo>
                    <a:pt x="212849" y="71587"/>
                  </a:lnTo>
                  <a:lnTo>
                    <a:pt x="212522" y="89797"/>
                  </a:lnTo>
                  <a:lnTo>
                    <a:pt x="211184" y="108057"/>
                  </a:lnTo>
                  <a:lnTo>
                    <a:pt x="208861" y="126335"/>
                  </a:lnTo>
                  <a:lnTo>
                    <a:pt x="205586" y="144598"/>
                  </a:lnTo>
                  <a:lnTo>
                    <a:pt x="201395" y="162818"/>
                  </a:lnTo>
                  <a:lnTo>
                    <a:pt x="196323" y="180970"/>
                  </a:lnTo>
                  <a:lnTo>
                    <a:pt x="0" y="142996"/>
                  </a:lnTo>
                  <a:lnTo>
                    <a:pt x="3938" y="131358"/>
                  </a:lnTo>
                  <a:lnTo>
                    <a:pt x="7236" y="119688"/>
                  </a:lnTo>
                  <a:lnTo>
                    <a:pt x="9865" y="108003"/>
                  </a:lnTo>
                  <a:lnTo>
                    <a:pt x="11800" y="96322"/>
                  </a:lnTo>
                  <a:lnTo>
                    <a:pt x="13017" y="84664"/>
                  </a:lnTo>
                  <a:lnTo>
                    <a:pt x="13496" y="73052"/>
                  </a:lnTo>
                  <a:lnTo>
                    <a:pt x="13221" y="61510"/>
                  </a:lnTo>
                  <a:lnTo>
                    <a:pt x="12183" y="50061"/>
                  </a:lnTo>
                  <a:lnTo>
                    <a:pt x="10379" y="38729"/>
                  </a:lnTo>
                  <a:lnTo>
                    <a:pt x="7812" y="2753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29" name="Ядро эпителиальной клетки"/>
            <p:cNvSpPr/>
            <p:nvPr/>
          </p:nvSpPr>
          <p:spPr>
            <a:xfrm rot="88421">
              <a:off x="2499511" y="396001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0" name="Ядрышко"/>
            <p:cNvSpPr/>
            <p:nvPr/>
          </p:nvSpPr>
          <p:spPr>
            <a:xfrm>
              <a:off x="2528772" y="401167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1" name="Клетка однослойного эпителия"/>
            <p:cNvSpPr/>
            <p:nvPr/>
          </p:nvSpPr>
          <p:spPr>
            <a:xfrm>
              <a:off x="2366971" y="4082173"/>
              <a:ext cx="265804" cy="212006"/>
            </a:xfrm>
            <a:custGeom>
              <a:avLst/>
              <a:gdLst/>
              <a:ahLst/>
              <a:cxnLst/>
              <a:rect l="l" t="t" r="r" b="b"/>
              <a:pathLst>
                <a:path w="265804" h="212006">
                  <a:moveTo>
                    <a:pt x="265804" y="37974"/>
                  </a:moveTo>
                  <a:lnTo>
                    <a:pt x="259892" y="56036"/>
                  </a:lnTo>
                  <a:lnTo>
                    <a:pt x="253175" y="73990"/>
                  </a:lnTo>
                  <a:lnTo>
                    <a:pt x="245687" y="91818"/>
                  </a:lnTo>
                  <a:lnTo>
                    <a:pt x="237461" y="109506"/>
                  </a:lnTo>
                  <a:lnTo>
                    <a:pt x="228522" y="127043"/>
                  </a:lnTo>
                  <a:lnTo>
                    <a:pt x="218891" y="144416"/>
                  </a:lnTo>
                  <a:lnTo>
                    <a:pt x="208585" y="161612"/>
                  </a:lnTo>
                  <a:lnTo>
                    <a:pt x="197614" y="178619"/>
                  </a:lnTo>
                  <a:lnTo>
                    <a:pt x="185982" y="195423"/>
                  </a:lnTo>
                  <a:lnTo>
                    <a:pt x="173691" y="212006"/>
                  </a:lnTo>
                  <a:lnTo>
                    <a:pt x="0" y="112150"/>
                  </a:lnTo>
                  <a:lnTo>
                    <a:pt x="9183" y="101417"/>
                  </a:lnTo>
                  <a:lnTo>
                    <a:pt x="17889" y="90553"/>
                  </a:lnTo>
                  <a:lnTo>
                    <a:pt x="26115" y="79567"/>
                  </a:lnTo>
                  <a:lnTo>
                    <a:pt x="33859" y="68469"/>
                  </a:lnTo>
                  <a:lnTo>
                    <a:pt x="41113" y="57268"/>
                  </a:lnTo>
                  <a:lnTo>
                    <a:pt x="47864" y="45972"/>
                  </a:lnTo>
                  <a:lnTo>
                    <a:pt x="54098" y="34587"/>
                  </a:lnTo>
                  <a:lnTo>
                    <a:pt x="59794" y="23124"/>
                  </a:lnTo>
                  <a:lnTo>
                    <a:pt x="64930" y="11591"/>
                  </a:lnTo>
                  <a:lnTo>
                    <a:pt x="69481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2" name="Ядро эпителиальной клетки"/>
            <p:cNvSpPr/>
            <p:nvPr/>
          </p:nvSpPr>
          <p:spPr>
            <a:xfrm rot="1225263">
              <a:off x="2452320" y="410663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3" name="Ядрышко"/>
            <p:cNvSpPr/>
            <p:nvPr/>
          </p:nvSpPr>
          <p:spPr>
            <a:xfrm>
              <a:off x="2481580" y="415830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4" name="Клетка однослойного эпителия"/>
            <p:cNvSpPr/>
            <p:nvPr/>
          </p:nvSpPr>
          <p:spPr>
            <a:xfrm>
              <a:off x="2248051" y="4194323"/>
              <a:ext cx="292611" cy="247534"/>
            </a:xfrm>
            <a:custGeom>
              <a:avLst/>
              <a:gdLst/>
              <a:ahLst/>
              <a:cxnLst/>
              <a:rect l="l" t="t" r="r" b="b"/>
              <a:pathLst>
                <a:path w="292611" h="247534">
                  <a:moveTo>
                    <a:pt x="292611" y="99856"/>
                  </a:moveTo>
                  <a:lnTo>
                    <a:pt x="279657" y="116198"/>
                  </a:lnTo>
                  <a:lnTo>
                    <a:pt x="266033" y="132277"/>
                  </a:lnTo>
                  <a:lnTo>
                    <a:pt x="251731" y="148066"/>
                  </a:lnTo>
                  <a:lnTo>
                    <a:pt x="236744" y="163533"/>
                  </a:lnTo>
                  <a:lnTo>
                    <a:pt x="221063" y="178646"/>
                  </a:lnTo>
                  <a:lnTo>
                    <a:pt x="204685" y="193368"/>
                  </a:lnTo>
                  <a:lnTo>
                    <a:pt x="187606" y="207659"/>
                  </a:lnTo>
                  <a:lnTo>
                    <a:pt x="169832" y="221478"/>
                  </a:lnTo>
                  <a:lnTo>
                    <a:pt x="151372" y="234784"/>
                  </a:lnTo>
                  <a:lnTo>
                    <a:pt x="132242" y="247534"/>
                  </a:lnTo>
                  <a:lnTo>
                    <a:pt x="0" y="96251"/>
                  </a:lnTo>
                  <a:lnTo>
                    <a:pt x="14121" y="87871"/>
                  </a:lnTo>
                  <a:lnTo>
                    <a:pt x="27762" y="79146"/>
                  </a:lnTo>
                  <a:lnTo>
                    <a:pt x="40908" y="70103"/>
                  </a:lnTo>
                  <a:lnTo>
                    <a:pt x="53553" y="60768"/>
                  </a:lnTo>
                  <a:lnTo>
                    <a:pt x="65694" y="51168"/>
                  </a:lnTo>
                  <a:lnTo>
                    <a:pt x="77331" y="41327"/>
                  </a:lnTo>
                  <a:lnTo>
                    <a:pt x="88467" y="31270"/>
                  </a:lnTo>
                  <a:lnTo>
                    <a:pt x="99106" y="21017"/>
                  </a:lnTo>
                  <a:lnTo>
                    <a:pt x="109255" y="10588"/>
                  </a:lnTo>
                  <a:lnTo>
                    <a:pt x="118920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5" name="Ядро эпителиальной клетки"/>
            <p:cNvSpPr/>
            <p:nvPr/>
          </p:nvSpPr>
          <p:spPr>
            <a:xfrm rot="2362105">
              <a:off x="2342602" y="424038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6" name="Ядрышко"/>
            <p:cNvSpPr/>
            <p:nvPr/>
          </p:nvSpPr>
          <p:spPr>
            <a:xfrm>
              <a:off x="2371863" y="42920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7" name="Клетка однослойного эпителия"/>
            <p:cNvSpPr/>
            <p:nvPr/>
          </p:nvSpPr>
          <p:spPr>
            <a:xfrm>
              <a:off x="2086541" y="4290574"/>
              <a:ext cx="293752" cy="241587"/>
            </a:xfrm>
            <a:custGeom>
              <a:avLst/>
              <a:gdLst/>
              <a:ahLst/>
              <a:cxnLst/>
              <a:rect l="l" t="t" r="r" b="b"/>
              <a:pathLst>
                <a:path w="293752" h="241587">
                  <a:moveTo>
                    <a:pt x="293752" y="151283"/>
                  </a:moveTo>
                  <a:lnTo>
                    <a:pt x="273974" y="163438"/>
                  </a:lnTo>
                  <a:lnTo>
                    <a:pt x="253581" y="174960"/>
                  </a:lnTo>
                  <a:lnTo>
                    <a:pt x="232608" y="185816"/>
                  </a:lnTo>
                  <a:lnTo>
                    <a:pt x="211102" y="195976"/>
                  </a:lnTo>
                  <a:lnTo>
                    <a:pt x="189111" y="205419"/>
                  </a:lnTo>
                  <a:lnTo>
                    <a:pt x="166693" y="214128"/>
                  </a:lnTo>
                  <a:lnTo>
                    <a:pt x="143906" y="222095"/>
                  </a:lnTo>
                  <a:lnTo>
                    <a:pt x="120812" y="229321"/>
                  </a:lnTo>
                  <a:lnTo>
                    <a:pt x="97475" y="235812"/>
                  </a:lnTo>
                  <a:lnTo>
                    <a:pt x="73954" y="241587"/>
                  </a:lnTo>
                  <a:lnTo>
                    <a:pt x="0" y="60462"/>
                  </a:lnTo>
                  <a:lnTo>
                    <a:pt x="17231" y="56471"/>
                  </a:lnTo>
                  <a:lnTo>
                    <a:pt x="34340" y="52025"/>
                  </a:lnTo>
                  <a:lnTo>
                    <a:pt x="51279" y="47115"/>
                  </a:lnTo>
                  <a:lnTo>
                    <a:pt x="68005" y="41735"/>
                  </a:lnTo>
                  <a:lnTo>
                    <a:pt x="84472" y="35888"/>
                  </a:lnTo>
                  <a:lnTo>
                    <a:pt x="100636" y="29579"/>
                  </a:lnTo>
                  <a:lnTo>
                    <a:pt x="116457" y="22819"/>
                  </a:lnTo>
                  <a:lnTo>
                    <a:pt x="131897" y="15623"/>
                  </a:lnTo>
                  <a:lnTo>
                    <a:pt x="146924" y="8009"/>
                  </a:lnTo>
                  <a:lnTo>
                    <a:pt x="161510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8" name="Ядро эпителиальной клетки"/>
            <p:cNvSpPr/>
            <p:nvPr/>
          </p:nvSpPr>
          <p:spPr>
            <a:xfrm rot="3498947">
              <a:off x="2175519" y="434154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39" name="Ядрышко"/>
            <p:cNvSpPr/>
            <p:nvPr/>
          </p:nvSpPr>
          <p:spPr>
            <a:xfrm>
              <a:off x="2204780" y="439320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0" name="Клетка однослойного эпителия"/>
            <p:cNvSpPr/>
            <p:nvPr/>
          </p:nvSpPr>
          <p:spPr>
            <a:xfrm>
              <a:off x="1914744" y="4351036"/>
              <a:ext cx="245751" cy="207621"/>
            </a:xfrm>
            <a:custGeom>
              <a:avLst/>
              <a:gdLst/>
              <a:ahLst/>
              <a:cxnLst/>
              <a:rect l="l" t="t" r="r" b="b"/>
              <a:pathLst>
                <a:path w="245751" h="207621">
                  <a:moveTo>
                    <a:pt x="245751" y="181125"/>
                  </a:moveTo>
                  <a:lnTo>
                    <a:pt x="222108" y="186207"/>
                  </a:lnTo>
                  <a:lnTo>
                    <a:pt x="198398" y="190629"/>
                  </a:lnTo>
                  <a:lnTo>
                    <a:pt x="174670" y="194429"/>
                  </a:lnTo>
                  <a:lnTo>
                    <a:pt x="150969" y="197651"/>
                  </a:lnTo>
                  <a:lnTo>
                    <a:pt x="127329" y="200343"/>
                  </a:lnTo>
                  <a:lnTo>
                    <a:pt x="103779" y="202555"/>
                  </a:lnTo>
                  <a:lnTo>
                    <a:pt x="80335" y="204339"/>
                  </a:lnTo>
                  <a:lnTo>
                    <a:pt x="57008" y="205746"/>
                  </a:lnTo>
                  <a:lnTo>
                    <a:pt x="33798" y="206825"/>
                  </a:lnTo>
                  <a:lnTo>
                    <a:pt x="10697" y="207621"/>
                  </a:lnTo>
                  <a:lnTo>
                    <a:pt x="0" y="19988"/>
                  </a:lnTo>
                  <a:lnTo>
                    <a:pt x="16860" y="19176"/>
                  </a:lnTo>
                  <a:lnTo>
                    <a:pt x="33803" y="18183"/>
                  </a:lnTo>
                  <a:lnTo>
                    <a:pt x="50836" y="16978"/>
                  </a:lnTo>
                  <a:lnTo>
                    <a:pt x="67960" y="15532"/>
                  </a:lnTo>
                  <a:lnTo>
                    <a:pt x="85167" y="13811"/>
                  </a:lnTo>
                  <a:lnTo>
                    <a:pt x="102445" y="11784"/>
                  </a:lnTo>
                  <a:lnTo>
                    <a:pt x="119775" y="9417"/>
                  </a:lnTo>
                  <a:lnTo>
                    <a:pt x="137132" y="6682"/>
                  </a:lnTo>
                  <a:lnTo>
                    <a:pt x="154484" y="3551"/>
                  </a:lnTo>
                  <a:lnTo>
                    <a:pt x="171797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1" name="Ядро эпителиальной клетки"/>
            <p:cNvSpPr/>
            <p:nvPr/>
          </p:nvSpPr>
          <p:spPr>
            <a:xfrm rot="4635789">
              <a:off x="1974428" y="438808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2" name="Ядрышко"/>
            <p:cNvSpPr/>
            <p:nvPr/>
          </p:nvSpPr>
          <p:spPr>
            <a:xfrm>
              <a:off x="2003689" y="443975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3" name="Клетка однослойного эпителия"/>
            <p:cNvSpPr/>
            <p:nvPr/>
          </p:nvSpPr>
          <p:spPr>
            <a:xfrm>
              <a:off x="1695683" y="4371024"/>
              <a:ext cx="229758" cy="188673"/>
            </a:xfrm>
            <a:custGeom>
              <a:avLst/>
              <a:gdLst/>
              <a:ahLst/>
              <a:cxnLst/>
              <a:rect l="l" t="t" r="r" b="b"/>
              <a:pathLst>
                <a:path w="229758" h="188673">
                  <a:moveTo>
                    <a:pt x="229758" y="187633"/>
                  </a:moveTo>
                  <a:lnTo>
                    <a:pt x="206753" y="188183"/>
                  </a:lnTo>
                  <a:lnTo>
                    <a:pt x="183822" y="188522"/>
                  </a:lnTo>
                  <a:lnTo>
                    <a:pt x="160941" y="188673"/>
                  </a:lnTo>
                  <a:lnTo>
                    <a:pt x="138082" y="188650"/>
                  </a:lnTo>
                  <a:lnTo>
                    <a:pt x="115217" y="188461"/>
                  </a:lnTo>
                  <a:lnTo>
                    <a:pt x="92318" y="188099"/>
                  </a:lnTo>
                  <a:lnTo>
                    <a:pt x="69363" y="187551"/>
                  </a:lnTo>
                  <a:lnTo>
                    <a:pt x="46332" y="186793"/>
                  </a:lnTo>
                  <a:lnTo>
                    <a:pt x="23213" y="185792"/>
                  </a:lnTo>
                  <a:lnTo>
                    <a:pt x="0" y="184506"/>
                  </a:lnTo>
                  <a:lnTo>
                    <a:pt x="51517" y="1036"/>
                  </a:lnTo>
                  <a:lnTo>
                    <a:pt x="68431" y="1550"/>
                  </a:lnTo>
                  <a:lnTo>
                    <a:pt x="85281" y="1883"/>
                  </a:lnTo>
                  <a:lnTo>
                    <a:pt x="102070" y="2063"/>
                  </a:lnTo>
                  <a:lnTo>
                    <a:pt x="118806" y="2109"/>
                  </a:lnTo>
                  <a:lnTo>
                    <a:pt x="135503" y="2038"/>
                  </a:lnTo>
                  <a:lnTo>
                    <a:pt x="152178" y="1857"/>
                  </a:lnTo>
                  <a:lnTo>
                    <a:pt x="168851" y="1570"/>
                  </a:lnTo>
                  <a:lnTo>
                    <a:pt x="185543" y="1173"/>
                  </a:lnTo>
                  <a:lnTo>
                    <a:pt x="202273" y="654"/>
                  </a:lnTo>
                  <a:lnTo>
                    <a:pt x="219061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4" name="Ядро эпителиальной клетки"/>
            <p:cNvSpPr/>
            <p:nvPr/>
          </p:nvSpPr>
          <p:spPr>
            <a:xfrm rot="5772632">
              <a:off x="1775728" y="43962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5" name="Ядрышко"/>
            <p:cNvSpPr/>
            <p:nvPr/>
          </p:nvSpPr>
          <p:spPr>
            <a:xfrm>
              <a:off x="1804989" y="44479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6" name="Клетка однослойного эпителия"/>
            <p:cNvSpPr/>
            <p:nvPr/>
          </p:nvSpPr>
          <p:spPr>
            <a:xfrm>
              <a:off x="1464799" y="4349421"/>
              <a:ext cx="282401" cy="206109"/>
            </a:xfrm>
            <a:custGeom>
              <a:avLst/>
              <a:gdLst/>
              <a:ahLst/>
              <a:cxnLst/>
              <a:rect l="l" t="t" r="r" b="b"/>
              <a:pathLst>
                <a:path w="282401" h="206109">
                  <a:moveTo>
                    <a:pt x="230884" y="206109"/>
                  </a:moveTo>
                  <a:lnTo>
                    <a:pt x="207585" y="204492"/>
                  </a:lnTo>
                  <a:lnTo>
                    <a:pt x="184213" y="202489"/>
                  </a:lnTo>
                  <a:lnTo>
                    <a:pt x="160796" y="200044"/>
                  </a:lnTo>
                  <a:lnTo>
                    <a:pt x="137371" y="197099"/>
                  </a:lnTo>
                  <a:lnTo>
                    <a:pt x="113985" y="193593"/>
                  </a:lnTo>
                  <a:lnTo>
                    <a:pt x="90699" y="189470"/>
                  </a:lnTo>
                  <a:lnTo>
                    <a:pt x="67578" y="184676"/>
                  </a:lnTo>
                  <a:lnTo>
                    <a:pt x="44700" y="179163"/>
                  </a:lnTo>
                  <a:lnTo>
                    <a:pt x="22145" y="172889"/>
                  </a:lnTo>
                  <a:lnTo>
                    <a:pt x="0" y="165819"/>
                  </a:lnTo>
                  <a:lnTo>
                    <a:pt x="114526" y="0"/>
                  </a:lnTo>
                  <a:lnTo>
                    <a:pt x="130585" y="4214"/>
                  </a:lnTo>
                  <a:lnTo>
                    <a:pt x="146954" y="7917"/>
                  </a:lnTo>
                  <a:lnTo>
                    <a:pt x="163569" y="11130"/>
                  </a:lnTo>
                  <a:lnTo>
                    <a:pt x="180369" y="13881"/>
                  </a:lnTo>
                  <a:lnTo>
                    <a:pt x="197300" y="16202"/>
                  </a:lnTo>
                  <a:lnTo>
                    <a:pt x="214311" y="18128"/>
                  </a:lnTo>
                  <a:lnTo>
                    <a:pt x="231359" y="19697"/>
                  </a:lnTo>
                  <a:lnTo>
                    <a:pt x="248407" y="20947"/>
                  </a:lnTo>
                  <a:lnTo>
                    <a:pt x="265428" y="21915"/>
                  </a:lnTo>
                  <a:lnTo>
                    <a:pt x="282401" y="2263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7" name="Ядро эпителиальной клетки"/>
            <p:cNvSpPr/>
            <p:nvPr/>
          </p:nvSpPr>
          <p:spPr>
            <a:xfrm rot="6909474">
              <a:off x="1576388" y="43844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8" name="Ядрышко"/>
            <p:cNvSpPr/>
            <p:nvPr/>
          </p:nvSpPr>
          <p:spPr>
            <a:xfrm>
              <a:off x="1605648" y="443614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49" name="Клетка однослойного эпителия"/>
            <p:cNvSpPr/>
            <p:nvPr/>
          </p:nvSpPr>
          <p:spPr>
            <a:xfrm>
              <a:off x="1283860" y="4278509"/>
              <a:ext cx="295465" cy="236731"/>
            </a:xfrm>
            <a:custGeom>
              <a:avLst/>
              <a:gdLst/>
              <a:ahLst/>
              <a:cxnLst/>
              <a:rect l="l" t="t" r="r" b="b"/>
              <a:pathLst>
                <a:path w="295465" h="236731">
                  <a:moveTo>
                    <a:pt x="180939" y="236731"/>
                  </a:moveTo>
                  <a:lnTo>
                    <a:pt x="159293" y="228840"/>
                  </a:lnTo>
                  <a:lnTo>
                    <a:pt x="138234" y="220115"/>
                  </a:lnTo>
                  <a:lnTo>
                    <a:pt x="117849" y="210549"/>
                  </a:lnTo>
                  <a:lnTo>
                    <a:pt x="98222" y="200150"/>
                  </a:lnTo>
                  <a:lnTo>
                    <a:pt x="79428" y="188931"/>
                  </a:lnTo>
                  <a:lnTo>
                    <a:pt x="61535" y="176919"/>
                  </a:lnTo>
                  <a:lnTo>
                    <a:pt x="44604" y="164149"/>
                  </a:lnTo>
                  <a:lnTo>
                    <a:pt x="28683" y="150663"/>
                  </a:lnTo>
                  <a:lnTo>
                    <a:pt x="13806" y="136510"/>
                  </a:lnTo>
                  <a:lnTo>
                    <a:pt x="0" y="121745"/>
                  </a:lnTo>
                  <a:lnTo>
                    <a:pt x="165004" y="0"/>
                  </a:lnTo>
                  <a:lnTo>
                    <a:pt x="174880" y="9230"/>
                  </a:lnTo>
                  <a:lnTo>
                    <a:pt x="185544" y="18056"/>
                  </a:lnTo>
                  <a:lnTo>
                    <a:pt x="196979" y="26442"/>
                  </a:lnTo>
                  <a:lnTo>
                    <a:pt x="209161" y="34359"/>
                  </a:lnTo>
                  <a:lnTo>
                    <a:pt x="222053" y="41780"/>
                  </a:lnTo>
                  <a:lnTo>
                    <a:pt x="235613" y="48684"/>
                  </a:lnTo>
                  <a:lnTo>
                    <a:pt x="249793" y="55054"/>
                  </a:lnTo>
                  <a:lnTo>
                    <a:pt x="264535" y="60883"/>
                  </a:lnTo>
                  <a:lnTo>
                    <a:pt x="279780" y="66167"/>
                  </a:lnTo>
                  <a:lnTo>
                    <a:pt x="295465" y="7091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0" name="Ядро эпителиальной клетки"/>
            <p:cNvSpPr/>
            <p:nvPr/>
          </p:nvSpPr>
          <p:spPr>
            <a:xfrm rot="8046316">
              <a:off x="1391732" y="432462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1" name="Ядрышко"/>
            <p:cNvSpPr/>
            <p:nvPr/>
          </p:nvSpPr>
          <p:spPr>
            <a:xfrm>
              <a:off x="1420993" y="437629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2" name="Клетка однослойного эпителия"/>
            <p:cNvSpPr/>
            <p:nvPr/>
          </p:nvSpPr>
          <p:spPr>
            <a:xfrm>
              <a:off x="1201969" y="4172252"/>
              <a:ext cx="246895" cy="228002"/>
            </a:xfrm>
            <a:custGeom>
              <a:avLst/>
              <a:gdLst/>
              <a:ahLst/>
              <a:cxnLst/>
              <a:rect l="l" t="t" r="r" b="b"/>
              <a:pathLst>
                <a:path w="246895" h="228002">
                  <a:moveTo>
                    <a:pt x="81891" y="228002"/>
                  </a:moveTo>
                  <a:lnTo>
                    <a:pt x="69166" y="212684"/>
                  </a:lnTo>
                  <a:lnTo>
                    <a:pt x="57523" y="196873"/>
                  </a:lnTo>
                  <a:lnTo>
                    <a:pt x="46948" y="180631"/>
                  </a:lnTo>
                  <a:lnTo>
                    <a:pt x="37419" y="164020"/>
                  </a:lnTo>
                  <a:lnTo>
                    <a:pt x="28905" y="147098"/>
                  </a:lnTo>
                  <a:lnTo>
                    <a:pt x="21366" y="129921"/>
                  </a:lnTo>
                  <a:lnTo>
                    <a:pt x="14756" y="112541"/>
                  </a:lnTo>
                  <a:lnTo>
                    <a:pt x="9026" y="95004"/>
                  </a:lnTo>
                  <a:lnTo>
                    <a:pt x="4125" y="77351"/>
                  </a:lnTo>
                  <a:lnTo>
                    <a:pt x="0" y="59617"/>
                  </a:lnTo>
                  <a:lnTo>
                    <a:pt x="189384" y="0"/>
                  </a:lnTo>
                  <a:lnTo>
                    <a:pt x="192159" y="11250"/>
                  </a:lnTo>
                  <a:lnTo>
                    <a:pt x="195501" y="22439"/>
                  </a:lnTo>
                  <a:lnTo>
                    <a:pt x="199449" y="33542"/>
                  </a:lnTo>
                  <a:lnTo>
                    <a:pt x="204041" y="44533"/>
                  </a:lnTo>
                  <a:lnTo>
                    <a:pt x="209314" y="55383"/>
                  </a:lnTo>
                  <a:lnTo>
                    <a:pt x="215301" y="66058"/>
                  </a:lnTo>
                  <a:lnTo>
                    <a:pt x="222032" y="76521"/>
                  </a:lnTo>
                  <a:lnTo>
                    <a:pt x="229531" y="86735"/>
                  </a:lnTo>
                  <a:lnTo>
                    <a:pt x="237816" y="96660"/>
                  </a:lnTo>
                  <a:lnTo>
                    <a:pt x="246895" y="10625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3" name="Ядро эпителиальной клетки"/>
            <p:cNvSpPr/>
            <p:nvPr/>
          </p:nvSpPr>
          <p:spPr>
            <a:xfrm rot="9183158">
              <a:off x="1278966" y="420536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4" name="Ядрышко"/>
            <p:cNvSpPr/>
            <p:nvPr/>
          </p:nvSpPr>
          <p:spPr>
            <a:xfrm>
              <a:off x="1308227" y="4257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5" name="Клетка однослойного эпителия"/>
            <p:cNvSpPr/>
            <p:nvPr/>
          </p:nvSpPr>
          <p:spPr>
            <a:xfrm>
              <a:off x="1191078" y="4053945"/>
              <a:ext cx="200275" cy="177924"/>
            </a:xfrm>
            <a:custGeom>
              <a:avLst/>
              <a:gdLst/>
              <a:ahLst/>
              <a:cxnLst/>
              <a:rect l="l" t="t" r="r" b="b"/>
              <a:pathLst>
                <a:path w="200275" h="177924">
                  <a:moveTo>
                    <a:pt x="10891" y="177924"/>
                  </a:moveTo>
                  <a:lnTo>
                    <a:pt x="7494" y="160138"/>
                  </a:lnTo>
                  <a:lnTo>
                    <a:pt x="4777" y="142322"/>
                  </a:lnTo>
                  <a:lnTo>
                    <a:pt x="2701" y="124494"/>
                  </a:lnTo>
                  <a:lnTo>
                    <a:pt x="1229" y="106667"/>
                  </a:lnTo>
                  <a:lnTo>
                    <a:pt x="335" y="88848"/>
                  </a:lnTo>
                  <a:lnTo>
                    <a:pt x="0" y="71043"/>
                  </a:lnTo>
                  <a:lnTo>
                    <a:pt x="211" y="53254"/>
                  </a:lnTo>
                  <a:lnTo>
                    <a:pt x="967" y="35483"/>
                  </a:lnTo>
                  <a:lnTo>
                    <a:pt x="2272" y="17731"/>
                  </a:lnTo>
                  <a:lnTo>
                    <a:pt x="4137" y="0"/>
                  </a:lnTo>
                  <a:lnTo>
                    <a:pt x="197694" y="4979"/>
                  </a:lnTo>
                  <a:lnTo>
                    <a:pt x="196100" y="16306"/>
                  </a:lnTo>
                  <a:lnTo>
                    <a:pt x="194914" y="27639"/>
                  </a:lnTo>
                  <a:lnTo>
                    <a:pt x="194129" y="38977"/>
                  </a:lnTo>
                  <a:lnTo>
                    <a:pt x="193740" y="50320"/>
                  </a:lnTo>
                  <a:lnTo>
                    <a:pt x="193750" y="61665"/>
                  </a:lnTo>
                  <a:lnTo>
                    <a:pt x="194167" y="73012"/>
                  </a:lnTo>
                  <a:lnTo>
                    <a:pt x="195005" y="84357"/>
                  </a:lnTo>
                  <a:lnTo>
                    <a:pt x="196285" y="95694"/>
                  </a:lnTo>
                  <a:lnTo>
                    <a:pt x="198032" y="107014"/>
                  </a:lnTo>
                  <a:lnTo>
                    <a:pt x="200275" y="11830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6" name="Ядро эпителиальной клетки"/>
            <p:cNvSpPr/>
            <p:nvPr/>
          </p:nvSpPr>
          <p:spPr>
            <a:xfrm rot="10320000">
              <a:off x="1246268" y="40623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7" name="Ядрышко"/>
            <p:cNvSpPr/>
            <p:nvPr/>
          </p:nvSpPr>
          <p:spPr>
            <a:xfrm>
              <a:off x="1275529" y="4114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8" name="Клетка однослойного эпителия"/>
            <p:cNvSpPr/>
            <p:nvPr/>
          </p:nvSpPr>
          <p:spPr>
            <a:xfrm>
              <a:off x="1195215" y="3879745"/>
              <a:ext cx="235696" cy="179179"/>
            </a:xfrm>
            <a:custGeom>
              <a:avLst/>
              <a:gdLst/>
              <a:ahLst/>
              <a:cxnLst/>
              <a:rect l="l" t="t" r="r" b="b"/>
              <a:pathLst>
                <a:path w="235696" h="179179">
                  <a:moveTo>
                    <a:pt x="0" y="174200"/>
                  </a:moveTo>
                  <a:lnTo>
                    <a:pt x="2444" y="156492"/>
                  </a:lnTo>
                  <a:lnTo>
                    <a:pt x="5489" y="138814"/>
                  </a:lnTo>
                  <a:lnTo>
                    <a:pt x="9161" y="121172"/>
                  </a:lnTo>
                  <a:lnTo>
                    <a:pt x="13489" y="103579"/>
                  </a:lnTo>
                  <a:lnTo>
                    <a:pt x="18500" y="86047"/>
                  </a:lnTo>
                  <a:lnTo>
                    <a:pt x="24221" y="68594"/>
                  </a:lnTo>
                  <a:lnTo>
                    <a:pt x="30676" y="51239"/>
                  </a:lnTo>
                  <a:lnTo>
                    <a:pt x="37886" y="34006"/>
                  </a:lnTo>
                  <a:lnTo>
                    <a:pt x="45866" y="16918"/>
                  </a:lnTo>
                  <a:lnTo>
                    <a:pt x="54623" y="0"/>
                  </a:lnTo>
                  <a:lnTo>
                    <a:pt x="235696" y="67416"/>
                  </a:lnTo>
                  <a:lnTo>
                    <a:pt x="229085" y="78316"/>
                  </a:lnTo>
                  <a:lnTo>
                    <a:pt x="223040" y="89314"/>
                  </a:lnTo>
                  <a:lnTo>
                    <a:pt x="217553" y="100394"/>
                  </a:lnTo>
                  <a:lnTo>
                    <a:pt x="212616" y="111542"/>
                  </a:lnTo>
                  <a:lnTo>
                    <a:pt x="208213" y="122743"/>
                  </a:lnTo>
                  <a:lnTo>
                    <a:pt x="204327" y="133984"/>
                  </a:lnTo>
                  <a:lnTo>
                    <a:pt x="200939" y="145256"/>
                  </a:lnTo>
                  <a:lnTo>
                    <a:pt x="198027" y="156550"/>
                  </a:lnTo>
                  <a:lnTo>
                    <a:pt x="195573" y="167859"/>
                  </a:lnTo>
                  <a:lnTo>
                    <a:pt x="193557" y="17917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59" name="Ядро эпителиальной клетки"/>
            <p:cNvSpPr/>
            <p:nvPr/>
          </p:nvSpPr>
          <p:spPr>
            <a:xfrm rot="11456842">
              <a:off x="1266645" y="391857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0" name="Ядрышко"/>
            <p:cNvSpPr/>
            <p:nvPr/>
          </p:nvSpPr>
          <p:spPr>
            <a:xfrm>
              <a:off x="1295906" y="397024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1" name="Клетка однослойного эпителия"/>
            <p:cNvSpPr/>
            <p:nvPr/>
          </p:nvSpPr>
          <p:spPr>
            <a:xfrm>
              <a:off x="1249838" y="3724760"/>
              <a:ext cx="276149" cy="222401"/>
            </a:xfrm>
            <a:custGeom>
              <a:avLst/>
              <a:gdLst/>
              <a:ahLst/>
              <a:cxnLst/>
              <a:rect l="l" t="t" r="r" b="b"/>
              <a:pathLst>
                <a:path w="276149" h="222401">
                  <a:moveTo>
                    <a:pt x="0" y="154985"/>
                  </a:moveTo>
                  <a:lnTo>
                    <a:pt x="9538" y="138264"/>
                  </a:lnTo>
                  <a:lnTo>
                    <a:pt x="19850" y="121764"/>
                  </a:lnTo>
                  <a:lnTo>
                    <a:pt x="30925" y="105509"/>
                  </a:lnTo>
                  <a:lnTo>
                    <a:pt x="42744" y="89521"/>
                  </a:lnTo>
                  <a:lnTo>
                    <a:pt x="55282" y="73819"/>
                  </a:lnTo>
                  <a:lnTo>
                    <a:pt x="68507" y="58419"/>
                  </a:lnTo>
                  <a:lnTo>
                    <a:pt x="82385" y="43332"/>
                  </a:lnTo>
                  <a:lnTo>
                    <a:pt x="96878" y="28565"/>
                  </a:lnTo>
                  <a:lnTo>
                    <a:pt x="111946" y="14121"/>
                  </a:lnTo>
                  <a:lnTo>
                    <a:pt x="127548" y="0"/>
                  </a:lnTo>
                  <a:lnTo>
                    <a:pt x="276149" y="121925"/>
                  </a:lnTo>
                  <a:lnTo>
                    <a:pt x="264583" y="131132"/>
                  </a:lnTo>
                  <a:lnTo>
                    <a:pt x="253402" y="140538"/>
                  </a:lnTo>
                  <a:lnTo>
                    <a:pt x="242636" y="150142"/>
                  </a:lnTo>
                  <a:lnTo>
                    <a:pt x="232315" y="159942"/>
                  </a:lnTo>
                  <a:lnTo>
                    <a:pt x="222465" y="169934"/>
                  </a:lnTo>
                  <a:lnTo>
                    <a:pt x="213113" y="180108"/>
                  </a:lnTo>
                  <a:lnTo>
                    <a:pt x="204282" y="190455"/>
                  </a:lnTo>
                  <a:lnTo>
                    <a:pt x="195989" y="200963"/>
                  </a:lnTo>
                  <a:lnTo>
                    <a:pt x="188250" y="211616"/>
                  </a:lnTo>
                  <a:lnTo>
                    <a:pt x="181073" y="22240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2" name="Ядро эпителиальной клетки"/>
            <p:cNvSpPr/>
            <p:nvPr/>
          </p:nvSpPr>
          <p:spPr>
            <a:xfrm rot="12593684">
              <a:off x="1346335" y="378226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3" name="Ядрышко"/>
            <p:cNvSpPr/>
            <p:nvPr/>
          </p:nvSpPr>
          <p:spPr>
            <a:xfrm>
              <a:off x="1375595" y="383392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4" name="Клетка однослойного эпителия"/>
            <p:cNvSpPr/>
            <p:nvPr/>
          </p:nvSpPr>
          <p:spPr>
            <a:xfrm>
              <a:off x="1377386" y="3599289"/>
              <a:ext cx="280650" cy="247396"/>
            </a:xfrm>
            <a:custGeom>
              <a:avLst/>
              <a:gdLst/>
              <a:ahLst/>
              <a:cxnLst/>
              <a:rect l="l" t="t" r="r" b="b"/>
              <a:pathLst>
                <a:path w="280650" h="247396">
                  <a:moveTo>
                    <a:pt x="0" y="125471"/>
                  </a:moveTo>
                  <a:lnTo>
                    <a:pt x="16099" y="111667"/>
                  </a:lnTo>
                  <a:lnTo>
                    <a:pt x="32656" y="98172"/>
                  </a:lnTo>
                  <a:lnTo>
                    <a:pt x="49638" y="84976"/>
                  </a:lnTo>
                  <a:lnTo>
                    <a:pt x="67018" y="72067"/>
                  </a:lnTo>
                  <a:lnTo>
                    <a:pt x="84773" y="59430"/>
                  </a:lnTo>
                  <a:lnTo>
                    <a:pt x="102884" y="47055"/>
                  </a:lnTo>
                  <a:lnTo>
                    <a:pt x="121341" y="34930"/>
                  </a:lnTo>
                  <a:lnTo>
                    <a:pt x="140140" y="23047"/>
                  </a:lnTo>
                  <a:lnTo>
                    <a:pt x="159281" y="11404"/>
                  </a:lnTo>
                  <a:lnTo>
                    <a:pt x="178771" y="0"/>
                  </a:lnTo>
                  <a:lnTo>
                    <a:pt x="280650" y="165058"/>
                  </a:lnTo>
                  <a:lnTo>
                    <a:pt x="266284" y="172584"/>
                  </a:lnTo>
                  <a:lnTo>
                    <a:pt x="252169" y="180259"/>
                  </a:lnTo>
                  <a:lnTo>
                    <a:pt x="238301" y="188081"/>
                  </a:lnTo>
                  <a:lnTo>
                    <a:pt x="224678" y="196054"/>
                  </a:lnTo>
                  <a:lnTo>
                    <a:pt x="211305" y="204181"/>
                  </a:lnTo>
                  <a:lnTo>
                    <a:pt x="198188" y="212470"/>
                  </a:lnTo>
                  <a:lnTo>
                    <a:pt x="185341" y="220929"/>
                  </a:lnTo>
                  <a:lnTo>
                    <a:pt x="172780" y="229564"/>
                  </a:lnTo>
                  <a:lnTo>
                    <a:pt x="160525" y="238385"/>
                  </a:lnTo>
                  <a:lnTo>
                    <a:pt x="148601" y="247396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5" name="Ядро эпителиальной клетки"/>
            <p:cNvSpPr/>
            <p:nvPr/>
          </p:nvSpPr>
          <p:spPr>
            <a:xfrm rot="13730526">
              <a:off x="1482235" y="36676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6" name="Ядрышко"/>
            <p:cNvSpPr/>
            <p:nvPr/>
          </p:nvSpPr>
          <p:spPr>
            <a:xfrm>
              <a:off x="1511496" y="371935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7" name="Клетка однослойного эпителия"/>
            <p:cNvSpPr/>
            <p:nvPr/>
          </p:nvSpPr>
          <p:spPr>
            <a:xfrm>
              <a:off x="1556157" y="3503351"/>
              <a:ext cx="261147" cy="260996"/>
            </a:xfrm>
            <a:custGeom>
              <a:avLst/>
              <a:gdLst/>
              <a:ahLst/>
              <a:cxnLst/>
              <a:rect l="l" t="t" r="r" b="b"/>
              <a:pathLst>
                <a:path w="261147" h="260996">
                  <a:moveTo>
                    <a:pt x="0" y="95938"/>
                  </a:moveTo>
                  <a:lnTo>
                    <a:pt x="19848" y="84781"/>
                  </a:lnTo>
                  <a:lnTo>
                    <a:pt x="40068" y="73884"/>
                  </a:lnTo>
                  <a:lnTo>
                    <a:pt x="60675" y="63269"/>
                  </a:lnTo>
                  <a:lnTo>
                    <a:pt x="81684" y="52962"/>
                  </a:lnTo>
                  <a:lnTo>
                    <a:pt x="103107" y="42999"/>
                  </a:lnTo>
                  <a:lnTo>
                    <a:pt x="124956" y="33422"/>
                  </a:lnTo>
                  <a:lnTo>
                    <a:pt x="147235" y="24278"/>
                  </a:lnTo>
                  <a:lnTo>
                    <a:pt x="169946" y="15621"/>
                  </a:lnTo>
                  <a:lnTo>
                    <a:pt x="193080" y="7508"/>
                  </a:lnTo>
                  <a:lnTo>
                    <a:pt x="216621" y="0"/>
                  </a:lnTo>
                  <a:lnTo>
                    <a:pt x="261147" y="196985"/>
                  </a:lnTo>
                  <a:lnTo>
                    <a:pt x="243877" y="202082"/>
                  </a:lnTo>
                  <a:lnTo>
                    <a:pt x="226896" y="207558"/>
                  </a:lnTo>
                  <a:lnTo>
                    <a:pt x="210217" y="213376"/>
                  </a:lnTo>
                  <a:lnTo>
                    <a:pt x="193846" y="219498"/>
                  </a:lnTo>
                  <a:lnTo>
                    <a:pt x="177783" y="225891"/>
                  </a:lnTo>
                  <a:lnTo>
                    <a:pt x="162026" y="232525"/>
                  </a:lnTo>
                  <a:lnTo>
                    <a:pt x="146566" y="239371"/>
                  </a:lnTo>
                  <a:lnTo>
                    <a:pt x="131396" y="246410"/>
                  </a:lnTo>
                  <a:lnTo>
                    <a:pt x="116503" y="253622"/>
                  </a:lnTo>
                  <a:lnTo>
                    <a:pt x="101879" y="26099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8" name="Ядро эпителиальной клетки"/>
            <p:cNvSpPr/>
            <p:nvPr/>
          </p:nvSpPr>
          <p:spPr>
            <a:xfrm rot="14867368">
              <a:off x="1652375" y="357516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69" name="Ядрышко"/>
            <p:cNvSpPr/>
            <p:nvPr/>
          </p:nvSpPr>
          <p:spPr>
            <a:xfrm>
              <a:off x="1681636" y="362682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0" name="Клетка однослойного эпителия"/>
            <p:cNvSpPr/>
            <p:nvPr/>
          </p:nvSpPr>
          <p:spPr>
            <a:xfrm>
              <a:off x="1772778" y="3472000"/>
              <a:ext cx="248210" cy="228336"/>
            </a:xfrm>
            <a:custGeom>
              <a:avLst/>
              <a:gdLst/>
              <a:ahLst/>
              <a:cxnLst/>
              <a:rect l="l" t="t" r="r" b="b"/>
              <a:pathLst>
                <a:path w="248210" h="228336">
                  <a:moveTo>
                    <a:pt x="0" y="31351"/>
                  </a:moveTo>
                  <a:lnTo>
                    <a:pt x="23926" y="24510"/>
                  </a:lnTo>
                  <a:lnTo>
                    <a:pt x="48200" y="18396"/>
                  </a:lnTo>
                  <a:lnTo>
                    <a:pt x="72782" y="13070"/>
                  </a:lnTo>
                  <a:lnTo>
                    <a:pt x="97619" y="8588"/>
                  </a:lnTo>
                  <a:lnTo>
                    <a:pt x="122651" y="5000"/>
                  </a:lnTo>
                  <a:lnTo>
                    <a:pt x="147810" y="2351"/>
                  </a:lnTo>
                  <a:lnTo>
                    <a:pt x="173025" y="675"/>
                  </a:lnTo>
                  <a:lnTo>
                    <a:pt x="198216" y="0"/>
                  </a:lnTo>
                  <a:lnTo>
                    <a:pt x="223305" y="341"/>
                  </a:lnTo>
                  <a:lnTo>
                    <a:pt x="248210" y="1704"/>
                  </a:lnTo>
                  <a:lnTo>
                    <a:pt x="225960" y="206166"/>
                  </a:lnTo>
                  <a:lnTo>
                    <a:pt x="207812" y="205625"/>
                  </a:lnTo>
                  <a:lnTo>
                    <a:pt x="189517" y="205738"/>
                  </a:lnTo>
                  <a:lnTo>
                    <a:pt x="171134" y="206501"/>
                  </a:lnTo>
                  <a:lnTo>
                    <a:pt x="152721" y="207901"/>
                  </a:lnTo>
                  <a:lnTo>
                    <a:pt x="134334" y="209922"/>
                  </a:lnTo>
                  <a:lnTo>
                    <a:pt x="116029" y="212539"/>
                  </a:lnTo>
                  <a:lnTo>
                    <a:pt x="97854" y="215724"/>
                  </a:lnTo>
                  <a:lnTo>
                    <a:pt x="79854" y="219443"/>
                  </a:lnTo>
                  <a:lnTo>
                    <a:pt x="62067" y="223660"/>
                  </a:lnTo>
                  <a:lnTo>
                    <a:pt x="44526" y="22833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1" name="Ядро эпителиальной клетки"/>
            <p:cNvSpPr/>
            <p:nvPr/>
          </p:nvSpPr>
          <p:spPr>
            <a:xfrm rot="16004211">
              <a:off x="1855784" y="35172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2" name="Ядрышко"/>
            <p:cNvSpPr/>
            <p:nvPr/>
          </p:nvSpPr>
          <p:spPr>
            <a:xfrm>
              <a:off x="1885044" y="35689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3" name="Клетка однослойного эпителия"/>
            <p:cNvSpPr/>
            <p:nvPr/>
          </p:nvSpPr>
          <p:spPr>
            <a:xfrm>
              <a:off x="1998738" y="3473704"/>
              <a:ext cx="246751" cy="241940"/>
            </a:xfrm>
            <a:custGeom>
              <a:avLst/>
              <a:gdLst/>
              <a:ahLst/>
              <a:cxnLst/>
              <a:rect l="l" t="t" r="r" b="b"/>
              <a:pathLst>
                <a:path w="246751" h="241940">
                  <a:moveTo>
                    <a:pt x="22250" y="0"/>
                  </a:moveTo>
                  <a:lnTo>
                    <a:pt x="46892" y="2378"/>
                  </a:lnTo>
                  <a:lnTo>
                    <a:pt x="71196" y="5755"/>
                  </a:lnTo>
                  <a:lnTo>
                    <a:pt x="95090" y="10101"/>
                  </a:lnTo>
                  <a:lnTo>
                    <a:pt x="118511" y="15378"/>
                  </a:lnTo>
                  <a:lnTo>
                    <a:pt x="141404" y="21539"/>
                  </a:lnTo>
                  <a:lnTo>
                    <a:pt x="163723" y="28527"/>
                  </a:lnTo>
                  <a:lnTo>
                    <a:pt x="185435" y="36280"/>
                  </a:lnTo>
                  <a:lnTo>
                    <a:pt x="206515" y="44730"/>
                  </a:lnTo>
                  <a:lnTo>
                    <a:pt x="226954" y="53807"/>
                  </a:lnTo>
                  <a:lnTo>
                    <a:pt x="246751" y="63438"/>
                  </a:lnTo>
                  <a:lnTo>
                    <a:pt x="162915" y="241940"/>
                  </a:lnTo>
                  <a:lnTo>
                    <a:pt x="148602" y="236062"/>
                  </a:lnTo>
                  <a:lnTo>
                    <a:pt x="133813" y="230545"/>
                  </a:lnTo>
                  <a:lnTo>
                    <a:pt x="118548" y="225437"/>
                  </a:lnTo>
                  <a:lnTo>
                    <a:pt x="102814" y="220781"/>
                  </a:lnTo>
                  <a:lnTo>
                    <a:pt x="86627" y="216621"/>
                  </a:lnTo>
                  <a:lnTo>
                    <a:pt x="70010" y="212995"/>
                  </a:lnTo>
                  <a:lnTo>
                    <a:pt x="52996" y="209940"/>
                  </a:lnTo>
                  <a:lnTo>
                    <a:pt x="35625" y="207485"/>
                  </a:lnTo>
                  <a:lnTo>
                    <a:pt x="17943" y="205653"/>
                  </a:lnTo>
                  <a:lnTo>
                    <a:pt x="0" y="20446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4" name="Ядро эпителиальной клетки"/>
            <p:cNvSpPr/>
            <p:nvPr/>
          </p:nvSpPr>
          <p:spPr>
            <a:xfrm rot="17141053">
              <a:off x="2065937" y="353039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5" name="Ядрышко"/>
            <p:cNvSpPr/>
            <p:nvPr/>
          </p:nvSpPr>
          <p:spPr>
            <a:xfrm>
              <a:off x="2095198" y="358205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6" name="Клетка однослойного эпителия"/>
            <p:cNvSpPr/>
            <p:nvPr/>
          </p:nvSpPr>
          <p:spPr>
            <a:xfrm>
              <a:off x="2161653" y="3537142"/>
              <a:ext cx="252708" cy="248521"/>
            </a:xfrm>
            <a:custGeom>
              <a:avLst/>
              <a:gdLst/>
              <a:ahLst/>
              <a:cxnLst/>
              <a:rect l="l" t="t" r="r" b="b"/>
              <a:pathLst>
                <a:path w="252708" h="248521">
                  <a:moveTo>
                    <a:pt x="83836" y="0"/>
                  </a:moveTo>
                  <a:lnTo>
                    <a:pt x="103003" y="10113"/>
                  </a:lnTo>
                  <a:lnTo>
                    <a:pt x="121560" y="20640"/>
                  </a:lnTo>
                  <a:lnTo>
                    <a:pt x="139539" y="31516"/>
                  </a:lnTo>
                  <a:lnTo>
                    <a:pt x="156975" y="42679"/>
                  </a:lnTo>
                  <a:lnTo>
                    <a:pt x="173912" y="54078"/>
                  </a:lnTo>
                  <a:lnTo>
                    <a:pt x="190395" y="65667"/>
                  </a:lnTo>
                  <a:lnTo>
                    <a:pt x="206472" y="77409"/>
                  </a:lnTo>
                  <a:lnTo>
                    <a:pt x="222188" y="89279"/>
                  </a:lnTo>
                  <a:lnTo>
                    <a:pt x="237588" y="101257"/>
                  </a:lnTo>
                  <a:lnTo>
                    <a:pt x="252708" y="113336"/>
                  </a:lnTo>
                  <a:lnTo>
                    <a:pt x="121680" y="248521"/>
                  </a:lnTo>
                  <a:lnTo>
                    <a:pt x="110811" y="241021"/>
                  </a:lnTo>
                  <a:lnTo>
                    <a:pt x="99736" y="233589"/>
                  </a:lnTo>
                  <a:lnTo>
                    <a:pt x="88429" y="226230"/>
                  </a:lnTo>
                  <a:lnTo>
                    <a:pt x="76857" y="218956"/>
                  </a:lnTo>
                  <a:lnTo>
                    <a:pt x="64987" y="211786"/>
                  </a:lnTo>
                  <a:lnTo>
                    <a:pt x="52784" y="204744"/>
                  </a:lnTo>
                  <a:lnTo>
                    <a:pt x="40213" y="197857"/>
                  </a:lnTo>
                  <a:lnTo>
                    <a:pt x="27243" y="191162"/>
                  </a:lnTo>
                  <a:lnTo>
                    <a:pt x="13846" y="184696"/>
                  </a:lnTo>
                  <a:lnTo>
                    <a:pt x="0" y="178502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7" name="Ядро эпителиальной клетки"/>
            <p:cNvSpPr/>
            <p:nvPr/>
          </p:nvSpPr>
          <p:spPr>
            <a:xfrm rot="18277895">
              <a:off x="2233204" y="36069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8" name="Ядрышко"/>
            <p:cNvSpPr/>
            <p:nvPr/>
          </p:nvSpPr>
          <p:spPr>
            <a:xfrm>
              <a:off x="2262464" y="365859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79" name="Клетка однослойного эпителия"/>
            <p:cNvSpPr/>
            <p:nvPr/>
          </p:nvSpPr>
          <p:spPr>
            <a:xfrm>
              <a:off x="2283333" y="3650478"/>
              <a:ext cx="269084" cy="215819"/>
            </a:xfrm>
            <a:custGeom>
              <a:avLst/>
              <a:gdLst/>
              <a:ahLst/>
              <a:cxnLst/>
              <a:rect l="l" t="t" r="r" b="b"/>
              <a:pathLst>
                <a:path w="269084" h="215819">
                  <a:moveTo>
                    <a:pt x="131028" y="0"/>
                  </a:moveTo>
                  <a:lnTo>
                    <a:pt x="145902" y="12178"/>
                  </a:lnTo>
                  <a:lnTo>
                    <a:pt x="160551" y="24465"/>
                  </a:lnTo>
                  <a:lnTo>
                    <a:pt x="174990" y="36876"/>
                  </a:lnTo>
                  <a:lnTo>
                    <a:pt x="189222" y="49431"/>
                  </a:lnTo>
                  <a:lnTo>
                    <a:pt x="203239" y="62156"/>
                  </a:lnTo>
                  <a:lnTo>
                    <a:pt x="217022" y="75079"/>
                  </a:lnTo>
                  <a:lnTo>
                    <a:pt x="230542" y="88231"/>
                  </a:lnTo>
                  <a:lnTo>
                    <a:pt x="243759" y="101641"/>
                  </a:lnTo>
                  <a:lnTo>
                    <a:pt x="256625" y="115339"/>
                  </a:lnTo>
                  <a:lnTo>
                    <a:pt x="269084" y="129350"/>
                  </a:lnTo>
                  <a:lnTo>
                    <a:pt x="98992" y="215819"/>
                  </a:lnTo>
                  <a:lnTo>
                    <a:pt x="90090" y="207052"/>
                  </a:lnTo>
                  <a:lnTo>
                    <a:pt x="80886" y="198490"/>
                  </a:lnTo>
                  <a:lnTo>
                    <a:pt x="71422" y="190116"/>
                  </a:lnTo>
                  <a:lnTo>
                    <a:pt x="61734" y="181911"/>
                  </a:lnTo>
                  <a:lnTo>
                    <a:pt x="51851" y="173855"/>
                  </a:lnTo>
                  <a:lnTo>
                    <a:pt x="41795" y="165928"/>
                  </a:lnTo>
                  <a:lnTo>
                    <a:pt x="31580" y="158112"/>
                  </a:lnTo>
                  <a:lnTo>
                    <a:pt x="21212" y="150392"/>
                  </a:lnTo>
                  <a:lnTo>
                    <a:pt x="10688" y="142753"/>
                  </a:lnTo>
                  <a:lnTo>
                    <a:pt x="0" y="13518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0" name="Ядро эпителиальной клетки"/>
            <p:cNvSpPr/>
            <p:nvPr/>
          </p:nvSpPr>
          <p:spPr>
            <a:xfrm rot="19414737">
              <a:off x="2362130" y="370442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1" name="Ядрышко"/>
            <p:cNvSpPr/>
            <p:nvPr/>
          </p:nvSpPr>
          <p:spPr>
            <a:xfrm>
              <a:off x="2391390" y="375608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2" name="Клетка однослойного эпителия"/>
            <p:cNvSpPr/>
            <p:nvPr/>
          </p:nvSpPr>
          <p:spPr>
            <a:xfrm>
              <a:off x="2382325" y="3779828"/>
              <a:ext cx="257890" cy="186888"/>
            </a:xfrm>
            <a:custGeom>
              <a:avLst/>
              <a:gdLst/>
              <a:ahLst/>
              <a:cxnLst/>
              <a:rect l="l" t="t" r="r" b="b"/>
              <a:pathLst>
                <a:path w="257890" h="186888">
                  <a:moveTo>
                    <a:pt x="170092" y="0"/>
                  </a:moveTo>
                  <a:lnTo>
                    <a:pt x="182080" y="14346"/>
                  </a:lnTo>
                  <a:lnTo>
                    <a:pt x="193531" y="29044"/>
                  </a:lnTo>
                  <a:lnTo>
                    <a:pt x="204376" y="44106"/>
                  </a:lnTo>
                  <a:lnTo>
                    <a:pt x="214545" y="59537"/>
                  </a:lnTo>
                  <a:lnTo>
                    <a:pt x="223970" y="75335"/>
                  </a:lnTo>
                  <a:lnTo>
                    <a:pt x="232586" y="91492"/>
                  </a:lnTo>
                  <a:lnTo>
                    <a:pt x="240335" y="107995"/>
                  </a:lnTo>
                  <a:lnTo>
                    <a:pt x="247163" y="124824"/>
                  </a:lnTo>
                  <a:lnTo>
                    <a:pt x="253027" y="141951"/>
                  </a:lnTo>
                  <a:lnTo>
                    <a:pt x="257890" y="159349"/>
                  </a:lnTo>
                  <a:lnTo>
                    <a:pt x="61939" y="186888"/>
                  </a:lnTo>
                  <a:lnTo>
                    <a:pt x="58621" y="175862"/>
                  </a:lnTo>
                  <a:lnTo>
                    <a:pt x="54570" y="165021"/>
                  </a:lnTo>
                  <a:lnTo>
                    <a:pt x="49812" y="154384"/>
                  </a:lnTo>
                  <a:lnTo>
                    <a:pt x="44377" y="143967"/>
                  </a:lnTo>
                  <a:lnTo>
                    <a:pt x="38306" y="133781"/>
                  </a:lnTo>
                  <a:lnTo>
                    <a:pt x="31639" y="123834"/>
                  </a:lnTo>
                  <a:lnTo>
                    <a:pt x="24425" y="114132"/>
                  </a:lnTo>
                  <a:lnTo>
                    <a:pt x="16714" y="104674"/>
                  </a:lnTo>
                  <a:lnTo>
                    <a:pt x="8555" y="95456"/>
                  </a:lnTo>
                  <a:lnTo>
                    <a:pt x="0" y="86469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3" name="Ядро эпителиальной клетки"/>
            <p:cNvSpPr/>
            <p:nvPr/>
          </p:nvSpPr>
          <p:spPr>
            <a:xfrm rot="20551579">
              <a:off x="2464029" y="381926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4" name="Ядрышко"/>
            <p:cNvSpPr/>
            <p:nvPr/>
          </p:nvSpPr>
          <p:spPr>
            <a:xfrm>
              <a:off x="2493290" y="387092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5" name="Просвет канальца"/>
            <p:cNvSpPr/>
            <p:nvPr/>
          </p:nvSpPr>
          <p:spPr>
            <a:xfrm>
              <a:off x="1384482" y="3681280"/>
              <a:ext cx="1064214" cy="695319"/>
            </a:xfrm>
            <a:custGeom>
              <a:avLst/>
              <a:gdLst/>
              <a:ahLst/>
              <a:cxnLst/>
              <a:rect l="l" t="t" r="r" b="b"/>
              <a:pathLst>
                <a:path w="1064214" h="695319">
                  <a:moveTo>
                    <a:pt x="1059884" y="285422"/>
                  </a:moveTo>
                  <a:lnTo>
                    <a:pt x="1062979" y="303275"/>
                  </a:lnTo>
                  <a:lnTo>
                    <a:pt x="1064214" y="321403"/>
                  </a:lnTo>
                  <a:lnTo>
                    <a:pt x="1063608" y="339713"/>
                  </a:lnTo>
                  <a:lnTo>
                    <a:pt x="1061215" y="358119"/>
                  </a:lnTo>
                  <a:lnTo>
                    <a:pt x="1057113" y="376541"/>
                  </a:lnTo>
                  <a:lnTo>
                    <a:pt x="1051401" y="394907"/>
                  </a:lnTo>
                  <a:lnTo>
                    <a:pt x="1044183" y="413159"/>
                  </a:lnTo>
                  <a:lnTo>
                    <a:pt x="1035561" y="431252"/>
                  </a:lnTo>
                  <a:lnTo>
                    <a:pt x="1025626" y="449148"/>
                  </a:lnTo>
                  <a:lnTo>
                    <a:pt x="1014450" y="466817"/>
                  </a:lnTo>
                  <a:lnTo>
                    <a:pt x="1002086" y="484231"/>
                  </a:lnTo>
                  <a:lnTo>
                    <a:pt x="988559" y="501360"/>
                  </a:lnTo>
                  <a:lnTo>
                    <a:pt x="973877" y="518168"/>
                  </a:lnTo>
                  <a:lnTo>
                    <a:pt x="958029" y="534608"/>
                  </a:lnTo>
                  <a:lnTo>
                    <a:pt x="940997" y="550621"/>
                  </a:lnTo>
                  <a:lnTo>
                    <a:pt x="922761" y="566134"/>
                  </a:lnTo>
                  <a:lnTo>
                    <a:pt x="903307" y="581064"/>
                  </a:lnTo>
                  <a:lnTo>
                    <a:pt x="882639" y="595318"/>
                  </a:lnTo>
                  <a:lnTo>
                    <a:pt x="860786" y="608798"/>
                  </a:lnTo>
                  <a:lnTo>
                    <a:pt x="837800" y="621407"/>
                  </a:lnTo>
                  <a:lnTo>
                    <a:pt x="813766" y="633058"/>
                  </a:lnTo>
                  <a:lnTo>
                    <a:pt x="788796" y="643676"/>
                  </a:lnTo>
                  <a:lnTo>
                    <a:pt x="763027" y="653208"/>
                  </a:lnTo>
                  <a:lnTo>
                    <a:pt x="736612" y="661625"/>
                  </a:lnTo>
                  <a:lnTo>
                    <a:pt x="709713" y="668927"/>
                  </a:lnTo>
                  <a:lnTo>
                    <a:pt x="682492" y="675141"/>
                  </a:lnTo>
                  <a:lnTo>
                    <a:pt x="655096" y="680321"/>
                  </a:lnTo>
                  <a:lnTo>
                    <a:pt x="627656" y="684546"/>
                  </a:lnTo>
                  <a:lnTo>
                    <a:pt x="600272" y="687909"/>
                  </a:lnTo>
                  <a:lnTo>
                    <a:pt x="573013" y="690514"/>
                  </a:lnTo>
                  <a:lnTo>
                    <a:pt x="545914" y="692464"/>
                  </a:lnTo>
                  <a:lnTo>
                    <a:pt x="518979" y="693854"/>
                  </a:lnTo>
                  <a:lnTo>
                    <a:pt x="492184" y="694762"/>
                  </a:lnTo>
                  <a:lnTo>
                    <a:pt x="465486" y="695242"/>
                  </a:lnTo>
                  <a:lnTo>
                    <a:pt x="438835" y="695319"/>
                  </a:lnTo>
                  <a:lnTo>
                    <a:pt x="412184" y="694985"/>
                  </a:lnTo>
                  <a:lnTo>
                    <a:pt x="385500" y="694199"/>
                  </a:lnTo>
                  <a:lnTo>
                    <a:pt x="358773" y="692893"/>
                  </a:lnTo>
                  <a:lnTo>
                    <a:pt x="332030" y="690972"/>
                  </a:lnTo>
                  <a:lnTo>
                    <a:pt x="305335" y="688325"/>
                  </a:lnTo>
                  <a:lnTo>
                    <a:pt x="278792" y="684832"/>
                  </a:lnTo>
                  <a:lnTo>
                    <a:pt x="252546" y="680375"/>
                  </a:lnTo>
                  <a:lnTo>
                    <a:pt x="226776" y="674846"/>
                  </a:lnTo>
                  <a:lnTo>
                    <a:pt x="201685" y="668156"/>
                  </a:lnTo>
                  <a:lnTo>
                    <a:pt x="177492" y="660246"/>
                  </a:lnTo>
                  <a:lnTo>
                    <a:pt x="154416" y="651085"/>
                  </a:lnTo>
                  <a:lnTo>
                    <a:pt x="132665" y="640679"/>
                  </a:lnTo>
                  <a:lnTo>
                    <a:pt x="112424" y="629068"/>
                  </a:lnTo>
                  <a:lnTo>
                    <a:pt x="93841" y="616323"/>
                  </a:lnTo>
                  <a:lnTo>
                    <a:pt x="77023" y="602542"/>
                  </a:lnTo>
                  <a:lnTo>
                    <a:pt x="62030" y="587845"/>
                  </a:lnTo>
                  <a:lnTo>
                    <a:pt x="48874" y="572362"/>
                  </a:lnTo>
                  <a:lnTo>
                    <a:pt x="37522" y="556228"/>
                  </a:lnTo>
                  <a:lnTo>
                    <a:pt x="27904" y="539575"/>
                  </a:lnTo>
                  <a:lnTo>
                    <a:pt x="19918" y="522525"/>
                  </a:lnTo>
                  <a:lnTo>
                    <a:pt x="13449" y="505183"/>
                  </a:lnTo>
                  <a:lnTo>
                    <a:pt x="8374" y="487634"/>
                  </a:lnTo>
                  <a:lnTo>
                    <a:pt x="4577" y="469945"/>
                  </a:lnTo>
                  <a:lnTo>
                    <a:pt x="1959" y="452162"/>
                  </a:lnTo>
                  <a:lnTo>
                    <a:pt x="448" y="434316"/>
                  </a:lnTo>
                  <a:lnTo>
                    <a:pt x="0" y="416423"/>
                  </a:lnTo>
                  <a:lnTo>
                    <a:pt x="605" y="398493"/>
                  </a:lnTo>
                  <a:lnTo>
                    <a:pt x="2285" y="380536"/>
                  </a:lnTo>
                  <a:lnTo>
                    <a:pt x="5086" y="362562"/>
                  </a:lnTo>
                  <a:lnTo>
                    <a:pt x="9073" y="344590"/>
                  </a:lnTo>
                  <a:lnTo>
                    <a:pt x="14323" y="326652"/>
                  </a:lnTo>
                  <a:lnTo>
                    <a:pt x="20909" y="308787"/>
                  </a:lnTo>
                  <a:lnTo>
                    <a:pt x="28896" y="291048"/>
                  </a:lnTo>
                  <a:lnTo>
                    <a:pt x="38330" y="273497"/>
                  </a:lnTo>
                  <a:lnTo>
                    <a:pt x="49229" y="256200"/>
                  </a:lnTo>
                  <a:lnTo>
                    <a:pt x="61585" y="239225"/>
                  </a:lnTo>
                  <a:lnTo>
                    <a:pt x="75356" y="222638"/>
                  </a:lnTo>
                  <a:lnTo>
                    <a:pt x="90475" y="206493"/>
                  </a:lnTo>
                  <a:lnTo>
                    <a:pt x="106850" y="190834"/>
                  </a:lnTo>
                  <a:lnTo>
                    <a:pt x="124373" y="175690"/>
                  </a:lnTo>
                  <a:lnTo>
                    <a:pt x="142930" y="161075"/>
                  </a:lnTo>
                  <a:lnTo>
                    <a:pt x="162407" y="146987"/>
                  </a:lnTo>
                  <a:lnTo>
                    <a:pt x="182702" y="133412"/>
                  </a:lnTo>
                  <a:lnTo>
                    <a:pt x="203728" y="120328"/>
                  </a:lnTo>
                  <a:lnTo>
                    <a:pt x="225424" y="107714"/>
                  </a:lnTo>
                  <a:lnTo>
                    <a:pt x="247750" y="95549"/>
                  </a:lnTo>
                  <a:lnTo>
                    <a:pt x="270692" y="83824"/>
                  </a:lnTo>
                  <a:lnTo>
                    <a:pt x="294254" y="72548"/>
                  </a:lnTo>
                  <a:lnTo>
                    <a:pt x="318455" y="61749"/>
                  </a:lnTo>
                  <a:lnTo>
                    <a:pt x="343318" y="51478"/>
                  </a:lnTo>
                  <a:lnTo>
                    <a:pt x="368863" y="41812"/>
                  </a:lnTo>
                  <a:lnTo>
                    <a:pt x="395094" y="32849"/>
                  </a:lnTo>
                  <a:lnTo>
                    <a:pt x="421992" y="24704"/>
                  </a:lnTo>
                  <a:lnTo>
                    <a:pt x="449511" y="17507"/>
                  </a:lnTo>
                  <a:lnTo>
                    <a:pt x="477568" y="11388"/>
                  </a:lnTo>
                  <a:lnTo>
                    <a:pt x="506047" y="6476"/>
                  </a:lnTo>
                  <a:lnTo>
                    <a:pt x="534798" y="2885"/>
                  </a:lnTo>
                  <a:lnTo>
                    <a:pt x="563646" y="705"/>
                  </a:lnTo>
                  <a:lnTo>
                    <a:pt x="592396" y="0"/>
                  </a:lnTo>
                  <a:lnTo>
                    <a:pt x="620845" y="797"/>
                  </a:lnTo>
                  <a:lnTo>
                    <a:pt x="648794" y="3087"/>
                  </a:lnTo>
                  <a:lnTo>
                    <a:pt x="676062" y="6822"/>
                  </a:lnTo>
                  <a:lnTo>
                    <a:pt x="702491" y="11920"/>
                  </a:lnTo>
                  <a:lnTo>
                    <a:pt x="727962" y="18270"/>
                  </a:lnTo>
                  <a:lnTo>
                    <a:pt x="752395" y="25738"/>
                  </a:lnTo>
                  <a:lnTo>
                    <a:pt x="775756" y="34176"/>
                  </a:lnTo>
                  <a:lnTo>
                    <a:pt x="798051" y="43433"/>
                  </a:lnTo>
                  <a:lnTo>
                    <a:pt x="819327" y="53364"/>
                  </a:lnTo>
                  <a:lnTo>
                    <a:pt x="839657" y="63838"/>
                  </a:lnTo>
                  <a:lnTo>
                    <a:pt x="859137" y="74748"/>
                  </a:lnTo>
                  <a:lnTo>
                    <a:pt x="877866" y="86012"/>
                  </a:lnTo>
                  <a:lnTo>
                    <a:pt x="895936" y="97579"/>
                  </a:lnTo>
                  <a:lnTo>
                    <a:pt x="913424" y="109430"/>
                  </a:lnTo>
                  <a:lnTo>
                    <a:pt x="930376" y="121571"/>
                  </a:lnTo>
                  <a:lnTo>
                    <a:pt x="946799" y="134033"/>
                  </a:lnTo>
                  <a:lnTo>
                    <a:pt x="962664" y="146863"/>
                  </a:lnTo>
                  <a:lnTo>
                    <a:pt x="977897" y="160115"/>
                  </a:lnTo>
                  <a:lnTo>
                    <a:pt x="992387" y="173846"/>
                  </a:lnTo>
                  <a:lnTo>
                    <a:pt x="1005993" y="188107"/>
                  </a:lnTo>
                  <a:lnTo>
                    <a:pt x="1018552" y="202934"/>
                  </a:lnTo>
                  <a:lnTo>
                    <a:pt x="1029890" y="218344"/>
                  </a:lnTo>
                  <a:lnTo>
                    <a:pt x="1039836" y="234334"/>
                  </a:lnTo>
                  <a:lnTo>
                    <a:pt x="1048233" y="250879"/>
                  </a:lnTo>
                  <a:lnTo>
                    <a:pt x="1054948" y="26793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6" name="Перитубулярный капилляр"/>
            <p:cNvSpPr/>
            <p:nvPr/>
          </p:nvSpPr>
          <p:spPr>
            <a:xfrm>
              <a:off x="20251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7" name="Эритроцит в просвете капилляра"/>
            <p:cNvSpPr/>
            <p:nvPr/>
          </p:nvSpPr>
          <p:spPr>
            <a:xfrm rot="21300000">
              <a:off x="20718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8" name="Центральное просветление эритроцита"/>
            <p:cNvSpPr/>
            <p:nvPr/>
          </p:nvSpPr>
          <p:spPr>
            <a:xfrm rot="21300000">
              <a:off x="21029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89" name="Эритроцит в просвете капилляра"/>
            <p:cNvSpPr/>
            <p:nvPr/>
          </p:nvSpPr>
          <p:spPr>
            <a:xfrm rot="21300000">
              <a:off x="20830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0" name="Центральное просветление эритроцита"/>
            <p:cNvSpPr/>
            <p:nvPr/>
          </p:nvSpPr>
          <p:spPr>
            <a:xfrm rot="21300000">
              <a:off x="21140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1" name="Эритроцит в просвете капилляра"/>
            <p:cNvSpPr/>
            <p:nvPr/>
          </p:nvSpPr>
          <p:spPr>
            <a:xfrm rot="21300000">
              <a:off x="20941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2" name="Центральное просветление эритроцита"/>
            <p:cNvSpPr/>
            <p:nvPr/>
          </p:nvSpPr>
          <p:spPr>
            <a:xfrm rot="21300000">
              <a:off x="21252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3" name="Ядро эндотелия"/>
            <p:cNvSpPr/>
            <p:nvPr/>
          </p:nvSpPr>
          <p:spPr>
            <a:xfrm rot="21300000">
              <a:off x="22088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4" name="Перитубулярный капилляр"/>
            <p:cNvSpPr/>
            <p:nvPr/>
          </p:nvSpPr>
          <p:spPr>
            <a:xfrm>
              <a:off x="9515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5" name="Эритроцит в просвете капилляра"/>
            <p:cNvSpPr/>
            <p:nvPr/>
          </p:nvSpPr>
          <p:spPr>
            <a:xfrm rot="1980000">
              <a:off x="11377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6" name="Центральное просветление эритроцита"/>
            <p:cNvSpPr/>
            <p:nvPr/>
          </p:nvSpPr>
          <p:spPr>
            <a:xfrm rot="1980000">
              <a:off x="11688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7" name="Эритроцит в просвете капилляра"/>
            <p:cNvSpPr/>
            <p:nvPr/>
          </p:nvSpPr>
          <p:spPr>
            <a:xfrm rot="1980000">
              <a:off x="10680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8" name="Центральное просветление эритроцита"/>
            <p:cNvSpPr/>
            <p:nvPr/>
          </p:nvSpPr>
          <p:spPr>
            <a:xfrm rot="1980000">
              <a:off x="10991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199" name="Эритроцит в просвете капилляра"/>
            <p:cNvSpPr/>
            <p:nvPr/>
          </p:nvSpPr>
          <p:spPr>
            <a:xfrm rot="1980000">
              <a:off x="9982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0" name="Центральное просветление эритроцита"/>
            <p:cNvSpPr/>
            <p:nvPr/>
          </p:nvSpPr>
          <p:spPr>
            <a:xfrm rot="1980000">
              <a:off x="10293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1" name="Ядро эндотелия"/>
            <p:cNvSpPr/>
            <p:nvPr/>
          </p:nvSpPr>
          <p:spPr>
            <a:xfrm rot="1980000">
              <a:off x="11779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2" name="Перитубулярный капилляр"/>
            <p:cNvSpPr/>
            <p:nvPr/>
          </p:nvSpPr>
          <p:spPr>
            <a:xfrm>
              <a:off x="29859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3" name="Эритроцит в просвете капилляра"/>
            <p:cNvSpPr/>
            <p:nvPr/>
          </p:nvSpPr>
          <p:spPr>
            <a:xfrm rot="20100000">
              <a:off x="30255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4" name="Центральное просветление эритроцита"/>
            <p:cNvSpPr/>
            <p:nvPr/>
          </p:nvSpPr>
          <p:spPr>
            <a:xfrm rot="20100000">
              <a:off x="30566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5" name="Эритроцит в просвете капилляра"/>
            <p:cNvSpPr/>
            <p:nvPr/>
          </p:nvSpPr>
          <p:spPr>
            <a:xfrm rot="20100000">
              <a:off x="30796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6" name="Центральное просветление эритроцита"/>
            <p:cNvSpPr/>
            <p:nvPr/>
          </p:nvSpPr>
          <p:spPr>
            <a:xfrm rot="20100000">
              <a:off x="31107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7" name="Эритроцит в просвете капилляра"/>
            <p:cNvSpPr/>
            <p:nvPr/>
          </p:nvSpPr>
          <p:spPr>
            <a:xfrm rot="20100000">
              <a:off x="31338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8" name="Центральное просветление эритроцита"/>
            <p:cNvSpPr/>
            <p:nvPr/>
          </p:nvSpPr>
          <p:spPr>
            <a:xfrm rot="20100000">
              <a:off x="31648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09" name="Ядро эндотелия"/>
            <p:cNvSpPr/>
            <p:nvPr/>
          </p:nvSpPr>
          <p:spPr>
            <a:xfrm rot="20100000">
              <a:off x="31881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grpSp>
        <p:nvGrpSpPr>
          <p:cNvPr id="210" name="Интерстициальное воспаление: редактируемая схема"/>
          <p:cNvGrpSpPr/>
          <p:nvPr/>
        </p:nvGrpSpPr>
        <p:grpSpPr>
          <a:xfrm>
            <a:off x="4386468" y="1923098"/>
            <a:ext cx="3247031" cy="2826647"/>
            <a:chOff x="4386468" y="1923098"/>
            <a:chExt cx="3247031" cy="2826647"/>
          </a:xfrm>
        </p:grpSpPr>
        <p:sp>
          <p:nvSpPr>
            <p:cNvPr id="211" name="Интерстиций"/>
            <p:cNvSpPr/>
            <p:nvPr/>
          </p:nvSpPr>
          <p:spPr>
            <a:xfrm>
              <a:off x="43864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4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8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4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8ED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2" name="Воспалительная клетка в интерстиции"/>
            <p:cNvSpPr/>
            <p:nvPr/>
          </p:nvSpPr>
          <p:spPr>
            <a:xfrm>
              <a:off x="6704067" y="3558919"/>
              <a:ext cx="104130" cy="10413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3" name="Ядро воспалительной клетки"/>
            <p:cNvSpPr/>
            <p:nvPr/>
          </p:nvSpPr>
          <p:spPr>
            <a:xfrm>
              <a:off x="6720728" y="3575580"/>
              <a:ext cx="71850" cy="7185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4" name="Воспалительная клетка в интерстиции"/>
            <p:cNvSpPr/>
            <p:nvPr/>
          </p:nvSpPr>
          <p:spPr>
            <a:xfrm>
              <a:off x="4852015" y="3857216"/>
              <a:ext cx="108126" cy="10812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5" name="Ядро воспалительной клетки"/>
            <p:cNvSpPr/>
            <p:nvPr/>
          </p:nvSpPr>
          <p:spPr>
            <a:xfrm>
              <a:off x="4869315" y="3874516"/>
              <a:ext cx="74607" cy="7460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6" name="Воспалительная клетка в интерстиции"/>
            <p:cNvSpPr/>
            <p:nvPr/>
          </p:nvSpPr>
          <p:spPr>
            <a:xfrm>
              <a:off x="6928935" y="4326247"/>
              <a:ext cx="90825" cy="9082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7" name="Ядро воспалительной клетки"/>
            <p:cNvSpPr/>
            <p:nvPr/>
          </p:nvSpPr>
          <p:spPr>
            <a:xfrm>
              <a:off x="6943467" y="4340779"/>
              <a:ext cx="62669" cy="6266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8" name="Воспалительная клетка в интерстиции"/>
            <p:cNvSpPr/>
            <p:nvPr/>
          </p:nvSpPr>
          <p:spPr>
            <a:xfrm>
              <a:off x="6933749" y="3587509"/>
              <a:ext cx="120408" cy="12040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19" name="Ядро воспалительной клетки"/>
            <p:cNvSpPr/>
            <p:nvPr/>
          </p:nvSpPr>
          <p:spPr>
            <a:xfrm>
              <a:off x="6953014" y="3606774"/>
              <a:ext cx="83081" cy="8308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0" name="Воспалительная клетка в интерстиции"/>
            <p:cNvSpPr/>
            <p:nvPr/>
          </p:nvSpPr>
          <p:spPr>
            <a:xfrm>
              <a:off x="5616574" y="3365310"/>
              <a:ext cx="82551" cy="8255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1" name="Ядро воспалительной клетки"/>
            <p:cNvSpPr/>
            <p:nvPr/>
          </p:nvSpPr>
          <p:spPr>
            <a:xfrm>
              <a:off x="5629782" y="3378518"/>
              <a:ext cx="56960" cy="5696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2" name="Воспалительная клетка в интерстиции"/>
            <p:cNvSpPr/>
            <p:nvPr/>
          </p:nvSpPr>
          <p:spPr>
            <a:xfrm>
              <a:off x="4935746" y="4221055"/>
              <a:ext cx="105969" cy="10596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3" name="Ядро воспалительной клетки"/>
            <p:cNvSpPr/>
            <p:nvPr/>
          </p:nvSpPr>
          <p:spPr>
            <a:xfrm>
              <a:off x="4952701" y="4238010"/>
              <a:ext cx="73118" cy="7311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4" name="Воспалительная клетка в интерстиции"/>
            <p:cNvSpPr/>
            <p:nvPr/>
          </p:nvSpPr>
          <p:spPr>
            <a:xfrm>
              <a:off x="4599973" y="3396024"/>
              <a:ext cx="103066" cy="10306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5" name="Ядро воспалительной клетки"/>
            <p:cNvSpPr/>
            <p:nvPr/>
          </p:nvSpPr>
          <p:spPr>
            <a:xfrm>
              <a:off x="4616463" y="3412514"/>
              <a:ext cx="71116" cy="7111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6" name="Воспалительная клетка в интерстиции"/>
            <p:cNvSpPr/>
            <p:nvPr/>
          </p:nvSpPr>
          <p:spPr>
            <a:xfrm>
              <a:off x="4530860" y="3288426"/>
              <a:ext cx="98387" cy="9838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7" name="Ядро воспалительной клетки"/>
            <p:cNvSpPr/>
            <p:nvPr/>
          </p:nvSpPr>
          <p:spPr>
            <a:xfrm>
              <a:off x="4546602" y="3304168"/>
              <a:ext cx="67887" cy="6788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8" name="Воспалительная клетка в интерстиции"/>
            <p:cNvSpPr/>
            <p:nvPr/>
          </p:nvSpPr>
          <p:spPr>
            <a:xfrm>
              <a:off x="7305029" y="3380795"/>
              <a:ext cx="90763" cy="90763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29" name="Ядро воспалительной клетки"/>
            <p:cNvSpPr/>
            <p:nvPr/>
          </p:nvSpPr>
          <p:spPr>
            <a:xfrm>
              <a:off x="7319551" y="3395317"/>
              <a:ext cx="62627" cy="6262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0" name="Воспалительная клетка в интерстиции"/>
            <p:cNvSpPr/>
            <p:nvPr/>
          </p:nvSpPr>
          <p:spPr>
            <a:xfrm>
              <a:off x="6744298" y="4345786"/>
              <a:ext cx="101017" cy="10101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1" name="Ядро воспалительной клетки"/>
            <p:cNvSpPr/>
            <p:nvPr/>
          </p:nvSpPr>
          <p:spPr>
            <a:xfrm>
              <a:off x="6760461" y="4361948"/>
              <a:ext cx="69701" cy="6970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2" name="Воспалительная клетка в интерстиции"/>
            <p:cNvSpPr/>
            <p:nvPr/>
          </p:nvSpPr>
          <p:spPr>
            <a:xfrm>
              <a:off x="6261084" y="4454230"/>
              <a:ext cx="105555" cy="1055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3" name="Ядро воспалительной клетки"/>
            <p:cNvSpPr/>
            <p:nvPr/>
          </p:nvSpPr>
          <p:spPr>
            <a:xfrm>
              <a:off x="6277973" y="4471119"/>
              <a:ext cx="72833" cy="7283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4" name="Воспалительная клетка в интерстиции"/>
            <p:cNvSpPr/>
            <p:nvPr/>
          </p:nvSpPr>
          <p:spPr>
            <a:xfrm>
              <a:off x="5843238" y="2881765"/>
              <a:ext cx="114169" cy="11416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5" name="Ядро воспалительной клетки"/>
            <p:cNvSpPr/>
            <p:nvPr/>
          </p:nvSpPr>
          <p:spPr>
            <a:xfrm>
              <a:off x="5861505" y="2900032"/>
              <a:ext cx="78777" cy="7877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6" name="Воспалительная клетка в интерстиции"/>
            <p:cNvSpPr/>
            <p:nvPr/>
          </p:nvSpPr>
          <p:spPr>
            <a:xfrm>
              <a:off x="6080864" y="3166627"/>
              <a:ext cx="104931" cy="10493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7" name="Ядро воспалительной клетки"/>
            <p:cNvSpPr/>
            <p:nvPr/>
          </p:nvSpPr>
          <p:spPr>
            <a:xfrm>
              <a:off x="6097653" y="3183416"/>
              <a:ext cx="72402" cy="7240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8" name="Воспалительная клетка в интерстиции"/>
            <p:cNvSpPr/>
            <p:nvPr/>
          </p:nvSpPr>
          <p:spPr>
            <a:xfrm>
              <a:off x="7057380" y="3782655"/>
              <a:ext cx="104327" cy="10432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39" name="Ядро воспалительной клетки"/>
            <p:cNvSpPr/>
            <p:nvPr/>
          </p:nvSpPr>
          <p:spPr>
            <a:xfrm>
              <a:off x="7074073" y="3799347"/>
              <a:ext cx="71986" cy="7198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0" name="Воспалительная клетка в интерстиции"/>
            <p:cNvSpPr/>
            <p:nvPr/>
          </p:nvSpPr>
          <p:spPr>
            <a:xfrm>
              <a:off x="7285960" y="3889037"/>
              <a:ext cx="107141" cy="1071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1" name="Ядро воспалительной клетки"/>
            <p:cNvSpPr/>
            <p:nvPr/>
          </p:nvSpPr>
          <p:spPr>
            <a:xfrm>
              <a:off x="7303103" y="3906180"/>
              <a:ext cx="73927" cy="7392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2" name="Воспалительная клетка в интерстиции"/>
            <p:cNvSpPr/>
            <p:nvPr/>
          </p:nvSpPr>
          <p:spPr>
            <a:xfrm>
              <a:off x="5285516" y="3300634"/>
              <a:ext cx="118855" cy="1188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3" name="Ядро воспалительной клетки"/>
            <p:cNvSpPr/>
            <p:nvPr/>
          </p:nvSpPr>
          <p:spPr>
            <a:xfrm>
              <a:off x="5304533" y="3319651"/>
              <a:ext cx="82010" cy="8201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4" name="Воспалительная клетка в интерстиции"/>
            <p:cNvSpPr/>
            <p:nvPr/>
          </p:nvSpPr>
          <p:spPr>
            <a:xfrm>
              <a:off x="7200402" y="3622608"/>
              <a:ext cx="123929" cy="12392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5" name="Ядро воспалительной клетки"/>
            <p:cNvSpPr/>
            <p:nvPr/>
          </p:nvSpPr>
          <p:spPr>
            <a:xfrm>
              <a:off x="7220231" y="3642436"/>
              <a:ext cx="85511" cy="8551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6" name="Воспалительная клетка в интерстиции"/>
            <p:cNvSpPr/>
            <p:nvPr/>
          </p:nvSpPr>
          <p:spPr>
            <a:xfrm>
              <a:off x="6534346" y="4177124"/>
              <a:ext cx="94552" cy="94552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7" name="Ядро воспалительной клетки"/>
            <p:cNvSpPr/>
            <p:nvPr/>
          </p:nvSpPr>
          <p:spPr>
            <a:xfrm>
              <a:off x="6549475" y="4192252"/>
              <a:ext cx="65241" cy="6524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8" name="Воспалительная клетка в интерстиции"/>
            <p:cNvSpPr/>
            <p:nvPr/>
          </p:nvSpPr>
          <p:spPr>
            <a:xfrm>
              <a:off x="6743760" y="3746149"/>
              <a:ext cx="117441" cy="1174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49" name="Ядро воспалительной клетки"/>
            <p:cNvSpPr/>
            <p:nvPr/>
          </p:nvSpPr>
          <p:spPr>
            <a:xfrm>
              <a:off x="6762550" y="3764940"/>
              <a:ext cx="81034" cy="8103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0" name="Воспалительная клетка в интерстиции"/>
            <p:cNvSpPr/>
            <p:nvPr/>
          </p:nvSpPr>
          <p:spPr>
            <a:xfrm>
              <a:off x="5434080" y="3240192"/>
              <a:ext cx="113575" cy="11357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1" name="Ядро воспалительной клетки"/>
            <p:cNvSpPr/>
            <p:nvPr/>
          </p:nvSpPr>
          <p:spPr>
            <a:xfrm>
              <a:off x="5452252" y="3258364"/>
              <a:ext cx="78367" cy="7836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2" name="Воспалительная клетка в интерстиции"/>
            <p:cNvSpPr/>
            <p:nvPr/>
          </p:nvSpPr>
          <p:spPr>
            <a:xfrm>
              <a:off x="4697199" y="3797757"/>
              <a:ext cx="95334" cy="9533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3" name="Ядро воспалительной клетки"/>
            <p:cNvSpPr/>
            <p:nvPr/>
          </p:nvSpPr>
          <p:spPr>
            <a:xfrm>
              <a:off x="4712452" y="3813011"/>
              <a:ext cx="65780" cy="65780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4" name="Воспалительная клетка в интерстиции"/>
            <p:cNvSpPr/>
            <p:nvPr/>
          </p:nvSpPr>
          <p:spPr>
            <a:xfrm>
              <a:off x="5983005" y="2129151"/>
              <a:ext cx="89976" cy="8997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5" name="Ядро воспалительной клетки"/>
            <p:cNvSpPr/>
            <p:nvPr/>
          </p:nvSpPr>
          <p:spPr>
            <a:xfrm>
              <a:off x="5997401" y="2143547"/>
              <a:ext cx="62083" cy="6208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6" name="Воспалительная клетка в интерстиции"/>
            <p:cNvSpPr/>
            <p:nvPr/>
          </p:nvSpPr>
          <p:spPr>
            <a:xfrm>
              <a:off x="4621124" y="3561376"/>
              <a:ext cx="108727" cy="10872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7" name="Ядро воспалительной клетки"/>
            <p:cNvSpPr/>
            <p:nvPr/>
          </p:nvSpPr>
          <p:spPr>
            <a:xfrm>
              <a:off x="4638520" y="3578773"/>
              <a:ext cx="75022" cy="7502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8" name="Воспалительная клетка в интерстиции"/>
            <p:cNvSpPr/>
            <p:nvPr/>
          </p:nvSpPr>
          <p:spPr>
            <a:xfrm>
              <a:off x="5874970" y="3319966"/>
              <a:ext cx="127874" cy="12787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59" name="Ядро воспалительной клетки"/>
            <p:cNvSpPr/>
            <p:nvPr/>
          </p:nvSpPr>
          <p:spPr>
            <a:xfrm>
              <a:off x="5895429" y="3340426"/>
              <a:ext cx="88233" cy="8823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0" name="Воспалительная клетка в интерстиции"/>
            <p:cNvSpPr/>
            <p:nvPr/>
          </p:nvSpPr>
          <p:spPr>
            <a:xfrm>
              <a:off x="6025763" y="3023347"/>
              <a:ext cx="87757" cy="8775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1" name="Ядро воспалительной клетки"/>
            <p:cNvSpPr/>
            <p:nvPr/>
          </p:nvSpPr>
          <p:spPr>
            <a:xfrm>
              <a:off x="6039804" y="3037388"/>
              <a:ext cx="60552" cy="6055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2" name="Воспалительная клетка в интерстиции"/>
            <p:cNvSpPr/>
            <p:nvPr/>
          </p:nvSpPr>
          <p:spPr>
            <a:xfrm>
              <a:off x="5202682" y="3429238"/>
              <a:ext cx="100271" cy="10027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3" name="Ядро воспалительной клетки"/>
            <p:cNvSpPr/>
            <p:nvPr/>
          </p:nvSpPr>
          <p:spPr>
            <a:xfrm>
              <a:off x="5218725" y="3445281"/>
              <a:ext cx="69187" cy="6918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4" name="Воспалительная клетка в интерстиции"/>
            <p:cNvSpPr/>
            <p:nvPr/>
          </p:nvSpPr>
          <p:spPr>
            <a:xfrm>
              <a:off x="6176305" y="2394884"/>
              <a:ext cx="99414" cy="9941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5" name="Ядро воспалительной клетки"/>
            <p:cNvSpPr/>
            <p:nvPr/>
          </p:nvSpPr>
          <p:spPr>
            <a:xfrm>
              <a:off x="6192212" y="2410791"/>
              <a:ext cx="68595" cy="68595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6" name="Воспалительная клетка в интерстиции"/>
            <p:cNvSpPr/>
            <p:nvPr/>
          </p:nvSpPr>
          <p:spPr>
            <a:xfrm>
              <a:off x="6643126" y="4056286"/>
              <a:ext cx="125180" cy="12518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7" name="Ядро воспалительной клетки"/>
            <p:cNvSpPr/>
            <p:nvPr/>
          </p:nvSpPr>
          <p:spPr>
            <a:xfrm>
              <a:off x="6663155" y="4076315"/>
              <a:ext cx="86374" cy="8637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8" name="Воспалительная клетка в интерстиции"/>
            <p:cNvSpPr/>
            <p:nvPr/>
          </p:nvSpPr>
          <p:spPr>
            <a:xfrm>
              <a:off x="4755003" y="3410562"/>
              <a:ext cx="84318" cy="8431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69" name="Ядро воспалительной клетки"/>
            <p:cNvSpPr/>
            <p:nvPr/>
          </p:nvSpPr>
          <p:spPr>
            <a:xfrm>
              <a:off x="4768494" y="3424053"/>
              <a:ext cx="58179" cy="5817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0" name="Воспалительная клетка в интерстиции"/>
            <p:cNvSpPr/>
            <p:nvPr/>
          </p:nvSpPr>
          <p:spPr>
            <a:xfrm>
              <a:off x="6710436" y="4204986"/>
              <a:ext cx="96664" cy="9666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1" name="Ядро воспалительной клетки"/>
            <p:cNvSpPr/>
            <p:nvPr/>
          </p:nvSpPr>
          <p:spPr>
            <a:xfrm>
              <a:off x="6725902" y="4220452"/>
              <a:ext cx="66698" cy="6669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2" name="Воспалительная клетка в интерстиции"/>
            <p:cNvSpPr/>
            <p:nvPr/>
          </p:nvSpPr>
          <p:spPr>
            <a:xfrm>
              <a:off x="4945595" y="4352608"/>
              <a:ext cx="113968" cy="11396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3" name="Ядро воспалительной клетки"/>
            <p:cNvSpPr/>
            <p:nvPr/>
          </p:nvSpPr>
          <p:spPr>
            <a:xfrm>
              <a:off x="4963830" y="4370843"/>
              <a:ext cx="78638" cy="78638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4" name="Воспалительная клетка в интерстиции"/>
            <p:cNvSpPr/>
            <p:nvPr/>
          </p:nvSpPr>
          <p:spPr>
            <a:xfrm>
              <a:off x="5880574" y="3156507"/>
              <a:ext cx="116776" cy="116776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5" name="Ядро воспалительной клетки"/>
            <p:cNvSpPr/>
            <p:nvPr/>
          </p:nvSpPr>
          <p:spPr>
            <a:xfrm>
              <a:off x="5899258" y="3175191"/>
              <a:ext cx="80575" cy="80575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6" name="Воспалительная клетка в интерстиции"/>
            <p:cNvSpPr/>
            <p:nvPr/>
          </p:nvSpPr>
          <p:spPr>
            <a:xfrm>
              <a:off x="5757139" y="3198828"/>
              <a:ext cx="92743" cy="92743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7" name="Ядро воспалительной клетки"/>
            <p:cNvSpPr/>
            <p:nvPr/>
          </p:nvSpPr>
          <p:spPr>
            <a:xfrm>
              <a:off x="5771978" y="3213667"/>
              <a:ext cx="63993" cy="63993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8" name="Воспалительная клетка в интерстиции"/>
            <p:cNvSpPr/>
            <p:nvPr/>
          </p:nvSpPr>
          <p:spPr>
            <a:xfrm>
              <a:off x="6403740" y="4393377"/>
              <a:ext cx="97030" cy="97030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79" name="Ядро воспалительной клетки"/>
            <p:cNvSpPr/>
            <p:nvPr/>
          </p:nvSpPr>
          <p:spPr>
            <a:xfrm>
              <a:off x="6419264" y="4408902"/>
              <a:ext cx="66951" cy="6695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0" name="Воспалительная клетка в интерстиции"/>
            <p:cNvSpPr/>
            <p:nvPr/>
          </p:nvSpPr>
          <p:spPr>
            <a:xfrm>
              <a:off x="6187334" y="2221577"/>
              <a:ext cx="83104" cy="83104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1" name="Ядро воспалительной клетки"/>
            <p:cNvSpPr/>
            <p:nvPr/>
          </p:nvSpPr>
          <p:spPr>
            <a:xfrm>
              <a:off x="6200631" y="2234873"/>
              <a:ext cx="57342" cy="57342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2" name="Воспалительная клетка в интерстиции"/>
            <p:cNvSpPr/>
            <p:nvPr/>
          </p:nvSpPr>
          <p:spPr>
            <a:xfrm>
              <a:off x="6618874" y="4385845"/>
              <a:ext cx="110779" cy="110779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3" name="Ядро воспалительной клетки"/>
            <p:cNvSpPr/>
            <p:nvPr/>
          </p:nvSpPr>
          <p:spPr>
            <a:xfrm>
              <a:off x="6636599" y="4403570"/>
              <a:ext cx="76437" cy="76437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4" name="Воспалительная клетка в интерстиции"/>
            <p:cNvSpPr/>
            <p:nvPr/>
          </p:nvSpPr>
          <p:spPr>
            <a:xfrm>
              <a:off x="4541017" y="3730041"/>
              <a:ext cx="109368" cy="10936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5" name="Ядро воспалительной клетки"/>
            <p:cNvSpPr/>
            <p:nvPr/>
          </p:nvSpPr>
          <p:spPr>
            <a:xfrm>
              <a:off x="4558516" y="3747540"/>
              <a:ext cx="75464" cy="7546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6" name="Воспалительная клетка в интерстиции"/>
            <p:cNvSpPr/>
            <p:nvPr/>
          </p:nvSpPr>
          <p:spPr>
            <a:xfrm>
              <a:off x="4843484" y="3226896"/>
              <a:ext cx="118988" cy="11898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7" name="Ядро воспалительной клетки"/>
            <p:cNvSpPr/>
            <p:nvPr/>
          </p:nvSpPr>
          <p:spPr>
            <a:xfrm>
              <a:off x="4862523" y="3245935"/>
              <a:ext cx="82101" cy="8210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8" name="Воспалительная клетка в интерстиции"/>
            <p:cNvSpPr/>
            <p:nvPr/>
          </p:nvSpPr>
          <p:spPr>
            <a:xfrm>
              <a:off x="6319463" y="3417321"/>
              <a:ext cx="111255" cy="111255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89" name="Ядро воспалительной клетки"/>
            <p:cNvSpPr/>
            <p:nvPr/>
          </p:nvSpPr>
          <p:spPr>
            <a:xfrm>
              <a:off x="6337264" y="3435122"/>
              <a:ext cx="76766" cy="76766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0" name="Воспалительная клетка в интерстиции"/>
            <p:cNvSpPr/>
            <p:nvPr/>
          </p:nvSpPr>
          <p:spPr>
            <a:xfrm>
              <a:off x="4840091" y="3992242"/>
              <a:ext cx="107897" cy="107897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1" name="Ядро воспалительной клетки"/>
            <p:cNvSpPr/>
            <p:nvPr/>
          </p:nvSpPr>
          <p:spPr>
            <a:xfrm>
              <a:off x="4857355" y="4009506"/>
              <a:ext cx="74449" cy="74449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2" name="Воспалительная клетка в интерстиции"/>
            <p:cNvSpPr/>
            <p:nvPr/>
          </p:nvSpPr>
          <p:spPr>
            <a:xfrm>
              <a:off x="7068545" y="3610893"/>
              <a:ext cx="114538" cy="114538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3" name="Ядро воспалительной клетки"/>
            <p:cNvSpPr/>
            <p:nvPr/>
          </p:nvSpPr>
          <p:spPr>
            <a:xfrm>
              <a:off x="7086871" y="3629220"/>
              <a:ext cx="79031" cy="79031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4" name="Воспалительная клетка в интерстиции"/>
            <p:cNvSpPr/>
            <p:nvPr/>
          </p:nvSpPr>
          <p:spPr>
            <a:xfrm>
              <a:off x="7174482" y="3472960"/>
              <a:ext cx="110441" cy="110441"/>
            </a:xfrm>
            <a:prstGeom prst="ellipse">
              <a:avLst/>
            </a:prstGeom>
            <a:solidFill>
              <a:srgbClr val="DCCFE6"/>
            </a:solidFill>
            <a:ln w="3175">
              <a:solidFill>
                <a:srgbClr val="B69AC7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5" name="Ядро воспалительной клетки"/>
            <p:cNvSpPr/>
            <p:nvPr/>
          </p:nvSpPr>
          <p:spPr>
            <a:xfrm>
              <a:off x="7192152" y="3490631"/>
              <a:ext cx="76204" cy="76204"/>
            </a:xfrm>
            <a:prstGeom prst="ellipse">
              <a:avLst/>
            </a:prstGeom>
            <a:solidFill>
              <a:srgbClr val="8264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6" name="Базальная мембрана канальца"/>
            <p:cNvSpPr/>
            <p:nvPr/>
          </p:nvSpPr>
          <p:spPr>
            <a:xfrm>
              <a:off x="4538381" y="2039545"/>
              <a:ext cx="1337445" cy="1163075"/>
            </a:xfrm>
            <a:custGeom>
              <a:avLst/>
              <a:gdLst/>
              <a:ahLst/>
              <a:cxnLst/>
              <a:rect l="l" t="t" r="r" b="b"/>
              <a:pathLst>
                <a:path w="1337445" h="1163075">
                  <a:moveTo>
                    <a:pt x="1326036" y="424034"/>
                  </a:moveTo>
                  <a:lnTo>
                    <a:pt x="1330373" y="453025"/>
                  </a:lnTo>
                  <a:lnTo>
                    <a:pt x="1333542" y="482083"/>
                  </a:lnTo>
                  <a:lnTo>
                    <a:pt x="1335703" y="511190"/>
                  </a:lnTo>
                  <a:lnTo>
                    <a:pt x="1336980" y="540361"/>
                  </a:lnTo>
                  <a:lnTo>
                    <a:pt x="1337445" y="569633"/>
                  </a:lnTo>
                  <a:lnTo>
                    <a:pt x="1337111" y="599057"/>
                  </a:lnTo>
                  <a:lnTo>
                    <a:pt x="1335927" y="628684"/>
                  </a:lnTo>
                  <a:lnTo>
                    <a:pt x="1333779" y="658552"/>
                  </a:lnTo>
                  <a:lnTo>
                    <a:pt x="1330502" y="688677"/>
                  </a:lnTo>
                  <a:lnTo>
                    <a:pt x="1325886" y="719036"/>
                  </a:lnTo>
                  <a:lnTo>
                    <a:pt x="1319696" y="749567"/>
                  </a:lnTo>
                  <a:lnTo>
                    <a:pt x="1311689" y="780158"/>
                  </a:lnTo>
                  <a:lnTo>
                    <a:pt x="1301637" y="810655"/>
                  </a:lnTo>
                  <a:lnTo>
                    <a:pt x="1289340" y="840861"/>
                  </a:lnTo>
                  <a:lnTo>
                    <a:pt x="1274648" y="870546"/>
                  </a:lnTo>
                  <a:lnTo>
                    <a:pt x="1257475" y="899462"/>
                  </a:lnTo>
                  <a:lnTo>
                    <a:pt x="1237801" y="927353"/>
                  </a:lnTo>
                  <a:lnTo>
                    <a:pt x="1215681" y="953976"/>
                  </a:lnTo>
                  <a:lnTo>
                    <a:pt x="1191241" y="979108"/>
                  </a:lnTo>
                  <a:lnTo>
                    <a:pt x="1164669" y="1002569"/>
                  </a:lnTo>
                  <a:lnTo>
                    <a:pt x="1136205" y="1024223"/>
                  </a:lnTo>
                  <a:lnTo>
                    <a:pt x="1106121" y="1043991"/>
                  </a:lnTo>
                  <a:lnTo>
                    <a:pt x="1074708" y="1061851"/>
                  </a:lnTo>
                  <a:lnTo>
                    <a:pt x="1042258" y="1077835"/>
                  </a:lnTo>
                  <a:lnTo>
                    <a:pt x="1009044" y="1092023"/>
                  </a:lnTo>
                  <a:lnTo>
                    <a:pt x="975309" y="1104532"/>
                  </a:lnTo>
                  <a:lnTo>
                    <a:pt x="941254" y="1115503"/>
                  </a:lnTo>
                  <a:lnTo>
                    <a:pt x="907034" y="1125088"/>
                  </a:lnTo>
                  <a:lnTo>
                    <a:pt x="872757" y="1133431"/>
                  </a:lnTo>
                  <a:lnTo>
                    <a:pt x="838483" y="1140658"/>
                  </a:lnTo>
                  <a:lnTo>
                    <a:pt x="804240" y="1146865"/>
                  </a:lnTo>
                  <a:lnTo>
                    <a:pt x="770025" y="1152106"/>
                  </a:lnTo>
                  <a:lnTo>
                    <a:pt x="735823" y="1156395"/>
                  </a:lnTo>
                  <a:lnTo>
                    <a:pt x="701618" y="1159703"/>
                  </a:lnTo>
                  <a:lnTo>
                    <a:pt x="667401" y="1161962"/>
                  </a:lnTo>
                  <a:lnTo>
                    <a:pt x="633187" y="1163075"/>
                  </a:lnTo>
                  <a:lnTo>
                    <a:pt x="599012" y="1162923"/>
                  </a:lnTo>
                  <a:lnTo>
                    <a:pt x="564946" y="1161382"/>
                  </a:lnTo>
                  <a:lnTo>
                    <a:pt x="531083" y="1158334"/>
                  </a:lnTo>
                  <a:lnTo>
                    <a:pt x="497543" y="1153676"/>
                  </a:lnTo>
                  <a:lnTo>
                    <a:pt x="464461" y="1147335"/>
                  </a:lnTo>
                  <a:lnTo>
                    <a:pt x="431978" y="1139272"/>
                  </a:lnTo>
                  <a:lnTo>
                    <a:pt x="400233" y="1129485"/>
                  </a:lnTo>
                  <a:lnTo>
                    <a:pt x="369348" y="1118010"/>
                  </a:lnTo>
                  <a:lnTo>
                    <a:pt x="339426" y="1104918"/>
                  </a:lnTo>
                  <a:lnTo>
                    <a:pt x="310540" y="1090307"/>
                  </a:lnTo>
                  <a:lnTo>
                    <a:pt x="282733" y="1074291"/>
                  </a:lnTo>
                  <a:lnTo>
                    <a:pt x="256019" y="1056993"/>
                  </a:lnTo>
                  <a:lnTo>
                    <a:pt x="230388" y="1038531"/>
                  </a:lnTo>
                  <a:lnTo>
                    <a:pt x="205814" y="1019010"/>
                  </a:lnTo>
                  <a:lnTo>
                    <a:pt x="182265" y="998516"/>
                  </a:lnTo>
                  <a:lnTo>
                    <a:pt x="159719" y="977106"/>
                  </a:lnTo>
                  <a:lnTo>
                    <a:pt x="138170" y="954812"/>
                  </a:lnTo>
                  <a:lnTo>
                    <a:pt x="117642" y="931642"/>
                  </a:lnTo>
                  <a:lnTo>
                    <a:pt x="98200" y="907585"/>
                  </a:lnTo>
                  <a:lnTo>
                    <a:pt x="79950" y="882615"/>
                  </a:lnTo>
                  <a:lnTo>
                    <a:pt x="63039" y="856711"/>
                  </a:lnTo>
                  <a:lnTo>
                    <a:pt x="47658" y="829856"/>
                  </a:lnTo>
                  <a:lnTo>
                    <a:pt x="34023" y="802058"/>
                  </a:lnTo>
                  <a:lnTo>
                    <a:pt x="22370" y="773350"/>
                  </a:lnTo>
                  <a:lnTo>
                    <a:pt x="12937" y="743804"/>
                  </a:lnTo>
                  <a:lnTo>
                    <a:pt x="5946" y="713527"/>
                  </a:lnTo>
                  <a:lnTo>
                    <a:pt x="1587" y="682664"/>
                  </a:lnTo>
                  <a:lnTo>
                    <a:pt x="0" y="651396"/>
                  </a:lnTo>
                  <a:lnTo>
                    <a:pt x="1266" y="619925"/>
                  </a:lnTo>
                  <a:lnTo>
                    <a:pt x="5396" y="588467"/>
                  </a:lnTo>
                  <a:lnTo>
                    <a:pt x="12325" y="557242"/>
                  </a:lnTo>
                  <a:lnTo>
                    <a:pt x="21919" y="526454"/>
                  </a:lnTo>
                  <a:lnTo>
                    <a:pt x="33978" y="496284"/>
                  </a:lnTo>
                  <a:lnTo>
                    <a:pt x="48253" y="466877"/>
                  </a:lnTo>
                  <a:lnTo>
                    <a:pt x="64455" y="438331"/>
                  </a:lnTo>
                  <a:lnTo>
                    <a:pt x="82282" y="410700"/>
                  </a:lnTo>
                  <a:lnTo>
                    <a:pt x="101432" y="383987"/>
                  </a:lnTo>
                  <a:lnTo>
                    <a:pt x="121628" y="358152"/>
                  </a:lnTo>
                  <a:lnTo>
                    <a:pt x="142630" y="333119"/>
                  </a:lnTo>
                  <a:lnTo>
                    <a:pt x="164252" y="308790"/>
                  </a:lnTo>
                  <a:lnTo>
                    <a:pt x="186370" y="285056"/>
                  </a:lnTo>
                  <a:lnTo>
                    <a:pt x="208925" y="261813"/>
                  </a:lnTo>
                  <a:lnTo>
                    <a:pt x="231919" y="238978"/>
                  </a:lnTo>
                  <a:lnTo>
                    <a:pt x="255410" y="216499"/>
                  </a:lnTo>
                  <a:lnTo>
                    <a:pt x="279501" y="194369"/>
                  </a:lnTo>
                  <a:lnTo>
                    <a:pt x="304320" y="172627"/>
                  </a:lnTo>
                  <a:lnTo>
                    <a:pt x="330009" y="151365"/>
                  </a:lnTo>
                  <a:lnTo>
                    <a:pt x="356702" y="130722"/>
                  </a:lnTo>
                  <a:lnTo>
                    <a:pt x="384509" y="110880"/>
                  </a:lnTo>
                  <a:lnTo>
                    <a:pt x="413507" y="92048"/>
                  </a:lnTo>
                  <a:lnTo>
                    <a:pt x="443725" y="74454"/>
                  </a:lnTo>
                  <a:lnTo>
                    <a:pt x="475142" y="58326"/>
                  </a:lnTo>
                  <a:lnTo>
                    <a:pt x="507685" y="43881"/>
                  </a:lnTo>
                  <a:lnTo>
                    <a:pt x="541233" y="31306"/>
                  </a:lnTo>
                  <a:lnTo>
                    <a:pt x="575626" y="20750"/>
                  </a:lnTo>
                  <a:lnTo>
                    <a:pt x="610673" y="12317"/>
                  </a:lnTo>
                  <a:lnTo>
                    <a:pt x="646171" y="6055"/>
                  </a:lnTo>
                  <a:lnTo>
                    <a:pt x="681911" y="1966"/>
                  </a:lnTo>
                  <a:lnTo>
                    <a:pt x="717693" y="0"/>
                  </a:lnTo>
                  <a:lnTo>
                    <a:pt x="753340" y="73"/>
                  </a:lnTo>
                  <a:lnTo>
                    <a:pt x="788697" y="2069"/>
                  </a:lnTo>
                  <a:lnTo>
                    <a:pt x="823643" y="5859"/>
                  </a:lnTo>
                  <a:lnTo>
                    <a:pt x="858083" y="11307"/>
                  </a:lnTo>
                  <a:lnTo>
                    <a:pt x="891950" y="18291"/>
                  </a:lnTo>
                  <a:lnTo>
                    <a:pt x="925193" y="26703"/>
                  </a:lnTo>
                  <a:lnTo>
                    <a:pt x="957773" y="36464"/>
                  </a:lnTo>
                  <a:lnTo>
                    <a:pt x="989649" y="47524"/>
                  </a:lnTo>
                  <a:lnTo>
                    <a:pt x="1020771" y="59862"/>
                  </a:lnTo>
                  <a:lnTo>
                    <a:pt x="1051069" y="73484"/>
                  </a:lnTo>
                  <a:lnTo>
                    <a:pt x="1080453" y="88413"/>
                  </a:lnTo>
                  <a:lnTo>
                    <a:pt x="1108806" y="104683"/>
                  </a:lnTo>
                  <a:lnTo>
                    <a:pt x="1135988" y="122329"/>
                  </a:lnTo>
                  <a:lnTo>
                    <a:pt x="1161840" y="141373"/>
                  </a:lnTo>
                  <a:lnTo>
                    <a:pt x="1186196" y="161817"/>
                  </a:lnTo>
                  <a:lnTo>
                    <a:pt x="1208892" y="183637"/>
                  </a:lnTo>
                  <a:lnTo>
                    <a:pt x="1229775" y="206775"/>
                  </a:lnTo>
                  <a:lnTo>
                    <a:pt x="1248722" y="231141"/>
                  </a:lnTo>
                  <a:lnTo>
                    <a:pt x="1265647" y="256614"/>
                  </a:lnTo>
                  <a:lnTo>
                    <a:pt x="1280511" y="283049"/>
                  </a:lnTo>
                  <a:lnTo>
                    <a:pt x="1293326" y="310285"/>
                  </a:lnTo>
                  <a:lnTo>
                    <a:pt x="1304155" y="338154"/>
                  </a:lnTo>
                  <a:lnTo>
                    <a:pt x="1313111" y="366495"/>
                  </a:lnTo>
                  <a:lnTo>
                    <a:pt x="1320345" y="395161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7" name="Клетка однослойного эпителия"/>
            <p:cNvSpPr/>
            <p:nvPr/>
          </p:nvSpPr>
          <p:spPr>
            <a:xfrm>
              <a:off x="5652575" y="2471205"/>
              <a:ext cx="194705" cy="184844"/>
            </a:xfrm>
            <a:custGeom>
              <a:avLst/>
              <a:gdLst/>
              <a:ahLst/>
              <a:cxnLst/>
              <a:rect l="l" t="t" r="r" b="b"/>
              <a:pathLst>
                <a:path w="194705" h="184844">
                  <a:moveTo>
                    <a:pt x="183383" y="0"/>
                  </a:moveTo>
                  <a:lnTo>
                    <a:pt x="186122" y="18356"/>
                  </a:lnTo>
                  <a:lnTo>
                    <a:pt x="188393" y="36727"/>
                  </a:lnTo>
                  <a:lnTo>
                    <a:pt x="190251" y="55108"/>
                  </a:lnTo>
                  <a:lnTo>
                    <a:pt x="191743" y="73501"/>
                  </a:lnTo>
                  <a:lnTo>
                    <a:pt x="192909" y="91914"/>
                  </a:lnTo>
                  <a:lnTo>
                    <a:pt x="193778" y="110359"/>
                  </a:lnTo>
                  <a:lnTo>
                    <a:pt x="194366" y="128855"/>
                  </a:lnTo>
                  <a:lnTo>
                    <a:pt x="194678" y="147421"/>
                  </a:lnTo>
                  <a:lnTo>
                    <a:pt x="194705" y="166077"/>
                  </a:lnTo>
                  <a:lnTo>
                    <a:pt x="194423" y="184844"/>
                  </a:lnTo>
                  <a:lnTo>
                    <a:pt x="5090" y="168280"/>
                  </a:lnTo>
                  <a:lnTo>
                    <a:pt x="5546" y="156164"/>
                  </a:lnTo>
                  <a:lnTo>
                    <a:pt x="5787" y="144124"/>
                  </a:lnTo>
                  <a:lnTo>
                    <a:pt x="5828" y="132146"/>
                  </a:lnTo>
                  <a:lnTo>
                    <a:pt x="5677" y="120217"/>
                  </a:lnTo>
                  <a:lnTo>
                    <a:pt x="5330" y="108325"/>
                  </a:lnTo>
                  <a:lnTo>
                    <a:pt x="4777" y="96458"/>
                  </a:lnTo>
                  <a:lnTo>
                    <a:pt x="3998" y="84608"/>
                  </a:lnTo>
                  <a:lnTo>
                    <a:pt x="2965" y="72771"/>
                  </a:lnTo>
                  <a:lnTo>
                    <a:pt x="1645" y="60946"/>
                  </a:lnTo>
                  <a:lnTo>
                    <a:pt x="0" y="49137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8" name="Ядро эпителиальной клетки"/>
            <p:cNvSpPr/>
            <p:nvPr/>
          </p:nvSpPr>
          <p:spPr>
            <a:xfrm rot="21300000">
              <a:off x="5702223" y="250535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9" name="Ядрышко"/>
            <p:cNvSpPr/>
            <p:nvPr/>
          </p:nvSpPr>
          <p:spPr>
            <a:xfrm>
              <a:off x="5731483" y="255702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0" name="Клетка однослойного эпителия"/>
            <p:cNvSpPr/>
            <p:nvPr/>
          </p:nvSpPr>
          <p:spPr>
            <a:xfrm>
              <a:off x="5632585" y="2639485"/>
              <a:ext cx="214413" cy="210612"/>
            </a:xfrm>
            <a:custGeom>
              <a:avLst/>
              <a:gdLst/>
              <a:ahLst/>
              <a:cxnLst/>
              <a:rect l="l" t="t" r="r" b="b"/>
              <a:pathLst>
                <a:path w="214413" h="210612">
                  <a:moveTo>
                    <a:pt x="214413" y="16564"/>
                  </a:moveTo>
                  <a:lnTo>
                    <a:pt x="213786" y="35458"/>
                  </a:lnTo>
                  <a:lnTo>
                    <a:pt x="212766" y="54490"/>
                  </a:lnTo>
                  <a:lnTo>
                    <a:pt x="211295" y="73667"/>
                  </a:lnTo>
                  <a:lnTo>
                    <a:pt x="209303" y="92987"/>
                  </a:lnTo>
                  <a:lnTo>
                    <a:pt x="206717" y="112438"/>
                  </a:lnTo>
                  <a:lnTo>
                    <a:pt x="203458" y="132001"/>
                  </a:lnTo>
                  <a:lnTo>
                    <a:pt x="199446" y="151645"/>
                  </a:lnTo>
                  <a:lnTo>
                    <a:pt x="194603" y="171329"/>
                  </a:lnTo>
                  <a:lnTo>
                    <a:pt x="188853" y="191005"/>
                  </a:lnTo>
                  <a:lnTo>
                    <a:pt x="182130" y="210612"/>
                  </a:lnTo>
                  <a:lnTo>
                    <a:pt x="0" y="125683"/>
                  </a:lnTo>
                  <a:lnTo>
                    <a:pt x="4935" y="112936"/>
                  </a:lnTo>
                  <a:lnTo>
                    <a:pt x="9195" y="100158"/>
                  </a:lnTo>
                  <a:lnTo>
                    <a:pt x="12827" y="87386"/>
                  </a:lnTo>
                  <a:lnTo>
                    <a:pt x="15881" y="74653"/>
                  </a:lnTo>
                  <a:lnTo>
                    <a:pt x="18413" y="61982"/>
                  </a:lnTo>
                  <a:lnTo>
                    <a:pt x="20476" y="49393"/>
                  </a:lnTo>
                  <a:lnTo>
                    <a:pt x="22125" y="36896"/>
                  </a:lnTo>
                  <a:lnTo>
                    <a:pt x="23412" y="24500"/>
                  </a:lnTo>
                  <a:lnTo>
                    <a:pt x="24383" y="12202"/>
                  </a:lnTo>
                  <a:lnTo>
                    <a:pt x="25080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1" name="Ядро эпителиальной клетки"/>
            <p:cNvSpPr/>
            <p:nvPr/>
          </p:nvSpPr>
          <p:spPr>
            <a:xfrm rot="900000">
              <a:off x="5695663" y="265939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2" name="Ядрышко"/>
            <p:cNvSpPr/>
            <p:nvPr/>
          </p:nvSpPr>
          <p:spPr>
            <a:xfrm>
              <a:off x="5724924" y="271105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3" name="Клетка однослойного эпителия"/>
            <p:cNvSpPr/>
            <p:nvPr/>
          </p:nvSpPr>
          <p:spPr>
            <a:xfrm>
              <a:off x="5542068" y="2765168"/>
              <a:ext cx="272647" cy="261116"/>
            </a:xfrm>
            <a:custGeom>
              <a:avLst/>
              <a:gdLst/>
              <a:ahLst/>
              <a:cxnLst/>
              <a:rect l="l" t="t" r="r" b="b"/>
              <a:pathLst>
                <a:path w="272647" h="261116">
                  <a:moveTo>
                    <a:pt x="272647" y="84929"/>
                  </a:moveTo>
                  <a:lnTo>
                    <a:pt x="264892" y="104402"/>
                  </a:lnTo>
                  <a:lnTo>
                    <a:pt x="256059" y="123668"/>
                  </a:lnTo>
                  <a:lnTo>
                    <a:pt x="246112" y="142649"/>
                  </a:lnTo>
                  <a:lnTo>
                    <a:pt x="235034" y="161267"/>
                  </a:lnTo>
                  <a:lnTo>
                    <a:pt x="222820" y="179441"/>
                  </a:lnTo>
                  <a:lnTo>
                    <a:pt x="209482" y="197094"/>
                  </a:lnTo>
                  <a:lnTo>
                    <a:pt x="195047" y="214152"/>
                  </a:lnTo>
                  <a:lnTo>
                    <a:pt x="179557" y="230546"/>
                  </a:lnTo>
                  <a:lnTo>
                    <a:pt x="163067" y="246218"/>
                  </a:lnTo>
                  <a:lnTo>
                    <a:pt x="145644" y="261116"/>
                  </a:lnTo>
                  <a:lnTo>
                    <a:pt x="0" y="115472"/>
                  </a:lnTo>
                  <a:lnTo>
                    <a:pt x="12289" y="105615"/>
                  </a:lnTo>
                  <a:lnTo>
                    <a:pt x="23942" y="95272"/>
                  </a:lnTo>
                  <a:lnTo>
                    <a:pt x="34911" y="84476"/>
                  </a:lnTo>
                  <a:lnTo>
                    <a:pt x="45158" y="73267"/>
                  </a:lnTo>
                  <a:lnTo>
                    <a:pt x="54652" y="61689"/>
                  </a:lnTo>
                  <a:lnTo>
                    <a:pt x="63374" y="49790"/>
                  </a:lnTo>
                  <a:lnTo>
                    <a:pt x="71315" y="37620"/>
                  </a:lnTo>
                  <a:lnTo>
                    <a:pt x="78476" y="25232"/>
                  </a:lnTo>
                  <a:lnTo>
                    <a:pt x="84869" y="12676"/>
                  </a:lnTo>
                  <a:lnTo>
                    <a:pt x="9051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4" name="Ядро эпителиальной клетки"/>
            <p:cNvSpPr/>
            <p:nvPr/>
          </p:nvSpPr>
          <p:spPr>
            <a:xfrm rot="2100000">
              <a:off x="5631720" y="281708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5" name="Ядрышко"/>
            <p:cNvSpPr/>
            <p:nvPr/>
          </p:nvSpPr>
          <p:spPr>
            <a:xfrm>
              <a:off x="5660981" y="286874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6" name="Клетка однослойного эпителия"/>
            <p:cNvSpPr/>
            <p:nvPr/>
          </p:nvSpPr>
          <p:spPr>
            <a:xfrm>
              <a:off x="5397187" y="2880640"/>
              <a:ext cx="290525" cy="249021"/>
            </a:xfrm>
            <a:custGeom>
              <a:avLst/>
              <a:gdLst/>
              <a:ahLst/>
              <a:cxnLst/>
              <a:rect l="l" t="t" r="r" b="b"/>
              <a:pathLst>
                <a:path w="290525" h="249021">
                  <a:moveTo>
                    <a:pt x="290525" y="145644"/>
                  </a:moveTo>
                  <a:lnTo>
                    <a:pt x="272246" y="159729"/>
                  </a:lnTo>
                  <a:lnTo>
                    <a:pt x="253195" y="172972"/>
                  </a:lnTo>
                  <a:lnTo>
                    <a:pt x="233461" y="185358"/>
                  </a:lnTo>
                  <a:lnTo>
                    <a:pt x="213137" y="196881"/>
                  </a:lnTo>
                  <a:lnTo>
                    <a:pt x="192315" y="207551"/>
                  </a:lnTo>
                  <a:lnTo>
                    <a:pt x="171084" y="217383"/>
                  </a:lnTo>
                  <a:lnTo>
                    <a:pt x="149529" y="226408"/>
                  </a:lnTo>
                  <a:lnTo>
                    <a:pt x="127730" y="234660"/>
                  </a:lnTo>
                  <a:lnTo>
                    <a:pt x="105756" y="242182"/>
                  </a:lnTo>
                  <a:lnTo>
                    <a:pt x="83670" y="249021"/>
                  </a:lnTo>
                  <a:lnTo>
                    <a:pt x="0" y="69588"/>
                  </a:lnTo>
                  <a:lnTo>
                    <a:pt x="15410" y="64868"/>
                  </a:lnTo>
                  <a:lnTo>
                    <a:pt x="30753" y="59709"/>
                  </a:lnTo>
                  <a:lnTo>
                    <a:pt x="45984" y="54080"/>
                  </a:lnTo>
                  <a:lnTo>
                    <a:pt x="61057" y="47957"/>
                  </a:lnTo>
                  <a:lnTo>
                    <a:pt x="75916" y="41316"/>
                  </a:lnTo>
                  <a:lnTo>
                    <a:pt x="90504" y="34142"/>
                  </a:lnTo>
                  <a:lnTo>
                    <a:pt x="104758" y="26422"/>
                  </a:lnTo>
                  <a:lnTo>
                    <a:pt x="118614" y="18155"/>
                  </a:lnTo>
                  <a:lnTo>
                    <a:pt x="132010" y="9343"/>
                  </a:lnTo>
                  <a:lnTo>
                    <a:pt x="14488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7" name="Ядро эпителиальной клетки"/>
            <p:cNvSpPr/>
            <p:nvPr/>
          </p:nvSpPr>
          <p:spPr>
            <a:xfrm rot="3300000">
              <a:off x="5483254" y="29354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8" name="Ядрышко"/>
            <p:cNvSpPr/>
            <p:nvPr/>
          </p:nvSpPr>
          <p:spPr>
            <a:xfrm>
              <a:off x="5512515" y="29871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9" name="Клетка однослойного эпителия"/>
            <p:cNvSpPr/>
            <p:nvPr/>
          </p:nvSpPr>
          <p:spPr>
            <a:xfrm>
              <a:off x="5243814" y="2950228"/>
              <a:ext cx="237043" cy="219730"/>
            </a:xfrm>
            <a:custGeom>
              <a:avLst/>
              <a:gdLst/>
              <a:ahLst/>
              <a:cxnLst/>
              <a:rect l="l" t="t" r="r" b="b"/>
              <a:pathLst>
                <a:path w="237043" h="219730">
                  <a:moveTo>
                    <a:pt x="237043" y="179433"/>
                  </a:moveTo>
                  <a:lnTo>
                    <a:pt x="214896" y="185637"/>
                  </a:lnTo>
                  <a:lnTo>
                    <a:pt x="192730" y="191257"/>
                  </a:lnTo>
                  <a:lnTo>
                    <a:pt x="170574" y="196339"/>
                  </a:lnTo>
                  <a:lnTo>
                    <a:pt x="148452" y="200928"/>
                  </a:lnTo>
                  <a:lnTo>
                    <a:pt x="126375" y="205062"/>
                  </a:lnTo>
                  <a:lnTo>
                    <a:pt x="104348" y="208772"/>
                  </a:lnTo>
                  <a:lnTo>
                    <a:pt x="82372" y="212084"/>
                  </a:lnTo>
                  <a:lnTo>
                    <a:pt x="60441" y="215011"/>
                  </a:lnTo>
                  <a:lnTo>
                    <a:pt x="38546" y="217560"/>
                  </a:lnTo>
                  <a:lnTo>
                    <a:pt x="16681" y="219730"/>
                  </a:lnTo>
                  <a:lnTo>
                    <a:pt x="0" y="29066"/>
                  </a:lnTo>
                  <a:lnTo>
                    <a:pt x="15193" y="27363"/>
                  </a:lnTo>
                  <a:lnTo>
                    <a:pt x="30411" y="25413"/>
                  </a:lnTo>
                  <a:lnTo>
                    <a:pt x="45660" y="23220"/>
                  </a:lnTo>
                  <a:lnTo>
                    <a:pt x="60946" y="20777"/>
                  </a:lnTo>
                  <a:lnTo>
                    <a:pt x="76272" y="18077"/>
                  </a:lnTo>
                  <a:lnTo>
                    <a:pt x="91639" y="15103"/>
                  </a:lnTo>
                  <a:lnTo>
                    <a:pt x="107044" y="11834"/>
                  </a:lnTo>
                  <a:lnTo>
                    <a:pt x="122479" y="8246"/>
                  </a:lnTo>
                  <a:lnTo>
                    <a:pt x="137929" y="4312"/>
                  </a:lnTo>
                  <a:lnTo>
                    <a:pt x="153373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0" name="Ядро эпителиальной клетки"/>
            <p:cNvSpPr/>
            <p:nvPr/>
          </p:nvSpPr>
          <p:spPr>
            <a:xfrm rot="4500000">
              <a:off x="5298415" y="29917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1" name="Ядрышко"/>
            <p:cNvSpPr/>
            <p:nvPr/>
          </p:nvSpPr>
          <p:spPr>
            <a:xfrm>
              <a:off x="5327676" y="30434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2" name="Клетка однослойного эпителия"/>
            <p:cNvSpPr/>
            <p:nvPr/>
          </p:nvSpPr>
          <p:spPr>
            <a:xfrm>
              <a:off x="5043600" y="2979294"/>
              <a:ext cx="216895" cy="195210"/>
            </a:xfrm>
            <a:custGeom>
              <a:avLst/>
              <a:gdLst/>
              <a:ahLst/>
              <a:cxnLst/>
              <a:rect l="l" t="t" r="r" b="b"/>
              <a:pathLst>
                <a:path w="216895" h="195210">
                  <a:moveTo>
                    <a:pt x="216895" y="190664"/>
                  </a:moveTo>
                  <a:lnTo>
                    <a:pt x="195050" y="192442"/>
                  </a:lnTo>
                  <a:lnTo>
                    <a:pt x="173221" y="193810"/>
                  </a:lnTo>
                  <a:lnTo>
                    <a:pt x="151405" y="194743"/>
                  </a:lnTo>
                  <a:lnTo>
                    <a:pt x="129606" y="195210"/>
                  </a:lnTo>
                  <a:lnTo>
                    <a:pt x="107831" y="195178"/>
                  </a:lnTo>
                  <a:lnTo>
                    <a:pt x="86094" y="194610"/>
                  </a:lnTo>
                  <a:lnTo>
                    <a:pt x="64415" y="193471"/>
                  </a:lnTo>
                  <a:lnTo>
                    <a:pt x="42819" y="191724"/>
                  </a:lnTo>
                  <a:lnTo>
                    <a:pt x="21336" y="189340"/>
                  </a:lnTo>
                  <a:lnTo>
                    <a:pt x="0" y="186289"/>
                  </a:lnTo>
                  <a:lnTo>
                    <a:pt x="49866" y="187"/>
                  </a:lnTo>
                  <a:lnTo>
                    <a:pt x="64619" y="1860"/>
                  </a:lnTo>
                  <a:lnTo>
                    <a:pt x="79484" y="3101"/>
                  </a:lnTo>
                  <a:lnTo>
                    <a:pt x="94436" y="3928"/>
                  </a:lnTo>
                  <a:lnTo>
                    <a:pt x="109453" y="4362"/>
                  </a:lnTo>
                  <a:lnTo>
                    <a:pt x="124519" y="4427"/>
                  </a:lnTo>
                  <a:lnTo>
                    <a:pt x="139619" y="4146"/>
                  </a:lnTo>
                  <a:lnTo>
                    <a:pt x="154743" y="3541"/>
                  </a:lnTo>
                  <a:lnTo>
                    <a:pt x="169884" y="2636"/>
                  </a:lnTo>
                  <a:lnTo>
                    <a:pt x="185041" y="1451"/>
                  </a:lnTo>
                  <a:lnTo>
                    <a:pt x="200214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3" name="Ядро эпителиальной клетки"/>
            <p:cNvSpPr/>
            <p:nvPr/>
          </p:nvSpPr>
          <p:spPr>
            <a:xfrm rot="5700000">
              <a:off x="5114388" y="300898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4" name="Ядрышко"/>
            <p:cNvSpPr/>
            <p:nvPr/>
          </p:nvSpPr>
          <p:spPr>
            <a:xfrm>
              <a:off x="5143649" y="306065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5" name="Клетка однослойного эпителия"/>
            <p:cNvSpPr/>
            <p:nvPr/>
          </p:nvSpPr>
          <p:spPr>
            <a:xfrm>
              <a:off x="4846075" y="2937972"/>
              <a:ext cx="247391" cy="227611"/>
            </a:xfrm>
            <a:custGeom>
              <a:avLst/>
              <a:gdLst/>
              <a:ahLst/>
              <a:cxnLst/>
              <a:rect l="l" t="t" r="r" b="b"/>
              <a:pathLst>
                <a:path w="247391" h="227611">
                  <a:moveTo>
                    <a:pt x="197525" y="227611"/>
                  </a:moveTo>
                  <a:lnTo>
                    <a:pt x="176371" y="223873"/>
                  </a:lnTo>
                  <a:lnTo>
                    <a:pt x="155439" y="219431"/>
                  </a:lnTo>
                  <a:lnTo>
                    <a:pt x="134766" y="214278"/>
                  </a:lnTo>
                  <a:lnTo>
                    <a:pt x="114390" y="208413"/>
                  </a:lnTo>
                  <a:lnTo>
                    <a:pt x="94345" y="201842"/>
                  </a:lnTo>
                  <a:lnTo>
                    <a:pt x="74662" y="194577"/>
                  </a:lnTo>
                  <a:lnTo>
                    <a:pt x="55368" y="186639"/>
                  </a:lnTo>
                  <a:lnTo>
                    <a:pt x="36483" y="178052"/>
                  </a:lnTo>
                  <a:lnTo>
                    <a:pt x="18024" y="168845"/>
                  </a:lnTo>
                  <a:lnTo>
                    <a:pt x="0" y="159047"/>
                  </a:lnTo>
                  <a:lnTo>
                    <a:pt x="111366" y="0"/>
                  </a:lnTo>
                  <a:lnTo>
                    <a:pt x="123729" y="6073"/>
                  </a:lnTo>
                  <a:lnTo>
                    <a:pt x="136402" y="11760"/>
                  </a:lnTo>
                  <a:lnTo>
                    <a:pt x="149379" y="17039"/>
                  </a:lnTo>
                  <a:lnTo>
                    <a:pt x="162648" y="21895"/>
                  </a:lnTo>
                  <a:lnTo>
                    <a:pt x="176197" y="26310"/>
                  </a:lnTo>
                  <a:lnTo>
                    <a:pt x="190006" y="30273"/>
                  </a:lnTo>
                  <a:lnTo>
                    <a:pt x="204055" y="33775"/>
                  </a:lnTo>
                  <a:lnTo>
                    <a:pt x="218319" y="36814"/>
                  </a:lnTo>
                  <a:lnTo>
                    <a:pt x="232773" y="39390"/>
                  </a:lnTo>
                  <a:lnTo>
                    <a:pt x="247391" y="4150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6" name="Ядро эпителиальной клетки"/>
            <p:cNvSpPr/>
            <p:nvPr/>
          </p:nvSpPr>
          <p:spPr>
            <a:xfrm rot="6900000">
              <a:off x="4937263" y="298224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7" name="Ядрышко"/>
            <p:cNvSpPr/>
            <p:nvPr/>
          </p:nvSpPr>
          <p:spPr>
            <a:xfrm>
              <a:off x="4966523" y="303390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8" name="Клетка однослойного эпителия"/>
            <p:cNvSpPr/>
            <p:nvPr/>
          </p:nvSpPr>
          <p:spPr>
            <a:xfrm>
              <a:off x="4689317" y="2859999"/>
              <a:ext cx="268124" cy="237020"/>
            </a:xfrm>
            <a:custGeom>
              <a:avLst/>
              <a:gdLst/>
              <a:ahLst/>
              <a:cxnLst/>
              <a:rect l="l" t="t" r="r" b="b"/>
              <a:pathLst>
                <a:path w="268124" h="237020">
                  <a:moveTo>
                    <a:pt x="156758" y="237020"/>
                  </a:moveTo>
                  <a:lnTo>
                    <a:pt x="139174" y="226666"/>
                  </a:lnTo>
                  <a:lnTo>
                    <a:pt x="122029" y="215788"/>
                  </a:lnTo>
                  <a:lnTo>
                    <a:pt x="105320" y="204416"/>
                  </a:lnTo>
                  <a:lnTo>
                    <a:pt x="89039" y="192579"/>
                  </a:lnTo>
                  <a:lnTo>
                    <a:pt x="73178" y="180301"/>
                  </a:lnTo>
                  <a:lnTo>
                    <a:pt x="57730" y="167603"/>
                  </a:lnTo>
                  <a:lnTo>
                    <a:pt x="42687" y="154500"/>
                  </a:lnTo>
                  <a:lnTo>
                    <a:pt x="28049" y="141001"/>
                  </a:lnTo>
                  <a:lnTo>
                    <a:pt x="13817" y="127112"/>
                  </a:lnTo>
                  <a:lnTo>
                    <a:pt x="0" y="112833"/>
                  </a:lnTo>
                  <a:lnTo>
                    <a:pt x="161141" y="0"/>
                  </a:lnTo>
                  <a:lnTo>
                    <a:pt x="170525" y="9024"/>
                  </a:lnTo>
                  <a:lnTo>
                    <a:pt x="180201" y="17790"/>
                  </a:lnTo>
                  <a:lnTo>
                    <a:pt x="190165" y="26299"/>
                  </a:lnTo>
                  <a:lnTo>
                    <a:pt x="200415" y="34547"/>
                  </a:lnTo>
                  <a:lnTo>
                    <a:pt x="210951" y="42528"/>
                  </a:lnTo>
                  <a:lnTo>
                    <a:pt x="221780" y="50231"/>
                  </a:lnTo>
                  <a:lnTo>
                    <a:pt x="232906" y="57645"/>
                  </a:lnTo>
                  <a:lnTo>
                    <a:pt x="244336" y="64752"/>
                  </a:lnTo>
                  <a:lnTo>
                    <a:pt x="256074" y="71535"/>
                  </a:lnTo>
                  <a:lnTo>
                    <a:pt x="268124" y="77973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9" name="Ядро эпителиальной клетки"/>
            <p:cNvSpPr/>
            <p:nvPr/>
          </p:nvSpPr>
          <p:spPr>
            <a:xfrm rot="8100000">
              <a:off x="4788417" y="290236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0" name="Ядрышко"/>
            <p:cNvSpPr/>
            <p:nvPr/>
          </p:nvSpPr>
          <p:spPr>
            <a:xfrm>
              <a:off x="4817677" y="295402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1" name="Клетка однослойного эпителия"/>
            <p:cNvSpPr/>
            <p:nvPr/>
          </p:nvSpPr>
          <p:spPr>
            <a:xfrm>
              <a:off x="4581754" y="2754639"/>
              <a:ext cx="268704" cy="218193"/>
            </a:xfrm>
            <a:custGeom>
              <a:avLst/>
              <a:gdLst/>
              <a:ahLst/>
              <a:cxnLst/>
              <a:rect l="l" t="t" r="r" b="b"/>
              <a:pathLst>
                <a:path w="268704" h="218193">
                  <a:moveTo>
                    <a:pt x="107563" y="218193"/>
                  </a:moveTo>
                  <a:lnTo>
                    <a:pt x="94178" y="203519"/>
                  </a:lnTo>
                  <a:lnTo>
                    <a:pt x="81249" y="188445"/>
                  </a:lnTo>
                  <a:lnTo>
                    <a:pt x="68811" y="172961"/>
                  </a:lnTo>
                  <a:lnTo>
                    <a:pt x="56906" y="157058"/>
                  </a:lnTo>
                  <a:lnTo>
                    <a:pt x="45585" y="140727"/>
                  </a:lnTo>
                  <a:lnTo>
                    <a:pt x="34906" y="123965"/>
                  </a:lnTo>
                  <a:lnTo>
                    <a:pt x="24937" y="106767"/>
                  </a:lnTo>
                  <a:lnTo>
                    <a:pt x="15747" y="89137"/>
                  </a:lnTo>
                  <a:lnTo>
                    <a:pt x="7409" y="71086"/>
                  </a:lnTo>
                  <a:lnTo>
                    <a:pt x="0" y="52629"/>
                  </a:lnTo>
                  <a:lnTo>
                    <a:pt x="196411" y="0"/>
                  </a:lnTo>
                  <a:lnTo>
                    <a:pt x="201293" y="11810"/>
                  </a:lnTo>
                  <a:lnTo>
                    <a:pt x="206824" y="23344"/>
                  </a:lnTo>
                  <a:lnTo>
                    <a:pt x="212953" y="34594"/>
                  </a:lnTo>
                  <a:lnTo>
                    <a:pt x="219628" y="45555"/>
                  </a:lnTo>
                  <a:lnTo>
                    <a:pt x="226800" y="56225"/>
                  </a:lnTo>
                  <a:lnTo>
                    <a:pt x="234424" y="66607"/>
                  </a:lnTo>
                  <a:lnTo>
                    <a:pt x="242459" y="76706"/>
                  </a:lnTo>
                  <a:lnTo>
                    <a:pt x="250870" y="86526"/>
                  </a:lnTo>
                  <a:lnTo>
                    <a:pt x="259626" y="96076"/>
                  </a:lnTo>
                  <a:lnTo>
                    <a:pt x="268704" y="10536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2" name="Ядро эпителиальной клетки"/>
            <p:cNvSpPr/>
            <p:nvPr/>
          </p:nvSpPr>
          <p:spPr>
            <a:xfrm rot="9300000">
              <a:off x="4675850" y="278513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3" name="Ядрышко"/>
            <p:cNvSpPr/>
            <p:nvPr/>
          </p:nvSpPr>
          <p:spPr>
            <a:xfrm>
              <a:off x="4705111" y="283679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4" name="Клетка однослойного эпителия"/>
            <p:cNvSpPr/>
            <p:nvPr/>
          </p:nvSpPr>
          <p:spPr>
            <a:xfrm>
              <a:off x="4560509" y="2609341"/>
              <a:ext cx="217656" cy="197927"/>
            </a:xfrm>
            <a:custGeom>
              <a:avLst/>
              <a:gdLst/>
              <a:ahLst/>
              <a:cxnLst/>
              <a:rect l="l" t="t" r="r" b="b"/>
              <a:pathLst>
                <a:path w="217656" h="197927">
                  <a:moveTo>
                    <a:pt x="21245" y="197927"/>
                  </a:moveTo>
                  <a:lnTo>
                    <a:pt x="14836" y="179088"/>
                  </a:lnTo>
                  <a:lnTo>
                    <a:pt x="9499" y="159901"/>
                  </a:lnTo>
                  <a:lnTo>
                    <a:pt x="5297" y="140406"/>
                  </a:lnTo>
                  <a:lnTo>
                    <a:pt x="2286" y="120650"/>
                  </a:lnTo>
                  <a:lnTo>
                    <a:pt x="509" y="100687"/>
                  </a:lnTo>
                  <a:lnTo>
                    <a:pt x="0" y="80579"/>
                  </a:lnTo>
                  <a:lnTo>
                    <a:pt x="778" y="60389"/>
                  </a:lnTo>
                  <a:lnTo>
                    <a:pt x="2845" y="40184"/>
                  </a:lnTo>
                  <a:lnTo>
                    <a:pt x="6191" y="20032"/>
                  </a:lnTo>
                  <a:lnTo>
                    <a:pt x="10789" y="0"/>
                  </a:lnTo>
                  <a:lnTo>
                    <a:pt x="213153" y="17704"/>
                  </a:lnTo>
                  <a:lnTo>
                    <a:pt x="209686" y="30697"/>
                  </a:lnTo>
                  <a:lnTo>
                    <a:pt x="207086" y="43749"/>
                  </a:lnTo>
                  <a:lnTo>
                    <a:pt x="205372" y="56817"/>
                  </a:lnTo>
                  <a:lnTo>
                    <a:pt x="204552" y="69859"/>
                  </a:lnTo>
                  <a:lnTo>
                    <a:pt x="204626" y="82829"/>
                  </a:lnTo>
                  <a:lnTo>
                    <a:pt x="205581" y="95688"/>
                  </a:lnTo>
                  <a:lnTo>
                    <a:pt x="207396" y="108397"/>
                  </a:lnTo>
                  <a:lnTo>
                    <a:pt x="210039" y="120920"/>
                  </a:lnTo>
                  <a:lnTo>
                    <a:pt x="213474" y="133229"/>
                  </a:lnTo>
                  <a:lnTo>
                    <a:pt x="217656" y="145298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5" name="Ядро эпителиальной клетки"/>
            <p:cNvSpPr/>
            <p:nvPr/>
          </p:nvSpPr>
          <p:spPr>
            <a:xfrm rot="10500000">
              <a:off x="4621439" y="263444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6" name="Ядрышко"/>
            <p:cNvSpPr/>
            <p:nvPr/>
          </p:nvSpPr>
          <p:spPr>
            <a:xfrm>
              <a:off x="4650699" y="268611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7" name="Клетка однослойного эпителия"/>
            <p:cNvSpPr/>
            <p:nvPr/>
          </p:nvSpPr>
          <p:spPr>
            <a:xfrm>
              <a:off x="4571298" y="2426251"/>
              <a:ext cx="274314" cy="200794"/>
            </a:xfrm>
            <a:custGeom>
              <a:avLst/>
              <a:gdLst/>
              <a:ahLst/>
              <a:cxnLst/>
              <a:rect l="l" t="t" r="r" b="b"/>
              <a:pathLst>
                <a:path w="274314" h="200794">
                  <a:moveTo>
                    <a:pt x="0" y="183090"/>
                  </a:moveTo>
                  <a:lnTo>
                    <a:pt x="5808" y="163242"/>
                  </a:lnTo>
                  <a:lnTo>
                    <a:pt x="12768" y="143637"/>
                  </a:lnTo>
                  <a:lnTo>
                    <a:pt x="20814" y="124327"/>
                  </a:lnTo>
                  <a:lnTo>
                    <a:pt x="29865" y="105358"/>
                  </a:lnTo>
                  <a:lnTo>
                    <a:pt x="39833" y="86766"/>
                  </a:lnTo>
                  <a:lnTo>
                    <a:pt x="50624" y="68576"/>
                  </a:lnTo>
                  <a:lnTo>
                    <a:pt x="62142" y="50804"/>
                  </a:lnTo>
                  <a:lnTo>
                    <a:pt x="74288" y="33456"/>
                  </a:lnTo>
                  <a:lnTo>
                    <a:pt x="86968" y="16526"/>
                  </a:lnTo>
                  <a:lnTo>
                    <a:pt x="100091" y="0"/>
                  </a:lnTo>
                  <a:lnTo>
                    <a:pt x="274314" y="81242"/>
                  </a:lnTo>
                  <a:lnTo>
                    <a:pt x="264984" y="92089"/>
                  </a:lnTo>
                  <a:lnTo>
                    <a:pt x="255956" y="103192"/>
                  </a:lnTo>
                  <a:lnTo>
                    <a:pt x="247292" y="114557"/>
                  </a:lnTo>
                  <a:lnTo>
                    <a:pt x="239059" y="126186"/>
                  </a:lnTo>
                  <a:lnTo>
                    <a:pt x="231323" y="138075"/>
                  </a:lnTo>
                  <a:lnTo>
                    <a:pt x="224152" y="150213"/>
                  </a:lnTo>
                  <a:lnTo>
                    <a:pt x="217613" y="162581"/>
                  </a:lnTo>
                  <a:lnTo>
                    <a:pt x="211766" y="175155"/>
                  </a:lnTo>
                  <a:lnTo>
                    <a:pt x="206666" y="187904"/>
                  </a:lnTo>
                  <a:lnTo>
                    <a:pt x="202364" y="20079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8" name="Ядро эпителиальной клетки"/>
            <p:cNvSpPr/>
            <p:nvPr/>
          </p:nvSpPr>
          <p:spPr>
            <a:xfrm rot="11700000">
              <a:off x="4664985" y="24734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9" name="Ядрышко"/>
            <p:cNvSpPr/>
            <p:nvPr/>
          </p:nvSpPr>
          <p:spPr>
            <a:xfrm>
              <a:off x="4694246" y="252506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0" name="Клетка однослойного эпителия"/>
            <p:cNvSpPr/>
            <p:nvPr/>
          </p:nvSpPr>
          <p:spPr>
            <a:xfrm>
              <a:off x="4671389" y="2276423"/>
              <a:ext cx="275657" cy="231070"/>
            </a:xfrm>
            <a:custGeom>
              <a:avLst/>
              <a:gdLst/>
              <a:ahLst/>
              <a:cxnLst/>
              <a:rect l="l" t="t" r="r" b="b"/>
              <a:pathLst>
                <a:path w="275657" h="231070">
                  <a:moveTo>
                    <a:pt x="0" y="149828"/>
                  </a:moveTo>
                  <a:lnTo>
                    <a:pt x="13485" y="133685"/>
                  </a:lnTo>
                  <a:lnTo>
                    <a:pt x="27257" y="117894"/>
                  </a:lnTo>
                  <a:lnTo>
                    <a:pt x="41257" y="102421"/>
                  </a:lnTo>
                  <a:lnTo>
                    <a:pt x="55435" y="87229"/>
                  </a:lnTo>
                  <a:lnTo>
                    <a:pt x="69758" y="72280"/>
                  </a:lnTo>
                  <a:lnTo>
                    <a:pt x="84203" y="57534"/>
                  </a:lnTo>
                  <a:lnTo>
                    <a:pt x="98765" y="42960"/>
                  </a:lnTo>
                  <a:lnTo>
                    <a:pt x="113450" y="28526"/>
                  </a:lnTo>
                  <a:lnTo>
                    <a:pt x="128276" y="14210"/>
                  </a:lnTo>
                  <a:lnTo>
                    <a:pt x="143272" y="0"/>
                  </a:lnTo>
                  <a:lnTo>
                    <a:pt x="275657" y="132384"/>
                  </a:lnTo>
                  <a:lnTo>
                    <a:pt x="265060" y="141764"/>
                  </a:lnTo>
                  <a:lnTo>
                    <a:pt x="254580" y="151208"/>
                  </a:lnTo>
                  <a:lnTo>
                    <a:pt x="244196" y="160728"/>
                  </a:lnTo>
                  <a:lnTo>
                    <a:pt x="233896" y="170336"/>
                  </a:lnTo>
                  <a:lnTo>
                    <a:pt x="223674" y="180053"/>
                  </a:lnTo>
                  <a:lnTo>
                    <a:pt x="213534" y="189900"/>
                  </a:lnTo>
                  <a:lnTo>
                    <a:pt x="203491" y="199901"/>
                  </a:lnTo>
                  <a:lnTo>
                    <a:pt x="193568" y="210082"/>
                  </a:lnTo>
                  <a:lnTo>
                    <a:pt x="183798" y="220464"/>
                  </a:lnTo>
                  <a:lnTo>
                    <a:pt x="174223" y="23107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1" name="Ядро эпителиальной клетки"/>
            <p:cNvSpPr/>
            <p:nvPr/>
          </p:nvSpPr>
          <p:spPr>
            <a:xfrm rot="12900000">
              <a:off x="4775462" y="23384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2" name="Ядрышко"/>
            <p:cNvSpPr/>
            <p:nvPr/>
          </p:nvSpPr>
          <p:spPr>
            <a:xfrm>
              <a:off x="4804723" y="23901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3" name="Клетка однослойного эпителия"/>
            <p:cNvSpPr/>
            <p:nvPr/>
          </p:nvSpPr>
          <p:spPr>
            <a:xfrm>
              <a:off x="4814661" y="2144228"/>
              <a:ext cx="251223" cy="264579"/>
            </a:xfrm>
            <a:custGeom>
              <a:avLst/>
              <a:gdLst/>
              <a:ahLst/>
              <a:cxnLst/>
              <a:rect l="l" t="t" r="r" b="b"/>
              <a:pathLst>
                <a:path w="251223" h="264579">
                  <a:moveTo>
                    <a:pt x="0" y="132195"/>
                  </a:moveTo>
                  <a:lnTo>
                    <a:pt x="15204" y="118084"/>
                  </a:lnTo>
                  <a:lnTo>
                    <a:pt x="30659" y="104081"/>
                  </a:lnTo>
                  <a:lnTo>
                    <a:pt x="46412" y="90200"/>
                  </a:lnTo>
                  <a:lnTo>
                    <a:pt x="62513" y="76471"/>
                  </a:lnTo>
                  <a:lnTo>
                    <a:pt x="79008" y="62931"/>
                  </a:lnTo>
                  <a:lnTo>
                    <a:pt x="95942" y="49628"/>
                  </a:lnTo>
                  <a:lnTo>
                    <a:pt x="113354" y="36619"/>
                  </a:lnTo>
                  <a:lnTo>
                    <a:pt x="131275" y="23965"/>
                  </a:lnTo>
                  <a:lnTo>
                    <a:pt x="149728" y="11735"/>
                  </a:lnTo>
                  <a:lnTo>
                    <a:pt x="168724" y="0"/>
                  </a:lnTo>
                  <a:lnTo>
                    <a:pt x="251223" y="176921"/>
                  </a:lnTo>
                  <a:lnTo>
                    <a:pt x="237887" y="184758"/>
                  </a:lnTo>
                  <a:lnTo>
                    <a:pt x="224921" y="192907"/>
                  </a:lnTo>
                  <a:lnTo>
                    <a:pt x="212318" y="201323"/>
                  </a:lnTo>
                  <a:lnTo>
                    <a:pt x="200063" y="209960"/>
                  </a:lnTo>
                  <a:lnTo>
                    <a:pt x="188135" y="218781"/>
                  </a:lnTo>
                  <a:lnTo>
                    <a:pt x="176508" y="227748"/>
                  </a:lnTo>
                  <a:lnTo>
                    <a:pt x="165153" y="236832"/>
                  </a:lnTo>
                  <a:lnTo>
                    <a:pt x="154036" y="246009"/>
                  </a:lnTo>
                  <a:lnTo>
                    <a:pt x="143124" y="255262"/>
                  </a:lnTo>
                  <a:lnTo>
                    <a:pt x="132385" y="26457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4" name="Ядро эпителиальной клетки"/>
            <p:cNvSpPr/>
            <p:nvPr/>
          </p:nvSpPr>
          <p:spPr>
            <a:xfrm rot="14100000">
              <a:off x="4904694" y="222190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5" name="Ядрышко"/>
            <p:cNvSpPr/>
            <p:nvPr/>
          </p:nvSpPr>
          <p:spPr>
            <a:xfrm>
              <a:off x="4933955" y="227357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6" name="Клетка однослойного эпителия"/>
            <p:cNvSpPr/>
            <p:nvPr/>
          </p:nvSpPr>
          <p:spPr>
            <a:xfrm>
              <a:off x="4983385" y="2067812"/>
              <a:ext cx="232806" cy="253337"/>
            </a:xfrm>
            <a:custGeom>
              <a:avLst/>
              <a:gdLst/>
              <a:ahLst/>
              <a:cxnLst/>
              <a:rect l="l" t="t" r="r" b="b"/>
              <a:pathLst>
                <a:path w="232806" h="253337">
                  <a:moveTo>
                    <a:pt x="0" y="76416"/>
                  </a:moveTo>
                  <a:lnTo>
                    <a:pt x="19541" y="65248"/>
                  </a:lnTo>
                  <a:lnTo>
                    <a:pt x="39617" y="54716"/>
                  </a:lnTo>
                  <a:lnTo>
                    <a:pt x="60209" y="44888"/>
                  </a:lnTo>
                  <a:lnTo>
                    <a:pt x="81286" y="35827"/>
                  </a:lnTo>
                  <a:lnTo>
                    <a:pt x="102807" y="27586"/>
                  </a:lnTo>
                  <a:lnTo>
                    <a:pt x="124724" y="20214"/>
                  </a:lnTo>
                  <a:lnTo>
                    <a:pt x="146985" y="13748"/>
                  </a:lnTo>
                  <a:lnTo>
                    <a:pt x="169528" y="8214"/>
                  </a:lnTo>
                  <a:lnTo>
                    <a:pt x="192294" y="3629"/>
                  </a:lnTo>
                  <a:lnTo>
                    <a:pt x="215218" y="0"/>
                  </a:lnTo>
                  <a:lnTo>
                    <a:pt x="232806" y="201032"/>
                  </a:lnTo>
                  <a:lnTo>
                    <a:pt x="216858" y="203692"/>
                  </a:lnTo>
                  <a:lnTo>
                    <a:pt x="201008" y="206967"/>
                  </a:lnTo>
                  <a:lnTo>
                    <a:pt x="185298" y="210852"/>
                  </a:lnTo>
                  <a:lnTo>
                    <a:pt x="169771" y="215334"/>
                  </a:lnTo>
                  <a:lnTo>
                    <a:pt x="154470" y="220396"/>
                  </a:lnTo>
                  <a:lnTo>
                    <a:pt x="139431" y="226013"/>
                  </a:lnTo>
                  <a:lnTo>
                    <a:pt x="124690" y="232154"/>
                  </a:lnTo>
                  <a:lnTo>
                    <a:pt x="110274" y="238782"/>
                  </a:lnTo>
                  <a:lnTo>
                    <a:pt x="96205" y="245858"/>
                  </a:lnTo>
                  <a:lnTo>
                    <a:pt x="82499" y="25333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7" name="Ядро эпителиальной клетки"/>
            <p:cNvSpPr/>
            <p:nvPr/>
          </p:nvSpPr>
          <p:spPr>
            <a:xfrm rot="15300000">
              <a:off x="5067336" y="21293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8" name="Ядрышко"/>
            <p:cNvSpPr/>
            <p:nvPr/>
          </p:nvSpPr>
          <p:spPr>
            <a:xfrm>
              <a:off x="5096597" y="21810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39" name="Клетка однослойного эпителия"/>
            <p:cNvSpPr/>
            <p:nvPr/>
          </p:nvSpPr>
          <p:spPr>
            <a:xfrm>
              <a:off x="5198603" y="2062572"/>
              <a:ext cx="226150" cy="210779"/>
            </a:xfrm>
            <a:custGeom>
              <a:avLst/>
              <a:gdLst/>
              <a:ahLst/>
              <a:cxnLst/>
              <a:rect l="l" t="t" r="r" b="b"/>
              <a:pathLst>
                <a:path w="226150" h="210779">
                  <a:moveTo>
                    <a:pt x="0" y="5240"/>
                  </a:moveTo>
                  <a:lnTo>
                    <a:pt x="23020" y="2562"/>
                  </a:lnTo>
                  <a:lnTo>
                    <a:pt x="46076" y="823"/>
                  </a:lnTo>
                  <a:lnTo>
                    <a:pt x="69112" y="0"/>
                  </a:lnTo>
                  <a:lnTo>
                    <a:pt x="92076" y="66"/>
                  </a:lnTo>
                  <a:lnTo>
                    <a:pt x="114921" y="988"/>
                  </a:lnTo>
                  <a:lnTo>
                    <a:pt x="137607" y="2727"/>
                  </a:lnTo>
                  <a:lnTo>
                    <a:pt x="160099" y="5245"/>
                  </a:lnTo>
                  <a:lnTo>
                    <a:pt x="182369" y="8502"/>
                  </a:lnTo>
                  <a:lnTo>
                    <a:pt x="204392" y="12461"/>
                  </a:lnTo>
                  <a:lnTo>
                    <a:pt x="226150" y="17087"/>
                  </a:lnTo>
                  <a:lnTo>
                    <a:pt x="174251" y="210779"/>
                  </a:lnTo>
                  <a:lnTo>
                    <a:pt x="159226" y="208096"/>
                  </a:lnTo>
                  <a:lnTo>
                    <a:pt x="144009" y="205846"/>
                  </a:lnTo>
                  <a:lnTo>
                    <a:pt x="128611" y="204053"/>
                  </a:lnTo>
                  <a:lnTo>
                    <a:pt x="113048" y="202740"/>
                  </a:lnTo>
                  <a:lnTo>
                    <a:pt x="97341" y="201933"/>
                  </a:lnTo>
                  <a:lnTo>
                    <a:pt x="81511" y="201655"/>
                  </a:lnTo>
                  <a:lnTo>
                    <a:pt x="65588" y="201931"/>
                  </a:lnTo>
                  <a:lnTo>
                    <a:pt x="49602" y="202782"/>
                  </a:lnTo>
                  <a:lnTo>
                    <a:pt x="33589" y="204224"/>
                  </a:lnTo>
                  <a:lnTo>
                    <a:pt x="17588" y="20627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0" name="Ядро эпителиальной клетки"/>
            <p:cNvSpPr/>
            <p:nvPr/>
          </p:nvSpPr>
          <p:spPr>
            <a:xfrm rot="16500000">
              <a:off x="5258662" y="210175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1" name="Ядрышко"/>
            <p:cNvSpPr/>
            <p:nvPr/>
          </p:nvSpPr>
          <p:spPr>
            <a:xfrm>
              <a:off x="5287922" y="215342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2" name="Клетка однослойного эпителия"/>
            <p:cNvSpPr/>
            <p:nvPr/>
          </p:nvSpPr>
          <p:spPr>
            <a:xfrm>
              <a:off x="5372854" y="2079659"/>
              <a:ext cx="251448" cy="241673"/>
            </a:xfrm>
            <a:custGeom>
              <a:avLst/>
              <a:gdLst/>
              <a:ahLst/>
              <a:cxnLst/>
              <a:rect l="l" t="t" r="r" b="b"/>
              <a:pathLst>
                <a:path w="251448" h="241673">
                  <a:moveTo>
                    <a:pt x="51899" y="0"/>
                  </a:moveTo>
                  <a:lnTo>
                    <a:pt x="73376" y="5261"/>
                  </a:lnTo>
                  <a:lnTo>
                    <a:pt x="94558" y="11131"/>
                  </a:lnTo>
                  <a:lnTo>
                    <a:pt x="115432" y="17588"/>
                  </a:lnTo>
                  <a:lnTo>
                    <a:pt x="135984" y="24619"/>
                  </a:lnTo>
                  <a:lnTo>
                    <a:pt x="156199" y="32214"/>
                  </a:lnTo>
                  <a:lnTo>
                    <a:pt x="176059" y="40368"/>
                  </a:lnTo>
                  <a:lnTo>
                    <a:pt x="195542" y="49081"/>
                  </a:lnTo>
                  <a:lnTo>
                    <a:pt x="214623" y="58359"/>
                  </a:lnTo>
                  <a:lnTo>
                    <a:pt x="233270" y="68208"/>
                  </a:lnTo>
                  <a:lnTo>
                    <a:pt x="251448" y="78636"/>
                  </a:lnTo>
                  <a:lnTo>
                    <a:pt x="137288" y="241673"/>
                  </a:lnTo>
                  <a:lnTo>
                    <a:pt x="124827" y="235196"/>
                  </a:lnTo>
                  <a:lnTo>
                    <a:pt x="112032" y="229098"/>
                  </a:lnTo>
                  <a:lnTo>
                    <a:pt x="98930" y="223375"/>
                  </a:lnTo>
                  <a:lnTo>
                    <a:pt x="85540" y="218022"/>
                  </a:lnTo>
                  <a:lnTo>
                    <a:pt x="71881" y="213035"/>
                  </a:lnTo>
                  <a:lnTo>
                    <a:pt x="57968" y="208414"/>
                  </a:lnTo>
                  <a:lnTo>
                    <a:pt x="43813" y="204162"/>
                  </a:lnTo>
                  <a:lnTo>
                    <a:pt x="29428" y="200284"/>
                  </a:lnTo>
                  <a:lnTo>
                    <a:pt x="14820" y="196789"/>
                  </a:lnTo>
                  <a:lnTo>
                    <a:pt x="0" y="19369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3" name="Ядро эпителиальной клетки"/>
            <p:cNvSpPr/>
            <p:nvPr/>
          </p:nvSpPr>
          <p:spPr>
            <a:xfrm rot="17700000">
              <a:off x="5439487" y="213960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4" name="Ядрышко"/>
            <p:cNvSpPr/>
            <p:nvPr/>
          </p:nvSpPr>
          <p:spPr>
            <a:xfrm>
              <a:off x="5468748" y="219126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5" name="Клетка однослойного эпителия"/>
            <p:cNvSpPr/>
            <p:nvPr/>
          </p:nvSpPr>
          <p:spPr>
            <a:xfrm>
              <a:off x="5510142" y="2158295"/>
              <a:ext cx="260609" cy="248930"/>
            </a:xfrm>
            <a:custGeom>
              <a:avLst/>
              <a:gdLst/>
              <a:ahLst/>
              <a:cxnLst/>
              <a:rect l="l" t="t" r="r" b="b"/>
              <a:pathLst>
                <a:path w="260609" h="248930">
                  <a:moveTo>
                    <a:pt x="114160" y="0"/>
                  </a:moveTo>
                  <a:lnTo>
                    <a:pt x="131830" y="11015"/>
                  </a:lnTo>
                  <a:lnTo>
                    <a:pt x="148948" y="22623"/>
                  </a:lnTo>
                  <a:lnTo>
                    <a:pt x="165468" y="34827"/>
                  </a:lnTo>
                  <a:lnTo>
                    <a:pt x="181344" y="47628"/>
                  </a:lnTo>
                  <a:lnTo>
                    <a:pt x="196527" y="61020"/>
                  </a:lnTo>
                  <a:lnTo>
                    <a:pt x="210973" y="74992"/>
                  </a:lnTo>
                  <a:lnTo>
                    <a:pt x="224638" y="89526"/>
                  </a:lnTo>
                  <a:lnTo>
                    <a:pt x="237485" y="104599"/>
                  </a:lnTo>
                  <a:lnTo>
                    <a:pt x="249483" y="120181"/>
                  </a:lnTo>
                  <a:lnTo>
                    <a:pt x="260609" y="136236"/>
                  </a:lnTo>
                  <a:lnTo>
                    <a:pt x="99666" y="248930"/>
                  </a:lnTo>
                  <a:lnTo>
                    <a:pt x="92174" y="238722"/>
                  </a:lnTo>
                  <a:lnTo>
                    <a:pt x="84070" y="228833"/>
                  </a:lnTo>
                  <a:lnTo>
                    <a:pt x="75370" y="219283"/>
                  </a:lnTo>
                  <a:lnTo>
                    <a:pt x="66096" y="210092"/>
                  </a:lnTo>
                  <a:lnTo>
                    <a:pt x="56272" y="201276"/>
                  </a:lnTo>
                  <a:lnTo>
                    <a:pt x="45929" y="192843"/>
                  </a:lnTo>
                  <a:lnTo>
                    <a:pt x="35097" y="184802"/>
                  </a:lnTo>
                  <a:lnTo>
                    <a:pt x="23810" y="177155"/>
                  </a:lnTo>
                  <a:lnTo>
                    <a:pt x="12101" y="169901"/>
                  </a:lnTo>
                  <a:lnTo>
                    <a:pt x="0" y="163037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6" name="Ядро эпителиальной клетки"/>
            <p:cNvSpPr/>
            <p:nvPr/>
          </p:nvSpPr>
          <p:spPr>
            <a:xfrm rot="18900000">
              <a:off x="5588016" y="22259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7" name="Ядрышко"/>
            <p:cNvSpPr/>
            <p:nvPr/>
          </p:nvSpPr>
          <p:spPr>
            <a:xfrm>
              <a:off x="5617277" y="227761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8" name="Клетка однослойного эпителия"/>
            <p:cNvSpPr/>
            <p:nvPr/>
          </p:nvSpPr>
          <p:spPr>
            <a:xfrm>
              <a:off x="5609808" y="2294531"/>
              <a:ext cx="226150" cy="225811"/>
            </a:xfrm>
            <a:custGeom>
              <a:avLst/>
              <a:gdLst/>
              <a:ahLst/>
              <a:cxnLst/>
              <a:rect l="l" t="t" r="r" b="b"/>
              <a:pathLst>
                <a:path w="226150" h="225811">
                  <a:moveTo>
                    <a:pt x="160943" y="0"/>
                  </a:moveTo>
                  <a:lnTo>
                    <a:pt x="171183" y="16488"/>
                  </a:lnTo>
                  <a:lnTo>
                    <a:pt x="180534" y="33363"/>
                  </a:lnTo>
                  <a:lnTo>
                    <a:pt x="189001" y="50577"/>
                  </a:lnTo>
                  <a:lnTo>
                    <a:pt x="196603" y="68082"/>
                  </a:lnTo>
                  <a:lnTo>
                    <a:pt x="203365" y="85830"/>
                  </a:lnTo>
                  <a:lnTo>
                    <a:pt x="209326" y="103772"/>
                  </a:lnTo>
                  <a:lnTo>
                    <a:pt x="214531" y="121864"/>
                  </a:lnTo>
                  <a:lnTo>
                    <a:pt x="219031" y="140067"/>
                  </a:lnTo>
                  <a:lnTo>
                    <a:pt x="222884" y="158346"/>
                  </a:lnTo>
                  <a:lnTo>
                    <a:pt x="226150" y="176674"/>
                  </a:lnTo>
                  <a:lnTo>
                    <a:pt x="42767" y="225811"/>
                  </a:lnTo>
                  <a:lnTo>
                    <a:pt x="40757" y="214028"/>
                  </a:lnTo>
                  <a:lnTo>
                    <a:pt x="38339" y="202284"/>
                  </a:lnTo>
                  <a:lnTo>
                    <a:pt x="35470" y="190599"/>
                  </a:lnTo>
                  <a:lnTo>
                    <a:pt x="32112" y="178995"/>
                  </a:lnTo>
                  <a:lnTo>
                    <a:pt x="28228" y="167498"/>
                  </a:lnTo>
                  <a:lnTo>
                    <a:pt x="23784" y="156138"/>
                  </a:lnTo>
                  <a:lnTo>
                    <a:pt x="18756" y="144946"/>
                  </a:lnTo>
                  <a:lnTo>
                    <a:pt x="13123" y="133953"/>
                  </a:lnTo>
                  <a:lnTo>
                    <a:pt x="6873" y="123192"/>
                  </a:lnTo>
                  <a:lnTo>
                    <a:pt x="0" y="112694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9" name="Ядро эпителиальной клетки"/>
            <p:cNvSpPr/>
            <p:nvPr/>
          </p:nvSpPr>
          <p:spPr>
            <a:xfrm rot="20100000">
              <a:off x="5676381" y="23565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0" name="Ядрышко"/>
            <p:cNvSpPr/>
            <p:nvPr/>
          </p:nvSpPr>
          <p:spPr>
            <a:xfrm>
              <a:off x="5705642" y="240819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1" name="Просвет канальца"/>
            <p:cNvSpPr/>
            <p:nvPr/>
          </p:nvSpPr>
          <p:spPr>
            <a:xfrm>
              <a:off x="4769238" y="2266792"/>
              <a:ext cx="893190" cy="719570"/>
            </a:xfrm>
            <a:custGeom>
              <a:avLst/>
              <a:gdLst/>
              <a:ahLst/>
              <a:cxnLst/>
              <a:rect l="l" t="t" r="r" b="b"/>
              <a:pathLst>
                <a:path w="893190" h="719570">
                  <a:moveTo>
                    <a:pt x="887290" y="252491"/>
                  </a:moveTo>
                  <a:lnTo>
                    <a:pt x="889890" y="270323"/>
                  </a:lnTo>
                  <a:lnTo>
                    <a:pt x="891678" y="288230"/>
                  </a:lnTo>
                  <a:lnTo>
                    <a:pt x="892753" y="306194"/>
                  </a:lnTo>
                  <a:lnTo>
                    <a:pt x="893190" y="324220"/>
                  </a:lnTo>
                  <a:lnTo>
                    <a:pt x="893035" y="342323"/>
                  </a:lnTo>
                  <a:lnTo>
                    <a:pt x="892293" y="360528"/>
                  </a:lnTo>
                  <a:lnTo>
                    <a:pt x="890933" y="378862"/>
                  </a:lnTo>
                  <a:lnTo>
                    <a:pt x="888886" y="397345"/>
                  </a:lnTo>
                  <a:lnTo>
                    <a:pt x="886049" y="415982"/>
                  </a:lnTo>
                  <a:lnTo>
                    <a:pt x="882295" y="434762"/>
                  </a:lnTo>
                  <a:lnTo>
                    <a:pt x="877481" y="453646"/>
                  </a:lnTo>
                  <a:lnTo>
                    <a:pt x="871459" y="472571"/>
                  </a:lnTo>
                  <a:lnTo>
                    <a:pt x="864093" y="491449"/>
                  </a:lnTo>
                  <a:lnTo>
                    <a:pt x="855264" y="510165"/>
                  </a:lnTo>
                  <a:lnTo>
                    <a:pt x="844886" y="528587"/>
                  </a:lnTo>
                  <a:lnTo>
                    <a:pt x="832909" y="546571"/>
                  </a:lnTo>
                  <a:lnTo>
                    <a:pt x="819329" y="563968"/>
                  </a:lnTo>
                  <a:lnTo>
                    <a:pt x="804185" y="580634"/>
                  </a:lnTo>
                  <a:lnTo>
                    <a:pt x="787561" y="596438"/>
                  </a:lnTo>
                  <a:lnTo>
                    <a:pt x="769580" y="611270"/>
                  </a:lnTo>
                  <a:lnTo>
                    <a:pt x="750393" y="625048"/>
                  </a:lnTo>
                  <a:lnTo>
                    <a:pt x="730175" y="637719"/>
                  </a:lnTo>
                  <a:lnTo>
                    <a:pt x="709109" y="649265"/>
                  </a:lnTo>
                  <a:lnTo>
                    <a:pt x="687378" y="659697"/>
                  </a:lnTo>
                  <a:lnTo>
                    <a:pt x="665155" y="669055"/>
                  </a:lnTo>
                  <a:lnTo>
                    <a:pt x="642591" y="677401"/>
                  </a:lnTo>
                  <a:lnTo>
                    <a:pt x="619814" y="684810"/>
                  </a:lnTo>
                  <a:lnTo>
                    <a:pt x="596922" y="691364"/>
                  </a:lnTo>
                  <a:lnTo>
                    <a:pt x="573982" y="697144"/>
                  </a:lnTo>
                  <a:lnTo>
                    <a:pt x="551037" y="702219"/>
                  </a:lnTo>
                  <a:lnTo>
                    <a:pt x="528106" y="706640"/>
                  </a:lnTo>
                  <a:lnTo>
                    <a:pt x="505191" y="710441"/>
                  </a:lnTo>
                  <a:lnTo>
                    <a:pt x="482288" y="713626"/>
                  </a:lnTo>
                  <a:lnTo>
                    <a:pt x="459392" y="716178"/>
                  </a:lnTo>
                  <a:lnTo>
                    <a:pt x="436503" y="718060"/>
                  </a:lnTo>
                  <a:lnTo>
                    <a:pt x="413635" y="719213"/>
                  </a:lnTo>
                  <a:lnTo>
                    <a:pt x="390819" y="719570"/>
                  </a:lnTo>
                  <a:lnTo>
                    <a:pt x="368103" y="719060"/>
                  </a:lnTo>
                  <a:lnTo>
                    <a:pt x="345552" y="717613"/>
                  </a:lnTo>
                  <a:lnTo>
                    <a:pt x="323246" y="715170"/>
                  </a:lnTo>
                  <a:lnTo>
                    <a:pt x="301273" y="711688"/>
                  </a:lnTo>
                  <a:lnTo>
                    <a:pt x="279726" y="707144"/>
                  </a:lnTo>
                  <a:lnTo>
                    <a:pt x="258695" y="701534"/>
                  </a:lnTo>
                  <a:lnTo>
                    <a:pt x="238259" y="694881"/>
                  </a:lnTo>
                  <a:lnTo>
                    <a:pt x="218484" y="687224"/>
                  </a:lnTo>
                  <a:lnTo>
                    <a:pt x="199420" y="678620"/>
                  </a:lnTo>
                  <a:lnTo>
                    <a:pt x="181094" y="669135"/>
                  </a:lnTo>
                  <a:lnTo>
                    <a:pt x="163517" y="658840"/>
                  </a:lnTo>
                  <a:lnTo>
                    <a:pt x="146685" y="647807"/>
                  </a:lnTo>
                  <a:lnTo>
                    <a:pt x="130585" y="636098"/>
                  </a:lnTo>
                  <a:lnTo>
                    <a:pt x="115199" y="623763"/>
                  </a:lnTo>
                  <a:lnTo>
                    <a:pt x="100514" y="610839"/>
                  </a:lnTo>
                  <a:lnTo>
                    <a:pt x="86530" y="597348"/>
                  </a:lnTo>
                  <a:lnTo>
                    <a:pt x="73266" y="583295"/>
                  </a:lnTo>
                  <a:lnTo>
                    <a:pt x="60761" y="568677"/>
                  </a:lnTo>
                  <a:lnTo>
                    <a:pt x="49086" y="553482"/>
                  </a:lnTo>
                  <a:lnTo>
                    <a:pt x="38334" y="537696"/>
                  </a:lnTo>
                  <a:lnTo>
                    <a:pt x="28623" y="521313"/>
                  </a:lnTo>
                  <a:lnTo>
                    <a:pt x="20090" y="504337"/>
                  </a:lnTo>
                  <a:lnTo>
                    <a:pt x="12880" y="486788"/>
                  </a:lnTo>
                  <a:lnTo>
                    <a:pt x="7141" y="468706"/>
                  </a:lnTo>
                  <a:lnTo>
                    <a:pt x="3010" y="450154"/>
                  </a:lnTo>
                  <a:lnTo>
                    <a:pt x="601" y="431217"/>
                  </a:lnTo>
                  <a:lnTo>
                    <a:pt x="0" y="411997"/>
                  </a:lnTo>
                  <a:lnTo>
                    <a:pt x="1254" y="392615"/>
                  </a:lnTo>
                  <a:lnTo>
                    <a:pt x="4367" y="373197"/>
                  </a:lnTo>
                  <a:lnTo>
                    <a:pt x="9295" y="353873"/>
                  </a:lnTo>
                  <a:lnTo>
                    <a:pt x="15952" y="334766"/>
                  </a:lnTo>
                  <a:lnTo>
                    <a:pt x="24213" y="315986"/>
                  </a:lnTo>
                  <a:lnTo>
                    <a:pt x="33918" y="297621"/>
                  </a:lnTo>
                  <a:lnTo>
                    <a:pt x="44888" y="279737"/>
                  </a:lnTo>
                  <a:lnTo>
                    <a:pt x="56934" y="262371"/>
                  </a:lnTo>
                  <a:lnTo>
                    <a:pt x="69867" y="245534"/>
                  </a:lnTo>
                  <a:lnTo>
                    <a:pt x="83514" y="229209"/>
                  </a:lnTo>
                  <a:lnTo>
                    <a:pt x="97727" y="213360"/>
                  </a:lnTo>
                  <a:lnTo>
                    <a:pt x="112390" y="197937"/>
                  </a:lnTo>
                  <a:lnTo>
                    <a:pt x="127424" y="182882"/>
                  </a:lnTo>
                  <a:lnTo>
                    <a:pt x="142791" y="168141"/>
                  </a:lnTo>
                  <a:lnTo>
                    <a:pt x="158491" y="153668"/>
                  </a:lnTo>
                  <a:lnTo>
                    <a:pt x="174558" y="139438"/>
                  </a:lnTo>
                  <a:lnTo>
                    <a:pt x="191050" y="125446"/>
                  </a:lnTo>
                  <a:lnTo>
                    <a:pt x="208044" y="111718"/>
                  </a:lnTo>
                  <a:lnTo>
                    <a:pt x="225621" y="98305"/>
                  </a:lnTo>
                  <a:lnTo>
                    <a:pt x="243858" y="85289"/>
                  </a:lnTo>
                  <a:lnTo>
                    <a:pt x="262819" y="72773"/>
                  </a:lnTo>
                  <a:lnTo>
                    <a:pt x="282542" y="60879"/>
                  </a:lnTo>
                  <a:lnTo>
                    <a:pt x="303038" y="49738"/>
                  </a:lnTo>
                  <a:lnTo>
                    <a:pt x="324288" y="39484"/>
                  </a:lnTo>
                  <a:lnTo>
                    <a:pt x="346237" y="30241"/>
                  </a:lnTo>
                  <a:lnTo>
                    <a:pt x="368806" y="22122"/>
                  </a:lnTo>
                  <a:lnTo>
                    <a:pt x="391887" y="15213"/>
                  </a:lnTo>
                  <a:lnTo>
                    <a:pt x="415359" y="9579"/>
                  </a:lnTo>
                  <a:lnTo>
                    <a:pt x="439088" y="5250"/>
                  </a:lnTo>
                  <a:lnTo>
                    <a:pt x="462943" y="2230"/>
                  </a:lnTo>
                  <a:lnTo>
                    <a:pt x="486795" y="496"/>
                  </a:lnTo>
                  <a:lnTo>
                    <a:pt x="510531" y="0"/>
                  </a:lnTo>
                  <a:lnTo>
                    <a:pt x="534052" y="681"/>
                  </a:lnTo>
                  <a:lnTo>
                    <a:pt x="557281" y="2464"/>
                  </a:lnTo>
                  <a:lnTo>
                    <a:pt x="580157" y="5274"/>
                  </a:lnTo>
                  <a:lnTo>
                    <a:pt x="602634" y="9041"/>
                  </a:lnTo>
                  <a:lnTo>
                    <a:pt x="624679" y="13704"/>
                  </a:lnTo>
                  <a:lnTo>
                    <a:pt x="646263" y="19217"/>
                  </a:lnTo>
                  <a:lnTo>
                    <a:pt x="667358" y="25552"/>
                  </a:lnTo>
                  <a:lnTo>
                    <a:pt x="687929" y="32695"/>
                  </a:lnTo>
                  <a:lnTo>
                    <a:pt x="707929" y="40650"/>
                  </a:lnTo>
                  <a:lnTo>
                    <a:pt x="727296" y="49429"/>
                  </a:lnTo>
                  <a:lnTo>
                    <a:pt x="745956" y="59052"/>
                  </a:lnTo>
                  <a:lnTo>
                    <a:pt x="763817" y="69539"/>
                  </a:lnTo>
                  <a:lnTo>
                    <a:pt x="780777" y="80901"/>
                  </a:lnTo>
                  <a:lnTo>
                    <a:pt x="796731" y="93142"/>
                  </a:lnTo>
                  <a:lnTo>
                    <a:pt x="811573" y="106245"/>
                  </a:lnTo>
                  <a:lnTo>
                    <a:pt x="825207" y="120177"/>
                  </a:lnTo>
                  <a:lnTo>
                    <a:pt x="837557" y="134887"/>
                  </a:lnTo>
                  <a:lnTo>
                    <a:pt x="848566" y="150304"/>
                  </a:lnTo>
                  <a:lnTo>
                    <a:pt x="858212" y="166341"/>
                  </a:lnTo>
                  <a:lnTo>
                    <a:pt x="866500" y="182904"/>
                  </a:lnTo>
                  <a:lnTo>
                    <a:pt x="873471" y="199893"/>
                  </a:lnTo>
                  <a:lnTo>
                    <a:pt x="879195" y="217210"/>
                  </a:lnTo>
                  <a:lnTo>
                    <a:pt x="883764" y="234767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2" name="Базальная мембрана канальца"/>
            <p:cNvSpPr/>
            <p:nvPr/>
          </p:nvSpPr>
          <p:spPr>
            <a:xfrm>
              <a:off x="6101410" y="2348215"/>
              <a:ext cx="1324346" cy="1187460"/>
            </a:xfrm>
            <a:custGeom>
              <a:avLst/>
              <a:gdLst/>
              <a:ahLst/>
              <a:cxnLst/>
              <a:rect l="l" t="t" r="r" b="b"/>
              <a:pathLst>
                <a:path w="1324346" h="1187460">
                  <a:moveTo>
                    <a:pt x="1312899" y="828586"/>
                  </a:moveTo>
                  <a:lnTo>
                    <a:pt x="1304097" y="858698"/>
                  </a:lnTo>
                  <a:lnTo>
                    <a:pt x="1292697" y="887978"/>
                  </a:lnTo>
                  <a:lnTo>
                    <a:pt x="1278738" y="916222"/>
                  </a:lnTo>
                  <a:lnTo>
                    <a:pt x="1262323" y="943248"/>
                  </a:lnTo>
                  <a:lnTo>
                    <a:pt x="1243608" y="968914"/>
                  </a:lnTo>
                  <a:lnTo>
                    <a:pt x="1222794" y="993118"/>
                  </a:lnTo>
                  <a:lnTo>
                    <a:pt x="1200104" y="1015802"/>
                  </a:lnTo>
                  <a:lnTo>
                    <a:pt x="1175776" y="1036949"/>
                  </a:lnTo>
                  <a:lnTo>
                    <a:pt x="1150041" y="1056579"/>
                  </a:lnTo>
                  <a:lnTo>
                    <a:pt x="1123114" y="1074738"/>
                  </a:lnTo>
                  <a:lnTo>
                    <a:pt x="1095181" y="1091485"/>
                  </a:lnTo>
                  <a:lnTo>
                    <a:pt x="1066393" y="1106885"/>
                  </a:lnTo>
                  <a:lnTo>
                    <a:pt x="1036868" y="1120995"/>
                  </a:lnTo>
                  <a:lnTo>
                    <a:pt x="1006686" y="1133852"/>
                  </a:lnTo>
                  <a:lnTo>
                    <a:pt x="975902" y="1145468"/>
                  </a:lnTo>
                  <a:lnTo>
                    <a:pt x="944548" y="1155826"/>
                  </a:lnTo>
                  <a:lnTo>
                    <a:pt x="912646" y="1164879"/>
                  </a:lnTo>
                  <a:lnTo>
                    <a:pt x="880219" y="1172552"/>
                  </a:lnTo>
                  <a:lnTo>
                    <a:pt x="847299" y="1178750"/>
                  </a:lnTo>
                  <a:lnTo>
                    <a:pt x="813936" y="1183369"/>
                  </a:lnTo>
                  <a:lnTo>
                    <a:pt x="780200" y="1186303"/>
                  </a:lnTo>
                  <a:lnTo>
                    <a:pt x="746187" y="1187460"/>
                  </a:lnTo>
                  <a:lnTo>
                    <a:pt x="712012" y="1186771"/>
                  </a:lnTo>
                  <a:lnTo>
                    <a:pt x="677809" y="1184198"/>
                  </a:lnTo>
                  <a:lnTo>
                    <a:pt x="643719" y="1179742"/>
                  </a:lnTo>
                  <a:lnTo>
                    <a:pt x="609880" y="1173444"/>
                  </a:lnTo>
                  <a:lnTo>
                    <a:pt x="576424" y="1165387"/>
                  </a:lnTo>
                  <a:lnTo>
                    <a:pt x="543457" y="1155686"/>
                  </a:lnTo>
                  <a:lnTo>
                    <a:pt x="511061" y="1144484"/>
                  </a:lnTo>
                  <a:lnTo>
                    <a:pt x="479284" y="1131940"/>
                  </a:lnTo>
                  <a:lnTo>
                    <a:pt x="448138" y="1118211"/>
                  </a:lnTo>
                  <a:lnTo>
                    <a:pt x="417608" y="1103450"/>
                  </a:lnTo>
                  <a:lnTo>
                    <a:pt x="387650" y="1087781"/>
                  </a:lnTo>
                  <a:lnTo>
                    <a:pt x="358209" y="1071300"/>
                  </a:lnTo>
                  <a:lnTo>
                    <a:pt x="329223" y="1054063"/>
                  </a:lnTo>
                  <a:lnTo>
                    <a:pt x="300646" y="1036081"/>
                  </a:lnTo>
                  <a:lnTo>
                    <a:pt x="272455" y="1017328"/>
                  </a:lnTo>
                  <a:lnTo>
                    <a:pt x="244664" y="997742"/>
                  </a:lnTo>
                  <a:lnTo>
                    <a:pt x="217334" y="977231"/>
                  </a:lnTo>
                  <a:lnTo>
                    <a:pt x="190581" y="955695"/>
                  </a:lnTo>
                  <a:lnTo>
                    <a:pt x="164573" y="933030"/>
                  </a:lnTo>
                  <a:lnTo>
                    <a:pt x="139529" y="909147"/>
                  </a:lnTo>
                  <a:lnTo>
                    <a:pt x="115711" y="883985"/>
                  </a:lnTo>
                  <a:lnTo>
                    <a:pt x="93407" y="857520"/>
                  </a:lnTo>
                  <a:lnTo>
                    <a:pt x="72920" y="829778"/>
                  </a:lnTo>
                  <a:lnTo>
                    <a:pt x="54545" y="800835"/>
                  </a:lnTo>
                  <a:lnTo>
                    <a:pt x="38553" y="770815"/>
                  </a:lnTo>
                  <a:lnTo>
                    <a:pt x="25169" y="739892"/>
                  </a:lnTo>
                  <a:lnTo>
                    <a:pt x="14562" y="708274"/>
                  </a:lnTo>
                  <a:lnTo>
                    <a:pt x="6831" y="676195"/>
                  </a:lnTo>
                  <a:lnTo>
                    <a:pt x="1996" y="643901"/>
                  </a:lnTo>
                  <a:lnTo>
                    <a:pt x="0" y="611632"/>
                  </a:lnTo>
                  <a:lnTo>
                    <a:pt x="716" y="579613"/>
                  </a:lnTo>
                  <a:lnTo>
                    <a:pt x="3951" y="548036"/>
                  </a:lnTo>
                  <a:lnTo>
                    <a:pt x="9466" y="517053"/>
                  </a:lnTo>
                  <a:lnTo>
                    <a:pt x="16992" y="486772"/>
                  </a:lnTo>
                  <a:lnTo>
                    <a:pt x="26247" y="457252"/>
                  </a:lnTo>
                  <a:lnTo>
                    <a:pt x="36960" y="428508"/>
                  </a:lnTo>
                  <a:lnTo>
                    <a:pt x="48887" y="400518"/>
                  </a:lnTo>
                  <a:lnTo>
                    <a:pt x="61824" y="373232"/>
                  </a:lnTo>
                  <a:lnTo>
                    <a:pt x="75622" y="346586"/>
                  </a:lnTo>
                  <a:lnTo>
                    <a:pt x="90189" y="320513"/>
                  </a:lnTo>
                  <a:lnTo>
                    <a:pt x="105493" y="294958"/>
                  </a:lnTo>
                  <a:lnTo>
                    <a:pt x="121556" y="269889"/>
                  </a:lnTo>
                  <a:lnTo>
                    <a:pt x="138447" y="245304"/>
                  </a:lnTo>
                  <a:lnTo>
                    <a:pt x="156267" y="221242"/>
                  </a:lnTo>
                  <a:lnTo>
                    <a:pt x="175135" y="197774"/>
                  </a:lnTo>
                  <a:lnTo>
                    <a:pt x="195174" y="175013"/>
                  </a:lnTo>
                  <a:lnTo>
                    <a:pt x="216495" y="153097"/>
                  </a:lnTo>
                  <a:lnTo>
                    <a:pt x="239181" y="132185"/>
                  </a:lnTo>
                  <a:lnTo>
                    <a:pt x="263285" y="112445"/>
                  </a:lnTo>
                  <a:lnTo>
                    <a:pt x="288814" y="94043"/>
                  </a:lnTo>
                  <a:lnTo>
                    <a:pt x="315737" y="77125"/>
                  </a:lnTo>
                  <a:lnTo>
                    <a:pt x="343980" y="61816"/>
                  </a:lnTo>
                  <a:lnTo>
                    <a:pt x="373437" y="48205"/>
                  </a:lnTo>
                  <a:lnTo>
                    <a:pt x="403975" y="36344"/>
                  </a:lnTo>
                  <a:lnTo>
                    <a:pt x="435447" y="26245"/>
                  </a:lnTo>
                  <a:lnTo>
                    <a:pt x="467702" y="17888"/>
                  </a:lnTo>
                  <a:lnTo>
                    <a:pt x="500595" y="11220"/>
                  </a:lnTo>
                  <a:lnTo>
                    <a:pt x="533995" y="6173"/>
                  </a:lnTo>
                  <a:lnTo>
                    <a:pt x="567789" y="2669"/>
                  </a:lnTo>
                  <a:lnTo>
                    <a:pt x="601889" y="631"/>
                  </a:lnTo>
                  <a:lnTo>
                    <a:pt x="636222" y="0"/>
                  </a:lnTo>
                  <a:lnTo>
                    <a:pt x="670735" y="738"/>
                  </a:lnTo>
                  <a:lnTo>
                    <a:pt x="705379" y="2837"/>
                  </a:lnTo>
                  <a:lnTo>
                    <a:pt x="740107" y="6320"/>
                  </a:lnTo>
                  <a:lnTo>
                    <a:pt x="774860" y="11243"/>
                  </a:lnTo>
                  <a:lnTo>
                    <a:pt x="809558" y="17686"/>
                  </a:lnTo>
                  <a:lnTo>
                    <a:pt x="844098" y="25746"/>
                  </a:lnTo>
                  <a:lnTo>
                    <a:pt x="878344" y="35530"/>
                  </a:lnTo>
                  <a:lnTo>
                    <a:pt x="912128" y="47136"/>
                  </a:lnTo>
                  <a:lnTo>
                    <a:pt x="945255" y="60644"/>
                  </a:lnTo>
                  <a:lnTo>
                    <a:pt x="977509" y="76103"/>
                  </a:lnTo>
                  <a:lnTo>
                    <a:pt x="1008662" y="93524"/>
                  </a:lnTo>
                  <a:lnTo>
                    <a:pt x="1038488" y="112867"/>
                  </a:lnTo>
                  <a:lnTo>
                    <a:pt x="1066779" y="134046"/>
                  </a:lnTo>
                  <a:lnTo>
                    <a:pt x="1093355" y="156927"/>
                  </a:lnTo>
                  <a:lnTo>
                    <a:pt x="1118082" y="181331"/>
                  </a:lnTo>
                  <a:lnTo>
                    <a:pt x="1140876" y="207050"/>
                  </a:lnTo>
                  <a:lnTo>
                    <a:pt x="1161715" y="233854"/>
                  </a:lnTo>
                  <a:lnTo>
                    <a:pt x="1180638" y="261508"/>
                  </a:lnTo>
                  <a:lnTo>
                    <a:pt x="1197740" y="289784"/>
                  </a:lnTo>
                  <a:lnTo>
                    <a:pt x="1213166" y="318478"/>
                  </a:lnTo>
                  <a:lnTo>
                    <a:pt x="1227100" y="347421"/>
                  </a:lnTo>
                  <a:lnTo>
                    <a:pt x="1239742" y="376484"/>
                  </a:lnTo>
                  <a:lnTo>
                    <a:pt x="1251299" y="405588"/>
                  </a:lnTo>
                  <a:lnTo>
                    <a:pt x="1261957" y="434699"/>
                  </a:lnTo>
                  <a:lnTo>
                    <a:pt x="1271872" y="463828"/>
                  </a:lnTo>
                  <a:lnTo>
                    <a:pt x="1281146" y="493019"/>
                  </a:lnTo>
                  <a:lnTo>
                    <a:pt x="1289824" y="522339"/>
                  </a:lnTo>
                  <a:lnTo>
                    <a:pt x="1297881" y="551865"/>
                  </a:lnTo>
                  <a:lnTo>
                    <a:pt x="1305227" y="581669"/>
                  </a:lnTo>
                  <a:lnTo>
                    <a:pt x="1311706" y="611805"/>
                  </a:lnTo>
                  <a:lnTo>
                    <a:pt x="1317111" y="642294"/>
                  </a:lnTo>
                  <a:lnTo>
                    <a:pt x="1321196" y="673120"/>
                  </a:lnTo>
                  <a:lnTo>
                    <a:pt x="1323697" y="704219"/>
                  </a:lnTo>
                  <a:lnTo>
                    <a:pt x="1324346" y="735484"/>
                  </a:lnTo>
                  <a:lnTo>
                    <a:pt x="1322895" y="766762"/>
                  </a:lnTo>
                  <a:lnTo>
                    <a:pt x="1319132" y="797866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3" name="Клетка однослойного эпителия"/>
            <p:cNvSpPr/>
            <p:nvPr/>
          </p:nvSpPr>
          <p:spPr>
            <a:xfrm>
              <a:off x="7140468" y="3101242"/>
              <a:ext cx="250960" cy="241102"/>
            </a:xfrm>
            <a:custGeom>
              <a:avLst/>
              <a:gdLst/>
              <a:ahLst/>
              <a:cxnLst/>
              <a:rect l="l" t="t" r="r" b="b"/>
              <a:pathLst>
                <a:path w="250960" h="241102">
                  <a:moveTo>
                    <a:pt x="250960" y="67231"/>
                  </a:moveTo>
                  <a:lnTo>
                    <a:pt x="246050" y="86730"/>
                  </a:lnTo>
                  <a:lnTo>
                    <a:pt x="239980" y="105914"/>
                  </a:lnTo>
                  <a:lnTo>
                    <a:pt x="232747" y="124716"/>
                  </a:lnTo>
                  <a:lnTo>
                    <a:pt x="224363" y="143072"/>
                  </a:lnTo>
                  <a:lnTo>
                    <a:pt x="214853" y="160925"/>
                  </a:lnTo>
                  <a:lnTo>
                    <a:pt x="204254" y="178221"/>
                  </a:lnTo>
                  <a:lnTo>
                    <a:pt x="192615" y="194918"/>
                  </a:lnTo>
                  <a:lnTo>
                    <a:pt x="179993" y="210980"/>
                  </a:lnTo>
                  <a:lnTo>
                    <a:pt x="166452" y="226380"/>
                  </a:lnTo>
                  <a:lnTo>
                    <a:pt x="152062" y="241102"/>
                  </a:lnTo>
                  <a:lnTo>
                    <a:pt x="0" y="113507"/>
                  </a:lnTo>
                  <a:lnTo>
                    <a:pt x="9789" y="103982"/>
                  </a:lnTo>
                  <a:lnTo>
                    <a:pt x="18978" y="93996"/>
                  </a:lnTo>
                  <a:lnTo>
                    <a:pt x="27520" y="83560"/>
                  </a:lnTo>
                  <a:lnTo>
                    <a:pt x="35370" y="72690"/>
                  </a:lnTo>
                  <a:lnTo>
                    <a:pt x="42488" y="61409"/>
                  </a:lnTo>
                  <a:lnTo>
                    <a:pt x="48842" y="49746"/>
                  </a:lnTo>
                  <a:lnTo>
                    <a:pt x="54406" y="37733"/>
                  </a:lnTo>
                  <a:lnTo>
                    <a:pt x="59164" y="25409"/>
                  </a:lnTo>
                  <a:lnTo>
                    <a:pt x="63109" y="12817"/>
                  </a:lnTo>
                  <a:lnTo>
                    <a:pt x="66243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4" name="Ядро эпителиальной клетки"/>
            <p:cNvSpPr/>
            <p:nvPr/>
          </p:nvSpPr>
          <p:spPr>
            <a:xfrm rot="1800000">
              <a:off x="7219971" y="314412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5" name="Ядрышко"/>
            <p:cNvSpPr/>
            <p:nvPr/>
          </p:nvSpPr>
          <p:spPr>
            <a:xfrm>
              <a:off x="7249231" y="319578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6" name="Клетка однослойного эпителия"/>
            <p:cNvSpPr/>
            <p:nvPr/>
          </p:nvSpPr>
          <p:spPr>
            <a:xfrm>
              <a:off x="7019907" y="3214749"/>
              <a:ext cx="272623" cy="238577"/>
            </a:xfrm>
            <a:custGeom>
              <a:avLst/>
              <a:gdLst/>
              <a:ahLst/>
              <a:cxnLst/>
              <a:rect l="l" t="t" r="r" b="b"/>
              <a:pathLst>
                <a:path w="272623" h="238577">
                  <a:moveTo>
                    <a:pt x="272623" y="127595"/>
                  </a:moveTo>
                  <a:lnTo>
                    <a:pt x="257456" y="141630"/>
                  </a:lnTo>
                  <a:lnTo>
                    <a:pt x="241585" y="154977"/>
                  </a:lnTo>
                  <a:lnTo>
                    <a:pt x="225082" y="167643"/>
                  </a:lnTo>
                  <a:lnTo>
                    <a:pt x="208013" y="179638"/>
                  </a:lnTo>
                  <a:lnTo>
                    <a:pt x="190443" y="190981"/>
                  </a:lnTo>
                  <a:lnTo>
                    <a:pt x="172430" y="201690"/>
                  </a:lnTo>
                  <a:lnTo>
                    <a:pt x="154022" y="211786"/>
                  </a:lnTo>
                  <a:lnTo>
                    <a:pt x="135265" y="221287"/>
                  </a:lnTo>
                  <a:lnTo>
                    <a:pt x="116194" y="230212"/>
                  </a:lnTo>
                  <a:lnTo>
                    <a:pt x="96838" y="238577"/>
                  </a:lnTo>
                  <a:lnTo>
                    <a:pt x="0" y="70848"/>
                  </a:lnTo>
                  <a:lnTo>
                    <a:pt x="13330" y="65596"/>
                  </a:lnTo>
                  <a:lnTo>
                    <a:pt x="26454" y="59968"/>
                  </a:lnTo>
                  <a:lnTo>
                    <a:pt x="39352" y="53955"/>
                  </a:lnTo>
                  <a:lnTo>
                    <a:pt x="51998" y="47545"/>
                  </a:lnTo>
                  <a:lnTo>
                    <a:pt x="64362" y="40724"/>
                  </a:lnTo>
                  <a:lnTo>
                    <a:pt x="76409" y="33477"/>
                  </a:lnTo>
                  <a:lnTo>
                    <a:pt x="88098" y="25791"/>
                  </a:lnTo>
                  <a:lnTo>
                    <a:pt x="99385" y="17655"/>
                  </a:lnTo>
                  <a:lnTo>
                    <a:pt x="110222" y="9060"/>
                  </a:lnTo>
                  <a:lnTo>
                    <a:pt x="120561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7" name="Ядро эпителиальной клетки"/>
            <p:cNvSpPr/>
            <p:nvPr/>
          </p:nvSpPr>
          <p:spPr>
            <a:xfrm rot="3000000">
              <a:off x="7099068" y="326130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8" name="Ядрышко"/>
            <p:cNvSpPr/>
            <p:nvPr/>
          </p:nvSpPr>
          <p:spPr>
            <a:xfrm>
              <a:off x="7128328" y="331296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9" name="Клетка однослойного эпителия"/>
            <p:cNvSpPr/>
            <p:nvPr/>
          </p:nvSpPr>
          <p:spPr>
            <a:xfrm>
              <a:off x="6877505" y="3285597"/>
              <a:ext cx="239240" cy="220066"/>
            </a:xfrm>
            <a:custGeom>
              <a:avLst/>
              <a:gdLst/>
              <a:ahLst/>
              <a:cxnLst/>
              <a:rect l="l" t="t" r="r" b="b"/>
              <a:pathLst>
                <a:path w="239240" h="220066">
                  <a:moveTo>
                    <a:pt x="239240" y="167729"/>
                  </a:moveTo>
                  <a:lnTo>
                    <a:pt x="219622" y="175541"/>
                  </a:lnTo>
                  <a:lnTo>
                    <a:pt x="199758" y="182808"/>
                  </a:lnTo>
                  <a:lnTo>
                    <a:pt x="179662" y="189528"/>
                  </a:lnTo>
                  <a:lnTo>
                    <a:pt x="159342" y="195694"/>
                  </a:lnTo>
                  <a:lnTo>
                    <a:pt x="138808" y="201295"/>
                  </a:lnTo>
                  <a:lnTo>
                    <a:pt x="118066" y="206312"/>
                  </a:lnTo>
                  <a:lnTo>
                    <a:pt x="97124" y="210724"/>
                  </a:lnTo>
                  <a:lnTo>
                    <a:pt x="75993" y="214506"/>
                  </a:lnTo>
                  <a:lnTo>
                    <a:pt x="54686" y="217629"/>
                  </a:lnTo>
                  <a:lnTo>
                    <a:pt x="33221" y="220066"/>
                  </a:lnTo>
                  <a:lnTo>
                    <a:pt x="0" y="31660"/>
                  </a:lnTo>
                  <a:lnTo>
                    <a:pt x="14880" y="30355"/>
                  </a:lnTo>
                  <a:lnTo>
                    <a:pt x="29640" y="28594"/>
                  </a:lnTo>
                  <a:lnTo>
                    <a:pt x="44268" y="26395"/>
                  </a:lnTo>
                  <a:lnTo>
                    <a:pt x="58756" y="23777"/>
                  </a:lnTo>
                  <a:lnTo>
                    <a:pt x="73097" y="20756"/>
                  </a:lnTo>
                  <a:lnTo>
                    <a:pt x="87285" y="17347"/>
                  </a:lnTo>
                  <a:lnTo>
                    <a:pt x="101316" y="13560"/>
                  </a:lnTo>
                  <a:lnTo>
                    <a:pt x="115184" y="9405"/>
                  </a:lnTo>
                  <a:lnTo>
                    <a:pt x="128882" y="4885"/>
                  </a:lnTo>
                  <a:lnTo>
                    <a:pt x="142402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0" name="Ядро эпителиальной клетки"/>
            <p:cNvSpPr/>
            <p:nvPr/>
          </p:nvSpPr>
          <p:spPr>
            <a:xfrm rot="4200000">
              <a:off x="6936423" y="332671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1" name="Ядрышко"/>
            <p:cNvSpPr/>
            <p:nvPr/>
          </p:nvSpPr>
          <p:spPr>
            <a:xfrm>
              <a:off x="6965684" y="337838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2" name="Клетка однослойного эпителия"/>
            <p:cNvSpPr/>
            <p:nvPr/>
          </p:nvSpPr>
          <p:spPr>
            <a:xfrm>
              <a:off x="6693801" y="3302779"/>
              <a:ext cx="216925" cy="205818"/>
            </a:xfrm>
            <a:custGeom>
              <a:avLst/>
              <a:gdLst/>
              <a:ahLst/>
              <a:cxnLst/>
              <a:rect l="l" t="t" r="r" b="b"/>
              <a:pathLst>
                <a:path w="216925" h="205818">
                  <a:moveTo>
                    <a:pt x="216925" y="202884"/>
                  </a:moveTo>
                  <a:lnTo>
                    <a:pt x="195323" y="204608"/>
                  </a:lnTo>
                  <a:lnTo>
                    <a:pt x="173610" y="205593"/>
                  </a:lnTo>
                  <a:lnTo>
                    <a:pt x="151815" y="205818"/>
                  </a:lnTo>
                  <a:lnTo>
                    <a:pt x="129971" y="205267"/>
                  </a:lnTo>
                  <a:lnTo>
                    <a:pt x="108116" y="203932"/>
                  </a:lnTo>
                  <a:lnTo>
                    <a:pt x="86287" y="201807"/>
                  </a:lnTo>
                  <a:lnTo>
                    <a:pt x="64524" y="198900"/>
                  </a:lnTo>
                  <a:lnTo>
                    <a:pt x="42865" y="195223"/>
                  </a:lnTo>
                  <a:lnTo>
                    <a:pt x="21345" y="190795"/>
                  </a:lnTo>
                  <a:lnTo>
                    <a:pt x="0" y="185647"/>
                  </a:lnTo>
                  <a:lnTo>
                    <a:pt x="32735" y="0"/>
                  </a:lnTo>
                  <a:lnTo>
                    <a:pt x="47639" y="3707"/>
                  </a:lnTo>
                  <a:lnTo>
                    <a:pt x="62654" y="6939"/>
                  </a:lnTo>
                  <a:lnTo>
                    <a:pt x="77756" y="9677"/>
                  </a:lnTo>
                  <a:lnTo>
                    <a:pt x="92919" y="11908"/>
                  </a:lnTo>
                  <a:lnTo>
                    <a:pt x="108116" y="13623"/>
                  </a:lnTo>
                  <a:lnTo>
                    <a:pt x="123321" y="14817"/>
                  </a:lnTo>
                  <a:lnTo>
                    <a:pt x="138506" y="15491"/>
                  </a:lnTo>
                  <a:lnTo>
                    <a:pt x="153646" y="15652"/>
                  </a:lnTo>
                  <a:lnTo>
                    <a:pt x="168719" y="15310"/>
                  </a:lnTo>
                  <a:lnTo>
                    <a:pt x="183704" y="14478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3" name="Ядро эпителиальной клетки"/>
            <p:cNvSpPr/>
            <p:nvPr/>
          </p:nvSpPr>
          <p:spPr>
            <a:xfrm rot="5400000">
              <a:off x="6756197" y="33414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4" name="Ядрышко"/>
            <p:cNvSpPr/>
            <p:nvPr/>
          </p:nvSpPr>
          <p:spPr>
            <a:xfrm>
              <a:off x="6785457" y="339311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5" name="Клетка однослойного эпителия"/>
            <p:cNvSpPr/>
            <p:nvPr/>
          </p:nvSpPr>
          <p:spPr>
            <a:xfrm>
              <a:off x="6493306" y="3245652"/>
              <a:ext cx="233230" cy="242774"/>
            </a:xfrm>
            <a:custGeom>
              <a:avLst/>
              <a:gdLst/>
              <a:ahLst/>
              <a:cxnLst/>
              <a:rect l="l" t="t" r="r" b="b"/>
              <a:pathLst>
                <a:path w="233230" h="242774">
                  <a:moveTo>
                    <a:pt x="200495" y="242774"/>
                  </a:moveTo>
                  <a:lnTo>
                    <a:pt x="179353" y="236938"/>
                  </a:lnTo>
                  <a:lnTo>
                    <a:pt x="158437" y="230454"/>
                  </a:lnTo>
                  <a:lnTo>
                    <a:pt x="137765" y="223368"/>
                  </a:lnTo>
                  <a:lnTo>
                    <a:pt x="117348" y="215724"/>
                  </a:lnTo>
                  <a:lnTo>
                    <a:pt x="97190" y="207571"/>
                  </a:lnTo>
                  <a:lnTo>
                    <a:pt x="77288" y="198954"/>
                  </a:lnTo>
                  <a:lnTo>
                    <a:pt x="57635" y="189918"/>
                  </a:lnTo>
                  <a:lnTo>
                    <a:pt x="38214" y="180501"/>
                  </a:lnTo>
                  <a:lnTo>
                    <a:pt x="19010" y="170737"/>
                  </a:lnTo>
                  <a:lnTo>
                    <a:pt x="0" y="160653"/>
                  </a:lnTo>
                  <a:lnTo>
                    <a:pt x="92753" y="0"/>
                  </a:lnTo>
                  <a:lnTo>
                    <a:pt x="106105" y="6935"/>
                  </a:lnTo>
                  <a:lnTo>
                    <a:pt x="119587" y="13662"/>
                  </a:lnTo>
                  <a:lnTo>
                    <a:pt x="133215" y="20162"/>
                  </a:lnTo>
                  <a:lnTo>
                    <a:pt x="147000" y="26413"/>
                  </a:lnTo>
                  <a:lnTo>
                    <a:pt x="160950" y="32391"/>
                  </a:lnTo>
                  <a:lnTo>
                    <a:pt x="175072" y="38067"/>
                  </a:lnTo>
                  <a:lnTo>
                    <a:pt x="189367" y="43409"/>
                  </a:lnTo>
                  <a:lnTo>
                    <a:pt x="203831" y="48387"/>
                  </a:lnTo>
                  <a:lnTo>
                    <a:pt x="218456" y="52969"/>
                  </a:lnTo>
                  <a:lnTo>
                    <a:pt x="233230" y="57127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6" name="Ядро эпителиальной клетки"/>
            <p:cNvSpPr/>
            <p:nvPr/>
          </p:nvSpPr>
          <p:spPr>
            <a:xfrm rot="6600000">
              <a:off x="6577931" y="329583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7" name="Ядрышко"/>
            <p:cNvSpPr/>
            <p:nvPr/>
          </p:nvSpPr>
          <p:spPr>
            <a:xfrm>
              <a:off x="6607192" y="334749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8" name="Клетка однослойного эпителия"/>
            <p:cNvSpPr/>
            <p:nvPr/>
          </p:nvSpPr>
          <p:spPr>
            <a:xfrm>
              <a:off x="6311119" y="3164751"/>
              <a:ext cx="274940" cy="241554"/>
            </a:xfrm>
            <a:custGeom>
              <a:avLst/>
              <a:gdLst/>
              <a:ahLst/>
              <a:cxnLst/>
              <a:rect l="l" t="t" r="r" b="b"/>
              <a:pathLst>
                <a:path w="274940" h="241554">
                  <a:moveTo>
                    <a:pt x="182187" y="241554"/>
                  </a:moveTo>
                  <a:lnTo>
                    <a:pt x="163350" y="231167"/>
                  </a:lnTo>
                  <a:lnTo>
                    <a:pt x="144666" y="220488"/>
                  </a:lnTo>
                  <a:lnTo>
                    <a:pt x="126118" y="209518"/>
                  </a:lnTo>
                  <a:lnTo>
                    <a:pt x="107691" y="198249"/>
                  </a:lnTo>
                  <a:lnTo>
                    <a:pt x="89381" y="186665"/>
                  </a:lnTo>
                  <a:lnTo>
                    <a:pt x="71188" y="174745"/>
                  </a:lnTo>
                  <a:lnTo>
                    <a:pt x="53126" y="162460"/>
                  </a:lnTo>
                  <a:lnTo>
                    <a:pt x="35216" y="149775"/>
                  </a:lnTo>
                  <a:lnTo>
                    <a:pt x="17492" y="136657"/>
                  </a:lnTo>
                  <a:lnTo>
                    <a:pt x="0" y="123068"/>
                  </a:lnTo>
                  <a:lnTo>
                    <a:pt x="146667" y="0"/>
                  </a:lnTo>
                  <a:lnTo>
                    <a:pt x="159014" y="9230"/>
                  </a:lnTo>
                  <a:lnTo>
                    <a:pt x="171515" y="18152"/>
                  </a:lnTo>
                  <a:lnTo>
                    <a:pt x="184140" y="26790"/>
                  </a:lnTo>
                  <a:lnTo>
                    <a:pt x="196865" y="35167"/>
                  </a:lnTo>
                  <a:lnTo>
                    <a:pt x="209675" y="43304"/>
                  </a:lnTo>
                  <a:lnTo>
                    <a:pt x="222563" y="51220"/>
                  </a:lnTo>
                  <a:lnTo>
                    <a:pt x="235526" y="58930"/>
                  </a:lnTo>
                  <a:lnTo>
                    <a:pt x="248570" y="66444"/>
                  </a:lnTo>
                  <a:lnTo>
                    <a:pt x="261704" y="73768"/>
                  </a:lnTo>
                  <a:lnTo>
                    <a:pt x="274940" y="80901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9" name="Ядро эпителиальной клетки"/>
            <p:cNvSpPr/>
            <p:nvPr/>
          </p:nvSpPr>
          <p:spPr>
            <a:xfrm rot="7800000">
              <a:off x="6417332" y="321057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0" name="Ядрышко"/>
            <p:cNvSpPr/>
            <p:nvPr/>
          </p:nvSpPr>
          <p:spPr>
            <a:xfrm>
              <a:off x="6446593" y="326223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1" name="Клетка однослойного эпителия"/>
            <p:cNvSpPr/>
            <p:nvPr/>
          </p:nvSpPr>
          <p:spPr>
            <a:xfrm>
              <a:off x="6165514" y="3052661"/>
              <a:ext cx="292272" cy="235158"/>
            </a:xfrm>
            <a:custGeom>
              <a:avLst/>
              <a:gdLst/>
              <a:ahLst/>
              <a:cxnLst/>
              <a:rect l="l" t="t" r="r" b="b"/>
              <a:pathLst>
                <a:path w="292272" h="235158">
                  <a:moveTo>
                    <a:pt x="145605" y="235158"/>
                  </a:moveTo>
                  <a:lnTo>
                    <a:pt x="128402" y="221065"/>
                  </a:lnTo>
                  <a:lnTo>
                    <a:pt x="111555" y="206434"/>
                  </a:lnTo>
                  <a:lnTo>
                    <a:pt x="95141" y="191241"/>
                  </a:lnTo>
                  <a:lnTo>
                    <a:pt x="79247" y="175466"/>
                  </a:lnTo>
                  <a:lnTo>
                    <a:pt x="63962" y="159097"/>
                  </a:lnTo>
                  <a:lnTo>
                    <a:pt x="49383" y="142135"/>
                  </a:lnTo>
                  <a:lnTo>
                    <a:pt x="35604" y="124588"/>
                  </a:lnTo>
                  <a:lnTo>
                    <a:pt x="22722" y="106476"/>
                  </a:lnTo>
                  <a:lnTo>
                    <a:pt x="10825" y="87830"/>
                  </a:lnTo>
                  <a:lnTo>
                    <a:pt x="0" y="68693"/>
                  </a:lnTo>
                  <a:lnTo>
                    <a:pt x="188734" y="0"/>
                  </a:lnTo>
                  <a:lnTo>
                    <a:pt x="196528" y="12802"/>
                  </a:lnTo>
                  <a:lnTo>
                    <a:pt x="205059" y="25294"/>
                  </a:lnTo>
                  <a:lnTo>
                    <a:pt x="214268" y="37448"/>
                  </a:lnTo>
                  <a:lnTo>
                    <a:pt x="224091" y="49241"/>
                  </a:lnTo>
                  <a:lnTo>
                    <a:pt x="234463" y="60659"/>
                  </a:lnTo>
                  <a:lnTo>
                    <a:pt x="245316" y="71695"/>
                  </a:lnTo>
                  <a:lnTo>
                    <a:pt x="256584" y="82347"/>
                  </a:lnTo>
                  <a:lnTo>
                    <a:pt x="268204" y="92622"/>
                  </a:lnTo>
                  <a:lnTo>
                    <a:pt x="280118" y="102531"/>
                  </a:lnTo>
                  <a:lnTo>
                    <a:pt x="292272" y="11209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2" name="Ядро эпителиальной клетки"/>
            <p:cNvSpPr/>
            <p:nvPr/>
          </p:nvSpPr>
          <p:spPr>
            <a:xfrm rot="9000000">
              <a:off x="6272416" y="309427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3" name="Ядрышко"/>
            <p:cNvSpPr/>
            <p:nvPr/>
          </p:nvSpPr>
          <p:spPr>
            <a:xfrm>
              <a:off x="6301677" y="314593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4" name="Клетка однослойного эпителия"/>
            <p:cNvSpPr/>
            <p:nvPr/>
          </p:nvSpPr>
          <p:spPr>
            <a:xfrm>
              <a:off x="6123572" y="2917099"/>
              <a:ext cx="230676" cy="204255"/>
            </a:xfrm>
            <a:custGeom>
              <a:avLst/>
              <a:gdLst/>
              <a:ahLst/>
              <a:cxnLst/>
              <a:rect l="l" t="t" r="r" b="b"/>
              <a:pathLst>
                <a:path w="230676" h="204255">
                  <a:moveTo>
                    <a:pt x="41942" y="204255"/>
                  </a:moveTo>
                  <a:lnTo>
                    <a:pt x="32260" y="184678"/>
                  </a:lnTo>
                  <a:lnTo>
                    <a:pt x="23787" y="164720"/>
                  </a:lnTo>
                  <a:lnTo>
                    <a:pt x="16571" y="144449"/>
                  </a:lnTo>
                  <a:lnTo>
                    <a:pt x="10648" y="123936"/>
                  </a:lnTo>
                  <a:lnTo>
                    <a:pt x="6035" y="103258"/>
                  </a:lnTo>
                  <a:lnTo>
                    <a:pt x="2735" y="82491"/>
                  </a:lnTo>
                  <a:lnTo>
                    <a:pt x="733" y="61711"/>
                  </a:lnTo>
                  <a:lnTo>
                    <a:pt x="0" y="40992"/>
                  </a:lnTo>
                  <a:lnTo>
                    <a:pt x="490" y="20401"/>
                  </a:lnTo>
                  <a:lnTo>
                    <a:pt x="2144" y="0"/>
                  </a:lnTo>
                  <a:lnTo>
                    <a:pt x="200118" y="0"/>
                  </a:lnTo>
                  <a:lnTo>
                    <a:pt x="199259" y="13460"/>
                  </a:lnTo>
                  <a:lnTo>
                    <a:pt x="199211" y="27062"/>
                  </a:lnTo>
                  <a:lnTo>
                    <a:pt x="200016" y="40766"/>
                  </a:lnTo>
                  <a:lnTo>
                    <a:pt x="201702" y="54528"/>
                  </a:lnTo>
                  <a:lnTo>
                    <a:pt x="204290" y="68300"/>
                  </a:lnTo>
                  <a:lnTo>
                    <a:pt x="207790" y="82032"/>
                  </a:lnTo>
                  <a:lnTo>
                    <a:pt x="212197" y="95673"/>
                  </a:lnTo>
                  <a:lnTo>
                    <a:pt x="217499" y="109174"/>
                  </a:lnTo>
                  <a:lnTo>
                    <a:pt x="223671" y="122485"/>
                  </a:lnTo>
                  <a:lnTo>
                    <a:pt x="230676" y="13556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5" name="Ядро эпителиальной клетки"/>
            <p:cNvSpPr/>
            <p:nvPr/>
          </p:nvSpPr>
          <p:spPr>
            <a:xfrm rot="10200000">
              <a:off x="6186979" y="293588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6" name="Ядрышко"/>
            <p:cNvSpPr/>
            <p:nvPr/>
          </p:nvSpPr>
          <p:spPr>
            <a:xfrm>
              <a:off x="6216240" y="298754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7" name="Клетка однослойного эпителия"/>
            <p:cNvSpPr/>
            <p:nvPr/>
          </p:nvSpPr>
          <p:spPr>
            <a:xfrm>
              <a:off x="6125716" y="2730633"/>
              <a:ext cx="238925" cy="186466"/>
            </a:xfrm>
            <a:custGeom>
              <a:avLst/>
              <a:gdLst/>
              <a:ahLst/>
              <a:cxnLst/>
              <a:rect l="l" t="t" r="r" b="b"/>
              <a:pathLst>
                <a:path w="238925" h="186466">
                  <a:moveTo>
                    <a:pt x="0" y="186466"/>
                  </a:moveTo>
                  <a:lnTo>
                    <a:pt x="2748" y="166309"/>
                  </a:lnTo>
                  <a:lnTo>
                    <a:pt x="6512" y="146440"/>
                  </a:lnTo>
                  <a:lnTo>
                    <a:pt x="11205" y="126894"/>
                  </a:lnTo>
                  <a:lnTo>
                    <a:pt x="16738" y="107695"/>
                  </a:lnTo>
                  <a:lnTo>
                    <a:pt x="23020" y="88859"/>
                  </a:lnTo>
                  <a:lnTo>
                    <a:pt x="29962" y="70389"/>
                  </a:lnTo>
                  <a:lnTo>
                    <a:pt x="37480" y="52283"/>
                  </a:lnTo>
                  <a:lnTo>
                    <a:pt x="45496" y="34528"/>
                  </a:lnTo>
                  <a:lnTo>
                    <a:pt x="53941" y="17108"/>
                  </a:lnTo>
                  <a:lnTo>
                    <a:pt x="62755" y="0"/>
                  </a:lnTo>
                  <a:lnTo>
                    <a:pt x="238925" y="64120"/>
                  </a:lnTo>
                  <a:lnTo>
                    <a:pt x="233044" y="75302"/>
                  </a:lnTo>
                  <a:lnTo>
                    <a:pt x="227424" y="86695"/>
                  </a:lnTo>
                  <a:lnTo>
                    <a:pt x="222107" y="98315"/>
                  </a:lnTo>
                  <a:lnTo>
                    <a:pt x="217141" y="110175"/>
                  </a:lnTo>
                  <a:lnTo>
                    <a:pt x="212580" y="122283"/>
                  </a:lnTo>
                  <a:lnTo>
                    <a:pt x="208483" y="134643"/>
                  </a:lnTo>
                  <a:lnTo>
                    <a:pt x="204912" y="147253"/>
                  </a:lnTo>
                  <a:lnTo>
                    <a:pt x="201929" y="160105"/>
                  </a:lnTo>
                  <a:lnTo>
                    <a:pt x="199597" y="173183"/>
                  </a:lnTo>
                  <a:lnTo>
                    <a:pt x="197974" y="18646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8" name="Ядро эпителиальной клетки"/>
            <p:cNvSpPr/>
            <p:nvPr/>
          </p:nvSpPr>
          <p:spPr>
            <a:xfrm rot="11400000">
              <a:off x="6201586" y="277057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79" name="Ядрышко"/>
            <p:cNvSpPr/>
            <p:nvPr/>
          </p:nvSpPr>
          <p:spPr>
            <a:xfrm>
              <a:off x="6230847" y="282224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0" name="Клетка однослойного эпителия"/>
            <p:cNvSpPr/>
            <p:nvPr/>
          </p:nvSpPr>
          <p:spPr>
            <a:xfrm>
              <a:off x="6188471" y="2572372"/>
              <a:ext cx="246282" cy="222381"/>
            </a:xfrm>
            <a:custGeom>
              <a:avLst/>
              <a:gdLst/>
              <a:ahLst/>
              <a:cxnLst/>
              <a:rect l="l" t="t" r="r" b="b"/>
              <a:pathLst>
                <a:path w="246282" h="222381">
                  <a:moveTo>
                    <a:pt x="0" y="158261"/>
                  </a:moveTo>
                  <a:lnTo>
                    <a:pt x="9139" y="141441"/>
                  </a:lnTo>
                  <a:lnTo>
                    <a:pt x="18565" y="124885"/>
                  </a:lnTo>
                  <a:lnTo>
                    <a:pt x="28259" y="108568"/>
                  </a:lnTo>
                  <a:lnTo>
                    <a:pt x="38211" y="92469"/>
                  </a:lnTo>
                  <a:lnTo>
                    <a:pt x="48424" y="76572"/>
                  </a:lnTo>
                  <a:lnTo>
                    <a:pt x="58910" y="60866"/>
                  </a:lnTo>
                  <a:lnTo>
                    <a:pt x="69693" y="45348"/>
                  </a:lnTo>
                  <a:lnTo>
                    <a:pt x="80802" y="30022"/>
                  </a:lnTo>
                  <a:lnTo>
                    <a:pt x="92273" y="14899"/>
                  </a:lnTo>
                  <a:lnTo>
                    <a:pt x="104146" y="0"/>
                  </a:lnTo>
                  <a:lnTo>
                    <a:pt x="246282" y="119266"/>
                  </a:lnTo>
                  <a:lnTo>
                    <a:pt x="238244" y="128944"/>
                  </a:lnTo>
                  <a:lnTo>
                    <a:pt x="230489" y="138776"/>
                  </a:lnTo>
                  <a:lnTo>
                    <a:pt x="222988" y="148747"/>
                  </a:lnTo>
                  <a:lnTo>
                    <a:pt x="215716" y="158850"/>
                  </a:lnTo>
                  <a:lnTo>
                    <a:pt x="208654" y="169081"/>
                  </a:lnTo>
                  <a:lnTo>
                    <a:pt x="201784" y="179442"/>
                  </a:lnTo>
                  <a:lnTo>
                    <a:pt x="195098" y="189940"/>
                  </a:lnTo>
                  <a:lnTo>
                    <a:pt x="188595" y="200587"/>
                  </a:lnTo>
                  <a:lnTo>
                    <a:pt x="182280" y="211395"/>
                  </a:lnTo>
                  <a:lnTo>
                    <a:pt x="176170" y="222381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1" name="Ядро эпителиальной клетки"/>
            <p:cNvSpPr/>
            <p:nvPr/>
          </p:nvSpPr>
          <p:spPr>
            <a:xfrm rot="12600000">
              <a:off x="6274494" y="263075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2" name="Ядрышко"/>
            <p:cNvSpPr/>
            <p:nvPr/>
          </p:nvSpPr>
          <p:spPr>
            <a:xfrm>
              <a:off x="6303755" y="26824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3" name="Клетка однослойного эпителия"/>
            <p:cNvSpPr/>
            <p:nvPr/>
          </p:nvSpPr>
          <p:spPr>
            <a:xfrm>
              <a:off x="6292617" y="2444092"/>
              <a:ext cx="243049" cy="247546"/>
            </a:xfrm>
            <a:custGeom>
              <a:avLst/>
              <a:gdLst/>
              <a:ahLst/>
              <a:cxnLst/>
              <a:rect l="l" t="t" r="r" b="b"/>
              <a:pathLst>
                <a:path w="243049" h="247546">
                  <a:moveTo>
                    <a:pt x="0" y="128280"/>
                  </a:moveTo>
                  <a:lnTo>
                    <a:pt x="12314" y="113632"/>
                  </a:lnTo>
                  <a:lnTo>
                    <a:pt x="25109" y="99269"/>
                  </a:lnTo>
                  <a:lnTo>
                    <a:pt x="38420" y="85231"/>
                  </a:lnTo>
                  <a:lnTo>
                    <a:pt x="52281" y="71562"/>
                  </a:lnTo>
                  <a:lnTo>
                    <a:pt x="66715" y="58312"/>
                  </a:lnTo>
                  <a:lnTo>
                    <a:pt x="81743" y="45528"/>
                  </a:lnTo>
                  <a:lnTo>
                    <a:pt x="97374" y="33259"/>
                  </a:lnTo>
                  <a:lnTo>
                    <a:pt x="113610" y="21554"/>
                  </a:lnTo>
                  <a:lnTo>
                    <a:pt x="130445" y="10454"/>
                  </a:lnTo>
                  <a:lnTo>
                    <a:pt x="147863" y="0"/>
                  </a:lnTo>
                  <a:lnTo>
                    <a:pt x="243049" y="164867"/>
                  </a:lnTo>
                  <a:lnTo>
                    <a:pt x="231095" y="171529"/>
                  </a:lnTo>
                  <a:lnTo>
                    <a:pt x="219556" y="178625"/>
                  </a:lnTo>
                  <a:lnTo>
                    <a:pt x="208441" y="186131"/>
                  </a:lnTo>
                  <a:lnTo>
                    <a:pt x="197755" y="194017"/>
                  </a:lnTo>
                  <a:lnTo>
                    <a:pt x="187496" y="202252"/>
                  </a:lnTo>
                  <a:lnTo>
                    <a:pt x="177654" y="210804"/>
                  </a:lnTo>
                  <a:lnTo>
                    <a:pt x="168218" y="219640"/>
                  </a:lnTo>
                  <a:lnTo>
                    <a:pt x="159169" y="228729"/>
                  </a:lnTo>
                  <a:lnTo>
                    <a:pt x="150483" y="238040"/>
                  </a:lnTo>
                  <a:lnTo>
                    <a:pt x="142136" y="247546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4" name="Ядро эпителиальной клетки"/>
            <p:cNvSpPr/>
            <p:nvPr/>
          </p:nvSpPr>
          <p:spPr>
            <a:xfrm rot="13800000">
              <a:off x="6376418" y="251095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5" name="Ядрышко"/>
            <p:cNvSpPr/>
            <p:nvPr/>
          </p:nvSpPr>
          <p:spPr>
            <a:xfrm>
              <a:off x="6405678" y="256262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6" name="Клетка однослойного эпителия"/>
            <p:cNvSpPr/>
            <p:nvPr/>
          </p:nvSpPr>
          <p:spPr>
            <a:xfrm>
              <a:off x="6440480" y="2378896"/>
              <a:ext cx="232665" cy="230063"/>
            </a:xfrm>
            <a:custGeom>
              <a:avLst/>
              <a:gdLst/>
              <a:ahLst/>
              <a:cxnLst/>
              <a:rect l="l" t="t" r="r" b="b"/>
              <a:pathLst>
                <a:path w="232665" h="230063">
                  <a:moveTo>
                    <a:pt x="0" y="65196"/>
                  </a:moveTo>
                  <a:lnTo>
                    <a:pt x="17980" y="55420"/>
                  </a:lnTo>
                  <a:lnTo>
                    <a:pt x="36493" y="46349"/>
                  </a:lnTo>
                  <a:lnTo>
                    <a:pt x="55504" y="38002"/>
                  </a:lnTo>
                  <a:lnTo>
                    <a:pt x="74977" y="30391"/>
                  </a:lnTo>
                  <a:lnTo>
                    <a:pt x="94869" y="23520"/>
                  </a:lnTo>
                  <a:lnTo>
                    <a:pt x="115139" y="17387"/>
                  </a:lnTo>
                  <a:lnTo>
                    <a:pt x="135746" y="11984"/>
                  </a:lnTo>
                  <a:lnTo>
                    <a:pt x="156649" y="7297"/>
                  </a:lnTo>
                  <a:lnTo>
                    <a:pt x="177811" y="3309"/>
                  </a:lnTo>
                  <a:lnTo>
                    <a:pt x="199197" y="0"/>
                  </a:lnTo>
                  <a:lnTo>
                    <a:pt x="232665" y="189808"/>
                  </a:lnTo>
                  <a:lnTo>
                    <a:pt x="217853" y="191690"/>
                  </a:lnTo>
                  <a:lnTo>
                    <a:pt x="203206" y="194025"/>
                  </a:lnTo>
                  <a:lnTo>
                    <a:pt x="188749" y="196826"/>
                  </a:lnTo>
                  <a:lnTo>
                    <a:pt x="174507" y="200103"/>
                  </a:lnTo>
                  <a:lnTo>
                    <a:pt x="160510" y="203868"/>
                  </a:lnTo>
                  <a:lnTo>
                    <a:pt x="146786" y="208126"/>
                  </a:lnTo>
                  <a:lnTo>
                    <a:pt x="133365" y="212880"/>
                  </a:lnTo>
                  <a:lnTo>
                    <a:pt x="120274" y="218126"/>
                  </a:lnTo>
                  <a:lnTo>
                    <a:pt x="107540" y="223858"/>
                  </a:lnTo>
                  <a:lnTo>
                    <a:pt x="95186" y="23006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7" name="Ядро эпителиальной клетки"/>
            <p:cNvSpPr/>
            <p:nvPr/>
          </p:nvSpPr>
          <p:spPr>
            <a:xfrm rot="15000000">
              <a:off x="6523762" y="24299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8" name="Ядрышко"/>
            <p:cNvSpPr/>
            <p:nvPr/>
          </p:nvSpPr>
          <p:spPr>
            <a:xfrm>
              <a:off x="6553023" y="248156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89" name="Клетка однослойного эпителия"/>
            <p:cNvSpPr/>
            <p:nvPr/>
          </p:nvSpPr>
          <p:spPr>
            <a:xfrm>
              <a:off x="6639677" y="2371889"/>
              <a:ext cx="220983" cy="200708"/>
            </a:xfrm>
            <a:custGeom>
              <a:avLst/>
              <a:gdLst/>
              <a:ahLst/>
              <a:cxnLst/>
              <a:rect l="l" t="t" r="r" b="b"/>
              <a:pathLst>
                <a:path w="220983" h="200708">
                  <a:moveTo>
                    <a:pt x="0" y="7007"/>
                  </a:moveTo>
                  <a:lnTo>
                    <a:pt x="21579" y="4358"/>
                  </a:lnTo>
                  <a:lnTo>
                    <a:pt x="43324" y="2348"/>
                  </a:lnTo>
                  <a:lnTo>
                    <a:pt x="65212" y="961"/>
                  </a:lnTo>
                  <a:lnTo>
                    <a:pt x="87224" y="181"/>
                  </a:lnTo>
                  <a:lnTo>
                    <a:pt x="109341" y="0"/>
                  </a:lnTo>
                  <a:lnTo>
                    <a:pt x="131550" y="413"/>
                  </a:lnTo>
                  <a:lnTo>
                    <a:pt x="153835" y="1423"/>
                  </a:lnTo>
                  <a:lnTo>
                    <a:pt x="176180" y="3037"/>
                  </a:lnTo>
                  <a:lnTo>
                    <a:pt x="198570" y="5270"/>
                  </a:lnTo>
                  <a:lnTo>
                    <a:pt x="220983" y="8141"/>
                  </a:lnTo>
                  <a:lnTo>
                    <a:pt x="187028" y="200708"/>
                  </a:lnTo>
                  <a:lnTo>
                    <a:pt x="171414" y="198492"/>
                  </a:lnTo>
                  <a:lnTo>
                    <a:pt x="155826" y="196697"/>
                  </a:lnTo>
                  <a:lnTo>
                    <a:pt x="140276" y="195313"/>
                  </a:lnTo>
                  <a:lnTo>
                    <a:pt x="124778" y="194328"/>
                  </a:lnTo>
                  <a:lnTo>
                    <a:pt x="109341" y="193739"/>
                  </a:lnTo>
                  <a:lnTo>
                    <a:pt x="93976" y="193544"/>
                  </a:lnTo>
                  <a:lnTo>
                    <a:pt x="78693" y="193746"/>
                  </a:lnTo>
                  <a:lnTo>
                    <a:pt x="63504" y="194352"/>
                  </a:lnTo>
                  <a:lnTo>
                    <a:pt x="48424" y="195371"/>
                  </a:lnTo>
                  <a:lnTo>
                    <a:pt x="33468" y="19681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0" name="Ядро эпителиальной клетки"/>
            <p:cNvSpPr/>
            <p:nvPr/>
          </p:nvSpPr>
          <p:spPr>
            <a:xfrm rot="16200000">
              <a:off x="6703298" y="240633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1" name="Ядрышко"/>
            <p:cNvSpPr/>
            <p:nvPr/>
          </p:nvSpPr>
          <p:spPr>
            <a:xfrm>
              <a:off x="6732559" y="245800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2" name="Клетка однослойного эпителия"/>
            <p:cNvSpPr/>
            <p:nvPr/>
          </p:nvSpPr>
          <p:spPr>
            <a:xfrm>
              <a:off x="6826705" y="2380030"/>
              <a:ext cx="251242" cy="241882"/>
            </a:xfrm>
            <a:custGeom>
              <a:avLst/>
              <a:gdLst/>
              <a:ahLst/>
              <a:cxnLst/>
              <a:rect l="l" t="t" r="r" b="b"/>
              <a:pathLst>
                <a:path w="251242" h="241882">
                  <a:moveTo>
                    <a:pt x="33955" y="0"/>
                  </a:moveTo>
                  <a:lnTo>
                    <a:pt x="56368" y="3535"/>
                  </a:lnTo>
                  <a:lnTo>
                    <a:pt x="78751" y="7761"/>
                  </a:lnTo>
                  <a:lnTo>
                    <a:pt x="101069" y="12710"/>
                  </a:lnTo>
                  <a:lnTo>
                    <a:pt x="123281" y="18413"/>
                  </a:lnTo>
                  <a:lnTo>
                    <a:pt x="145338" y="24902"/>
                  </a:lnTo>
                  <a:lnTo>
                    <a:pt x="167186" y="32204"/>
                  </a:lnTo>
                  <a:lnTo>
                    <a:pt x="188767" y="40345"/>
                  </a:lnTo>
                  <a:lnTo>
                    <a:pt x="210015" y="49342"/>
                  </a:lnTo>
                  <a:lnTo>
                    <a:pt x="230863" y="59206"/>
                  </a:lnTo>
                  <a:lnTo>
                    <a:pt x="251242" y="69940"/>
                  </a:lnTo>
                  <a:lnTo>
                    <a:pt x="151971" y="241882"/>
                  </a:lnTo>
                  <a:lnTo>
                    <a:pt x="137659" y="234498"/>
                  </a:lnTo>
                  <a:lnTo>
                    <a:pt x="123033" y="227682"/>
                  </a:lnTo>
                  <a:lnTo>
                    <a:pt x="108141" y="221434"/>
                  </a:lnTo>
                  <a:lnTo>
                    <a:pt x="93031" y="215747"/>
                  </a:lnTo>
                  <a:lnTo>
                    <a:pt x="77746" y="210609"/>
                  </a:lnTo>
                  <a:lnTo>
                    <a:pt x="62328" y="206007"/>
                  </a:lnTo>
                  <a:lnTo>
                    <a:pt x="46813" y="201922"/>
                  </a:lnTo>
                  <a:lnTo>
                    <a:pt x="31236" y="198334"/>
                  </a:lnTo>
                  <a:lnTo>
                    <a:pt x="15623" y="195222"/>
                  </a:lnTo>
                  <a:lnTo>
                    <a:pt x="0" y="19256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3" name="Ядро эпителиальной клетки"/>
            <p:cNvSpPr/>
            <p:nvPr/>
          </p:nvSpPr>
          <p:spPr>
            <a:xfrm rot="17400000">
              <a:off x="6891174" y="243520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4" name="Ядрышко"/>
            <p:cNvSpPr/>
            <p:nvPr/>
          </p:nvSpPr>
          <p:spPr>
            <a:xfrm>
              <a:off x="6920435" y="248686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5" name="Клетка однослойного эпителия"/>
            <p:cNvSpPr/>
            <p:nvPr/>
          </p:nvSpPr>
          <p:spPr>
            <a:xfrm>
              <a:off x="6978676" y="2449970"/>
              <a:ext cx="264350" cy="272716"/>
            </a:xfrm>
            <a:custGeom>
              <a:avLst/>
              <a:gdLst/>
              <a:ahLst/>
              <a:cxnLst/>
              <a:rect l="l" t="t" r="r" b="b"/>
              <a:pathLst>
                <a:path w="264350" h="272716">
                  <a:moveTo>
                    <a:pt x="99271" y="0"/>
                  </a:moveTo>
                  <a:lnTo>
                    <a:pt x="119111" y="11597"/>
                  </a:lnTo>
                  <a:lnTo>
                    <a:pt x="138344" y="24040"/>
                  </a:lnTo>
                  <a:lnTo>
                    <a:pt x="156907" y="37302"/>
                  </a:lnTo>
                  <a:lnTo>
                    <a:pt x="174741" y="51346"/>
                  </a:lnTo>
                  <a:lnTo>
                    <a:pt x="191796" y="66125"/>
                  </a:lnTo>
                  <a:lnTo>
                    <a:pt x="208031" y="81586"/>
                  </a:lnTo>
                  <a:lnTo>
                    <a:pt x="223416" y="97665"/>
                  </a:lnTo>
                  <a:lnTo>
                    <a:pt x="237932" y="114295"/>
                  </a:lnTo>
                  <a:lnTo>
                    <a:pt x="251575" y="131406"/>
                  </a:lnTo>
                  <a:lnTo>
                    <a:pt x="264350" y="148923"/>
                  </a:lnTo>
                  <a:lnTo>
                    <a:pt x="116819" y="272716"/>
                  </a:lnTo>
                  <a:lnTo>
                    <a:pt x="107693" y="260957"/>
                  </a:lnTo>
                  <a:lnTo>
                    <a:pt x="97971" y="249454"/>
                  </a:lnTo>
                  <a:lnTo>
                    <a:pt x="87648" y="238257"/>
                  </a:lnTo>
                  <a:lnTo>
                    <a:pt x="76730" y="227411"/>
                  </a:lnTo>
                  <a:lnTo>
                    <a:pt x="65229" y="216962"/>
                  </a:lnTo>
                  <a:lnTo>
                    <a:pt x="53169" y="206951"/>
                  </a:lnTo>
                  <a:lnTo>
                    <a:pt x="40577" y="197416"/>
                  </a:lnTo>
                  <a:lnTo>
                    <a:pt x="27491" y="188386"/>
                  </a:lnTo>
                  <a:lnTo>
                    <a:pt x="13950" y="179889"/>
                  </a:lnTo>
                  <a:lnTo>
                    <a:pt x="0" y="17194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6" name="Ядро эпителиальной клетки"/>
            <p:cNvSpPr/>
            <p:nvPr/>
          </p:nvSpPr>
          <p:spPr>
            <a:xfrm rot="18600000">
              <a:off x="7058937" y="252823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7" name="Ядрышко"/>
            <p:cNvSpPr/>
            <p:nvPr/>
          </p:nvSpPr>
          <p:spPr>
            <a:xfrm>
              <a:off x="7088197" y="257989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8" name="Клетка однослойного эпителия"/>
            <p:cNvSpPr/>
            <p:nvPr/>
          </p:nvSpPr>
          <p:spPr>
            <a:xfrm>
              <a:off x="7095495" y="2598893"/>
              <a:ext cx="236790" cy="246697"/>
            </a:xfrm>
            <a:custGeom>
              <a:avLst/>
              <a:gdLst/>
              <a:ahLst/>
              <a:cxnLst/>
              <a:rect l="l" t="t" r="r" b="b"/>
              <a:pathLst>
                <a:path w="236790" h="246697">
                  <a:moveTo>
                    <a:pt x="147531" y="0"/>
                  </a:moveTo>
                  <a:lnTo>
                    <a:pt x="159461" y="17852"/>
                  </a:lnTo>
                  <a:lnTo>
                    <a:pt x="170575" y="35967"/>
                  </a:lnTo>
                  <a:lnTo>
                    <a:pt x="180919" y="54280"/>
                  </a:lnTo>
                  <a:lnTo>
                    <a:pt x="190543" y="72731"/>
                  </a:lnTo>
                  <a:lnTo>
                    <a:pt x="199509" y="91266"/>
                  </a:lnTo>
                  <a:lnTo>
                    <a:pt x="207882" y="109843"/>
                  </a:lnTo>
                  <a:lnTo>
                    <a:pt x="215729" y="128428"/>
                  </a:lnTo>
                  <a:lnTo>
                    <a:pt x="223120" y="146996"/>
                  </a:lnTo>
                  <a:lnTo>
                    <a:pt x="230120" y="165534"/>
                  </a:lnTo>
                  <a:lnTo>
                    <a:pt x="236790" y="184038"/>
                  </a:lnTo>
                  <a:lnTo>
                    <a:pt x="64638" y="246697"/>
                  </a:lnTo>
                  <a:lnTo>
                    <a:pt x="59740" y="234372"/>
                  </a:lnTo>
                  <a:lnTo>
                    <a:pt x="54612" y="222020"/>
                  </a:lnTo>
                  <a:lnTo>
                    <a:pt x="49213" y="209643"/>
                  </a:lnTo>
                  <a:lnTo>
                    <a:pt x="43496" y="197249"/>
                  </a:lnTo>
                  <a:lnTo>
                    <a:pt x="37414" y="184852"/>
                  </a:lnTo>
                  <a:lnTo>
                    <a:pt x="30921" y="172474"/>
                  </a:lnTo>
                  <a:lnTo>
                    <a:pt x="23971" y="160143"/>
                  </a:lnTo>
                  <a:lnTo>
                    <a:pt x="16523" y="147892"/>
                  </a:lnTo>
                  <a:lnTo>
                    <a:pt x="8543" y="135761"/>
                  </a:lnTo>
                  <a:lnTo>
                    <a:pt x="0" y="12379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99" name="Ядро эпителиальной клетки"/>
            <p:cNvSpPr/>
            <p:nvPr/>
          </p:nvSpPr>
          <p:spPr>
            <a:xfrm rot="19800000">
              <a:off x="7164994" y="267252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0" name="Ядрышко"/>
            <p:cNvSpPr/>
            <p:nvPr/>
          </p:nvSpPr>
          <p:spPr>
            <a:xfrm>
              <a:off x="7194255" y="272419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1" name="Клетка однослойного эпителия"/>
            <p:cNvSpPr/>
            <p:nvPr/>
          </p:nvSpPr>
          <p:spPr>
            <a:xfrm>
              <a:off x="7160133" y="2782931"/>
              <a:ext cx="226489" cy="187067"/>
            </a:xfrm>
            <a:custGeom>
              <a:avLst/>
              <a:gdLst/>
              <a:ahLst/>
              <a:cxnLst/>
              <a:rect l="l" t="t" r="r" b="b"/>
              <a:pathLst>
                <a:path w="226489" h="187067">
                  <a:moveTo>
                    <a:pt x="172152" y="0"/>
                  </a:moveTo>
                  <a:lnTo>
                    <a:pt x="178546" y="18476"/>
                  </a:lnTo>
                  <a:lnTo>
                    <a:pt x="184706" y="36938"/>
                  </a:lnTo>
                  <a:lnTo>
                    <a:pt x="190665" y="55406"/>
                  </a:lnTo>
                  <a:lnTo>
                    <a:pt x="196441" y="73904"/>
                  </a:lnTo>
                  <a:lnTo>
                    <a:pt x="202038" y="92461"/>
                  </a:lnTo>
                  <a:lnTo>
                    <a:pt x="207447" y="111106"/>
                  </a:lnTo>
                  <a:lnTo>
                    <a:pt x="212642" y="129867"/>
                  </a:lnTo>
                  <a:lnTo>
                    <a:pt x="217584" y="148769"/>
                  </a:lnTo>
                  <a:lnTo>
                    <a:pt x="222221" y="167831"/>
                  </a:lnTo>
                  <a:lnTo>
                    <a:pt x="226489" y="187067"/>
                  </a:lnTo>
                  <a:lnTo>
                    <a:pt x="40415" y="187067"/>
                  </a:lnTo>
                  <a:lnTo>
                    <a:pt x="37176" y="174293"/>
                  </a:lnTo>
                  <a:lnTo>
                    <a:pt x="33683" y="161628"/>
                  </a:lnTo>
                  <a:lnTo>
                    <a:pt x="29980" y="149066"/>
                  </a:lnTo>
                  <a:lnTo>
                    <a:pt x="26104" y="136593"/>
                  </a:lnTo>
                  <a:lnTo>
                    <a:pt x="22080" y="124193"/>
                  </a:lnTo>
                  <a:lnTo>
                    <a:pt x="17927" y="111848"/>
                  </a:lnTo>
                  <a:lnTo>
                    <a:pt x="13651" y="99540"/>
                  </a:lnTo>
                  <a:lnTo>
                    <a:pt x="9248" y="87250"/>
                  </a:lnTo>
                  <a:lnTo>
                    <a:pt x="4705" y="74961"/>
                  </a:lnTo>
                  <a:lnTo>
                    <a:pt x="0" y="6265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2" name="Ядро эпителиальной клетки"/>
            <p:cNvSpPr/>
            <p:nvPr/>
          </p:nvSpPr>
          <p:spPr>
            <a:xfrm rot="21000000">
              <a:off x="7222873" y="2825598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3" name="Ядрышко"/>
            <p:cNvSpPr/>
            <p:nvPr/>
          </p:nvSpPr>
          <p:spPr>
            <a:xfrm>
              <a:off x="7252134" y="287726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4" name="Клетка однослойного эпителия"/>
            <p:cNvSpPr/>
            <p:nvPr/>
          </p:nvSpPr>
          <p:spPr>
            <a:xfrm>
              <a:off x="7200548" y="2969998"/>
              <a:ext cx="199481" cy="198475"/>
            </a:xfrm>
            <a:custGeom>
              <a:avLst/>
              <a:gdLst/>
              <a:ahLst/>
              <a:cxnLst/>
              <a:rect l="l" t="t" r="r" b="b"/>
              <a:pathLst>
                <a:path w="199481" h="198475">
                  <a:moveTo>
                    <a:pt x="186074" y="0"/>
                  </a:moveTo>
                  <a:lnTo>
                    <a:pt x="189901" y="19415"/>
                  </a:lnTo>
                  <a:lnTo>
                    <a:pt x="193205" y="39006"/>
                  </a:lnTo>
                  <a:lnTo>
                    <a:pt x="195901" y="58759"/>
                  </a:lnTo>
                  <a:lnTo>
                    <a:pt x="197903" y="78651"/>
                  </a:lnTo>
                  <a:lnTo>
                    <a:pt x="199124" y="98649"/>
                  </a:lnTo>
                  <a:lnTo>
                    <a:pt x="199481" y="118710"/>
                  </a:lnTo>
                  <a:lnTo>
                    <a:pt x="198897" y="138783"/>
                  </a:lnTo>
                  <a:lnTo>
                    <a:pt x="197306" y="158812"/>
                  </a:lnTo>
                  <a:lnTo>
                    <a:pt x="194648" y="178732"/>
                  </a:lnTo>
                  <a:lnTo>
                    <a:pt x="190880" y="198475"/>
                  </a:lnTo>
                  <a:lnTo>
                    <a:pt x="6163" y="131244"/>
                  </a:lnTo>
                  <a:lnTo>
                    <a:pt x="8500" y="118248"/>
                  </a:lnTo>
                  <a:lnTo>
                    <a:pt x="10063" y="105121"/>
                  </a:lnTo>
                  <a:lnTo>
                    <a:pt x="10884" y="91906"/>
                  </a:lnTo>
                  <a:lnTo>
                    <a:pt x="11004" y="78648"/>
                  </a:lnTo>
                  <a:lnTo>
                    <a:pt x="10471" y="65384"/>
                  </a:lnTo>
                  <a:lnTo>
                    <a:pt x="9338" y="52150"/>
                  </a:lnTo>
                  <a:lnTo>
                    <a:pt x="7664" y="38974"/>
                  </a:lnTo>
                  <a:lnTo>
                    <a:pt x="5510" y="25881"/>
                  </a:lnTo>
                  <a:lnTo>
                    <a:pt x="2935" y="128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5" name="Ядро эпителиальной клетки"/>
            <p:cNvSpPr/>
            <p:nvPr/>
          </p:nvSpPr>
          <p:spPr>
            <a:xfrm rot="600000">
              <a:off x="7255852" y="298505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6" name="Ядрышко"/>
            <p:cNvSpPr/>
            <p:nvPr/>
          </p:nvSpPr>
          <p:spPr>
            <a:xfrm>
              <a:off x="7285112" y="303671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7" name="Просвет канальца"/>
            <p:cNvSpPr/>
            <p:nvPr/>
          </p:nvSpPr>
          <p:spPr>
            <a:xfrm>
              <a:off x="6326618" y="2566813"/>
              <a:ext cx="885129" cy="752635"/>
            </a:xfrm>
            <a:custGeom>
              <a:avLst/>
              <a:gdLst/>
              <a:ahLst/>
              <a:cxnLst/>
              <a:rect l="l" t="t" r="r" b="b"/>
              <a:pathLst>
                <a:path w="885129" h="752635">
                  <a:moveTo>
                    <a:pt x="878265" y="533763"/>
                  </a:moveTo>
                  <a:lnTo>
                    <a:pt x="872709" y="552590"/>
                  </a:lnTo>
                  <a:lnTo>
                    <a:pt x="865451" y="570860"/>
                  </a:lnTo>
                  <a:lnTo>
                    <a:pt x="856515" y="588449"/>
                  </a:lnTo>
                  <a:lnTo>
                    <a:pt x="845963" y="605251"/>
                  </a:lnTo>
                  <a:lnTo>
                    <a:pt x="833892" y="621179"/>
                  </a:lnTo>
                  <a:lnTo>
                    <a:pt x="820427" y="636174"/>
                  </a:lnTo>
                  <a:lnTo>
                    <a:pt x="805709" y="650202"/>
                  </a:lnTo>
                  <a:lnTo>
                    <a:pt x="789886" y="663255"/>
                  </a:lnTo>
                  <a:lnTo>
                    <a:pt x="773105" y="675342"/>
                  </a:lnTo>
                  <a:lnTo>
                    <a:pt x="755502" y="686492"/>
                  </a:lnTo>
                  <a:lnTo>
                    <a:pt x="737196" y="696741"/>
                  </a:lnTo>
                  <a:lnTo>
                    <a:pt x="718285" y="706125"/>
                  </a:lnTo>
                  <a:lnTo>
                    <a:pt x="698847" y="714676"/>
                  </a:lnTo>
                  <a:lnTo>
                    <a:pt x="678935" y="722418"/>
                  </a:lnTo>
                  <a:lnTo>
                    <a:pt x="658587" y="729354"/>
                  </a:lnTo>
                  <a:lnTo>
                    <a:pt x="637827" y="735476"/>
                  </a:lnTo>
                  <a:lnTo>
                    <a:pt x="616672" y="740752"/>
                  </a:lnTo>
                  <a:lnTo>
                    <a:pt x="595139" y="745139"/>
                  </a:lnTo>
                  <a:lnTo>
                    <a:pt x="573252" y="748582"/>
                  </a:lnTo>
                  <a:lnTo>
                    <a:pt x="551044" y="751018"/>
                  </a:lnTo>
                  <a:lnTo>
                    <a:pt x="528561" y="752387"/>
                  </a:lnTo>
                  <a:lnTo>
                    <a:pt x="505867" y="752635"/>
                  </a:lnTo>
                  <a:lnTo>
                    <a:pt x="483036" y="751723"/>
                  </a:lnTo>
                  <a:lnTo>
                    <a:pt x="460154" y="749632"/>
                  </a:lnTo>
                  <a:lnTo>
                    <a:pt x="437314" y="746364"/>
                  </a:lnTo>
                  <a:lnTo>
                    <a:pt x="414607" y="741945"/>
                  </a:lnTo>
                  <a:lnTo>
                    <a:pt x="392119" y="736427"/>
                  </a:lnTo>
                  <a:lnTo>
                    <a:pt x="369923" y="729880"/>
                  </a:lnTo>
                  <a:lnTo>
                    <a:pt x="348075" y="722389"/>
                  </a:lnTo>
                  <a:lnTo>
                    <a:pt x="326613" y="714048"/>
                  </a:lnTo>
                  <a:lnTo>
                    <a:pt x="305550" y="704954"/>
                  </a:lnTo>
                  <a:lnTo>
                    <a:pt x="284883" y="695194"/>
                  </a:lnTo>
                  <a:lnTo>
                    <a:pt x="264592" y="684846"/>
                  </a:lnTo>
                  <a:lnTo>
                    <a:pt x="244647" y="673965"/>
                  </a:lnTo>
                  <a:lnTo>
                    <a:pt x="225017" y="662585"/>
                  </a:lnTo>
                  <a:lnTo>
                    <a:pt x="205675" y="650716"/>
                  </a:lnTo>
                  <a:lnTo>
                    <a:pt x="186612" y="638344"/>
                  </a:lnTo>
                  <a:lnTo>
                    <a:pt x="167839" y="625435"/>
                  </a:lnTo>
                  <a:lnTo>
                    <a:pt x="149397" y="611941"/>
                  </a:lnTo>
                  <a:lnTo>
                    <a:pt x="131358" y="597806"/>
                  </a:lnTo>
                  <a:lnTo>
                    <a:pt x="113830" y="582975"/>
                  </a:lnTo>
                  <a:lnTo>
                    <a:pt x="96949" y="567403"/>
                  </a:lnTo>
                  <a:lnTo>
                    <a:pt x="80878" y="551060"/>
                  </a:lnTo>
                  <a:lnTo>
                    <a:pt x="65800" y="533941"/>
                  </a:lnTo>
                  <a:lnTo>
                    <a:pt x="51903" y="516068"/>
                  </a:lnTo>
                  <a:lnTo>
                    <a:pt x="39374" y="497493"/>
                  </a:lnTo>
                  <a:lnTo>
                    <a:pt x="28383" y="478298"/>
                  </a:lnTo>
                  <a:lnTo>
                    <a:pt x="19076" y="458589"/>
                  </a:lnTo>
                  <a:lnTo>
                    <a:pt x="11560" y="438495"/>
                  </a:lnTo>
                  <a:lnTo>
                    <a:pt x="5900" y="418160"/>
                  </a:lnTo>
                  <a:lnTo>
                    <a:pt x="2115" y="397729"/>
                  </a:lnTo>
                  <a:lnTo>
                    <a:pt x="173" y="377350"/>
                  </a:lnTo>
                  <a:lnTo>
                    <a:pt x="0" y="357153"/>
                  </a:lnTo>
                  <a:lnTo>
                    <a:pt x="1479" y="337254"/>
                  </a:lnTo>
                  <a:lnTo>
                    <a:pt x="4464" y="317742"/>
                  </a:lnTo>
                  <a:lnTo>
                    <a:pt x="8792" y="298680"/>
                  </a:lnTo>
                  <a:lnTo>
                    <a:pt x="14288" y="280104"/>
                  </a:lnTo>
                  <a:lnTo>
                    <a:pt x="20784" y="262022"/>
                  </a:lnTo>
                  <a:lnTo>
                    <a:pt x="28129" y="244422"/>
                  </a:lnTo>
                  <a:lnTo>
                    <a:pt x="36195" y="227275"/>
                  </a:lnTo>
                  <a:lnTo>
                    <a:pt x="44887" y="210546"/>
                  </a:lnTo>
                  <a:lnTo>
                    <a:pt x="54147" y="194197"/>
                  </a:lnTo>
                  <a:lnTo>
                    <a:pt x="63951" y="178201"/>
                  </a:lnTo>
                  <a:lnTo>
                    <a:pt x="74313" y="162541"/>
                  </a:lnTo>
                  <a:lnTo>
                    <a:pt x="85271" y="147221"/>
                  </a:lnTo>
                  <a:lnTo>
                    <a:pt x="96886" y="132267"/>
                  </a:lnTo>
                  <a:lnTo>
                    <a:pt x="109231" y="117727"/>
                  </a:lnTo>
                  <a:lnTo>
                    <a:pt x="122380" y="103671"/>
                  </a:lnTo>
                  <a:lnTo>
                    <a:pt x="136401" y="90184"/>
                  </a:lnTo>
                  <a:lnTo>
                    <a:pt x="151345" y="77364"/>
                  </a:lnTo>
                  <a:lnTo>
                    <a:pt x="167242" y="65311"/>
                  </a:lnTo>
                  <a:lnTo>
                    <a:pt x="184097" y="54124"/>
                  </a:lnTo>
                  <a:lnTo>
                    <a:pt x="201888" y="43893"/>
                  </a:lnTo>
                  <a:lnTo>
                    <a:pt x="220568" y="34689"/>
                  </a:lnTo>
                  <a:lnTo>
                    <a:pt x="240068" y="26566"/>
                  </a:lnTo>
                  <a:lnTo>
                    <a:pt x="260303" y="19554"/>
                  </a:lnTo>
                  <a:lnTo>
                    <a:pt x="281178" y="13659"/>
                  </a:lnTo>
                  <a:lnTo>
                    <a:pt x="302595" y="8869"/>
                  </a:lnTo>
                  <a:lnTo>
                    <a:pt x="324459" y="5151"/>
                  </a:lnTo>
                  <a:lnTo>
                    <a:pt x="346684" y="2465"/>
                  </a:lnTo>
                  <a:lnTo>
                    <a:pt x="369195" y="763"/>
                  </a:lnTo>
                  <a:lnTo>
                    <a:pt x="391930" y="0"/>
                  </a:lnTo>
                  <a:lnTo>
                    <a:pt x="414842" y="141"/>
                  </a:lnTo>
                  <a:lnTo>
                    <a:pt x="437889" y="1162"/>
                  </a:lnTo>
                  <a:lnTo>
                    <a:pt x="461040" y="3058"/>
                  </a:lnTo>
                  <a:lnTo>
                    <a:pt x="484258" y="5840"/>
                  </a:lnTo>
                  <a:lnTo>
                    <a:pt x="507504" y="9541"/>
                  </a:lnTo>
                  <a:lnTo>
                    <a:pt x="530727" y="14205"/>
                  </a:lnTo>
                  <a:lnTo>
                    <a:pt x="553856" y="19886"/>
                  </a:lnTo>
                  <a:lnTo>
                    <a:pt x="576807" y="26644"/>
                  </a:lnTo>
                  <a:lnTo>
                    <a:pt x="599472" y="34532"/>
                  </a:lnTo>
                  <a:lnTo>
                    <a:pt x="621727" y="43593"/>
                  </a:lnTo>
                  <a:lnTo>
                    <a:pt x="643435" y="53850"/>
                  </a:lnTo>
                  <a:lnTo>
                    <a:pt x="664450" y="65305"/>
                  </a:lnTo>
                  <a:lnTo>
                    <a:pt x="684630" y="77929"/>
                  </a:lnTo>
                  <a:lnTo>
                    <a:pt x="703838" y="91666"/>
                  </a:lnTo>
                  <a:lnTo>
                    <a:pt x="721960" y="106433"/>
                  </a:lnTo>
                  <a:lnTo>
                    <a:pt x="738904" y="122121"/>
                  </a:lnTo>
                  <a:lnTo>
                    <a:pt x="754614" y="138603"/>
                  </a:lnTo>
                  <a:lnTo>
                    <a:pt x="769068" y="155741"/>
                  </a:lnTo>
                  <a:lnTo>
                    <a:pt x="782285" y="173395"/>
                  </a:lnTo>
                  <a:lnTo>
                    <a:pt x="794317" y="191431"/>
                  </a:lnTo>
                  <a:lnTo>
                    <a:pt x="805248" y="209726"/>
                  </a:lnTo>
                  <a:lnTo>
                    <a:pt x="815185" y="228181"/>
                  </a:lnTo>
                  <a:lnTo>
                    <a:pt x="824251" y="246720"/>
                  </a:lnTo>
                  <a:lnTo>
                    <a:pt x="832567" y="265296"/>
                  </a:lnTo>
                  <a:lnTo>
                    <a:pt x="840247" y="283887"/>
                  </a:lnTo>
                  <a:lnTo>
                    <a:pt x="847385" y="302497"/>
                  </a:lnTo>
                  <a:lnTo>
                    <a:pt x="854044" y="321151"/>
                  </a:lnTo>
                  <a:lnTo>
                    <a:pt x="860251" y="339884"/>
                  </a:lnTo>
                  <a:lnTo>
                    <a:pt x="865990" y="358738"/>
                  </a:lnTo>
                  <a:lnTo>
                    <a:pt x="871206" y="377748"/>
                  </a:lnTo>
                  <a:lnTo>
                    <a:pt x="875801" y="396941"/>
                  </a:lnTo>
                  <a:lnTo>
                    <a:pt x="879649" y="416322"/>
                  </a:lnTo>
                  <a:lnTo>
                    <a:pt x="882596" y="435874"/>
                  </a:lnTo>
                  <a:lnTo>
                    <a:pt x="884479" y="455552"/>
                  </a:lnTo>
                  <a:lnTo>
                    <a:pt x="885129" y="475285"/>
                  </a:lnTo>
                  <a:lnTo>
                    <a:pt x="884394" y="494978"/>
                  </a:lnTo>
                  <a:lnTo>
                    <a:pt x="882139" y="514514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8" name="Базальная мембрана канальца"/>
            <p:cNvSpPr/>
            <p:nvPr/>
          </p:nvSpPr>
          <p:spPr>
            <a:xfrm>
              <a:off x="5066844" y="3461099"/>
              <a:ext cx="1510583" cy="1138558"/>
            </a:xfrm>
            <a:custGeom>
              <a:avLst/>
              <a:gdLst/>
              <a:ahLst/>
              <a:cxnLst/>
              <a:rect l="l" t="t" r="r" b="b"/>
              <a:pathLst>
                <a:path w="1510583" h="1138558">
                  <a:moveTo>
                    <a:pt x="1499510" y="472465"/>
                  </a:moveTo>
                  <a:lnTo>
                    <a:pt x="1506387" y="502280"/>
                  </a:lnTo>
                  <a:lnTo>
                    <a:pt x="1510114" y="532665"/>
                  </a:lnTo>
                  <a:lnTo>
                    <a:pt x="1510583" y="563416"/>
                  </a:lnTo>
                  <a:lnTo>
                    <a:pt x="1507773" y="594317"/>
                  </a:lnTo>
                  <a:lnTo>
                    <a:pt x="1501746" y="625149"/>
                  </a:lnTo>
                  <a:lnTo>
                    <a:pt x="1492639" y="655709"/>
                  </a:lnTo>
                  <a:lnTo>
                    <a:pt x="1480657" y="685815"/>
                  </a:lnTo>
                  <a:lnTo>
                    <a:pt x="1466049" y="715318"/>
                  </a:lnTo>
                  <a:lnTo>
                    <a:pt x="1449094" y="744107"/>
                  </a:lnTo>
                  <a:lnTo>
                    <a:pt x="1430080" y="772106"/>
                  </a:lnTo>
                  <a:lnTo>
                    <a:pt x="1409282" y="799277"/>
                  </a:lnTo>
                  <a:lnTo>
                    <a:pt x="1386948" y="825609"/>
                  </a:lnTo>
                  <a:lnTo>
                    <a:pt x="1363287" y="851115"/>
                  </a:lnTo>
                  <a:lnTo>
                    <a:pt x="1338458" y="875817"/>
                  </a:lnTo>
                  <a:lnTo>
                    <a:pt x="1312570" y="899735"/>
                  </a:lnTo>
                  <a:lnTo>
                    <a:pt x="1285681" y="922884"/>
                  </a:lnTo>
                  <a:lnTo>
                    <a:pt x="1257809" y="945256"/>
                  </a:lnTo>
                  <a:lnTo>
                    <a:pt x="1228943" y="966821"/>
                  </a:lnTo>
                  <a:lnTo>
                    <a:pt x="1199050" y="987523"/>
                  </a:lnTo>
                  <a:lnTo>
                    <a:pt x="1168096" y="1007281"/>
                  </a:lnTo>
                  <a:lnTo>
                    <a:pt x="1136057" y="1025991"/>
                  </a:lnTo>
                  <a:lnTo>
                    <a:pt x="1102928" y="1043536"/>
                  </a:lnTo>
                  <a:lnTo>
                    <a:pt x="1068734" y="1059794"/>
                  </a:lnTo>
                  <a:lnTo>
                    <a:pt x="1033532" y="1074648"/>
                  </a:lnTo>
                  <a:lnTo>
                    <a:pt x="997412" y="1087997"/>
                  </a:lnTo>
                  <a:lnTo>
                    <a:pt x="960495" y="1099765"/>
                  </a:lnTo>
                  <a:lnTo>
                    <a:pt x="922921" y="1109908"/>
                  </a:lnTo>
                  <a:lnTo>
                    <a:pt x="884842" y="1118417"/>
                  </a:lnTo>
                  <a:lnTo>
                    <a:pt x="846410" y="1125318"/>
                  </a:lnTo>
                  <a:lnTo>
                    <a:pt x="807767" y="1130674"/>
                  </a:lnTo>
                  <a:lnTo>
                    <a:pt x="769033" y="1134570"/>
                  </a:lnTo>
                  <a:lnTo>
                    <a:pt x="730300" y="1137110"/>
                  </a:lnTo>
                  <a:lnTo>
                    <a:pt x="691632" y="1138405"/>
                  </a:lnTo>
                  <a:lnTo>
                    <a:pt x="653060" y="1138558"/>
                  </a:lnTo>
                  <a:lnTo>
                    <a:pt x="614593" y="1137653"/>
                  </a:lnTo>
                  <a:lnTo>
                    <a:pt x="576222" y="1135747"/>
                  </a:lnTo>
                  <a:lnTo>
                    <a:pt x="537935" y="1132858"/>
                  </a:lnTo>
                  <a:lnTo>
                    <a:pt x="499728" y="1128966"/>
                  </a:lnTo>
                  <a:lnTo>
                    <a:pt x="461622" y="1124008"/>
                  </a:lnTo>
                  <a:lnTo>
                    <a:pt x="423671" y="1117885"/>
                  </a:lnTo>
                  <a:lnTo>
                    <a:pt x="385978" y="1110468"/>
                  </a:lnTo>
                  <a:lnTo>
                    <a:pt x="348694" y="1101611"/>
                  </a:lnTo>
                  <a:lnTo>
                    <a:pt x="312025" y="1091161"/>
                  </a:lnTo>
                  <a:lnTo>
                    <a:pt x="276225" y="1078978"/>
                  </a:lnTo>
                  <a:lnTo>
                    <a:pt x="241586" y="1064944"/>
                  </a:lnTo>
                  <a:lnTo>
                    <a:pt x="208429" y="1048978"/>
                  </a:lnTo>
                  <a:lnTo>
                    <a:pt x="177079" y="1031049"/>
                  </a:lnTo>
                  <a:lnTo>
                    <a:pt x="147852" y="1011176"/>
                  </a:lnTo>
                  <a:lnTo>
                    <a:pt x="121033" y="989438"/>
                  </a:lnTo>
                  <a:lnTo>
                    <a:pt x="96856" y="965967"/>
                  </a:lnTo>
                  <a:lnTo>
                    <a:pt x="75487" y="940942"/>
                  </a:lnTo>
                  <a:lnTo>
                    <a:pt x="57017" y="914582"/>
                  </a:lnTo>
                  <a:lnTo>
                    <a:pt x="41454" y="887129"/>
                  </a:lnTo>
                  <a:lnTo>
                    <a:pt x="28723" y="858833"/>
                  </a:lnTo>
                  <a:lnTo>
                    <a:pt x="18672" y="829942"/>
                  </a:lnTo>
                  <a:lnTo>
                    <a:pt x="11089" y="800682"/>
                  </a:lnTo>
                  <a:lnTo>
                    <a:pt x="5713" y="771247"/>
                  </a:lnTo>
                  <a:lnTo>
                    <a:pt x="2260" y="741792"/>
                  </a:lnTo>
                  <a:lnTo>
                    <a:pt x="444" y="712425"/>
                  </a:lnTo>
                  <a:lnTo>
                    <a:pt x="0" y="683207"/>
                  </a:lnTo>
                  <a:lnTo>
                    <a:pt x="701" y="654159"/>
                  </a:lnTo>
                  <a:lnTo>
                    <a:pt x="2377" y="625265"/>
                  </a:lnTo>
                  <a:lnTo>
                    <a:pt x="4929" y="596483"/>
                  </a:lnTo>
                  <a:lnTo>
                    <a:pt x="8328" y="567759"/>
                  </a:lnTo>
                  <a:lnTo>
                    <a:pt x="12620" y="539040"/>
                  </a:lnTo>
                  <a:lnTo>
                    <a:pt x="17914" y="510285"/>
                  </a:lnTo>
                  <a:lnTo>
                    <a:pt x="24375" y="481475"/>
                  </a:lnTo>
                  <a:lnTo>
                    <a:pt x="32202" y="452622"/>
                  </a:lnTo>
                  <a:lnTo>
                    <a:pt x="41612" y="423774"/>
                  </a:lnTo>
                  <a:lnTo>
                    <a:pt x="52820" y="395014"/>
                  </a:lnTo>
                  <a:lnTo>
                    <a:pt x="66019" y="366460"/>
                  </a:lnTo>
                  <a:lnTo>
                    <a:pt x="81365" y="338254"/>
                  </a:lnTo>
                  <a:lnTo>
                    <a:pt x="98962" y="310558"/>
                  </a:lnTo>
                  <a:lnTo>
                    <a:pt x="118856" y="283538"/>
                  </a:lnTo>
                  <a:lnTo>
                    <a:pt x="141033" y="257359"/>
                  </a:lnTo>
                  <a:lnTo>
                    <a:pt x="165421" y="232171"/>
                  </a:lnTo>
                  <a:lnTo>
                    <a:pt x="191897" y="208099"/>
                  </a:lnTo>
                  <a:lnTo>
                    <a:pt x="220300" y="185241"/>
                  </a:lnTo>
                  <a:lnTo>
                    <a:pt x="250441" y="163662"/>
                  </a:lnTo>
                  <a:lnTo>
                    <a:pt x="282122" y="143397"/>
                  </a:lnTo>
                  <a:lnTo>
                    <a:pt x="315145" y="124452"/>
                  </a:lnTo>
                  <a:lnTo>
                    <a:pt x="349328" y="106813"/>
                  </a:lnTo>
                  <a:lnTo>
                    <a:pt x="384512" y="90454"/>
                  </a:lnTo>
                  <a:lnTo>
                    <a:pt x="420563" y="75349"/>
                  </a:lnTo>
                  <a:lnTo>
                    <a:pt x="457377" y="61478"/>
                  </a:lnTo>
                  <a:lnTo>
                    <a:pt x="494873" y="48839"/>
                  </a:lnTo>
                  <a:lnTo>
                    <a:pt x="532989" y="37455"/>
                  </a:lnTo>
                  <a:lnTo>
                    <a:pt x="571669" y="27377"/>
                  </a:lnTo>
                  <a:lnTo>
                    <a:pt x="610854" y="18682"/>
                  </a:lnTo>
                  <a:lnTo>
                    <a:pt x="650474" y="11474"/>
                  </a:lnTo>
                  <a:lnTo>
                    <a:pt x="690433" y="5875"/>
                  </a:lnTo>
                  <a:lnTo>
                    <a:pt x="730610" y="2013"/>
                  </a:lnTo>
                  <a:lnTo>
                    <a:pt x="770850" y="18"/>
                  </a:lnTo>
                  <a:lnTo>
                    <a:pt x="810970" y="0"/>
                  </a:lnTo>
                  <a:lnTo>
                    <a:pt x="850761" y="2046"/>
                  </a:lnTo>
                  <a:lnTo>
                    <a:pt x="890001" y="6202"/>
                  </a:lnTo>
                  <a:lnTo>
                    <a:pt x="928465" y="12472"/>
                  </a:lnTo>
                  <a:lnTo>
                    <a:pt x="965939" y="20810"/>
                  </a:lnTo>
                  <a:lnTo>
                    <a:pt x="1002236" y="31119"/>
                  </a:lnTo>
                  <a:lnTo>
                    <a:pt x="1037206" y="43259"/>
                  </a:lnTo>
                  <a:lnTo>
                    <a:pt x="1070752" y="57050"/>
                  </a:lnTo>
                  <a:lnTo>
                    <a:pt x="1102831" y="72288"/>
                  </a:lnTo>
                  <a:lnTo>
                    <a:pt x="1133457" y="88756"/>
                  </a:lnTo>
                  <a:lnTo>
                    <a:pt x="1162701" y="106237"/>
                  </a:lnTo>
                  <a:lnTo>
                    <a:pt x="1190677" y="124533"/>
                  </a:lnTo>
                  <a:lnTo>
                    <a:pt x="1217532" y="143476"/>
                  </a:lnTo>
                  <a:lnTo>
                    <a:pt x="1243429" y="162936"/>
                  </a:lnTo>
                  <a:lnTo>
                    <a:pt x="1268527" y="182833"/>
                  </a:lnTo>
                  <a:lnTo>
                    <a:pt x="1292960" y="203135"/>
                  </a:lnTo>
                  <a:lnTo>
                    <a:pt x="1316823" y="223859"/>
                  </a:lnTo>
                  <a:lnTo>
                    <a:pt x="1340150" y="245064"/>
                  </a:lnTo>
                  <a:lnTo>
                    <a:pt x="1362911" y="266840"/>
                  </a:lnTo>
                  <a:lnTo>
                    <a:pt x="1384998" y="289299"/>
                  </a:lnTo>
                  <a:lnTo>
                    <a:pt x="1406235" y="312554"/>
                  </a:lnTo>
                  <a:lnTo>
                    <a:pt x="1426377" y="336711"/>
                  </a:lnTo>
                  <a:lnTo>
                    <a:pt x="1445128" y="361850"/>
                  </a:lnTo>
                  <a:lnTo>
                    <a:pt x="1462155" y="388018"/>
                  </a:lnTo>
                  <a:lnTo>
                    <a:pt x="1477114" y="415216"/>
                  </a:lnTo>
                  <a:lnTo>
                    <a:pt x="1489667" y="443397"/>
                  </a:lnTo>
                  <a:close/>
                </a:path>
              </a:pathLst>
            </a:custGeom>
            <a:solidFill>
              <a:srgbClr val="DED1E4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09" name="Клетка однослойного эпителия"/>
            <p:cNvSpPr/>
            <p:nvPr/>
          </p:nvSpPr>
          <p:spPr>
            <a:xfrm>
              <a:off x="6334539" y="3936782"/>
              <a:ext cx="221326" cy="185141"/>
            </a:xfrm>
            <a:custGeom>
              <a:avLst/>
              <a:gdLst/>
              <a:ahLst/>
              <a:cxnLst/>
              <a:rect l="l" t="t" r="r" b="b"/>
              <a:pathLst>
                <a:path w="221326" h="185141">
                  <a:moveTo>
                    <a:pt x="208914" y="0"/>
                  </a:moveTo>
                  <a:lnTo>
                    <a:pt x="213923" y="17921"/>
                  </a:lnTo>
                  <a:lnTo>
                    <a:pt x="217688" y="36117"/>
                  </a:lnTo>
                  <a:lnTo>
                    <a:pt x="220166" y="54537"/>
                  </a:lnTo>
                  <a:lnTo>
                    <a:pt x="221326" y="73130"/>
                  </a:lnTo>
                  <a:lnTo>
                    <a:pt x="221154" y="91839"/>
                  </a:lnTo>
                  <a:lnTo>
                    <a:pt x="219649" y="110606"/>
                  </a:lnTo>
                  <a:lnTo>
                    <a:pt x="216824" y="129375"/>
                  </a:lnTo>
                  <a:lnTo>
                    <a:pt x="212707" y="148088"/>
                  </a:lnTo>
                  <a:lnTo>
                    <a:pt x="207338" y="166693"/>
                  </a:lnTo>
                  <a:lnTo>
                    <a:pt x="200766" y="185141"/>
                  </a:lnTo>
                  <a:lnTo>
                    <a:pt x="0" y="146308"/>
                  </a:lnTo>
                  <a:lnTo>
                    <a:pt x="5037" y="134462"/>
                  </a:lnTo>
                  <a:lnTo>
                    <a:pt x="9199" y="122531"/>
                  </a:lnTo>
                  <a:lnTo>
                    <a:pt x="12449" y="110548"/>
                  </a:lnTo>
                  <a:lnTo>
                    <a:pt x="14756" y="98547"/>
                  </a:lnTo>
                  <a:lnTo>
                    <a:pt x="16102" y="86564"/>
                  </a:lnTo>
                  <a:lnTo>
                    <a:pt x="16474" y="74636"/>
                  </a:lnTo>
                  <a:lnTo>
                    <a:pt x="15872" y="62799"/>
                  </a:lnTo>
                  <a:lnTo>
                    <a:pt x="14308" y="51090"/>
                  </a:lnTo>
                  <a:lnTo>
                    <a:pt x="11802" y="39541"/>
                  </a:lnTo>
                  <a:lnTo>
                    <a:pt x="8384" y="28183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0" name="Ядро эпителиальной клетки"/>
            <p:cNvSpPr/>
            <p:nvPr/>
          </p:nvSpPr>
          <p:spPr>
            <a:xfrm rot="88421">
              <a:off x="6403345" y="395958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1" name="Ядрышко"/>
            <p:cNvSpPr/>
            <p:nvPr/>
          </p:nvSpPr>
          <p:spPr>
            <a:xfrm>
              <a:off x="6432606" y="401124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2" name="Клетка однослойного эпителия"/>
            <p:cNvSpPr/>
            <p:nvPr/>
          </p:nvSpPr>
          <p:spPr>
            <a:xfrm>
              <a:off x="6247297" y="4083090"/>
              <a:ext cx="288008" cy="207835"/>
            </a:xfrm>
            <a:custGeom>
              <a:avLst/>
              <a:gdLst/>
              <a:ahLst/>
              <a:cxnLst/>
              <a:rect l="l" t="t" r="r" b="b"/>
              <a:pathLst>
                <a:path w="288008" h="207835">
                  <a:moveTo>
                    <a:pt x="288008" y="38833"/>
                  </a:moveTo>
                  <a:lnTo>
                    <a:pt x="280295" y="57079"/>
                  </a:lnTo>
                  <a:lnTo>
                    <a:pt x="271507" y="75085"/>
                  </a:lnTo>
                  <a:lnTo>
                    <a:pt x="261719" y="92817"/>
                  </a:lnTo>
                  <a:lnTo>
                    <a:pt x="251005" y="110249"/>
                  </a:lnTo>
                  <a:lnTo>
                    <a:pt x="239444" y="127362"/>
                  </a:lnTo>
                  <a:lnTo>
                    <a:pt x="227111" y="144142"/>
                  </a:lnTo>
                  <a:lnTo>
                    <a:pt x="214080" y="160580"/>
                  </a:lnTo>
                  <a:lnTo>
                    <a:pt x="200419" y="176673"/>
                  </a:lnTo>
                  <a:lnTo>
                    <a:pt x="186192" y="192424"/>
                  </a:lnTo>
                  <a:lnTo>
                    <a:pt x="171454" y="207835"/>
                  </a:lnTo>
                  <a:lnTo>
                    <a:pt x="0" y="109266"/>
                  </a:lnTo>
                  <a:lnTo>
                    <a:pt x="10953" y="99248"/>
                  </a:lnTo>
                  <a:lnTo>
                    <a:pt x="21538" y="89020"/>
                  </a:lnTo>
                  <a:lnTo>
                    <a:pt x="31714" y="78581"/>
                  </a:lnTo>
                  <a:lnTo>
                    <a:pt x="41436" y="67931"/>
                  </a:lnTo>
                  <a:lnTo>
                    <a:pt x="50653" y="57072"/>
                  </a:lnTo>
                  <a:lnTo>
                    <a:pt x="59311" y="46011"/>
                  </a:lnTo>
                  <a:lnTo>
                    <a:pt x="67356" y="34758"/>
                  </a:lnTo>
                  <a:lnTo>
                    <a:pt x="74729" y="23326"/>
                  </a:lnTo>
                  <a:lnTo>
                    <a:pt x="81376" y="11732"/>
                  </a:lnTo>
                  <a:lnTo>
                    <a:pt x="8724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3" name="Ядро эпителиальной клетки"/>
            <p:cNvSpPr/>
            <p:nvPr/>
          </p:nvSpPr>
          <p:spPr>
            <a:xfrm rot="1225263">
              <a:off x="6342849" y="4107607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4" name="Ядрышко"/>
            <p:cNvSpPr/>
            <p:nvPr/>
          </p:nvSpPr>
          <p:spPr>
            <a:xfrm>
              <a:off x="6372110" y="4159271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5" name="Клетка однослойного эпителия"/>
            <p:cNvSpPr/>
            <p:nvPr/>
          </p:nvSpPr>
          <p:spPr>
            <a:xfrm>
              <a:off x="6122196" y="4192356"/>
              <a:ext cx="296555" cy="235184"/>
            </a:xfrm>
            <a:custGeom>
              <a:avLst/>
              <a:gdLst/>
              <a:ahLst/>
              <a:cxnLst/>
              <a:rect l="l" t="t" r="r" b="b"/>
              <a:pathLst>
                <a:path w="296555" h="235184">
                  <a:moveTo>
                    <a:pt x="296555" y="98569"/>
                  </a:moveTo>
                  <a:lnTo>
                    <a:pt x="281352" y="113648"/>
                  </a:lnTo>
                  <a:lnTo>
                    <a:pt x="265725" y="128402"/>
                  </a:lnTo>
                  <a:lnTo>
                    <a:pt x="249704" y="142838"/>
                  </a:lnTo>
                  <a:lnTo>
                    <a:pt x="233310" y="156963"/>
                  </a:lnTo>
                  <a:lnTo>
                    <a:pt x="216559" y="170781"/>
                  </a:lnTo>
                  <a:lnTo>
                    <a:pt x="199456" y="184293"/>
                  </a:lnTo>
                  <a:lnTo>
                    <a:pt x="182005" y="197498"/>
                  </a:lnTo>
                  <a:lnTo>
                    <a:pt x="164202" y="210388"/>
                  </a:lnTo>
                  <a:lnTo>
                    <a:pt x="146040" y="222955"/>
                  </a:lnTo>
                  <a:lnTo>
                    <a:pt x="127511" y="235184"/>
                  </a:lnTo>
                  <a:lnTo>
                    <a:pt x="0" y="89313"/>
                  </a:lnTo>
                  <a:lnTo>
                    <a:pt x="13676" y="81274"/>
                  </a:lnTo>
                  <a:lnTo>
                    <a:pt x="27089" y="73023"/>
                  </a:lnTo>
                  <a:lnTo>
                    <a:pt x="40245" y="64572"/>
                  </a:lnTo>
                  <a:lnTo>
                    <a:pt x="53148" y="55924"/>
                  </a:lnTo>
                  <a:lnTo>
                    <a:pt x="65800" y="47086"/>
                  </a:lnTo>
                  <a:lnTo>
                    <a:pt x="78201" y="38057"/>
                  </a:lnTo>
                  <a:lnTo>
                    <a:pt x="90345" y="28837"/>
                  </a:lnTo>
                  <a:lnTo>
                    <a:pt x="102221" y="19423"/>
                  </a:lnTo>
                  <a:lnTo>
                    <a:pt x="113814" y="9812"/>
                  </a:lnTo>
                  <a:lnTo>
                    <a:pt x="125101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6" name="Ядро эпителиальной клетки"/>
            <p:cNvSpPr/>
            <p:nvPr/>
          </p:nvSpPr>
          <p:spPr>
            <a:xfrm rot="2362105">
              <a:off x="6214640" y="423252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7" name="Ядрышко"/>
            <p:cNvSpPr/>
            <p:nvPr/>
          </p:nvSpPr>
          <p:spPr>
            <a:xfrm>
              <a:off x="6243901" y="4284185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8" name="Клетка однослойного эпителия"/>
            <p:cNvSpPr/>
            <p:nvPr/>
          </p:nvSpPr>
          <p:spPr>
            <a:xfrm>
              <a:off x="5970587" y="4281669"/>
              <a:ext cx="279120" cy="244471"/>
            </a:xfrm>
            <a:custGeom>
              <a:avLst/>
              <a:gdLst/>
              <a:ahLst/>
              <a:cxnLst/>
              <a:rect l="l" t="t" r="r" b="b"/>
              <a:pathLst>
                <a:path w="279120" h="244471">
                  <a:moveTo>
                    <a:pt x="279120" y="145871"/>
                  </a:moveTo>
                  <a:lnTo>
                    <a:pt x="260216" y="157743"/>
                  </a:lnTo>
                  <a:lnTo>
                    <a:pt x="240930" y="169238"/>
                  </a:lnTo>
                  <a:lnTo>
                    <a:pt x="221255" y="180330"/>
                  </a:lnTo>
                  <a:lnTo>
                    <a:pt x="201189" y="190993"/>
                  </a:lnTo>
                  <a:lnTo>
                    <a:pt x="180735" y="201200"/>
                  </a:lnTo>
                  <a:lnTo>
                    <a:pt x="159899" y="210923"/>
                  </a:lnTo>
                  <a:lnTo>
                    <a:pt x="138694" y="220135"/>
                  </a:lnTo>
                  <a:lnTo>
                    <a:pt x="117134" y="228811"/>
                  </a:lnTo>
                  <a:lnTo>
                    <a:pt x="95244" y="236929"/>
                  </a:lnTo>
                  <a:lnTo>
                    <a:pt x="73047" y="244471"/>
                  </a:lnTo>
                  <a:lnTo>
                    <a:pt x="0" y="65569"/>
                  </a:lnTo>
                  <a:lnTo>
                    <a:pt x="16290" y="60469"/>
                  </a:lnTo>
                  <a:lnTo>
                    <a:pt x="32364" y="55005"/>
                  </a:lnTo>
                  <a:lnTo>
                    <a:pt x="48203" y="49191"/>
                  </a:lnTo>
                  <a:lnTo>
                    <a:pt x="63792" y="43039"/>
                  </a:lnTo>
                  <a:lnTo>
                    <a:pt x="79118" y="36567"/>
                  </a:lnTo>
                  <a:lnTo>
                    <a:pt x="94172" y="29790"/>
                  </a:lnTo>
                  <a:lnTo>
                    <a:pt x="108948" y="22729"/>
                  </a:lnTo>
                  <a:lnTo>
                    <a:pt x="123445" y="15399"/>
                  </a:lnTo>
                  <a:lnTo>
                    <a:pt x="137664" y="7817"/>
                  </a:lnTo>
                  <a:lnTo>
                    <a:pt x="151609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19" name="Ядро эпителиальной клетки"/>
            <p:cNvSpPr/>
            <p:nvPr/>
          </p:nvSpPr>
          <p:spPr>
            <a:xfrm rot="3498947">
              <a:off x="6052761" y="433096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0" name="Ядрышко"/>
            <p:cNvSpPr/>
            <p:nvPr/>
          </p:nvSpPr>
          <p:spPr>
            <a:xfrm>
              <a:off x="6082022" y="4382629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1" name="Клетка однослойного эпителия"/>
            <p:cNvSpPr/>
            <p:nvPr/>
          </p:nvSpPr>
          <p:spPr>
            <a:xfrm>
              <a:off x="5801020" y="4347238"/>
              <a:ext cx="242614" cy="222218"/>
            </a:xfrm>
            <a:custGeom>
              <a:avLst/>
              <a:gdLst/>
              <a:ahLst/>
              <a:cxnLst/>
              <a:rect l="l" t="t" r="r" b="b"/>
              <a:pathLst>
                <a:path w="242614" h="222218">
                  <a:moveTo>
                    <a:pt x="242614" y="178902"/>
                  </a:moveTo>
                  <a:lnTo>
                    <a:pt x="220141" y="185854"/>
                  </a:lnTo>
                  <a:lnTo>
                    <a:pt x="197425" y="192208"/>
                  </a:lnTo>
                  <a:lnTo>
                    <a:pt x="174500" y="197961"/>
                  </a:lnTo>
                  <a:lnTo>
                    <a:pt x="151401" y="203114"/>
                  </a:lnTo>
                  <a:lnTo>
                    <a:pt x="128162" y="207676"/>
                  </a:lnTo>
                  <a:lnTo>
                    <a:pt x="104816" y="211659"/>
                  </a:lnTo>
                  <a:lnTo>
                    <a:pt x="81394" y="215083"/>
                  </a:lnTo>
                  <a:lnTo>
                    <a:pt x="57924" y="217967"/>
                  </a:lnTo>
                  <a:lnTo>
                    <a:pt x="34426" y="220336"/>
                  </a:lnTo>
                  <a:lnTo>
                    <a:pt x="10921" y="222218"/>
                  </a:lnTo>
                  <a:lnTo>
                    <a:pt x="0" y="30666"/>
                  </a:lnTo>
                  <a:lnTo>
                    <a:pt x="17169" y="29157"/>
                  </a:lnTo>
                  <a:lnTo>
                    <a:pt x="34339" y="27336"/>
                  </a:lnTo>
                  <a:lnTo>
                    <a:pt x="51497" y="25189"/>
                  </a:lnTo>
                  <a:lnTo>
                    <a:pt x="68626" y="22698"/>
                  </a:lnTo>
                  <a:lnTo>
                    <a:pt x="85707" y="19850"/>
                  </a:lnTo>
                  <a:lnTo>
                    <a:pt x="102717" y="16636"/>
                  </a:lnTo>
                  <a:lnTo>
                    <a:pt x="119634" y="13047"/>
                  </a:lnTo>
                  <a:lnTo>
                    <a:pt x="136431" y="9078"/>
                  </a:lnTo>
                  <a:lnTo>
                    <a:pt x="153084" y="4728"/>
                  </a:lnTo>
                  <a:lnTo>
                    <a:pt x="169567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2" name="Ядро эпителиальной клетки"/>
            <p:cNvSpPr/>
            <p:nvPr/>
          </p:nvSpPr>
          <p:spPr>
            <a:xfrm rot="4635789">
              <a:off x="5861384" y="439095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3" name="Ядрышко"/>
            <p:cNvSpPr/>
            <p:nvPr/>
          </p:nvSpPr>
          <p:spPr>
            <a:xfrm>
              <a:off x="5890645" y="444261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4" name="Клетка однослойного эпителия"/>
            <p:cNvSpPr/>
            <p:nvPr/>
          </p:nvSpPr>
          <p:spPr>
            <a:xfrm>
              <a:off x="5577452" y="4377904"/>
              <a:ext cx="234489" cy="194713"/>
            </a:xfrm>
            <a:custGeom>
              <a:avLst/>
              <a:gdLst/>
              <a:ahLst/>
              <a:cxnLst/>
              <a:rect l="l" t="t" r="r" b="b"/>
              <a:pathLst>
                <a:path w="234489" h="194713">
                  <a:moveTo>
                    <a:pt x="234489" y="191552"/>
                  </a:moveTo>
                  <a:lnTo>
                    <a:pt x="210989" y="192971"/>
                  </a:lnTo>
                  <a:lnTo>
                    <a:pt x="187502" y="193955"/>
                  </a:lnTo>
                  <a:lnTo>
                    <a:pt x="164032" y="194529"/>
                  </a:lnTo>
                  <a:lnTo>
                    <a:pt x="140581" y="194713"/>
                  </a:lnTo>
                  <a:lnTo>
                    <a:pt x="117143" y="194524"/>
                  </a:lnTo>
                  <a:lnTo>
                    <a:pt x="93715" y="193975"/>
                  </a:lnTo>
                  <a:lnTo>
                    <a:pt x="70291" y="193071"/>
                  </a:lnTo>
                  <a:lnTo>
                    <a:pt x="46865" y="191813"/>
                  </a:lnTo>
                  <a:lnTo>
                    <a:pt x="23435" y="190194"/>
                  </a:lnTo>
                  <a:lnTo>
                    <a:pt x="0" y="188198"/>
                  </a:lnTo>
                  <a:lnTo>
                    <a:pt x="52576" y="953"/>
                  </a:lnTo>
                  <a:lnTo>
                    <a:pt x="69643" y="1916"/>
                  </a:lnTo>
                  <a:lnTo>
                    <a:pt x="86712" y="2640"/>
                  </a:lnTo>
                  <a:lnTo>
                    <a:pt x="103782" y="3133"/>
                  </a:lnTo>
                  <a:lnTo>
                    <a:pt x="120856" y="3400"/>
                  </a:lnTo>
                  <a:lnTo>
                    <a:pt x="137937" y="3441"/>
                  </a:lnTo>
                  <a:lnTo>
                    <a:pt x="155030" y="3253"/>
                  </a:lnTo>
                  <a:lnTo>
                    <a:pt x="172138" y="2826"/>
                  </a:lnTo>
                  <a:lnTo>
                    <a:pt x="189264" y="2152"/>
                  </a:lnTo>
                  <a:lnTo>
                    <a:pt x="206408" y="1214"/>
                  </a:lnTo>
                  <a:lnTo>
                    <a:pt x="223568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5" name="Ядро эпителиальной клетки"/>
            <p:cNvSpPr/>
            <p:nvPr/>
          </p:nvSpPr>
          <p:spPr>
            <a:xfrm rot="5772632">
              <a:off x="5659687" y="4406771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6" name="Ядрышко"/>
            <p:cNvSpPr/>
            <p:nvPr/>
          </p:nvSpPr>
          <p:spPr>
            <a:xfrm>
              <a:off x="5688948" y="4458434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7" name="Клетка однослойного эпителия"/>
            <p:cNvSpPr/>
            <p:nvPr/>
          </p:nvSpPr>
          <p:spPr>
            <a:xfrm>
              <a:off x="5347773" y="4351646"/>
              <a:ext cx="282255" cy="214456"/>
            </a:xfrm>
            <a:custGeom>
              <a:avLst/>
              <a:gdLst/>
              <a:ahLst/>
              <a:cxnLst/>
              <a:rect l="l" t="t" r="r" b="b"/>
              <a:pathLst>
                <a:path w="282255" h="214456">
                  <a:moveTo>
                    <a:pt x="229679" y="214456"/>
                  </a:moveTo>
                  <a:lnTo>
                    <a:pt x="206246" y="212063"/>
                  </a:lnTo>
                  <a:lnTo>
                    <a:pt x="182825" y="209247"/>
                  </a:lnTo>
                  <a:lnTo>
                    <a:pt x="159436" y="205976"/>
                  </a:lnTo>
                  <a:lnTo>
                    <a:pt x="136106" y="202212"/>
                  </a:lnTo>
                  <a:lnTo>
                    <a:pt x="112871" y="197916"/>
                  </a:lnTo>
                  <a:lnTo>
                    <a:pt x="89776" y="193047"/>
                  </a:lnTo>
                  <a:lnTo>
                    <a:pt x="66874" y="187562"/>
                  </a:lnTo>
                  <a:lnTo>
                    <a:pt x="44230" y="181420"/>
                  </a:lnTo>
                  <a:lnTo>
                    <a:pt x="21912" y="174583"/>
                  </a:lnTo>
                  <a:lnTo>
                    <a:pt x="0" y="167017"/>
                  </a:lnTo>
                  <a:lnTo>
                    <a:pt x="115353" y="0"/>
                  </a:lnTo>
                  <a:lnTo>
                    <a:pt x="131237" y="4533"/>
                  </a:lnTo>
                  <a:lnTo>
                    <a:pt x="147425" y="8597"/>
                  </a:lnTo>
                  <a:lnTo>
                    <a:pt x="163861" y="12214"/>
                  </a:lnTo>
                  <a:lnTo>
                    <a:pt x="180493" y="15409"/>
                  </a:lnTo>
                  <a:lnTo>
                    <a:pt x="197274" y="18208"/>
                  </a:lnTo>
                  <a:lnTo>
                    <a:pt x="214165" y="20640"/>
                  </a:lnTo>
                  <a:lnTo>
                    <a:pt x="231132" y="22732"/>
                  </a:lnTo>
                  <a:lnTo>
                    <a:pt x="248149" y="24509"/>
                  </a:lnTo>
                  <a:lnTo>
                    <a:pt x="265195" y="25995"/>
                  </a:lnTo>
                  <a:lnTo>
                    <a:pt x="282255" y="2721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8" name="Ядро эпителиальной клетки"/>
            <p:cNvSpPr/>
            <p:nvPr/>
          </p:nvSpPr>
          <p:spPr>
            <a:xfrm rot="6909474">
              <a:off x="5458813" y="438982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29" name="Ядрышко"/>
            <p:cNvSpPr/>
            <p:nvPr/>
          </p:nvSpPr>
          <p:spPr>
            <a:xfrm>
              <a:off x="5488074" y="444148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0" name="Клетка однослойного эпителия"/>
            <p:cNvSpPr/>
            <p:nvPr/>
          </p:nvSpPr>
          <p:spPr>
            <a:xfrm>
              <a:off x="5169240" y="4278819"/>
              <a:ext cx="293886" cy="239844"/>
            </a:xfrm>
            <a:custGeom>
              <a:avLst/>
              <a:gdLst/>
              <a:ahLst/>
              <a:cxnLst/>
              <a:rect l="l" t="t" r="r" b="b"/>
              <a:pathLst>
                <a:path w="293886" h="239844">
                  <a:moveTo>
                    <a:pt x="178533" y="239844"/>
                  </a:moveTo>
                  <a:lnTo>
                    <a:pt x="157107" y="231522"/>
                  </a:lnTo>
                  <a:lnTo>
                    <a:pt x="136255" y="222421"/>
                  </a:lnTo>
                  <a:lnTo>
                    <a:pt x="116063" y="212528"/>
                  </a:lnTo>
                  <a:lnTo>
                    <a:pt x="96621" y="201839"/>
                  </a:lnTo>
                  <a:lnTo>
                    <a:pt x="78012" y="190359"/>
                  </a:lnTo>
                  <a:lnTo>
                    <a:pt x="60317" y="178100"/>
                  </a:lnTo>
                  <a:lnTo>
                    <a:pt x="43609" y="165089"/>
                  </a:lnTo>
                  <a:lnTo>
                    <a:pt x="27953" y="151356"/>
                  </a:lnTo>
                  <a:lnTo>
                    <a:pt x="13403" y="136945"/>
                  </a:lnTo>
                  <a:lnTo>
                    <a:pt x="0" y="121904"/>
                  </a:lnTo>
                  <a:lnTo>
                    <a:pt x="165220" y="0"/>
                  </a:lnTo>
                  <a:lnTo>
                    <a:pt x="174798" y="9411"/>
                  </a:lnTo>
                  <a:lnTo>
                    <a:pt x="185221" y="18406"/>
                  </a:lnTo>
                  <a:lnTo>
                    <a:pt x="196459" y="26953"/>
                  </a:lnTo>
                  <a:lnTo>
                    <a:pt x="208474" y="35027"/>
                  </a:lnTo>
                  <a:lnTo>
                    <a:pt x="221219" y="42607"/>
                  </a:lnTo>
                  <a:lnTo>
                    <a:pt x="234641" y="49680"/>
                  </a:lnTo>
                  <a:lnTo>
                    <a:pt x="248682" y="56238"/>
                  </a:lnTo>
                  <a:lnTo>
                    <a:pt x="263279" y="62278"/>
                  </a:lnTo>
                  <a:lnTo>
                    <a:pt x="278368" y="67804"/>
                  </a:lnTo>
                  <a:lnTo>
                    <a:pt x="293886" y="72827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1" name="Ядро эпителиальной клетки"/>
            <p:cNvSpPr/>
            <p:nvPr/>
          </p:nvSpPr>
          <p:spPr>
            <a:xfrm rot="8046316">
              <a:off x="5275999" y="432605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2" name="Ядрышко"/>
            <p:cNvSpPr/>
            <p:nvPr/>
          </p:nvSpPr>
          <p:spPr>
            <a:xfrm>
              <a:off x="5305260" y="437771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3" name="Клетка однослойного эпителия"/>
            <p:cNvSpPr/>
            <p:nvPr/>
          </p:nvSpPr>
          <p:spPr>
            <a:xfrm>
              <a:off x="5097763" y="4170485"/>
              <a:ext cx="236697" cy="230238"/>
            </a:xfrm>
            <a:custGeom>
              <a:avLst/>
              <a:gdLst/>
              <a:ahLst/>
              <a:cxnLst/>
              <a:rect l="l" t="t" r="r" b="b"/>
              <a:pathLst>
                <a:path w="236697" h="230238">
                  <a:moveTo>
                    <a:pt x="71477" y="230238"/>
                  </a:moveTo>
                  <a:lnTo>
                    <a:pt x="59250" y="214624"/>
                  </a:lnTo>
                  <a:lnTo>
                    <a:pt x="48214" y="198497"/>
                  </a:lnTo>
                  <a:lnTo>
                    <a:pt x="38369" y="181921"/>
                  </a:lnTo>
                  <a:lnTo>
                    <a:pt x="29700" y="164964"/>
                  </a:lnTo>
                  <a:lnTo>
                    <a:pt x="22180" y="147693"/>
                  </a:lnTo>
                  <a:lnTo>
                    <a:pt x="15767" y="130174"/>
                  </a:lnTo>
                  <a:lnTo>
                    <a:pt x="10410" y="112470"/>
                  </a:lnTo>
                  <a:lnTo>
                    <a:pt x="6044" y="94640"/>
                  </a:lnTo>
                  <a:lnTo>
                    <a:pt x="2600" y="76738"/>
                  </a:lnTo>
                  <a:lnTo>
                    <a:pt x="0" y="58811"/>
                  </a:lnTo>
                  <a:lnTo>
                    <a:pt x="186822" y="0"/>
                  </a:lnTo>
                  <a:lnTo>
                    <a:pt x="188482" y="11394"/>
                  </a:lnTo>
                  <a:lnTo>
                    <a:pt x="190758" y="22760"/>
                  </a:lnTo>
                  <a:lnTo>
                    <a:pt x="193707" y="34068"/>
                  </a:lnTo>
                  <a:lnTo>
                    <a:pt x="197382" y="45283"/>
                  </a:lnTo>
                  <a:lnTo>
                    <a:pt x="201828" y="56366"/>
                  </a:lnTo>
                  <a:lnTo>
                    <a:pt x="207085" y="67276"/>
                  </a:lnTo>
                  <a:lnTo>
                    <a:pt x="213185" y="77971"/>
                  </a:lnTo>
                  <a:lnTo>
                    <a:pt x="220147" y="88407"/>
                  </a:lnTo>
                  <a:lnTo>
                    <a:pt x="227984" y="98542"/>
                  </a:lnTo>
                  <a:lnTo>
                    <a:pt x="236697" y="10833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4" name="Ядро эпителиальной клетки"/>
            <p:cNvSpPr/>
            <p:nvPr/>
          </p:nvSpPr>
          <p:spPr>
            <a:xfrm rot="9183158">
              <a:off x="5167639" y="420439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5" name="Ядрышко"/>
            <p:cNvSpPr/>
            <p:nvPr/>
          </p:nvSpPr>
          <p:spPr>
            <a:xfrm>
              <a:off x="5196900" y="425605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6" name="Клетка однослойного эпителия"/>
            <p:cNvSpPr/>
            <p:nvPr/>
          </p:nvSpPr>
          <p:spPr>
            <a:xfrm>
              <a:off x="5094212" y="4053592"/>
              <a:ext cx="195732" cy="175704"/>
            </a:xfrm>
            <a:custGeom>
              <a:avLst/>
              <a:gdLst/>
              <a:ahLst/>
              <a:cxnLst/>
              <a:rect l="l" t="t" r="r" b="b"/>
              <a:pathLst>
                <a:path w="195732" h="175704">
                  <a:moveTo>
                    <a:pt x="3551" y="175704"/>
                  </a:moveTo>
                  <a:lnTo>
                    <a:pt x="1717" y="157791"/>
                  </a:lnTo>
                  <a:lnTo>
                    <a:pt x="566" y="139925"/>
                  </a:lnTo>
                  <a:lnTo>
                    <a:pt x="19" y="122130"/>
                  </a:lnTo>
                  <a:lnTo>
                    <a:pt x="0" y="104421"/>
                  </a:lnTo>
                  <a:lnTo>
                    <a:pt x="439" y="86806"/>
                  </a:lnTo>
                  <a:lnTo>
                    <a:pt x="1275" y="69288"/>
                  </a:lnTo>
                  <a:lnTo>
                    <a:pt x="2457" y="51860"/>
                  </a:lnTo>
                  <a:lnTo>
                    <a:pt x="3942" y="34513"/>
                  </a:lnTo>
                  <a:lnTo>
                    <a:pt x="5702" y="17232"/>
                  </a:lnTo>
                  <a:lnTo>
                    <a:pt x="7723" y="0"/>
                  </a:lnTo>
                  <a:lnTo>
                    <a:pt x="195732" y="4837"/>
                  </a:lnTo>
                  <a:lnTo>
                    <a:pt x="194031" y="15848"/>
                  </a:lnTo>
                  <a:lnTo>
                    <a:pt x="192519" y="26887"/>
                  </a:lnTo>
                  <a:lnTo>
                    <a:pt x="191207" y="37964"/>
                  </a:lnTo>
                  <a:lnTo>
                    <a:pt x="190116" y="49089"/>
                  </a:lnTo>
                  <a:lnTo>
                    <a:pt x="189275" y="60267"/>
                  </a:lnTo>
                  <a:lnTo>
                    <a:pt x="188722" y="71501"/>
                  </a:lnTo>
                  <a:lnTo>
                    <a:pt x="188503" y="82789"/>
                  </a:lnTo>
                  <a:lnTo>
                    <a:pt x="188667" y="94126"/>
                  </a:lnTo>
                  <a:lnTo>
                    <a:pt x="189271" y="105499"/>
                  </a:lnTo>
                  <a:lnTo>
                    <a:pt x="190373" y="116893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7" name="Ядро эпителиальной клетки"/>
            <p:cNvSpPr/>
            <p:nvPr/>
          </p:nvSpPr>
          <p:spPr>
            <a:xfrm rot="10320000">
              <a:off x="5147125" y="4060303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8" name="Ядрышко"/>
            <p:cNvSpPr/>
            <p:nvPr/>
          </p:nvSpPr>
          <p:spPr>
            <a:xfrm>
              <a:off x="5176386" y="4111967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39" name="Клетка однослойного эпителия"/>
            <p:cNvSpPr/>
            <p:nvPr/>
          </p:nvSpPr>
          <p:spPr>
            <a:xfrm>
              <a:off x="5101935" y="3880981"/>
              <a:ext cx="218842" cy="177448"/>
            </a:xfrm>
            <a:custGeom>
              <a:avLst/>
              <a:gdLst/>
              <a:ahLst/>
              <a:cxnLst/>
              <a:rect l="l" t="t" r="r" b="b"/>
              <a:pathLst>
                <a:path w="218842" h="177448">
                  <a:moveTo>
                    <a:pt x="0" y="172611"/>
                  </a:moveTo>
                  <a:lnTo>
                    <a:pt x="2276" y="155410"/>
                  </a:lnTo>
                  <a:lnTo>
                    <a:pt x="4819" y="138223"/>
                  </a:lnTo>
                  <a:lnTo>
                    <a:pt x="7649" y="121032"/>
                  </a:lnTo>
                  <a:lnTo>
                    <a:pt x="10799" y="103823"/>
                  </a:lnTo>
                  <a:lnTo>
                    <a:pt x="14309" y="86587"/>
                  </a:lnTo>
                  <a:lnTo>
                    <a:pt x="18230" y="69318"/>
                  </a:lnTo>
                  <a:lnTo>
                    <a:pt x="22615" y="52016"/>
                  </a:lnTo>
                  <a:lnTo>
                    <a:pt x="27524" y="34686"/>
                  </a:lnTo>
                  <a:lnTo>
                    <a:pt x="33016" y="17342"/>
                  </a:lnTo>
                  <a:lnTo>
                    <a:pt x="39151" y="0"/>
                  </a:lnTo>
                  <a:lnTo>
                    <a:pt x="218842" y="66902"/>
                  </a:lnTo>
                  <a:lnTo>
                    <a:pt x="214138" y="78037"/>
                  </a:lnTo>
                  <a:lnTo>
                    <a:pt x="209903" y="89165"/>
                  </a:lnTo>
                  <a:lnTo>
                    <a:pt x="206094" y="100277"/>
                  </a:lnTo>
                  <a:lnTo>
                    <a:pt x="202668" y="111364"/>
                  </a:lnTo>
                  <a:lnTo>
                    <a:pt x="199580" y="122424"/>
                  </a:lnTo>
                  <a:lnTo>
                    <a:pt x="196793" y="133457"/>
                  </a:lnTo>
                  <a:lnTo>
                    <a:pt x="194269" y="144468"/>
                  </a:lnTo>
                  <a:lnTo>
                    <a:pt x="191978" y="155464"/>
                  </a:lnTo>
                  <a:lnTo>
                    <a:pt x="189896" y="166453"/>
                  </a:lnTo>
                  <a:lnTo>
                    <a:pt x="188009" y="177448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0" name="Ядро эпителиальной клетки"/>
            <p:cNvSpPr/>
            <p:nvPr/>
          </p:nvSpPr>
          <p:spPr>
            <a:xfrm rot="11456842">
              <a:off x="5166865" y="391990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1" name="Ядрышко"/>
            <p:cNvSpPr/>
            <p:nvPr/>
          </p:nvSpPr>
          <p:spPr>
            <a:xfrm>
              <a:off x="5196126" y="3971572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2" name="Клетка однослойного эпителия"/>
            <p:cNvSpPr/>
            <p:nvPr/>
          </p:nvSpPr>
          <p:spPr>
            <a:xfrm>
              <a:off x="5141086" y="3714928"/>
              <a:ext cx="259152" cy="232955"/>
            </a:xfrm>
            <a:custGeom>
              <a:avLst/>
              <a:gdLst/>
              <a:ahLst/>
              <a:cxnLst/>
              <a:rect l="l" t="t" r="r" b="b"/>
              <a:pathLst>
                <a:path w="259152" h="232955">
                  <a:moveTo>
                    <a:pt x="0" y="166053"/>
                  </a:moveTo>
                  <a:lnTo>
                    <a:pt x="6836" y="148739"/>
                  </a:lnTo>
                  <a:lnTo>
                    <a:pt x="14423" y="131480"/>
                  </a:lnTo>
                  <a:lnTo>
                    <a:pt x="22809" y="114312"/>
                  </a:lnTo>
                  <a:lnTo>
                    <a:pt x="32032" y="97271"/>
                  </a:lnTo>
                  <a:lnTo>
                    <a:pt x="42122" y="80398"/>
                  </a:lnTo>
                  <a:lnTo>
                    <a:pt x="53100" y="63734"/>
                  </a:lnTo>
                  <a:lnTo>
                    <a:pt x="64975" y="47322"/>
                  </a:lnTo>
                  <a:lnTo>
                    <a:pt x="77748" y="31203"/>
                  </a:lnTo>
                  <a:lnTo>
                    <a:pt x="91409" y="15416"/>
                  </a:lnTo>
                  <a:lnTo>
                    <a:pt x="105941" y="0"/>
                  </a:lnTo>
                  <a:lnTo>
                    <a:pt x="259152" y="125708"/>
                  </a:lnTo>
                  <a:lnTo>
                    <a:pt x="248350" y="135727"/>
                  </a:lnTo>
                  <a:lnTo>
                    <a:pt x="238177" y="145970"/>
                  </a:lnTo>
                  <a:lnTo>
                    <a:pt x="228648" y="156413"/>
                  </a:lnTo>
                  <a:lnTo>
                    <a:pt x="219770" y="167032"/>
                  </a:lnTo>
                  <a:lnTo>
                    <a:pt x="211543" y="177799"/>
                  </a:lnTo>
                  <a:lnTo>
                    <a:pt x="203961" y="188687"/>
                  </a:lnTo>
                  <a:lnTo>
                    <a:pt x="197009" y="199672"/>
                  </a:lnTo>
                  <a:lnTo>
                    <a:pt x="190666" y="210726"/>
                  </a:lnTo>
                  <a:lnTo>
                    <a:pt x="184904" y="221827"/>
                  </a:lnTo>
                  <a:lnTo>
                    <a:pt x="179691" y="23295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3" name="Ядро эпителиальной клетки"/>
            <p:cNvSpPr/>
            <p:nvPr/>
          </p:nvSpPr>
          <p:spPr>
            <a:xfrm rot="12593684">
              <a:off x="5225587" y="377968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4" name="Ядрышко"/>
            <p:cNvSpPr/>
            <p:nvPr/>
          </p:nvSpPr>
          <p:spPr>
            <a:xfrm>
              <a:off x="5254848" y="383134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5" name="Клетка однослойного эпителия"/>
            <p:cNvSpPr/>
            <p:nvPr/>
          </p:nvSpPr>
          <p:spPr>
            <a:xfrm>
              <a:off x="5247027" y="3586165"/>
              <a:ext cx="289701" cy="254471"/>
            </a:xfrm>
            <a:custGeom>
              <a:avLst/>
              <a:gdLst/>
              <a:ahLst/>
              <a:cxnLst/>
              <a:rect l="l" t="t" r="r" b="b"/>
              <a:pathLst>
                <a:path w="289701" h="254471">
                  <a:moveTo>
                    <a:pt x="0" y="128763"/>
                  </a:moveTo>
                  <a:lnTo>
                    <a:pt x="15375" y="113749"/>
                  </a:lnTo>
                  <a:lnTo>
                    <a:pt x="31559" y="99168"/>
                  </a:lnTo>
                  <a:lnTo>
                    <a:pt x="48512" y="85044"/>
                  </a:lnTo>
                  <a:lnTo>
                    <a:pt x="66190" y="71395"/>
                  </a:lnTo>
                  <a:lnTo>
                    <a:pt x="84546" y="58237"/>
                  </a:lnTo>
                  <a:lnTo>
                    <a:pt x="103531" y="45579"/>
                  </a:lnTo>
                  <a:lnTo>
                    <a:pt x="123095" y="33426"/>
                  </a:lnTo>
                  <a:lnTo>
                    <a:pt x="143191" y="21780"/>
                  </a:lnTo>
                  <a:lnTo>
                    <a:pt x="163774" y="10640"/>
                  </a:lnTo>
                  <a:lnTo>
                    <a:pt x="184800" y="0"/>
                  </a:lnTo>
                  <a:lnTo>
                    <a:pt x="289701" y="169955"/>
                  </a:lnTo>
                  <a:lnTo>
                    <a:pt x="274225" y="177015"/>
                  </a:lnTo>
                  <a:lnTo>
                    <a:pt x="259065" y="184388"/>
                  </a:lnTo>
                  <a:lnTo>
                    <a:pt x="244254" y="192076"/>
                  </a:lnTo>
                  <a:lnTo>
                    <a:pt x="229823" y="200081"/>
                  </a:lnTo>
                  <a:lnTo>
                    <a:pt x="215809" y="208400"/>
                  </a:lnTo>
                  <a:lnTo>
                    <a:pt x="202247" y="217029"/>
                  </a:lnTo>
                  <a:lnTo>
                    <a:pt x="189172" y="225963"/>
                  </a:lnTo>
                  <a:lnTo>
                    <a:pt x="176621" y="235190"/>
                  </a:lnTo>
                  <a:lnTo>
                    <a:pt x="164624" y="244698"/>
                  </a:lnTo>
                  <a:lnTo>
                    <a:pt x="153211" y="254471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6" name="Ядро эпителиальной клетки"/>
            <p:cNvSpPr/>
            <p:nvPr/>
          </p:nvSpPr>
          <p:spPr>
            <a:xfrm rot="13730526">
              <a:off x="5354110" y="3656192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7" name="Ядрышко"/>
            <p:cNvSpPr/>
            <p:nvPr/>
          </p:nvSpPr>
          <p:spPr>
            <a:xfrm>
              <a:off x="5383370" y="3707856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8" name="Клетка однослойного эпителия"/>
            <p:cNvSpPr/>
            <p:nvPr/>
          </p:nvSpPr>
          <p:spPr>
            <a:xfrm>
              <a:off x="5431827" y="3506886"/>
              <a:ext cx="272293" cy="249234"/>
            </a:xfrm>
            <a:custGeom>
              <a:avLst/>
              <a:gdLst/>
              <a:ahLst/>
              <a:cxnLst/>
              <a:rect l="l" t="t" r="r" b="b"/>
              <a:pathLst>
                <a:path w="272293" h="249234">
                  <a:moveTo>
                    <a:pt x="0" y="79279"/>
                  </a:moveTo>
                  <a:lnTo>
                    <a:pt x="21430" y="69136"/>
                  </a:lnTo>
                  <a:lnTo>
                    <a:pt x="43232" y="59484"/>
                  </a:lnTo>
                  <a:lnTo>
                    <a:pt x="65373" y="50319"/>
                  </a:lnTo>
                  <a:lnTo>
                    <a:pt x="87829" y="41639"/>
                  </a:lnTo>
                  <a:lnTo>
                    <a:pt x="110576" y="33443"/>
                  </a:lnTo>
                  <a:lnTo>
                    <a:pt x="133595" y="25736"/>
                  </a:lnTo>
                  <a:lnTo>
                    <a:pt x="156869" y="18524"/>
                  </a:lnTo>
                  <a:lnTo>
                    <a:pt x="180381" y="11819"/>
                  </a:lnTo>
                  <a:lnTo>
                    <a:pt x="204117" y="5638"/>
                  </a:lnTo>
                  <a:lnTo>
                    <a:pt x="228060" y="0"/>
                  </a:lnTo>
                  <a:lnTo>
                    <a:pt x="272293" y="195692"/>
                  </a:lnTo>
                  <a:lnTo>
                    <a:pt x="254755" y="199601"/>
                  </a:lnTo>
                  <a:lnTo>
                    <a:pt x="237361" y="203854"/>
                  </a:lnTo>
                  <a:lnTo>
                    <a:pt x="220122" y="208438"/>
                  </a:lnTo>
                  <a:lnTo>
                    <a:pt x="203051" y="213342"/>
                  </a:lnTo>
                  <a:lnTo>
                    <a:pt x="186159" y="218559"/>
                  </a:lnTo>
                  <a:lnTo>
                    <a:pt x="169460" y="224083"/>
                  </a:lnTo>
                  <a:lnTo>
                    <a:pt x="152966" y="229912"/>
                  </a:lnTo>
                  <a:lnTo>
                    <a:pt x="136696" y="236046"/>
                  </a:lnTo>
                  <a:lnTo>
                    <a:pt x="120667" y="242486"/>
                  </a:lnTo>
                  <a:lnTo>
                    <a:pt x="104901" y="24923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49" name="Ядро эпителиальной клетки"/>
            <p:cNvSpPr/>
            <p:nvPr/>
          </p:nvSpPr>
          <p:spPr>
            <a:xfrm rot="14867368">
              <a:off x="5535986" y="3570295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0" name="Ядрышко"/>
            <p:cNvSpPr/>
            <p:nvPr/>
          </p:nvSpPr>
          <p:spPr>
            <a:xfrm>
              <a:off x="5565246" y="362195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1" name="Клетка однослойного эпителия"/>
            <p:cNvSpPr/>
            <p:nvPr/>
          </p:nvSpPr>
          <p:spPr>
            <a:xfrm>
              <a:off x="5659887" y="3484736"/>
              <a:ext cx="244796" cy="217842"/>
            </a:xfrm>
            <a:custGeom>
              <a:avLst/>
              <a:gdLst/>
              <a:ahLst/>
              <a:cxnLst/>
              <a:rect l="l" t="t" r="r" b="b"/>
              <a:pathLst>
                <a:path w="244796" h="217842">
                  <a:moveTo>
                    <a:pt x="0" y="22150"/>
                  </a:moveTo>
                  <a:lnTo>
                    <a:pt x="24130" y="17080"/>
                  </a:lnTo>
                  <a:lnTo>
                    <a:pt x="48427" y="12606"/>
                  </a:lnTo>
                  <a:lnTo>
                    <a:pt x="72865" y="8757"/>
                  </a:lnTo>
                  <a:lnTo>
                    <a:pt x="97415" y="5565"/>
                  </a:lnTo>
                  <a:lnTo>
                    <a:pt x="122041" y="3063"/>
                  </a:lnTo>
                  <a:lnTo>
                    <a:pt x="146706" y="1282"/>
                  </a:lnTo>
                  <a:lnTo>
                    <a:pt x="171364" y="252"/>
                  </a:lnTo>
                  <a:lnTo>
                    <a:pt x="195968" y="0"/>
                  </a:lnTo>
                  <a:lnTo>
                    <a:pt x="220464" y="547"/>
                  </a:lnTo>
                  <a:lnTo>
                    <a:pt x="244796" y="1911"/>
                  </a:lnTo>
                  <a:lnTo>
                    <a:pt x="223054" y="201713"/>
                  </a:lnTo>
                  <a:lnTo>
                    <a:pt x="205323" y="201165"/>
                  </a:lnTo>
                  <a:lnTo>
                    <a:pt x="187464" y="201139"/>
                  </a:lnTo>
                  <a:lnTo>
                    <a:pt x="169515" y="201624"/>
                  </a:lnTo>
                  <a:lnTo>
                    <a:pt x="151515" y="202605"/>
                  </a:lnTo>
                  <a:lnTo>
                    <a:pt x="133501" y="204066"/>
                  </a:lnTo>
                  <a:lnTo>
                    <a:pt x="115506" y="205985"/>
                  </a:lnTo>
                  <a:lnTo>
                    <a:pt x="97557" y="208344"/>
                  </a:lnTo>
                  <a:lnTo>
                    <a:pt x="79681" y="211119"/>
                  </a:lnTo>
                  <a:lnTo>
                    <a:pt x="61900" y="214292"/>
                  </a:lnTo>
                  <a:lnTo>
                    <a:pt x="44233" y="21784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2" name="Ядро эпителиальной клетки"/>
            <p:cNvSpPr/>
            <p:nvPr/>
          </p:nvSpPr>
          <p:spPr>
            <a:xfrm rot="16004211">
              <a:off x="5742167" y="352602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3" name="Ядрышко"/>
            <p:cNvSpPr/>
            <p:nvPr/>
          </p:nvSpPr>
          <p:spPr>
            <a:xfrm>
              <a:off x="5771428" y="357769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4" name="Клетка однослойного эпителия"/>
            <p:cNvSpPr/>
            <p:nvPr/>
          </p:nvSpPr>
          <p:spPr>
            <a:xfrm>
              <a:off x="5882941" y="3486647"/>
              <a:ext cx="244408" cy="233228"/>
            </a:xfrm>
            <a:custGeom>
              <a:avLst/>
              <a:gdLst/>
              <a:ahLst/>
              <a:cxnLst/>
              <a:rect l="l" t="t" r="r" b="b"/>
              <a:pathLst>
                <a:path w="244408" h="233228">
                  <a:moveTo>
                    <a:pt x="21742" y="0"/>
                  </a:moveTo>
                  <a:lnTo>
                    <a:pt x="45855" y="2191"/>
                  </a:lnTo>
                  <a:lnTo>
                    <a:pt x="69689" y="5212"/>
                  </a:lnTo>
                  <a:lnTo>
                    <a:pt x="93189" y="9058"/>
                  </a:lnTo>
                  <a:lnTo>
                    <a:pt x="116299" y="13717"/>
                  </a:lnTo>
                  <a:lnTo>
                    <a:pt x="138969" y="19167"/>
                  </a:lnTo>
                  <a:lnTo>
                    <a:pt x="161155" y="25380"/>
                  </a:lnTo>
                  <a:lnTo>
                    <a:pt x="182818" y="32320"/>
                  </a:lnTo>
                  <a:lnTo>
                    <a:pt x="203927" y="39944"/>
                  </a:lnTo>
                  <a:lnTo>
                    <a:pt x="224461" y="48202"/>
                  </a:lnTo>
                  <a:lnTo>
                    <a:pt x="244408" y="57043"/>
                  </a:lnTo>
                  <a:lnTo>
                    <a:pt x="161659" y="233228"/>
                  </a:lnTo>
                  <a:lnTo>
                    <a:pt x="147227" y="227856"/>
                  </a:lnTo>
                  <a:lnTo>
                    <a:pt x="132358" y="222862"/>
                  </a:lnTo>
                  <a:lnTo>
                    <a:pt x="117062" y="218281"/>
                  </a:lnTo>
                  <a:lnTo>
                    <a:pt x="101352" y="214143"/>
                  </a:lnTo>
                  <a:lnTo>
                    <a:pt x="85252" y="210475"/>
                  </a:lnTo>
                  <a:lnTo>
                    <a:pt x="68788" y="207299"/>
                  </a:lnTo>
                  <a:lnTo>
                    <a:pt x="51993" y="204634"/>
                  </a:lnTo>
                  <a:lnTo>
                    <a:pt x="34903" y="202492"/>
                  </a:lnTo>
                  <a:lnTo>
                    <a:pt x="17558" y="200881"/>
                  </a:lnTo>
                  <a:lnTo>
                    <a:pt x="0" y="199802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5" name="Ядро эпителиальной клетки"/>
            <p:cNvSpPr/>
            <p:nvPr/>
          </p:nvSpPr>
          <p:spPr>
            <a:xfrm rot="17141053">
              <a:off x="5948257" y="3539000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6" name="Ядрышко"/>
            <p:cNvSpPr/>
            <p:nvPr/>
          </p:nvSpPr>
          <p:spPr>
            <a:xfrm>
              <a:off x="5977518" y="359066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7" name="Клетка однослойного эпителия"/>
            <p:cNvSpPr/>
            <p:nvPr/>
          </p:nvSpPr>
          <p:spPr>
            <a:xfrm>
              <a:off x="6044600" y="3543690"/>
              <a:ext cx="253726" cy="243110"/>
            </a:xfrm>
            <a:custGeom>
              <a:avLst/>
              <a:gdLst/>
              <a:ahLst/>
              <a:cxnLst/>
              <a:rect l="l" t="t" r="r" b="b"/>
              <a:pathLst>
                <a:path w="253726" h="243110">
                  <a:moveTo>
                    <a:pt x="82749" y="0"/>
                  </a:moveTo>
                  <a:lnTo>
                    <a:pt x="102107" y="9367"/>
                  </a:lnTo>
                  <a:lnTo>
                    <a:pt x="120883" y="19202"/>
                  </a:lnTo>
                  <a:lnTo>
                    <a:pt x="139096" y="29449"/>
                  </a:lnTo>
                  <a:lnTo>
                    <a:pt x="156769" y="40050"/>
                  </a:lnTo>
                  <a:lnTo>
                    <a:pt x="173938" y="50953"/>
                  </a:lnTo>
                  <a:lnTo>
                    <a:pt x="190642" y="62110"/>
                  </a:lnTo>
                  <a:lnTo>
                    <a:pt x="206925" y="73477"/>
                  </a:lnTo>
                  <a:lnTo>
                    <a:pt x="222835" y="85020"/>
                  </a:lnTo>
                  <a:lnTo>
                    <a:pt x="238420" y="96709"/>
                  </a:lnTo>
                  <a:lnTo>
                    <a:pt x="253726" y="108525"/>
                  </a:lnTo>
                  <a:lnTo>
                    <a:pt x="123280" y="243110"/>
                  </a:lnTo>
                  <a:lnTo>
                    <a:pt x="112271" y="235780"/>
                  </a:lnTo>
                  <a:lnTo>
                    <a:pt x="101058" y="228534"/>
                  </a:lnTo>
                  <a:lnTo>
                    <a:pt x="89606" y="221386"/>
                  </a:lnTo>
                  <a:lnTo>
                    <a:pt x="77879" y="214355"/>
                  </a:lnTo>
                  <a:lnTo>
                    <a:pt x="65842" y="207463"/>
                  </a:lnTo>
                  <a:lnTo>
                    <a:pt x="53463" y="200740"/>
                  </a:lnTo>
                  <a:lnTo>
                    <a:pt x="40711" y="194215"/>
                  </a:lnTo>
                  <a:lnTo>
                    <a:pt x="27562" y="187923"/>
                  </a:lnTo>
                  <a:lnTo>
                    <a:pt x="13997" y="181901"/>
                  </a:lnTo>
                  <a:lnTo>
                    <a:pt x="0" y="176185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8" name="Ядро эпителиальной клетки"/>
            <p:cNvSpPr/>
            <p:nvPr/>
          </p:nvSpPr>
          <p:spPr>
            <a:xfrm rot="18277895">
              <a:off x="6116608" y="3609734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59" name="Ядрышко"/>
            <p:cNvSpPr/>
            <p:nvPr/>
          </p:nvSpPr>
          <p:spPr>
            <a:xfrm>
              <a:off x="6145868" y="3661398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0" name="Клетка однослойного эпителия"/>
            <p:cNvSpPr/>
            <p:nvPr/>
          </p:nvSpPr>
          <p:spPr>
            <a:xfrm>
              <a:off x="6167880" y="3652215"/>
              <a:ext cx="273606" cy="213298"/>
            </a:xfrm>
            <a:custGeom>
              <a:avLst/>
              <a:gdLst/>
              <a:ahLst/>
              <a:cxnLst/>
              <a:rect l="l" t="t" r="r" b="b"/>
              <a:pathLst>
                <a:path w="273606" h="213298">
                  <a:moveTo>
                    <a:pt x="130446" y="0"/>
                  </a:moveTo>
                  <a:lnTo>
                    <a:pt x="145517" y="11932"/>
                  </a:lnTo>
                  <a:lnTo>
                    <a:pt x="160389" y="23978"/>
                  </a:lnTo>
                  <a:lnTo>
                    <a:pt x="175094" y="36142"/>
                  </a:lnTo>
                  <a:lnTo>
                    <a:pt x="189651" y="48439"/>
                  </a:lnTo>
                  <a:lnTo>
                    <a:pt x="204072" y="60888"/>
                  </a:lnTo>
                  <a:lnTo>
                    <a:pt x="218353" y="73515"/>
                  </a:lnTo>
                  <a:lnTo>
                    <a:pt x="232480" y="86351"/>
                  </a:lnTo>
                  <a:lnTo>
                    <a:pt x="246427" y="99427"/>
                  </a:lnTo>
                  <a:lnTo>
                    <a:pt x="260153" y="112780"/>
                  </a:lnTo>
                  <a:lnTo>
                    <a:pt x="273606" y="126442"/>
                  </a:lnTo>
                  <a:lnTo>
                    <a:pt x="102753" y="213298"/>
                  </a:lnTo>
                  <a:lnTo>
                    <a:pt x="93121" y="204766"/>
                  </a:lnTo>
                  <a:lnTo>
                    <a:pt x="83286" y="196436"/>
                  </a:lnTo>
                  <a:lnTo>
                    <a:pt x="73285" y="188284"/>
                  </a:lnTo>
                  <a:lnTo>
                    <a:pt x="63150" y="180288"/>
                  </a:lnTo>
                  <a:lnTo>
                    <a:pt x="52899" y="172427"/>
                  </a:lnTo>
                  <a:lnTo>
                    <a:pt x="42545" y="164682"/>
                  </a:lnTo>
                  <a:lnTo>
                    <a:pt x="32089" y="157035"/>
                  </a:lnTo>
                  <a:lnTo>
                    <a:pt x="21524" y="149475"/>
                  </a:lnTo>
                  <a:lnTo>
                    <a:pt x="10835" y="141993"/>
                  </a:lnTo>
                  <a:lnTo>
                    <a:pt x="0" y="134585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1" name="Ядро эпителиальной клетки"/>
            <p:cNvSpPr/>
            <p:nvPr/>
          </p:nvSpPr>
          <p:spPr>
            <a:xfrm rot="19414737">
              <a:off x="6247622" y="3704809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2" name="Ядрышко"/>
            <p:cNvSpPr/>
            <p:nvPr/>
          </p:nvSpPr>
          <p:spPr>
            <a:xfrm>
              <a:off x="6276882" y="3756473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3" name="Клетка однослойного эпителия"/>
            <p:cNvSpPr/>
            <p:nvPr/>
          </p:nvSpPr>
          <p:spPr>
            <a:xfrm>
              <a:off x="6270633" y="3778657"/>
              <a:ext cx="272820" cy="186308"/>
            </a:xfrm>
            <a:custGeom>
              <a:avLst/>
              <a:gdLst/>
              <a:ahLst/>
              <a:cxnLst/>
              <a:rect l="l" t="t" r="r" b="b"/>
              <a:pathLst>
                <a:path w="272820" h="186308">
                  <a:moveTo>
                    <a:pt x="170853" y="0"/>
                  </a:moveTo>
                  <a:lnTo>
                    <a:pt x="183967" y="14003"/>
                  </a:lnTo>
                  <a:lnTo>
                    <a:pt x="196671" y="28377"/>
                  </a:lnTo>
                  <a:lnTo>
                    <a:pt x="208880" y="43146"/>
                  </a:lnTo>
                  <a:lnTo>
                    <a:pt x="220506" y="58327"/>
                  </a:lnTo>
                  <a:lnTo>
                    <a:pt x="231456" y="73932"/>
                  </a:lnTo>
                  <a:lnTo>
                    <a:pt x="241635" y="89963"/>
                  </a:lnTo>
                  <a:lnTo>
                    <a:pt x="250949" y="106416"/>
                  </a:lnTo>
                  <a:lnTo>
                    <a:pt x="259307" y="123277"/>
                  </a:lnTo>
                  <a:lnTo>
                    <a:pt x="266623" y="140523"/>
                  </a:lnTo>
                  <a:lnTo>
                    <a:pt x="272820" y="158125"/>
                  </a:lnTo>
                  <a:lnTo>
                    <a:pt x="72290" y="186308"/>
                  </a:lnTo>
                  <a:lnTo>
                    <a:pt x="68003" y="175169"/>
                  </a:lnTo>
                  <a:lnTo>
                    <a:pt x="62893" y="164272"/>
                  </a:lnTo>
                  <a:lnTo>
                    <a:pt x="57020" y="153635"/>
                  </a:lnTo>
                  <a:lnTo>
                    <a:pt x="50443" y="143270"/>
                  </a:lnTo>
                  <a:lnTo>
                    <a:pt x="43229" y="133185"/>
                  </a:lnTo>
                  <a:lnTo>
                    <a:pt x="35448" y="123382"/>
                  </a:lnTo>
                  <a:lnTo>
                    <a:pt x="27168" y="113858"/>
                  </a:lnTo>
                  <a:lnTo>
                    <a:pt x="18458" y="104605"/>
                  </a:lnTo>
                  <a:lnTo>
                    <a:pt x="9381" y="95609"/>
                  </a:lnTo>
                  <a:lnTo>
                    <a:pt x="0" y="86856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4" name="Ядро эпителиальной клетки"/>
            <p:cNvSpPr/>
            <p:nvPr/>
          </p:nvSpPr>
          <p:spPr>
            <a:xfrm rot="20551579">
              <a:off x="6358491" y="3817106"/>
              <a:ext cx="91440" cy="132588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5" name="Ядрышко"/>
            <p:cNvSpPr/>
            <p:nvPr/>
          </p:nvSpPr>
          <p:spPr>
            <a:xfrm>
              <a:off x="6387751" y="3868770"/>
              <a:ext cx="22860" cy="22860"/>
            </a:xfrm>
            <a:prstGeom prst="ellipse">
              <a:avLst/>
            </a:prstGeom>
            <a:solidFill>
              <a:srgbClr val="88609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6" name="Просвет канальца"/>
            <p:cNvSpPr/>
            <p:nvPr/>
          </p:nvSpPr>
          <p:spPr>
            <a:xfrm>
              <a:off x="5280206" y="3687655"/>
              <a:ext cx="1065743" cy="695242"/>
            </a:xfrm>
            <a:custGeom>
              <a:avLst/>
              <a:gdLst/>
              <a:ahLst/>
              <a:cxnLst/>
              <a:rect l="l" t="t" r="r" b="b"/>
              <a:pathLst>
                <a:path w="1065743" h="695242">
                  <a:moveTo>
                    <a:pt x="1059436" y="277771"/>
                  </a:moveTo>
                  <a:lnTo>
                    <a:pt x="1063675" y="295813"/>
                  </a:lnTo>
                  <a:lnTo>
                    <a:pt x="1065743" y="314227"/>
                  </a:lnTo>
                  <a:lnTo>
                    <a:pt x="1065573" y="332896"/>
                  </a:lnTo>
                  <a:lnTo>
                    <a:pt x="1063154" y="351696"/>
                  </a:lnTo>
                  <a:lnTo>
                    <a:pt x="1058529" y="370499"/>
                  </a:lnTo>
                  <a:lnTo>
                    <a:pt x="1051793" y="389184"/>
                  </a:lnTo>
                  <a:lnTo>
                    <a:pt x="1043082" y="407643"/>
                  </a:lnTo>
                  <a:lnTo>
                    <a:pt x="1032561" y="425786"/>
                  </a:lnTo>
                  <a:lnTo>
                    <a:pt x="1020416" y="443540"/>
                  </a:lnTo>
                  <a:lnTo>
                    <a:pt x="1006837" y="460859"/>
                  </a:lnTo>
                  <a:lnTo>
                    <a:pt x="992007" y="477711"/>
                  </a:lnTo>
                  <a:lnTo>
                    <a:pt x="976091" y="494086"/>
                  </a:lnTo>
                  <a:lnTo>
                    <a:pt x="959226" y="509984"/>
                  </a:lnTo>
                  <a:lnTo>
                    <a:pt x="941520" y="525412"/>
                  </a:lnTo>
                  <a:lnTo>
                    <a:pt x="923046" y="540376"/>
                  </a:lnTo>
                  <a:lnTo>
                    <a:pt x="903846" y="554882"/>
                  </a:lnTo>
                  <a:lnTo>
                    <a:pt x="883936" y="568921"/>
                  </a:lnTo>
                  <a:lnTo>
                    <a:pt x="863312" y="582474"/>
                  </a:lnTo>
                  <a:lnTo>
                    <a:pt x="841959" y="595507"/>
                  </a:lnTo>
                  <a:lnTo>
                    <a:pt x="819858" y="607971"/>
                  </a:lnTo>
                  <a:lnTo>
                    <a:pt x="797001" y="619807"/>
                  </a:lnTo>
                  <a:lnTo>
                    <a:pt x="773390" y="630945"/>
                  </a:lnTo>
                  <a:lnTo>
                    <a:pt x="749048" y="641314"/>
                  </a:lnTo>
                  <a:lnTo>
                    <a:pt x="724018" y="650846"/>
                  </a:lnTo>
                  <a:lnTo>
                    <a:pt x="698367" y="659481"/>
                  </a:lnTo>
                  <a:lnTo>
                    <a:pt x="672178" y="667172"/>
                  </a:lnTo>
                  <a:lnTo>
                    <a:pt x="645550" y="673890"/>
                  </a:lnTo>
                  <a:lnTo>
                    <a:pt x="618586" y="679629"/>
                  </a:lnTo>
                  <a:lnTo>
                    <a:pt x="591392" y="684399"/>
                  </a:lnTo>
                  <a:lnTo>
                    <a:pt x="564064" y="688232"/>
                  </a:lnTo>
                  <a:lnTo>
                    <a:pt x="536686" y="691175"/>
                  </a:lnTo>
                  <a:lnTo>
                    <a:pt x="509322" y="693285"/>
                  </a:lnTo>
                  <a:lnTo>
                    <a:pt x="482018" y="694621"/>
                  </a:lnTo>
                  <a:lnTo>
                    <a:pt x="454798" y="695242"/>
                  </a:lnTo>
                  <a:lnTo>
                    <a:pt x="427673" y="695195"/>
                  </a:lnTo>
                  <a:lnTo>
                    <a:pt x="400642" y="694511"/>
                  </a:lnTo>
                  <a:lnTo>
                    <a:pt x="373702" y="693203"/>
                  </a:lnTo>
                  <a:lnTo>
                    <a:pt x="346857" y="691258"/>
                  </a:lnTo>
                  <a:lnTo>
                    <a:pt x="320125" y="688643"/>
                  </a:lnTo>
                  <a:lnTo>
                    <a:pt x="293551" y="685300"/>
                  </a:lnTo>
                  <a:lnTo>
                    <a:pt x="267206" y="681157"/>
                  </a:lnTo>
                  <a:lnTo>
                    <a:pt x="241197" y="676131"/>
                  </a:lnTo>
                  <a:lnTo>
                    <a:pt x="215665" y="670136"/>
                  </a:lnTo>
                  <a:lnTo>
                    <a:pt x="190781" y="663089"/>
                  </a:lnTo>
                  <a:lnTo>
                    <a:pt x="166744" y="654922"/>
                  </a:lnTo>
                  <a:lnTo>
                    <a:pt x="143767" y="645589"/>
                  </a:lnTo>
                  <a:lnTo>
                    <a:pt x="122068" y="635068"/>
                  </a:lnTo>
                  <a:lnTo>
                    <a:pt x="101856" y="623370"/>
                  </a:lnTo>
                  <a:lnTo>
                    <a:pt x="83320" y="610537"/>
                  </a:lnTo>
                  <a:lnTo>
                    <a:pt x="66614" y="596644"/>
                  </a:lnTo>
                  <a:lnTo>
                    <a:pt x="51849" y="581792"/>
                  </a:lnTo>
                  <a:lnTo>
                    <a:pt x="39083" y="566105"/>
                  </a:lnTo>
                  <a:lnTo>
                    <a:pt x="28322" y="549723"/>
                  </a:lnTo>
                  <a:lnTo>
                    <a:pt x="19516" y="532792"/>
                  </a:lnTo>
                  <a:lnTo>
                    <a:pt x="12566" y="515455"/>
                  </a:lnTo>
                  <a:lnTo>
                    <a:pt x="7331" y="497846"/>
                  </a:lnTo>
                  <a:lnTo>
                    <a:pt x="3642" y="480082"/>
                  </a:lnTo>
                  <a:lnTo>
                    <a:pt x="1313" y="462256"/>
                  </a:lnTo>
                  <a:lnTo>
                    <a:pt x="156" y="444437"/>
                  </a:lnTo>
                  <a:lnTo>
                    <a:pt x="0" y="426665"/>
                  </a:lnTo>
                  <a:lnTo>
                    <a:pt x="695" y="408960"/>
                  </a:lnTo>
                  <a:lnTo>
                    <a:pt x="2133" y="391317"/>
                  </a:lnTo>
                  <a:lnTo>
                    <a:pt x="4249" y="373719"/>
                  </a:lnTo>
                  <a:lnTo>
                    <a:pt x="7025" y="356138"/>
                  </a:lnTo>
                  <a:lnTo>
                    <a:pt x="10489" y="338549"/>
                  </a:lnTo>
                  <a:lnTo>
                    <a:pt x="14715" y="320929"/>
                  </a:lnTo>
                  <a:lnTo>
                    <a:pt x="19808" y="303271"/>
                  </a:lnTo>
                  <a:lnTo>
                    <a:pt x="25897" y="285582"/>
                  </a:lnTo>
                  <a:lnTo>
                    <a:pt x="33120" y="267889"/>
                  </a:lnTo>
                  <a:lnTo>
                    <a:pt x="41616" y="250242"/>
                  </a:lnTo>
                  <a:lnTo>
                    <a:pt x="51506" y="232706"/>
                  </a:lnTo>
                  <a:lnTo>
                    <a:pt x="62888" y="215364"/>
                  </a:lnTo>
                  <a:lnTo>
                    <a:pt x="75824" y="198309"/>
                  </a:lnTo>
                  <a:lnTo>
                    <a:pt x="90340" y="181638"/>
                  </a:lnTo>
                  <a:lnTo>
                    <a:pt x="106422" y="165446"/>
                  </a:lnTo>
                  <a:lnTo>
                    <a:pt x="124016" y="149823"/>
                  </a:lnTo>
                  <a:lnTo>
                    <a:pt x="143037" y="134843"/>
                  </a:lnTo>
                  <a:lnTo>
                    <a:pt x="163375" y="120567"/>
                  </a:lnTo>
                  <a:lnTo>
                    <a:pt x="184901" y="107037"/>
                  </a:lnTo>
                  <a:lnTo>
                    <a:pt x="207483" y="94278"/>
                  </a:lnTo>
                  <a:lnTo>
                    <a:pt x="230985" y="82297"/>
                  </a:lnTo>
                  <a:lnTo>
                    <a:pt x="255285" y="71093"/>
                  </a:lnTo>
                  <a:lnTo>
                    <a:pt x="280274" y="60654"/>
                  </a:lnTo>
                  <a:lnTo>
                    <a:pt x="305861" y="50970"/>
                  </a:lnTo>
                  <a:lnTo>
                    <a:pt x="331972" y="42032"/>
                  </a:lnTo>
                  <a:lnTo>
                    <a:pt x="358550" y="33843"/>
                  </a:lnTo>
                  <a:lnTo>
                    <a:pt x="385547" y="26418"/>
                  </a:lnTo>
                  <a:lnTo>
                    <a:pt x="412923" y="19787"/>
                  </a:lnTo>
                  <a:lnTo>
                    <a:pt x="440631" y="13996"/>
                  </a:lnTo>
                  <a:lnTo>
                    <a:pt x="468619" y="9107"/>
                  </a:lnTo>
                  <a:lnTo>
                    <a:pt x="496819" y="5188"/>
                  </a:lnTo>
                  <a:lnTo>
                    <a:pt x="525141" y="2316"/>
                  </a:lnTo>
                  <a:lnTo>
                    <a:pt x="553480" y="564"/>
                  </a:lnTo>
                  <a:lnTo>
                    <a:pt x="581708" y="0"/>
                  </a:lnTo>
                  <a:lnTo>
                    <a:pt x="609683" y="673"/>
                  </a:lnTo>
                  <a:lnTo>
                    <a:pt x="637252" y="2614"/>
                  </a:lnTo>
                  <a:lnTo>
                    <a:pt x="664264" y="5826"/>
                  </a:lnTo>
                  <a:lnTo>
                    <a:pt x="690575" y="10285"/>
                  </a:lnTo>
                  <a:lnTo>
                    <a:pt x="716057" y="15940"/>
                  </a:lnTo>
                  <a:lnTo>
                    <a:pt x="740611" y="22712"/>
                  </a:lnTo>
                  <a:lnTo>
                    <a:pt x="764170" y="30501"/>
                  </a:lnTo>
                  <a:lnTo>
                    <a:pt x="786701" y="39189"/>
                  </a:lnTo>
                  <a:lnTo>
                    <a:pt x="808215" y="48654"/>
                  </a:lnTo>
                  <a:lnTo>
                    <a:pt x="828753" y="58770"/>
                  </a:lnTo>
                  <a:lnTo>
                    <a:pt x="848389" y="69424"/>
                  </a:lnTo>
                  <a:lnTo>
                    <a:pt x="867217" y="80515"/>
                  </a:lnTo>
                  <a:lnTo>
                    <a:pt x="885339" y="91968"/>
                  </a:lnTo>
                  <a:lnTo>
                    <a:pt x="902857" y="103732"/>
                  </a:lnTo>
                  <a:lnTo>
                    <a:pt x="919855" y="115786"/>
                  </a:lnTo>
                  <a:lnTo>
                    <a:pt x="936390" y="128135"/>
                  </a:lnTo>
                  <a:lnTo>
                    <a:pt x="952482" y="140809"/>
                  </a:lnTo>
                  <a:lnTo>
                    <a:pt x="968105" y="153858"/>
                  </a:lnTo>
                  <a:lnTo>
                    <a:pt x="983187" y="167342"/>
                  </a:lnTo>
                  <a:lnTo>
                    <a:pt x="997606" y="181324"/>
                  </a:lnTo>
                  <a:lnTo>
                    <a:pt x="1011200" y="195864"/>
                  </a:lnTo>
                  <a:lnTo>
                    <a:pt x="1023772" y="211008"/>
                  </a:lnTo>
                  <a:lnTo>
                    <a:pt x="1035104" y="226783"/>
                  </a:lnTo>
                  <a:lnTo>
                    <a:pt x="1044969" y="243190"/>
                  </a:lnTo>
                  <a:lnTo>
                    <a:pt x="1053146" y="260204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7" name="Перитубулярный капилляр"/>
            <p:cNvSpPr/>
            <p:nvPr/>
          </p:nvSpPr>
          <p:spPr>
            <a:xfrm>
              <a:off x="59113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8" name="Эритроцит в просвете капилляра"/>
            <p:cNvSpPr/>
            <p:nvPr/>
          </p:nvSpPr>
          <p:spPr>
            <a:xfrm rot="21300000">
              <a:off x="59580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69" name="Центральное просветление эритроцита"/>
            <p:cNvSpPr/>
            <p:nvPr/>
          </p:nvSpPr>
          <p:spPr>
            <a:xfrm rot="21300000">
              <a:off x="59891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0" name="Эритроцит в просвете капилляра"/>
            <p:cNvSpPr/>
            <p:nvPr/>
          </p:nvSpPr>
          <p:spPr>
            <a:xfrm rot="21300000">
              <a:off x="59692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1" name="Центральное просветление эритроцита"/>
            <p:cNvSpPr/>
            <p:nvPr/>
          </p:nvSpPr>
          <p:spPr>
            <a:xfrm rot="21300000">
              <a:off x="60002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2" name="Эритроцит в просвете капилляра"/>
            <p:cNvSpPr/>
            <p:nvPr/>
          </p:nvSpPr>
          <p:spPr>
            <a:xfrm rot="21300000">
              <a:off x="59803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3" name="Центральное просветление эритроцита"/>
            <p:cNvSpPr/>
            <p:nvPr/>
          </p:nvSpPr>
          <p:spPr>
            <a:xfrm rot="21300000">
              <a:off x="60114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4" name="Ядро эндотелия"/>
            <p:cNvSpPr/>
            <p:nvPr/>
          </p:nvSpPr>
          <p:spPr>
            <a:xfrm rot="21300000">
              <a:off x="60950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5" name="Перитубулярный капилляр"/>
            <p:cNvSpPr/>
            <p:nvPr/>
          </p:nvSpPr>
          <p:spPr>
            <a:xfrm>
              <a:off x="48377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6" name="Эритроцит в просвете капилляра"/>
            <p:cNvSpPr/>
            <p:nvPr/>
          </p:nvSpPr>
          <p:spPr>
            <a:xfrm rot="1980000">
              <a:off x="50239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7" name="Центральное просветление эритроцита"/>
            <p:cNvSpPr/>
            <p:nvPr/>
          </p:nvSpPr>
          <p:spPr>
            <a:xfrm rot="1980000">
              <a:off x="50550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8" name="Эритроцит в просвете капилляра"/>
            <p:cNvSpPr/>
            <p:nvPr/>
          </p:nvSpPr>
          <p:spPr>
            <a:xfrm rot="1980000">
              <a:off x="49542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79" name="Центральное просветление эритроцита"/>
            <p:cNvSpPr/>
            <p:nvPr/>
          </p:nvSpPr>
          <p:spPr>
            <a:xfrm rot="1980000">
              <a:off x="49853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0" name="Эритроцит в просвете капилляра"/>
            <p:cNvSpPr/>
            <p:nvPr/>
          </p:nvSpPr>
          <p:spPr>
            <a:xfrm rot="1980000">
              <a:off x="48844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1" name="Центральное просветление эритроцита"/>
            <p:cNvSpPr/>
            <p:nvPr/>
          </p:nvSpPr>
          <p:spPr>
            <a:xfrm rot="1980000">
              <a:off x="49155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2" name="Ядро эндотелия"/>
            <p:cNvSpPr/>
            <p:nvPr/>
          </p:nvSpPr>
          <p:spPr>
            <a:xfrm rot="1980000">
              <a:off x="50641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3" name="Перитубулярный капилляр"/>
            <p:cNvSpPr/>
            <p:nvPr/>
          </p:nvSpPr>
          <p:spPr>
            <a:xfrm>
              <a:off x="68721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4" name="Эритроцит в просвете капилляра"/>
            <p:cNvSpPr/>
            <p:nvPr/>
          </p:nvSpPr>
          <p:spPr>
            <a:xfrm rot="20100000">
              <a:off x="69117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5" name="Центральное просветление эритроцита"/>
            <p:cNvSpPr/>
            <p:nvPr/>
          </p:nvSpPr>
          <p:spPr>
            <a:xfrm rot="20100000">
              <a:off x="69428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6" name="Эритроцит в просвете капилляра"/>
            <p:cNvSpPr/>
            <p:nvPr/>
          </p:nvSpPr>
          <p:spPr>
            <a:xfrm rot="20100000">
              <a:off x="69658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7" name="Центральное просветление эритроцита"/>
            <p:cNvSpPr/>
            <p:nvPr/>
          </p:nvSpPr>
          <p:spPr>
            <a:xfrm rot="20100000">
              <a:off x="69969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8" name="Эритроцит в просвете капилляра"/>
            <p:cNvSpPr/>
            <p:nvPr/>
          </p:nvSpPr>
          <p:spPr>
            <a:xfrm rot="20100000">
              <a:off x="70200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89" name="Центральное просветление эритроцита"/>
            <p:cNvSpPr/>
            <p:nvPr/>
          </p:nvSpPr>
          <p:spPr>
            <a:xfrm rot="20100000">
              <a:off x="70510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0" name="Ядро эндотелия"/>
            <p:cNvSpPr/>
            <p:nvPr/>
          </p:nvSpPr>
          <p:spPr>
            <a:xfrm rot="20100000">
              <a:off x="70743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grpSp>
        <p:nvGrpSpPr>
          <p:cNvPr id="491" name="Фиброз и атрофия: редактируемая схема"/>
          <p:cNvGrpSpPr/>
          <p:nvPr/>
        </p:nvGrpSpPr>
        <p:grpSpPr>
          <a:xfrm>
            <a:off x="8272668" y="1923098"/>
            <a:ext cx="3247031" cy="2826647"/>
            <a:chOff x="8272668" y="1923098"/>
            <a:chExt cx="3247031" cy="2826647"/>
          </a:xfrm>
        </p:grpSpPr>
        <p:sp>
          <p:nvSpPr>
            <p:cNvPr id="492" name="Интерстиций"/>
            <p:cNvSpPr/>
            <p:nvPr/>
          </p:nvSpPr>
          <p:spPr>
            <a:xfrm>
              <a:off x="8272668" y="1923098"/>
              <a:ext cx="3247031" cy="2826647"/>
            </a:xfrm>
            <a:custGeom>
              <a:avLst/>
              <a:gdLst/>
              <a:ahLst/>
              <a:cxnLst/>
              <a:rect l="l" t="t" r="r" b="b"/>
              <a:pathLst>
                <a:path w="3247031" h="2826647">
                  <a:moveTo>
                    <a:pt x="20940" y="509206"/>
                  </a:moveTo>
                  <a:lnTo>
                    <a:pt x="29566" y="444269"/>
                  </a:lnTo>
                  <a:lnTo>
                    <a:pt x="37942" y="388048"/>
                  </a:lnTo>
                  <a:lnTo>
                    <a:pt x="47247" y="339256"/>
                  </a:lnTo>
                  <a:lnTo>
                    <a:pt x="58659" y="296608"/>
                  </a:lnTo>
                  <a:lnTo>
                    <a:pt x="73357" y="258818"/>
                  </a:lnTo>
                  <a:lnTo>
                    <a:pt x="92520" y="224599"/>
                  </a:lnTo>
                  <a:lnTo>
                    <a:pt x="117327" y="192666"/>
                  </a:lnTo>
                  <a:lnTo>
                    <a:pt x="148956" y="161734"/>
                  </a:lnTo>
                  <a:lnTo>
                    <a:pt x="187318" y="132820"/>
                  </a:lnTo>
                  <a:lnTo>
                    <a:pt x="231252" y="107584"/>
                  </a:lnTo>
                  <a:lnTo>
                    <a:pt x="280330" y="85707"/>
                  </a:lnTo>
                  <a:lnTo>
                    <a:pt x="334122" y="66865"/>
                  </a:lnTo>
                  <a:lnTo>
                    <a:pt x="392201" y="50738"/>
                  </a:lnTo>
                  <a:lnTo>
                    <a:pt x="454137" y="37004"/>
                  </a:lnTo>
                  <a:lnTo>
                    <a:pt x="519502" y="25342"/>
                  </a:lnTo>
                  <a:lnTo>
                    <a:pt x="587868" y="15430"/>
                  </a:lnTo>
                  <a:lnTo>
                    <a:pt x="662761" y="7742"/>
                  </a:lnTo>
                  <a:lnTo>
                    <a:pt x="746102" y="2786"/>
                  </a:lnTo>
                  <a:lnTo>
                    <a:pt x="835051" y="294"/>
                  </a:lnTo>
                  <a:lnTo>
                    <a:pt x="926768" y="0"/>
                  </a:lnTo>
                  <a:lnTo>
                    <a:pt x="1018413" y="1634"/>
                  </a:lnTo>
                  <a:lnTo>
                    <a:pt x="1107147" y="4929"/>
                  </a:lnTo>
                  <a:lnTo>
                    <a:pt x="1190131" y="9617"/>
                  </a:lnTo>
                  <a:lnTo>
                    <a:pt x="1264524" y="15430"/>
                  </a:lnTo>
                  <a:lnTo>
                    <a:pt x="1327746" y="22565"/>
                  </a:lnTo>
                  <a:lnTo>
                    <a:pt x="1381396" y="31361"/>
                  </a:lnTo>
                  <a:lnTo>
                    <a:pt x="1428902" y="41764"/>
                  </a:lnTo>
                  <a:lnTo>
                    <a:pt x="1473693" y="53721"/>
                  </a:lnTo>
                  <a:lnTo>
                    <a:pt x="1519199" y="67178"/>
                  </a:lnTo>
                  <a:lnTo>
                    <a:pt x="1568848" y="82081"/>
                  </a:lnTo>
                  <a:lnTo>
                    <a:pt x="1626069" y="98378"/>
                  </a:lnTo>
                  <a:lnTo>
                    <a:pt x="1694292" y="116014"/>
                  </a:lnTo>
                  <a:lnTo>
                    <a:pt x="1776302" y="135329"/>
                  </a:lnTo>
                  <a:lnTo>
                    <a:pt x="1870028" y="156519"/>
                  </a:lnTo>
                  <a:lnTo>
                    <a:pt x="1971612" y="179317"/>
                  </a:lnTo>
                  <a:lnTo>
                    <a:pt x="2077197" y="203454"/>
                  </a:lnTo>
                  <a:lnTo>
                    <a:pt x="2182925" y="228662"/>
                  </a:lnTo>
                  <a:lnTo>
                    <a:pt x="2284937" y="254674"/>
                  </a:lnTo>
                  <a:lnTo>
                    <a:pt x="2379378" y="281222"/>
                  </a:lnTo>
                  <a:lnTo>
                    <a:pt x="2462388" y="308038"/>
                  </a:lnTo>
                  <a:lnTo>
                    <a:pt x="2534647" y="333693"/>
                  </a:lnTo>
                  <a:lnTo>
                    <a:pt x="2600120" y="357830"/>
                  </a:lnTo>
                  <a:lnTo>
                    <a:pt x="2659877" y="381788"/>
                  </a:lnTo>
                  <a:lnTo>
                    <a:pt x="2714991" y="406908"/>
                  </a:lnTo>
                  <a:lnTo>
                    <a:pt x="2766533" y="434527"/>
                  </a:lnTo>
                  <a:lnTo>
                    <a:pt x="2815575" y="465986"/>
                  </a:lnTo>
                  <a:lnTo>
                    <a:pt x="2863188" y="502625"/>
                  </a:lnTo>
                  <a:lnTo>
                    <a:pt x="2910444" y="545782"/>
                  </a:lnTo>
                  <a:lnTo>
                    <a:pt x="2958120" y="595538"/>
                  </a:lnTo>
                  <a:lnTo>
                    <a:pt x="3005527" y="650652"/>
                  </a:lnTo>
                  <a:lnTo>
                    <a:pt x="3051542" y="710481"/>
                  </a:lnTo>
                  <a:lnTo>
                    <a:pt x="3095039" y="774382"/>
                  </a:lnTo>
                  <a:lnTo>
                    <a:pt x="3134892" y="841712"/>
                  </a:lnTo>
                  <a:lnTo>
                    <a:pt x="3169976" y="911828"/>
                  </a:lnTo>
                  <a:lnTo>
                    <a:pt x="3199168" y="984087"/>
                  </a:lnTo>
                  <a:lnTo>
                    <a:pt x="3221340" y="1057846"/>
                  </a:lnTo>
                  <a:lnTo>
                    <a:pt x="3236119" y="1135240"/>
                  </a:lnTo>
                  <a:lnTo>
                    <a:pt x="3244414" y="1217795"/>
                  </a:lnTo>
                  <a:lnTo>
                    <a:pt x="3247031" y="1303957"/>
                  </a:lnTo>
                  <a:lnTo>
                    <a:pt x="3244772" y="1392174"/>
                  </a:lnTo>
                  <a:lnTo>
                    <a:pt x="3238440" y="1480890"/>
                  </a:lnTo>
                  <a:lnTo>
                    <a:pt x="3228841" y="1568553"/>
                  </a:lnTo>
                  <a:lnTo>
                    <a:pt x="3216777" y="1653608"/>
                  </a:lnTo>
                  <a:lnTo>
                    <a:pt x="3203052" y="1734502"/>
                  </a:lnTo>
                  <a:lnTo>
                    <a:pt x="3188890" y="1812699"/>
                  </a:lnTo>
                  <a:lnTo>
                    <a:pt x="3174048" y="1890307"/>
                  </a:lnTo>
                  <a:lnTo>
                    <a:pt x="3157136" y="1966736"/>
                  </a:lnTo>
                  <a:lnTo>
                    <a:pt x="3136758" y="2041398"/>
                  </a:lnTo>
                  <a:lnTo>
                    <a:pt x="3111523" y="2113701"/>
                  </a:lnTo>
                  <a:lnTo>
                    <a:pt x="3080037" y="2183058"/>
                  </a:lnTo>
                  <a:lnTo>
                    <a:pt x="3040907" y="2248879"/>
                  </a:lnTo>
                  <a:lnTo>
                    <a:pt x="2992740" y="2310574"/>
                  </a:lnTo>
                  <a:lnTo>
                    <a:pt x="2933295" y="2368751"/>
                  </a:lnTo>
                  <a:lnTo>
                    <a:pt x="2862938" y="2424231"/>
                  </a:lnTo>
                  <a:lnTo>
                    <a:pt x="2784187" y="2476747"/>
                  </a:lnTo>
                  <a:lnTo>
                    <a:pt x="2699560" y="2526030"/>
                  </a:lnTo>
                  <a:lnTo>
                    <a:pt x="2611576" y="2571812"/>
                  </a:lnTo>
                  <a:lnTo>
                    <a:pt x="2522753" y="2613826"/>
                  </a:lnTo>
                  <a:lnTo>
                    <a:pt x="2435608" y="2651804"/>
                  </a:lnTo>
                  <a:lnTo>
                    <a:pt x="2352660" y="2685478"/>
                  </a:lnTo>
                  <a:lnTo>
                    <a:pt x="2272838" y="2714357"/>
                  </a:lnTo>
                  <a:lnTo>
                    <a:pt x="2193283" y="2738485"/>
                  </a:lnTo>
                  <a:lnTo>
                    <a:pt x="2113836" y="2758398"/>
                  </a:lnTo>
                  <a:lnTo>
                    <a:pt x="2034335" y="2774632"/>
                  </a:lnTo>
                  <a:lnTo>
                    <a:pt x="1954619" y="2787723"/>
                  </a:lnTo>
                  <a:lnTo>
                    <a:pt x="1874529" y="2798206"/>
                  </a:lnTo>
                  <a:lnTo>
                    <a:pt x="1793903" y="2806618"/>
                  </a:lnTo>
                  <a:lnTo>
                    <a:pt x="1712580" y="2813494"/>
                  </a:lnTo>
                  <a:lnTo>
                    <a:pt x="1630141" y="2819379"/>
                  </a:lnTo>
                  <a:lnTo>
                    <a:pt x="1546559" y="2823995"/>
                  </a:lnTo>
                  <a:lnTo>
                    <a:pt x="1462263" y="2826647"/>
                  </a:lnTo>
                  <a:lnTo>
                    <a:pt x="1377681" y="2826639"/>
                  </a:lnTo>
                  <a:lnTo>
                    <a:pt x="1293242" y="2823272"/>
                  </a:lnTo>
                  <a:lnTo>
                    <a:pt x="1209374" y="2815851"/>
                  </a:lnTo>
                  <a:lnTo>
                    <a:pt x="1126507" y="2803680"/>
                  </a:lnTo>
                  <a:lnTo>
                    <a:pt x="1045068" y="2786062"/>
                  </a:lnTo>
                  <a:lnTo>
                    <a:pt x="963469" y="2762970"/>
                  </a:lnTo>
                  <a:lnTo>
                    <a:pt x="880619" y="2735056"/>
                  </a:lnTo>
                  <a:lnTo>
                    <a:pt x="797698" y="2702641"/>
                  </a:lnTo>
                  <a:lnTo>
                    <a:pt x="715884" y="2666047"/>
                  </a:lnTo>
                  <a:lnTo>
                    <a:pt x="636356" y="2625596"/>
                  </a:lnTo>
                  <a:lnTo>
                    <a:pt x="560293" y="2581608"/>
                  </a:lnTo>
                  <a:lnTo>
                    <a:pt x="488873" y="2534406"/>
                  </a:lnTo>
                  <a:lnTo>
                    <a:pt x="423276" y="2484310"/>
                  </a:lnTo>
                  <a:lnTo>
                    <a:pt x="362349" y="2430785"/>
                  </a:lnTo>
                  <a:lnTo>
                    <a:pt x="304475" y="2373296"/>
                  </a:lnTo>
                  <a:lnTo>
                    <a:pt x="250138" y="2312163"/>
                  </a:lnTo>
                  <a:lnTo>
                    <a:pt x="199820" y="2247709"/>
                  </a:lnTo>
                  <a:lnTo>
                    <a:pt x="154001" y="2180254"/>
                  </a:lnTo>
                  <a:lnTo>
                    <a:pt x="113166" y="2110120"/>
                  </a:lnTo>
                  <a:lnTo>
                    <a:pt x="77795" y="2037629"/>
                  </a:lnTo>
                  <a:lnTo>
                    <a:pt x="48372" y="1963102"/>
                  </a:lnTo>
                  <a:lnTo>
                    <a:pt x="26467" y="1885816"/>
                  </a:lnTo>
                  <a:lnTo>
                    <a:pt x="12296" y="1805154"/>
                  </a:lnTo>
                  <a:lnTo>
                    <a:pt x="4304" y="1721599"/>
                  </a:lnTo>
                  <a:lnTo>
                    <a:pt x="938" y="1635632"/>
                  </a:lnTo>
                  <a:lnTo>
                    <a:pt x="643" y="1547738"/>
                  </a:lnTo>
                  <a:lnTo>
                    <a:pt x="1866" y="1458396"/>
                  </a:lnTo>
                  <a:lnTo>
                    <a:pt x="3054" y="1368090"/>
                  </a:lnTo>
                  <a:lnTo>
                    <a:pt x="2652" y="1277302"/>
                  </a:lnTo>
                  <a:lnTo>
                    <a:pt x="1125" y="1182353"/>
                  </a:lnTo>
                  <a:lnTo>
                    <a:pt x="152" y="1081206"/>
                  </a:lnTo>
                  <a:lnTo>
                    <a:pt x="0" y="976809"/>
                  </a:lnTo>
                  <a:lnTo>
                    <a:pt x="938" y="872108"/>
                  </a:lnTo>
                  <a:lnTo>
                    <a:pt x="3232" y="770051"/>
                  </a:lnTo>
                  <a:lnTo>
                    <a:pt x="7153" y="673584"/>
                  </a:lnTo>
                  <a:lnTo>
                    <a:pt x="12966" y="585653"/>
                  </a:lnTo>
                  <a:close/>
                </a:path>
              </a:pathLst>
            </a:custGeom>
            <a:solidFill>
              <a:srgbClr val="F4E7D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3" name="Волокна матрикса в интерстиции"/>
            <p:cNvSpPr/>
            <p:nvPr/>
          </p:nvSpPr>
          <p:spPr>
            <a:xfrm>
              <a:off x="9072496" y="3495125"/>
              <a:ext cx="129684" cy="48886"/>
            </a:xfrm>
            <a:custGeom>
              <a:avLst/>
              <a:gdLst/>
              <a:ahLst/>
              <a:cxnLst/>
              <a:rect l="l" t="t" r="r" b="b"/>
              <a:pathLst>
                <a:path w="129684" h="48886">
                  <a:moveTo>
                    <a:pt x="0" y="0"/>
                  </a:moveTo>
                  <a:lnTo>
                    <a:pt x="16210" y="17103"/>
                  </a:lnTo>
                  <a:lnTo>
                    <a:pt x="32421" y="27766"/>
                  </a:lnTo>
                  <a:lnTo>
                    <a:pt x="48631" y="29324"/>
                  </a:lnTo>
                  <a:lnTo>
                    <a:pt x="64842" y="24443"/>
                  </a:lnTo>
                  <a:lnTo>
                    <a:pt x="81053" y="19562"/>
                  </a:lnTo>
                  <a:lnTo>
                    <a:pt x="97263" y="21120"/>
                  </a:lnTo>
                  <a:lnTo>
                    <a:pt x="113474" y="31784"/>
                  </a:lnTo>
                  <a:lnTo>
                    <a:pt x="129684" y="4888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4" name="Волокна матрикса в интерстиции"/>
            <p:cNvSpPr/>
            <p:nvPr/>
          </p:nvSpPr>
          <p:spPr>
            <a:xfrm>
              <a:off x="10446977" y="3585235"/>
              <a:ext cx="29977" cy="205431"/>
            </a:xfrm>
            <a:custGeom>
              <a:avLst/>
              <a:gdLst/>
              <a:ahLst/>
              <a:cxnLst/>
              <a:rect l="l" t="t" r="r" b="b"/>
              <a:pathLst>
                <a:path w="29977" h="205431">
                  <a:moveTo>
                    <a:pt x="29977" y="0"/>
                  </a:moveTo>
                  <a:lnTo>
                    <a:pt x="26230" y="36671"/>
                  </a:lnTo>
                  <a:lnTo>
                    <a:pt x="22483" y="66903"/>
                  </a:lnTo>
                  <a:lnTo>
                    <a:pt x="18736" y="88029"/>
                  </a:lnTo>
                  <a:lnTo>
                    <a:pt x="14989" y="102716"/>
                  </a:lnTo>
                  <a:lnTo>
                    <a:pt x="11242" y="117403"/>
                  </a:lnTo>
                  <a:lnTo>
                    <a:pt x="7495" y="138529"/>
                  </a:lnTo>
                  <a:lnTo>
                    <a:pt x="3748" y="168761"/>
                  </a:lnTo>
                  <a:lnTo>
                    <a:pt x="0" y="20543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5" name="Волокна матрикса в интерстиции"/>
            <p:cNvSpPr/>
            <p:nvPr/>
          </p:nvSpPr>
          <p:spPr>
            <a:xfrm>
              <a:off x="9686294" y="2098869"/>
              <a:ext cx="209306" cy="90261"/>
            </a:xfrm>
            <a:custGeom>
              <a:avLst/>
              <a:gdLst/>
              <a:ahLst/>
              <a:cxnLst/>
              <a:rect l="l" t="t" r="r" b="b"/>
              <a:pathLst>
                <a:path w="209306" h="90261">
                  <a:moveTo>
                    <a:pt x="0" y="0"/>
                  </a:moveTo>
                  <a:lnTo>
                    <a:pt x="26163" y="22275"/>
                  </a:lnTo>
                  <a:lnTo>
                    <a:pt x="52327" y="38110"/>
                  </a:lnTo>
                  <a:lnTo>
                    <a:pt x="78490" y="44840"/>
                  </a:lnTo>
                  <a:lnTo>
                    <a:pt x="104653" y="45131"/>
                  </a:lnTo>
                  <a:lnTo>
                    <a:pt x="130816" y="45421"/>
                  </a:lnTo>
                  <a:lnTo>
                    <a:pt x="156980" y="52151"/>
                  </a:lnTo>
                  <a:lnTo>
                    <a:pt x="183143" y="67987"/>
                  </a:lnTo>
                  <a:lnTo>
                    <a:pt x="209306" y="90261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6" name="Волокна матрикса в интерстиции"/>
            <p:cNvSpPr/>
            <p:nvPr/>
          </p:nvSpPr>
          <p:spPr>
            <a:xfrm>
              <a:off x="10009443" y="3459771"/>
              <a:ext cx="150344" cy="69036"/>
            </a:xfrm>
            <a:custGeom>
              <a:avLst/>
              <a:gdLst/>
              <a:ahLst/>
              <a:cxnLst/>
              <a:rect l="l" t="t" r="r" b="b"/>
              <a:pathLst>
                <a:path w="150344" h="69036">
                  <a:moveTo>
                    <a:pt x="150344" y="0"/>
                  </a:moveTo>
                  <a:lnTo>
                    <a:pt x="131551" y="19622"/>
                  </a:lnTo>
                  <a:lnTo>
                    <a:pt x="112758" y="32804"/>
                  </a:lnTo>
                  <a:lnTo>
                    <a:pt x="93965" y="36881"/>
                  </a:lnTo>
                  <a:lnTo>
                    <a:pt x="75172" y="34518"/>
                  </a:lnTo>
                  <a:lnTo>
                    <a:pt x="56379" y="32156"/>
                  </a:lnTo>
                  <a:lnTo>
                    <a:pt x="37586" y="36232"/>
                  </a:lnTo>
                  <a:lnTo>
                    <a:pt x="18793" y="49415"/>
                  </a:lnTo>
                  <a:lnTo>
                    <a:pt x="0" y="6903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7" name="Волокна матрикса в интерстиции"/>
            <p:cNvSpPr/>
            <p:nvPr/>
          </p:nvSpPr>
          <p:spPr>
            <a:xfrm>
              <a:off x="8480763" y="3071148"/>
              <a:ext cx="173216" cy="214705"/>
            </a:xfrm>
            <a:custGeom>
              <a:avLst/>
              <a:gdLst/>
              <a:ahLst/>
              <a:cxnLst/>
              <a:rect l="l" t="t" r="r" b="b"/>
              <a:pathLst>
                <a:path w="173216" h="214705">
                  <a:moveTo>
                    <a:pt x="173216" y="0"/>
                  </a:moveTo>
                  <a:lnTo>
                    <a:pt x="151564" y="37830"/>
                  </a:lnTo>
                  <a:lnTo>
                    <a:pt x="129912" y="69221"/>
                  </a:lnTo>
                  <a:lnTo>
                    <a:pt x="108260" y="91506"/>
                  </a:lnTo>
                  <a:lnTo>
                    <a:pt x="86608" y="107353"/>
                  </a:lnTo>
                  <a:lnTo>
                    <a:pt x="64956" y="123199"/>
                  </a:lnTo>
                  <a:lnTo>
                    <a:pt x="43304" y="145484"/>
                  </a:lnTo>
                  <a:lnTo>
                    <a:pt x="21652" y="176875"/>
                  </a:lnTo>
                  <a:lnTo>
                    <a:pt x="0" y="214705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8" name="Волокна матрикса в интерстиции"/>
            <p:cNvSpPr/>
            <p:nvPr/>
          </p:nvSpPr>
          <p:spPr>
            <a:xfrm>
              <a:off x="10256118" y="3687042"/>
              <a:ext cx="114321" cy="36858"/>
            </a:xfrm>
            <a:custGeom>
              <a:avLst/>
              <a:gdLst/>
              <a:ahLst/>
              <a:cxnLst/>
              <a:rect l="l" t="t" r="r" b="b"/>
              <a:pathLst>
                <a:path w="114321" h="36858">
                  <a:moveTo>
                    <a:pt x="0" y="0"/>
                  </a:moveTo>
                  <a:lnTo>
                    <a:pt x="14290" y="15599"/>
                  </a:lnTo>
                  <a:lnTo>
                    <a:pt x="28580" y="24759"/>
                  </a:lnTo>
                  <a:lnTo>
                    <a:pt x="42870" y="24813"/>
                  </a:lnTo>
                  <a:lnTo>
                    <a:pt x="57161" y="18429"/>
                  </a:lnTo>
                  <a:lnTo>
                    <a:pt x="71451" y="12044"/>
                  </a:lnTo>
                  <a:lnTo>
                    <a:pt x="85741" y="12098"/>
                  </a:lnTo>
                  <a:lnTo>
                    <a:pt x="100031" y="21258"/>
                  </a:lnTo>
                  <a:lnTo>
                    <a:pt x="114321" y="36858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499" name="Волокна матрикса в интерстиции"/>
            <p:cNvSpPr/>
            <p:nvPr/>
          </p:nvSpPr>
          <p:spPr>
            <a:xfrm>
              <a:off x="8477932" y="3652433"/>
              <a:ext cx="86089" cy="123677"/>
            </a:xfrm>
            <a:custGeom>
              <a:avLst/>
              <a:gdLst/>
              <a:ahLst/>
              <a:cxnLst/>
              <a:rect l="l" t="t" r="r" b="b"/>
              <a:pathLst>
                <a:path w="86089" h="123677">
                  <a:moveTo>
                    <a:pt x="86089" y="0"/>
                  </a:moveTo>
                  <a:lnTo>
                    <a:pt x="75328" y="26451"/>
                  </a:lnTo>
                  <a:lnTo>
                    <a:pt x="64567" y="46464"/>
                  </a:lnTo>
                  <a:lnTo>
                    <a:pt x="53806" y="57371"/>
                  </a:lnTo>
                  <a:lnTo>
                    <a:pt x="43044" y="61838"/>
                  </a:lnTo>
                  <a:lnTo>
                    <a:pt x="32283" y="66306"/>
                  </a:lnTo>
                  <a:lnTo>
                    <a:pt x="21522" y="77213"/>
                  </a:lnTo>
                  <a:lnTo>
                    <a:pt x="10761" y="97225"/>
                  </a:lnTo>
                  <a:lnTo>
                    <a:pt x="0" y="123677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0" name="Волокна матрикса в интерстиции"/>
            <p:cNvSpPr/>
            <p:nvPr/>
          </p:nvSpPr>
          <p:spPr>
            <a:xfrm>
              <a:off x="8751182" y="3180407"/>
              <a:ext cx="235395" cy="208713"/>
            </a:xfrm>
            <a:custGeom>
              <a:avLst/>
              <a:gdLst/>
              <a:ahLst/>
              <a:cxnLst/>
              <a:rect l="l" t="t" r="r" b="b"/>
              <a:pathLst>
                <a:path w="235395" h="208713">
                  <a:moveTo>
                    <a:pt x="235395" y="0"/>
                  </a:moveTo>
                  <a:lnTo>
                    <a:pt x="205970" y="37081"/>
                  </a:lnTo>
                  <a:lnTo>
                    <a:pt x="176546" y="67723"/>
                  </a:lnTo>
                  <a:lnTo>
                    <a:pt x="147122" y="89259"/>
                  </a:lnTo>
                  <a:lnTo>
                    <a:pt x="117697" y="104356"/>
                  </a:lnTo>
                  <a:lnTo>
                    <a:pt x="88273" y="119454"/>
                  </a:lnTo>
                  <a:lnTo>
                    <a:pt x="58849" y="140990"/>
                  </a:lnTo>
                  <a:lnTo>
                    <a:pt x="29424" y="171632"/>
                  </a:lnTo>
                  <a:lnTo>
                    <a:pt x="0" y="208713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1" name="Волокна матрикса в интерстиции"/>
            <p:cNvSpPr/>
            <p:nvPr/>
          </p:nvSpPr>
          <p:spPr>
            <a:xfrm>
              <a:off x="9694596" y="2293109"/>
              <a:ext cx="157568" cy="37360"/>
            </a:xfrm>
            <a:custGeom>
              <a:avLst/>
              <a:gdLst/>
              <a:ahLst/>
              <a:cxnLst/>
              <a:rect l="l" t="t" r="r" b="b"/>
              <a:pathLst>
                <a:path w="157568" h="37360">
                  <a:moveTo>
                    <a:pt x="157568" y="0"/>
                  </a:moveTo>
                  <a:lnTo>
                    <a:pt x="137872" y="15662"/>
                  </a:lnTo>
                  <a:lnTo>
                    <a:pt x="118176" y="24885"/>
                  </a:lnTo>
                  <a:lnTo>
                    <a:pt x="98480" y="25002"/>
                  </a:lnTo>
                  <a:lnTo>
                    <a:pt x="78784" y="18680"/>
                  </a:lnTo>
                  <a:lnTo>
                    <a:pt x="59088" y="12358"/>
                  </a:lnTo>
                  <a:lnTo>
                    <a:pt x="39392" y="12475"/>
                  </a:lnTo>
                  <a:lnTo>
                    <a:pt x="19696" y="21698"/>
                  </a:lnTo>
                  <a:lnTo>
                    <a:pt x="0" y="3736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2" name="Волокна матрикса в интерстиции"/>
            <p:cNvSpPr/>
            <p:nvPr/>
          </p:nvSpPr>
          <p:spPr>
            <a:xfrm>
              <a:off x="10873397" y="3494286"/>
              <a:ext cx="162593" cy="57520"/>
            </a:xfrm>
            <a:custGeom>
              <a:avLst/>
              <a:gdLst/>
              <a:ahLst/>
              <a:cxnLst/>
              <a:rect l="l" t="t" r="r" b="b"/>
              <a:pathLst>
                <a:path w="162593" h="57520">
                  <a:moveTo>
                    <a:pt x="162593" y="0"/>
                  </a:moveTo>
                  <a:lnTo>
                    <a:pt x="142269" y="18182"/>
                  </a:lnTo>
                  <a:lnTo>
                    <a:pt x="121945" y="29925"/>
                  </a:lnTo>
                  <a:lnTo>
                    <a:pt x="101621" y="32562"/>
                  </a:lnTo>
                  <a:lnTo>
                    <a:pt x="81297" y="28760"/>
                  </a:lnTo>
                  <a:lnTo>
                    <a:pt x="60973" y="24958"/>
                  </a:lnTo>
                  <a:lnTo>
                    <a:pt x="40648" y="27595"/>
                  </a:lnTo>
                  <a:lnTo>
                    <a:pt x="20324" y="39338"/>
                  </a:lnTo>
                  <a:lnTo>
                    <a:pt x="0" y="5752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3" name="Волокна матрикса в интерстиции"/>
            <p:cNvSpPr/>
            <p:nvPr/>
          </p:nvSpPr>
          <p:spPr>
            <a:xfrm>
              <a:off x="9543430" y="3389231"/>
              <a:ext cx="89271" cy="147998"/>
            </a:xfrm>
            <a:custGeom>
              <a:avLst/>
              <a:gdLst/>
              <a:ahLst/>
              <a:cxnLst/>
              <a:rect l="l" t="t" r="r" b="b"/>
              <a:pathLst>
                <a:path w="89271" h="147998">
                  <a:moveTo>
                    <a:pt x="89271" y="0"/>
                  </a:moveTo>
                  <a:lnTo>
                    <a:pt x="78112" y="29492"/>
                  </a:lnTo>
                  <a:lnTo>
                    <a:pt x="66953" y="52544"/>
                  </a:lnTo>
                  <a:lnTo>
                    <a:pt x="55794" y="66491"/>
                  </a:lnTo>
                  <a:lnTo>
                    <a:pt x="44636" y="73999"/>
                  </a:lnTo>
                  <a:lnTo>
                    <a:pt x="33477" y="81507"/>
                  </a:lnTo>
                  <a:lnTo>
                    <a:pt x="22318" y="95453"/>
                  </a:lnTo>
                  <a:lnTo>
                    <a:pt x="11159" y="118506"/>
                  </a:lnTo>
                  <a:lnTo>
                    <a:pt x="0" y="147998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4" name="Волокна матрикса в интерстиции"/>
            <p:cNvSpPr/>
            <p:nvPr/>
          </p:nvSpPr>
          <p:spPr>
            <a:xfrm>
              <a:off x="9933795" y="3475881"/>
              <a:ext cx="118835" cy="47431"/>
            </a:xfrm>
            <a:custGeom>
              <a:avLst/>
              <a:gdLst/>
              <a:ahLst/>
              <a:cxnLst/>
              <a:rect l="l" t="t" r="r" b="b"/>
              <a:pathLst>
                <a:path w="118835" h="47431">
                  <a:moveTo>
                    <a:pt x="0" y="0"/>
                  </a:moveTo>
                  <a:lnTo>
                    <a:pt x="14854" y="16921"/>
                  </a:lnTo>
                  <a:lnTo>
                    <a:pt x="29708" y="27403"/>
                  </a:lnTo>
                  <a:lnTo>
                    <a:pt x="44563" y="28779"/>
                  </a:lnTo>
                  <a:lnTo>
                    <a:pt x="59417" y="23716"/>
                  </a:lnTo>
                  <a:lnTo>
                    <a:pt x="74272" y="18653"/>
                  </a:lnTo>
                  <a:lnTo>
                    <a:pt x="89126" y="20028"/>
                  </a:lnTo>
                  <a:lnTo>
                    <a:pt x="103981" y="30510"/>
                  </a:lnTo>
                  <a:lnTo>
                    <a:pt x="118835" y="4743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5" name="Волокна матрикса в интерстиции"/>
            <p:cNvSpPr/>
            <p:nvPr/>
          </p:nvSpPr>
          <p:spPr>
            <a:xfrm>
              <a:off x="9469686" y="3101542"/>
              <a:ext cx="217695" cy="91551"/>
            </a:xfrm>
            <a:custGeom>
              <a:avLst/>
              <a:gdLst/>
              <a:ahLst/>
              <a:cxnLst/>
              <a:rect l="l" t="t" r="r" b="b"/>
              <a:pathLst>
                <a:path w="217695" h="91551">
                  <a:moveTo>
                    <a:pt x="217695" y="0"/>
                  </a:moveTo>
                  <a:lnTo>
                    <a:pt x="190483" y="22436"/>
                  </a:lnTo>
                  <a:lnTo>
                    <a:pt x="163271" y="38433"/>
                  </a:lnTo>
                  <a:lnTo>
                    <a:pt x="136059" y="45323"/>
                  </a:lnTo>
                  <a:lnTo>
                    <a:pt x="108847" y="45775"/>
                  </a:lnTo>
                  <a:lnTo>
                    <a:pt x="81635" y="46227"/>
                  </a:lnTo>
                  <a:lnTo>
                    <a:pt x="54423" y="53118"/>
                  </a:lnTo>
                  <a:lnTo>
                    <a:pt x="27212" y="69115"/>
                  </a:lnTo>
                  <a:lnTo>
                    <a:pt x="0" y="9155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6" name="Волокна матрикса в интерстиции"/>
            <p:cNvSpPr/>
            <p:nvPr/>
          </p:nvSpPr>
          <p:spPr>
            <a:xfrm>
              <a:off x="8755362" y="3839893"/>
              <a:ext cx="38669" cy="105561"/>
            </a:xfrm>
            <a:custGeom>
              <a:avLst/>
              <a:gdLst/>
              <a:ahLst/>
              <a:cxnLst/>
              <a:rect l="l" t="t" r="r" b="b"/>
              <a:pathLst>
                <a:path w="38669" h="105561">
                  <a:moveTo>
                    <a:pt x="0" y="0"/>
                  </a:moveTo>
                  <a:lnTo>
                    <a:pt x="4834" y="24187"/>
                  </a:lnTo>
                  <a:lnTo>
                    <a:pt x="9667" y="41935"/>
                  </a:lnTo>
                  <a:lnTo>
                    <a:pt x="14501" y="50577"/>
                  </a:lnTo>
                  <a:lnTo>
                    <a:pt x="19335" y="52781"/>
                  </a:lnTo>
                  <a:lnTo>
                    <a:pt x="24168" y="54984"/>
                  </a:lnTo>
                  <a:lnTo>
                    <a:pt x="29002" y="63626"/>
                  </a:lnTo>
                  <a:lnTo>
                    <a:pt x="33835" y="81374"/>
                  </a:lnTo>
                  <a:lnTo>
                    <a:pt x="38669" y="10556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7" name="Волокна матрикса в интерстиции"/>
            <p:cNvSpPr/>
            <p:nvPr/>
          </p:nvSpPr>
          <p:spPr>
            <a:xfrm>
              <a:off x="8830125" y="3875291"/>
              <a:ext cx="94054" cy="135802"/>
            </a:xfrm>
            <a:custGeom>
              <a:avLst/>
              <a:gdLst/>
              <a:ahLst/>
              <a:cxnLst/>
              <a:rect l="l" t="t" r="r" b="b"/>
              <a:pathLst>
                <a:path w="94054" h="135802">
                  <a:moveTo>
                    <a:pt x="94054" y="0"/>
                  </a:moveTo>
                  <a:lnTo>
                    <a:pt x="82298" y="27967"/>
                  </a:lnTo>
                  <a:lnTo>
                    <a:pt x="70541" y="49495"/>
                  </a:lnTo>
                  <a:lnTo>
                    <a:pt x="58784" y="61918"/>
                  </a:lnTo>
                  <a:lnTo>
                    <a:pt x="47027" y="67901"/>
                  </a:lnTo>
                  <a:lnTo>
                    <a:pt x="35270" y="73884"/>
                  </a:lnTo>
                  <a:lnTo>
                    <a:pt x="23513" y="86307"/>
                  </a:lnTo>
                  <a:lnTo>
                    <a:pt x="11756" y="107835"/>
                  </a:lnTo>
                  <a:lnTo>
                    <a:pt x="0" y="135802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8" name="Волокна матрикса в интерстиции"/>
            <p:cNvSpPr/>
            <p:nvPr/>
          </p:nvSpPr>
          <p:spPr>
            <a:xfrm>
              <a:off x="9275900" y="3504225"/>
              <a:ext cx="265119" cy="29068"/>
            </a:xfrm>
            <a:custGeom>
              <a:avLst/>
              <a:gdLst/>
              <a:ahLst/>
              <a:cxnLst/>
              <a:rect l="l" t="t" r="r" b="b"/>
              <a:pathLst>
                <a:path w="265119" h="29068">
                  <a:moveTo>
                    <a:pt x="0" y="12512"/>
                  </a:moveTo>
                  <a:lnTo>
                    <a:pt x="33140" y="24009"/>
                  </a:lnTo>
                  <a:lnTo>
                    <a:pt x="66280" y="29068"/>
                  </a:lnTo>
                  <a:lnTo>
                    <a:pt x="99420" y="25020"/>
                  </a:lnTo>
                  <a:lnTo>
                    <a:pt x="132559" y="14534"/>
                  </a:lnTo>
                  <a:lnTo>
                    <a:pt x="165699" y="4047"/>
                  </a:lnTo>
                  <a:lnTo>
                    <a:pt x="198839" y="0"/>
                  </a:lnTo>
                  <a:lnTo>
                    <a:pt x="231979" y="5058"/>
                  </a:lnTo>
                  <a:lnTo>
                    <a:pt x="265119" y="16555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09" name="Волокна матрикса в интерстиции"/>
            <p:cNvSpPr/>
            <p:nvPr/>
          </p:nvSpPr>
          <p:spPr>
            <a:xfrm>
              <a:off x="8420593" y="2299743"/>
              <a:ext cx="175718" cy="239890"/>
            </a:xfrm>
            <a:custGeom>
              <a:avLst/>
              <a:gdLst/>
              <a:ahLst/>
              <a:cxnLst/>
              <a:rect l="l" t="t" r="r" b="b"/>
              <a:pathLst>
                <a:path w="175718" h="239890">
                  <a:moveTo>
                    <a:pt x="175718" y="0"/>
                  </a:moveTo>
                  <a:lnTo>
                    <a:pt x="153754" y="40978"/>
                  </a:lnTo>
                  <a:lnTo>
                    <a:pt x="131789" y="75517"/>
                  </a:lnTo>
                  <a:lnTo>
                    <a:pt x="109824" y="100951"/>
                  </a:lnTo>
                  <a:lnTo>
                    <a:pt x="87859" y="119945"/>
                  </a:lnTo>
                  <a:lnTo>
                    <a:pt x="65895" y="138940"/>
                  </a:lnTo>
                  <a:lnTo>
                    <a:pt x="43930" y="164373"/>
                  </a:lnTo>
                  <a:lnTo>
                    <a:pt x="21965" y="198912"/>
                  </a:lnTo>
                  <a:lnTo>
                    <a:pt x="0" y="23989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0" name="Волокна матрикса в интерстиции"/>
            <p:cNvSpPr/>
            <p:nvPr/>
          </p:nvSpPr>
          <p:spPr>
            <a:xfrm>
              <a:off x="8858453" y="3988838"/>
              <a:ext cx="61588" cy="141590"/>
            </a:xfrm>
            <a:custGeom>
              <a:avLst/>
              <a:gdLst/>
              <a:ahLst/>
              <a:cxnLst/>
              <a:rect l="l" t="t" r="r" b="b"/>
              <a:pathLst>
                <a:path w="61588" h="141590">
                  <a:moveTo>
                    <a:pt x="61588" y="0"/>
                  </a:moveTo>
                  <a:lnTo>
                    <a:pt x="53889" y="28691"/>
                  </a:lnTo>
                  <a:lnTo>
                    <a:pt x="46191" y="50942"/>
                  </a:lnTo>
                  <a:lnTo>
                    <a:pt x="38492" y="64088"/>
                  </a:lnTo>
                  <a:lnTo>
                    <a:pt x="30794" y="70795"/>
                  </a:lnTo>
                  <a:lnTo>
                    <a:pt x="23096" y="77502"/>
                  </a:lnTo>
                  <a:lnTo>
                    <a:pt x="15397" y="90647"/>
                  </a:lnTo>
                  <a:lnTo>
                    <a:pt x="7699" y="112899"/>
                  </a:lnTo>
                  <a:lnTo>
                    <a:pt x="0" y="141590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1" name="Волокна матрикса в интерстиции"/>
            <p:cNvSpPr/>
            <p:nvPr/>
          </p:nvSpPr>
          <p:spPr>
            <a:xfrm>
              <a:off x="9290357" y="3202986"/>
              <a:ext cx="161132" cy="131264"/>
            </a:xfrm>
            <a:custGeom>
              <a:avLst/>
              <a:gdLst/>
              <a:ahLst/>
              <a:cxnLst/>
              <a:rect l="l" t="t" r="r" b="b"/>
              <a:pathLst>
                <a:path w="161132" h="131264">
                  <a:moveTo>
                    <a:pt x="161132" y="0"/>
                  </a:moveTo>
                  <a:lnTo>
                    <a:pt x="140990" y="27400"/>
                  </a:lnTo>
                  <a:lnTo>
                    <a:pt x="120849" y="48360"/>
                  </a:lnTo>
                  <a:lnTo>
                    <a:pt x="100707" y="60216"/>
                  </a:lnTo>
                  <a:lnTo>
                    <a:pt x="80566" y="65632"/>
                  </a:lnTo>
                  <a:lnTo>
                    <a:pt x="60424" y="71048"/>
                  </a:lnTo>
                  <a:lnTo>
                    <a:pt x="40283" y="82903"/>
                  </a:lnTo>
                  <a:lnTo>
                    <a:pt x="20141" y="103864"/>
                  </a:lnTo>
                  <a:lnTo>
                    <a:pt x="0" y="131264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2" name="Волокна матрикса в интерстиции"/>
            <p:cNvSpPr/>
            <p:nvPr/>
          </p:nvSpPr>
          <p:spPr>
            <a:xfrm>
              <a:off x="11196355" y="3440726"/>
              <a:ext cx="245082" cy="30142"/>
            </a:xfrm>
            <a:custGeom>
              <a:avLst/>
              <a:gdLst/>
              <a:ahLst/>
              <a:cxnLst/>
              <a:rect l="l" t="t" r="r" b="b"/>
              <a:pathLst>
                <a:path w="245082" h="30142">
                  <a:moveTo>
                    <a:pt x="245082" y="14123"/>
                  </a:moveTo>
                  <a:lnTo>
                    <a:pt x="214447" y="25352"/>
                  </a:lnTo>
                  <a:lnTo>
                    <a:pt x="183812" y="30142"/>
                  </a:lnTo>
                  <a:lnTo>
                    <a:pt x="153176" y="25826"/>
                  </a:lnTo>
                  <a:lnTo>
                    <a:pt x="122541" y="15071"/>
                  </a:lnTo>
                  <a:lnTo>
                    <a:pt x="91906" y="4316"/>
                  </a:lnTo>
                  <a:lnTo>
                    <a:pt x="61271" y="0"/>
                  </a:lnTo>
                  <a:lnTo>
                    <a:pt x="30636" y="4790"/>
                  </a:lnTo>
                  <a:lnTo>
                    <a:pt x="0" y="1601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3" name="Волокна матрикса в интерстиции"/>
            <p:cNvSpPr/>
            <p:nvPr/>
          </p:nvSpPr>
          <p:spPr>
            <a:xfrm>
              <a:off x="8888342" y="3848367"/>
              <a:ext cx="134811" cy="23280"/>
            </a:xfrm>
            <a:custGeom>
              <a:avLst/>
              <a:gdLst/>
              <a:ahLst/>
              <a:cxnLst/>
              <a:rect l="l" t="t" r="r" b="b"/>
              <a:pathLst>
                <a:path w="134811" h="23280">
                  <a:moveTo>
                    <a:pt x="0" y="3830"/>
                  </a:moveTo>
                  <a:lnTo>
                    <a:pt x="16852" y="16774"/>
                  </a:lnTo>
                  <a:lnTo>
                    <a:pt x="33703" y="23280"/>
                  </a:lnTo>
                  <a:lnTo>
                    <a:pt x="50554" y="20679"/>
                  </a:lnTo>
                  <a:lnTo>
                    <a:pt x="67406" y="11640"/>
                  </a:lnTo>
                  <a:lnTo>
                    <a:pt x="84257" y="2600"/>
                  </a:lnTo>
                  <a:lnTo>
                    <a:pt x="101109" y="0"/>
                  </a:lnTo>
                  <a:lnTo>
                    <a:pt x="117960" y="6505"/>
                  </a:lnTo>
                  <a:lnTo>
                    <a:pt x="134811" y="1944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4" name="Волокна матрикса в интерстиции"/>
            <p:cNvSpPr/>
            <p:nvPr/>
          </p:nvSpPr>
          <p:spPr>
            <a:xfrm>
              <a:off x="10446089" y="4433887"/>
              <a:ext cx="190124" cy="176591"/>
            </a:xfrm>
            <a:custGeom>
              <a:avLst/>
              <a:gdLst/>
              <a:ahLst/>
              <a:cxnLst/>
              <a:rect l="l" t="t" r="r" b="b"/>
              <a:pathLst>
                <a:path w="190124" h="176591">
                  <a:moveTo>
                    <a:pt x="190124" y="0"/>
                  </a:moveTo>
                  <a:lnTo>
                    <a:pt x="166358" y="33066"/>
                  </a:lnTo>
                  <a:lnTo>
                    <a:pt x="142593" y="59693"/>
                  </a:lnTo>
                  <a:lnTo>
                    <a:pt x="118828" y="77214"/>
                  </a:lnTo>
                  <a:lnTo>
                    <a:pt x="95062" y="88296"/>
                  </a:lnTo>
                  <a:lnTo>
                    <a:pt x="71297" y="99378"/>
                  </a:lnTo>
                  <a:lnTo>
                    <a:pt x="47531" y="116899"/>
                  </a:lnTo>
                  <a:lnTo>
                    <a:pt x="23766" y="143525"/>
                  </a:lnTo>
                  <a:lnTo>
                    <a:pt x="0" y="17659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5" name="Волокна матрикса в интерстиции"/>
            <p:cNvSpPr/>
            <p:nvPr/>
          </p:nvSpPr>
          <p:spPr>
            <a:xfrm>
              <a:off x="9713410" y="2028618"/>
              <a:ext cx="57088" cy="229966"/>
            </a:xfrm>
            <a:custGeom>
              <a:avLst/>
              <a:gdLst/>
              <a:ahLst/>
              <a:cxnLst/>
              <a:rect l="l" t="t" r="r" b="b"/>
              <a:pathLst>
                <a:path w="57088" h="229966">
                  <a:moveTo>
                    <a:pt x="0" y="0"/>
                  </a:moveTo>
                  <a:lnTo>
                    <a:pt x="7136" y="39737"/>
                  </a:lnTo>
                  <a:lnTo>
                    <a:pt x="14272" y="73036"/>
                  </a:lnTo>
                  <a:lnTo>
                    <a:pt x="21408" y="97229"/>
                  </a:lnTo>
                  <a:lnTo>
                    <a:pt x="28544" y="114983"/>
                  </a:lnTo>
                  <a:lnTo>
                    <a:pt x="35680" y="132737"/>
                  </a:lnTo>
                  <a:lnTo>
                    <a:pt x="42816" y="156929"/>
                  </a:lnTo>
                  <a:lnTo>
                    <a:pt x="49952" y="190228"/>
                  </a:lnTo>
                  <a:lnTo>
                    <a:pt x="57088" y="22996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6" name="Волокна матрикса в интерстиции"/>
            <p:cNvSpPr/>
            <p:nvPr/>
          </p:nvSpPr>
          <p:spPr>
            <a:xfrm>
              <a:off x="8821800" y="4077009"/>
              <a:ext cx="274457" cy="211267"/>
            </a:xfrm>
            <a:custGeom>
              <a:avLst/>
              <a:gdLst/>
              <a:ahLst/>
              <a:cxnLst/>
              <a:rect l="l" t="t" r="r" b="b"/>
              <a:pathLst>
                <a:path w="274457" h="211267">
                  <a:moveTo>
                    <a:pt x="0" y="0"/>
                  </a:moveTo>
                  <a:lnTo>
                    <a:pt x="34307" y="37400"/>
                  </a:lnTo>
                  <a:lnTo>
                    <a:pt x="68614" y="68362"/>
                  </a:lnTo>
                  <a:lnTo>
                    <a:pt x="102922" y="90217"/>
                  </a:lnTo>
                  <a:lnTo>
                    <a:pt x="137229" y="105634"/>
                  </a:lnTo>
                  <a:lnTo>
                    <a:pt x="171536" y="121050"/>
                  </a:lnTo>
                  <a:lnTo>
                    <a:pt x="205843" y="142905"/>
                  </a:lnTo>
                  <a:lnTo>
                    <a:pt x="240150" y="173867"/>
                  </a:lnTo>
                  <a:lnTo>
                    <a:pt x="274457" y="211267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7" name="Волокна матрикса в интерстиции"/>
            <p:cNvSpPr/>
            <p:nvPr/>
          </p:nvSpPr>
          <p:spPr>
            <a:xfrm>
              <a:off x="9221625" y="3453381"/>
              <a:ext cx="68308" cy="239896"/>
            </a:xfrm>
            <a:custGeom>
              <a:avLst/>
              <a:gdLst/>
              <a:ahLst/>
              <a:cxnLst/>
              <a:rect l="l" t="t" r="r" b="b"/>
              <a:pathLst>
                <a:path w="68308" h="239896">
                  <a:moveTo>
                    <a:pt x="0" y="0"/>
                  </a:moveTo>
                  <a:lnTo>
                    <a:pt x="8538" y="40979"/>
                  </a:lnTo>
                  <a:lnTo>
                    <a:pt x="17077" y="75519"/>
                  </a:lnTo>
                  <a:lnTo>
                    <a:pt x="25615" y="100953"/>
                  </a:lnTo>
                  <a:lnTo>
                    <a:pt x="34154" y="119948"/>
                  </a:lnTo>
                  <a:lnTo>
                    <a:pt x="42692" y="138943"/>
                  </a:lnTo>
                  <a:lnTo>
                    <a:pt x="51231" y="164377"/>
                  </a:lnTo>
                  <a:lnTo>
                    <a:pt x="59769" y="198917"/>
                  </a:lnTo>
                  <a:lnTo>
                    <a:pt x="68308" y="23989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8" name="Волокна матрикса в интерстиции"/>
            <p:cNvSpPr/>
            <p:nvPr/>
          </p:nvSpPr>
          <p:spPr>
            <a:xfrm>
              <a:off x="9711032" y="2090631"/>
              <a:ext cx="175521" cy="62111"/>
            </a:xfrm>
            <a:custGeom>
              <a:avLst/>
              <a:gdLst/>
              <a:ahLst/>
              <a:cxnLst/>
              <a:rect l="l" t="t" r="r" b="b"/>
              <a:pathLst>
                <a:path w="175521" h="62111">
                  <a:moveTo>
                    <a:pt x="175521" y="0"/>
                  </a:moveTo>
                  <a:lnTo>
                    <a:pt x="153581" y="18756"/>
                  </a:lnTo>
                  <a:lnTo>
                    <a:pt x="131641" y="31072"/>
                  </a:lnTo>
                  <a:lnTo>
                    <a:pt x="109701" y="34283"/>
                  </a:lnTo>
                  <a:lnTo>
                    <a:pt x="87761" y="31055"/>
                  </a:lnTo>
                  <a:lnTo>
                    <a:pt x="65820" y="27828"/>
                  </a:lnTo>
                  <a:lnTo>
                    <a:pt x="43880" y="31038"/>
                  </a:lnTo>
                  <a:lnTo>
                    <a:pt x="21940" y="43355"/>
                  </a:lnTo>
                  <a:lnTo>
                    <a:pt x="0" y="62111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19" name="Волокна матрикса в интерстиции"/>
            <p:cNvSpPr/>
            <p:nvPr/>
          </p:nvSpPr>
          <p:spPr>
            <a:xfrm>
              <a:off x="8340420" y="2457308"/>
              <a:ext cx="185700" cy="21804"/>
            </a:xfrm>
            <a:custGeom>
              <a:avLst/>
              <a:gdLst/>
              <a:ahLst/>
              <a:cxnLst/>
              <a:rect l="l" t="t" r="r" b="b"/>
              <a:pathLst>
                <a:path w="185700" h="21804">
                  <a:moveTo>
                    <a:pt x="185700" y="1616"/>
                  </a:moveTo>
                  <a:lnTo>
                    <a:pt x="162487" y="14929"/>
                  </a:lnTo>
                  <a:lnTo>
                    <a:pt x="139275" y="21804"/>
                  </a:lnTo>
                  <a:lnTo>
                    <a:pt x="116062" y="19572"/>
                  </a:lnTo>
                  <a:lnTo>
                    <a:pt x="92850" y="10902"/>
                  </a:lnTo>
                  <a:lnTo>
                    <a:pt x="69638" y="2231"/>
                  </a:lnTo>
                  <a:lnTo>
                    <a:pt x="46425" y="0"/>
                  </a:lnTo>
                  <a:lnTo>
                    <a:pt x="23213" y="6874"/>
                  </a:lnTo>
                  <a:lnTo>
                    <a:pt x="0" y="20187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0" name="Волокна матрикса в интерстиции"/>
            <p:cNvSpPr/>
            <p:nvPr/>
          </p:nvSpPr>
          <p:spPr>
            <a:xfrm>
              <a:off x="11231034" y="3489831"/>
              <a:ext cx="41854" cy="246694"/>
            </a:xfrm>
            <a:custGeom>
              <a:avLst/>
              <a:gdLst/>
              <a:ahLst/>
              <a:cxnLst/>
              <a:rect l="l" t="t" r="r" b="b"/>
              <a:pathLst>
                <a:path w="41854" h="246694">
                  <a:moveTo>
                    <a:pt x="0" y="0"/>
                  </a:moveTo>
                  <a:lnTo>
                    <a:pt x="5232" y="41828"/>
                  </a:lnTo>
                  <a:lnTo>
                    <a:pt x="10463" y="77218"/>
                  </a:lnTo>
                  <a:lnTo>
                    <a:pt x="15695" y="103502"/>
                  </a:lnTo>
                  <a:lnTo>
                    <a:pt x="20927" y="123347"/>
                  </a:lnTo>
                  <a:lnTo>
                    <a:pt x="26159" y="143192"/>
                  </a:lnTo>
                  <a:lnTo>
                    <a:pt x="31390" y="169476"/>
                  </a:lnTo>
                  <a:lnTo>
                    <a:pt x="36622" y="204865"/>
                  </a:lnTo>
                  <a:lnTo>
                    <a:pt x="41854" y="246694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1" name="Волокна матрикса в интерстиции"/>
            <p:cNvSpPr/>
            <p:nvPr/>
          </p:nvSpPr>
          <p:spPr>
            <a:xfrm>
              <a:off x="8491167" y="3338066"/>
              <a:ext cx="108132" cy="135890"/>
            </a:xfrm>
            <a:custGeom>
              <a:avLst/>
              <a:gdLst/>
              <a:ahLst/>
              <a:cxnLst/>
              <a:rect l="l" t="t" r="r" b="b"/>
              <a:pathLst>
                <a:path w="108132" h="135890">
                  <a:moveTo>
                    <a:pt x="108132" y="0"/>
                  </a:moveTo>
                  <a:lnTo>
                    <a:pt x="94616" y="27978"/>
                  </a:lnTo>
                  <a:lnTo>
                    <a:pt x="81099" y="49517"/>
                  </a:lnTo>
                  <a:lnTo>
                    <a:pt x="67583" y="61951"/>
                  </a:lnTo>
                  <a:lnTo>
                    <a:pt x="54066" y="67945"/>
                  </a:lnTo>
                  <a:lnTo>
                    <a:pt x="40550" y="73939"/>
                  </a:lnTo>
                  <a:lnTo>
                    <a:pt x="27033" y="86373"/>
                  </a:lnTo>
                  <a:lnTo>
                    <a:pt x="13517" y="107912"/>
                  </a:lnTo>
                  <a:lnTo>
                    <a:pt x="0" y="13589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2" name="Волокна матрикса в интерстиции"/>
            <p:cNvSpPr/>
            <p:nvPr/>
          </p:nvSpPr>
          <p:spPr>
            <a:xfrm>
              <a:off x="10459466" y="3608428"/>
              <a:ext cx="28380" cy="120528"/>
            </a:xfrm>
            <a:custGeom>
              <a:avLst/>
              <a:gdLst/>
              <a:ahLst/>
              <a:cxnLst/>
              <a:rect l="l" t="t" r="r" b="b"/>
              <a:pathLst>
                <a:path w="28380" h="120528">
                  <a:moveTo>
                    <a:pt x="0" y="0"/>
                  </a:moveTo>
                  <a:lnTo>
                    <a:pt x="3548" y="26058"/>
                  </a:lnTo>
                  <a:lnTo>
                    <a:pt x="7095" y="45677"/>
                  </a:lnTo>
                  <a:lnTo>
                    <a:pt x="10643" y="56190"/>
                  </a:lnTo>
                  <a:lnTo>
                    <a:pt x="14190" y="60264"/>
                  </a:lnTo>
                  <a:lnTo>
                    <a:pt x="17737" y="64338"/>
                  </a:lnTo>
                  <a:lnTo>
                    <a:pt x="21285" y="74851"/>
                  </a:lnTo>
                  <a:lnTo>
                    <a:pt x="24832" y="94470"/>
                  </a:lnTo>
                  <a:lnTo>
                    <a:pt x="28380" y="120528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3" name="Волокна матрикса в интерстиции"/>
            <p:cNvSpPr/>
            <p:nvPr/>
          </p:nvSpPr>
          <p:spPr>
            <a:xfrm>
              <a:off x="9235528" y="3471427"/>
              <a:ext cx="154821" cy="28681"/>
            </a:xfrm>
            <a:custGeom>
              <a:avLst/>
              <a:gdLst/>
              <a:ahLst/>
              <a:cxnLst/>
              <a:rect l="l" t="t" r="r" b="b"/>
              <a:pathLst>
                <a:path w="154821" h="28681">
                  <a:moveTo>
                    <a:pt x="0" y="0"/>
                  </a:moveTo>
                  <a:lnTo>
                    <a:pt x="19353" y="14577"/>
                  </a:lnTo>
                  <a:lnTo>
                    <a:pt x="38705" y="22715"/>
                  </a:lnTo>
                  <a:lnTo>
                    <a:pt x="58058" y="21747"/>
                  </a:lnTo>
                  <a:lnTo>
                    <a:pt x="77410" y="14341"/>
                  </a:lnTo>
                  <a:lnTo>
                    <a:pt x="96763" y="6934"/>
                  </a:lnTo>
                  <a:lnTo>
                    <a:pt x="116115" y="5966"/>
                  </a:lnTo>
                  <a:lnTo>
                    <a:pt x="135468" y="14104"/>
                  </a:lnTo>
                  <a:lnTo>
                    <a:pt x="154821" y="2868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4" name="Волокна матрикса в интерстиции"/>
            <p:cNvSpPr/>
            <p:nvPr/>
          </p:nvSpPr>
          <p:spPr>
            <a:xfrm>
              <a:off x="9387347" y="3449241"/>
              <a:ext cx="32285" cy="179512"/>
            </a:xfrm>
            <a:custGeom>
              <a:avLst/>
              <a:gdLst/>
              <a:ahLst/>
              <a:cxnLst/>
              <a:rect l="l" t="t" r="r" b="b"/>
              <a:pathLst>
                <a:path w="32285" h="179512">
                  <a:moveTo>
                    <a:pt x="32285" y="0"/>
                  </a:moveTo>
                  <a:lnTo>
                    <a:pt x="28249" y="33431"/>
                  </a:lnTo>
                  <a:lnTo>
                    <a:pt x="24214" y="60423"/>
                  </a:lnTo>
                  <a:lnTo>
                    <a:pt x="20178" y="78309"/>
                  </a:lnTo>
                  <a:lnTo>
                    <a:pt x="16142" y="89756"/>
                  </a:lnTo>
                  <a:lnTo>
                    <a:pt x="12107" y="101203"/>
                  </a:lnTo>
                  <a:lnTo>
                    <a:pt x="8071" y="119089"/>
                  </a:lnTo>
                  <a:lnTo>
                    <a:pt x="4036" y="146081"/>
                  </a:lnTo>
                  <a:lnTo>
                    <a:pt x="0" y="17951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5" name="Волокна матрикса в интерстиции"/>
            <p:cNvSpPr/>
            <p:nvPr/>
          </p:nvSpPr>
          <p:spPr>
            <a:xfrm>
              <a:off x="8489895" y="3785750"/>
              <a:ext cx="178675" cy="35616"/>
            </a:xfrm>
            <a:custGeom>
              <a:avLst/>
              <a:gdLst/>
              <a:ahLst/>
              <a:cxnLst/>
              <a:rect l="l" t="t" r="r" b="b"/>
              <a:pathLst>
                <a:path w="178675" h="35616">
                  <a:moveTo>
                    <a:pt x="178675" y="0"/>
                  </a:moveTo>
                  <a:lnTo>
                    <a:pt x="156341" y="15443"/>
                  </a:lnTo>
                  <a:lnTo>
                    <a:pt x="134006" y="24448"/>
                  </a:lnTo>
                  <a:lnTo>
                    <a:pt x="111672" y="24347"/>
                  </a:lnTo>
                  <a:lnTo>
                    <a:pt x="89337" y="17808"/>
                  </a:lnTo>
                  <a:lnTo>
                    <a:pt x="67003" y="11268"/>
                  </a:lnTo>
                  <a:lnTo>
                    <a:pt x="44669" y="11167"/>
                  </a:lnTo>
                  <a:lnTo>
                    <a:pt x="22334" y="20172"/>
                  </a:lnTo>
                  <a:lnTo>
                    <a:pt x="0" y="3561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6" name="Волокна матрикса в интерстиции"/>
            <p:cNvSpPr/>
            <p:nvPr/>
          </p:nvSpPr>
          <p:spPr>
            <a:xfrm>
              <a:off x="9731308" y="2960512"/>
              <a:ext cx="186513" cy="29130"/>
            </a:xfrm>
            <a:custGeom>
              <a:avLst/>
              <a:gdLst/>
              <a:ahLst/>
              <a:cxnLst/>
              <a:rect l="l" t="t" r="r" b="b"/>
              <a:pathLst>
                <a:path w="186513" h="29130">
                  <a:moveTo>
                    <a:pt x="0" y="12605"/>
                  </a:moveTo>
                  <a:lnTo>
                    <a:pt x="23314" y="24087"/>
                  </a:lnTo>
                  <a:lnTo>
                    <a:pt x="46628" y="29130"/>
                  </a:lnTo>
                  <a:lnTo>
                    <a:pt x="69942" y="25067"/>
                  </a:lnTo>
                  <a:lnTo>
                    <a:pt x="93256" y="14565"/>
                  </a:lnTo>
                  <a:lnTo>
                    <a:pt x="116571" y="4063"/>
                  </a:lnTo>
                  <a:lnTo>
                    <a:pt x="139885" y="0"/>
                  </a:lnTo>
                  <a:lnTo>
                    <a:pt x="163199" y="5043"/>
                  </a:lnTo>
                  <a:lnTo>
                    <a:pt x="186513" y="16525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7" name="Волокна матрикса в интерстиции"/>
            <p:cNvSpPr/>
            <p:nvPr/>
          </p:nvSpPr>
          <p:spPr>
            <a:xfrm>
              <a:off x="10602072" y="4089220"/>
              <a:ext cx="191781" cy="112256"/>
            </a:xfrm>
            <a:custGeom>
              <a:avLst/>
              <a:gdLst/>
              <a:ahLst/>
              <a:cxnLst/>
              <a:rect l="l" t="t" r="r" b="b"/>
              <a:pathLst>
                <a:path w="191781" h="112256">
                  <a:moveTo>
                    <a:pt x="191781" y="0"/>
                  </a:moveTo>
                  <a:lnTo>
                    <a:pt x="167808" y="25024"/>
                  </a:lnTo>
                  <a:lnTo>
                    <a:pt x="143836" y="43609"/>
                  </a:lnTo>
                  <a:lnTo>
                    <a:pt x="119863" y="53088"/>
                  </a:lnTo>
                  <a:lnTo>
                    <a:pt x="95890" y="56128"/>
                  </a:lnTo>
                  <a:lnTo>
                    <a:pt x="71918" y="59168"/>
                  </a:lnTo>
                  <a:lnTo>
                    <a:pt x="47945" y="68647"/>
                  </a:lnTo>
                  <a:lnTo>
                    <a:pt x="23972" y="87232"/>
                  </a:lnTo>
                  <a:lnTo>
                    <a:pt x="0" y="11225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8" name="Волокна матрикса в интерстиции"/>
            <p:cNvSpPr/>
            <p:nvPr/>
          </p:nvSpPr>
          <p:spPr>
            <a:xfrm>
              <a:off x="8570408" y="3147373"/>
              <a:ext cx="214500" cy="27276"/>
            </a:xfrm>
            <a:custGeom>
              <a:avLst/>
              <a:gdLst/>
              <a:ahLst/>
              <a:cxnLst/>
              <a:rect l="l" t="t" r="r" b="b"/>
              <a:pathLst>
                <a:path w="214500" h="27276">
                  <a:moveTo>
                    <a:pt x="0" y="0"/>
                  </a:moveTo>
                  <a:lnTo>
                    <a:pt x="26812" y="14402"/>
                  </a:lnTo>
                  <a:lnTo>
                    <a:pt x="53625" y="22364"/>
                  </a:lnTo>
                  <a:lnTo>
                    <a:pt x="80437" y="21221"/>
                  </a:lnTo>
                  <a:lnTo>
                    <a:pt x="107250" y="13638"/>
                  </a:lnTo>
                  <a:lnTo>
                    <a:pt x="134063" y="6056"/>
                  </a:lnTo>
                  <a:lnTo>
                    <a:pt x="160875" y="4912"/>
                  </a:lnTo>
                  <a:lnTo>
                    <a:pt x="187688" y="12875"/>
                  </a:lnTo>
                  <a:lnTo>
                    <a:pt x="214500" y="27276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9" name="Волокна матрикса в интерстиции"/>
            <p:cNvSpPr/>
            <p:nvPr/>
          </p:nvSpPr>
          <p:spPr>
            <a:xfrm>
              <a:off x="9105322" y="3364553"/>
              <a:ext cx="107506" cy="142143"/>
            </a:xfrm>
            <a:custGeom>
              <a:avLst/>
              <a:gdLst/>
              <a:ahLst/>
              <a:cxnLst/>
              <a:rect l="l" t="t" r="r" b="b"/>
              <a:pathLst>
                <a:path w="107506" h="142143">
                  <a:moveTo>
                    <a:pt x="107506" y="0"/>
                  </a:moveTo>
                  <a:lnTo>
                    <a:pt x="94068" y="28760"/>
                  </a:lnTo>
                  <a:lnTo>
                    <a:pt x="80630" y="51080"/>
                  </a:lnTo>
                  <a:lnTo>
                    <a:pt x="67192" y="64295"/>
                  </a:lnTo>
                  <a:lnTo>
                    <a:pt x="53753" y="71072"/>
                  </a:lnTo>
                  <a:lnTo>
                    <a:pt x="40315" y="77848"/>
                  </a:lnTo>
                  <a:lnTo>
                    <a:pt x="26877" y="91063"/>
                  </a:lnTo>
                  <a:lnTo>
                    <a:pt x="13439" y="113383"/>
                  </a:lnTo>
                  <a:lnTo>
                    <a:pt x="0" y="142143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0" name="Волокна матрикса в интерстиции"/>
            <p:cNvSpPr/>
            <p:nvPr/>
          </p:nvSpPr>
          <p:spPr>
            <a:xfrm>
              <a:off x="10607658" y="3883987"/>
              <a:ext cx="107710" cy="140841"/>
            </a:xfrm>
            <a:custGeom>
              <a:avLst/>
              <a:gdLst/>
              <a:ahLst/>
              <a:cxnLst/>
              <a:rect l="l" t="t" r="r" b="b"/>
              <a:pathLst>
                <a:path w="107710" h="140841">
                  <a:moveTo>
                    <a:pt x="107710" y="0"/>
                  </a:moveTo>
                  <a:lnTo>
                    <a:pt x="94246" y="28597"/>
                  </a:lnTo>
                  <a:lnTo>
                    <a:pt x="80782" y="50755"/>
                  </a:lnTo>
                  <a:lnTo>
                    <a:pt x="67318" y="63807"/>
                  </a:lnTo>
                  <a:lnTo>
                    <a:pt x="53855" y="70420"/>
                  </a:lnTo>
                  <a:lnTo>
                    <a:pt x="40391" y="77033"/>
                  </a:lnTo>
                  <a:lnTo>
                    <a:pt x="26927" y="90086"/>
                  </a:lnTo>
                  <a:lnTo>
                    <a:pt x="13464" y="112244"/>
                  </a:lnTo>
                  <a:lnTo>
                    <a:pt x="0" y="14084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1" name="Волокна матрикса в интерстиции"/>
            <p:cNvSpPr/>
            <p:nvPr/>
          </p:nvSpPr>
          <p:spPr>
            <a:xfrm>
              <a:off x="10535995" y="2264757"/>
              <a:ext cx="288892" cy="123356"/>
            </a:xfrm>
            <a:custGeom>
              <a:avLst/>
              <a:gdLst/>
              <a:ahLst/>
              <a:cxnLst/>
              <a:rect l="l" t="t" r="r" b="b"/>
              <a:pathLst>
                <a:path w="288892" h="123356">
                  <a:moveTo>
                    <a:pt x="0" y="0"/>
                  </a:moveTo>
                  <a:lnTo>
                    <a:pt x="36112" y="26412"/>
                  </a:lnTo>
                  <a:lnTo>
                    <a:pt x="72223" y="46384"/>
                  </a:lnTo>
                  <a:lnTo>
                    <a:pt x="108334" y="57251"/>
                  </a:lnTo>
                  <a:lnTo>
                    <a:pt x="144446" y="61678"/>
                  </a:lnTo>
                  <a:lnTo>
                    <a:pt x="180557" y="66106"/>
                  </a:lnTo>
                  <a:lnTo>
                    <a:pt x="216669" y="76972"/>
                  </a:lnTo>
                  <a:lnTo>
                    <a:pt x="252780" y="96945"/>
                  </a:lnTo>
                  <a:lnTo>
                    <a:pt x="288892" y="123356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2" name="Волокна матрикса в интерстиции"/>
            <p:cNvSpPr/>
            <p:nvPr/>
          </p:nvSpPr>
          <p:spPr>
            <a:xfrm>
              <a:off x="10508812" y="3787039"/>
              <a:ext cx="106421" cy="116411"/>
            </a:xfrm>
            <a:custGeom>
              <a:avLst/>
              <a:gdLst/>
              <a:ahLst/>
              <a:cxnLst/>
              <a:rect l="l" t="t" r="r" b="b"/>
              <a:pathLst>
                <a:path w="106421" h="116411">
                  <a:moveTo>
                    <a:pt x="0" y="0"/>
                  </a:moveTo>
                  <a:lnTo>
                    <a:pt x="13303" y="25543"/>
                  </a:lnTo>
                  <a:lnTo>
                    <a:pt x="26606" y="44647"/>
                  </a:lnTo>
                  <a:lnTo>
                    <a:pt x="39908" y="54646"/>
                  </a:lnTo>
                  <a:lnTo>
                    <a:pt x="53211" y="58205"/>
                  </a:lnTo>
                  <a:lnTo>
                    <a:pt x="66513" y="61765"/>
                  </a:lnTo>
                  <a:lnTo>
                    <a:pt x="79816" y="71763"/>
                  </a:lnTo>
                  <a:lnTo>
                    <a:pt x="93118" y="90868"/>
                  </a:lnTo>
                  <a:lnTo>
                    <a:pt x="106421" y="116411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3" name="Волокна матрикса в интерстиции"/>
            <p:cNvSpPr/>
            <p:nvPr/>
          </p:nvSpPr>
          <p:spPr>
            <a:xfrm>
              <a:off x="10288067" y="2231085"/>
              <a:ext cx="97312" cy="90412"/>
            </a:xfrm>
            <a:custGeom>
              <a:avLst/>
              <a:gdLst/>
              <a:ahLst/>
              <a:cxnLst/>
              <a:rect l="l" t="t" r="r" b="b"/>
              <a:pathLst>
                <a:path w="97312" h="90412">
                  <a:moveTo>
                    <a:pt x="0" y="0"/>
                  </a:moveTo>
                  <a:lnTo>
                    <a:pt x="12164" y="22294"/>
                  </a:lnTo>
                  <a:lnTo>
                    <a:pt x="24328" y="38148"/>
                  </a:lnTo>
                  <a:lnTo>
                    <a:pt x="36492" y="44896"/>
                  </a:lnTo>
                  <a:lnTo>
                    <a:pt x="48656" y="45206"/>
                  </a:lnTo>
                  <a:lnTo>
                    <a:pt x="60820" y="45516"/>
                  </a:lnTo>
                  <a:lnTo>
                    <a:pt x="72984" y="52264"/>
                  </a:lnTo>
                  <a:lnTo>
                    <a:pt x="85148" y="68119"/>
                  </a:lnTo>
                  <a:lnTo>
                    <a:pt x="97312" y="90412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4" name="Волокна матрикса в интерстиции"/>
            <p:cNvSpPr/>
            <p:nvPr/>
          </p:nvSpPr>
          <p:spPr>
            <a:xfrm>
              <a:off x="9603794" y="3005748"/>
              <a:ext cx="213905" cy="191039"/>
            </a:xfrm>
            <a:custGeom>
              <a:avLst/>
              <a:gdLst/>
              <a:ahLst/>
              <a:cxnLst/>
              <a:rect l="l" t="t" r="r" b="b"/>
              <a:pathLst>
                <a:path w="213905" h="191039">
                  <a:moveTo>
                    <a:pt x="0" y="0"/>
                  </a:moveTo>
                  <a:lnTo>
                    <a:pt x="26738" y="34872"/>
                  </a:lnTo>
                  <a:lnTo>
                    <a:pt x="53476" y="63305"/>
                  </a:lnTo>
                  <a:lnTo>
                    <a:pt x="80214" y="82632"/>
                  </a:lnTo>
                  <a:lnTo>
                    <a:pt x="106953" y="95520"/>
                  </a:lnTo>
                  <a:lnTo>
                    <a:pt x="133691" y="108408"/>
                  </a:lnTo>
                  <a:lnTo>
                    <a:pt x="160429" y="127735"/>
                  </a:lnTo>
                  <a:lnTo>
                    <a:pt x="187167" y="156167"/>
                  </a:lnTo>
                  <a:lnTo>
                    <a:pt x="213905" y="191039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5" name="Волокна матрикса в интерстиции"/>
            <p:cNvSpPr/>
            <p:nvPr/>
          </p:nvSpPr>
          <p:spPr>
            <a:xfrm>
              <a:off x="8872959" y="3919132"/>
              <a:ext cx="120520" cy="25985"/>
            </a:xfrm>
            <a:custGeom>
              <a:avLst/>
              <a:gdLst/>
              <a:ahLst/>
              <a:cxnLst/>
              <a:rect l="l" t="t" r="r" b="b"/>
              <a:pathLst>
                <a:path w="120520" h="25985">
                  <a:moveTo>
                    <a:pt x="120520" y="7887"/>
                  </a:moveTo>
                  <a:lnTo>
                    <a:pt x="105455" y="20155"/>
                  </a:lnTo>
                  <a:lnTo>
                    <a:pt x="90390" y="25985"/>
                  </a:lnTo>
                  <a:lnTo>
                    <a:pt x="75325" y="22708"/>
                  </a:lnTo>
                  <a:lnTo>
                    <a:pt x="60260" y="12992"/>
                  </a:lnTo>
                  <a:lnTo>
                    <a:pt x="45195" y="3277"/>
                  </a:lnTo>
                  <a:lnTo>
                    <a:pt x="30130" y="0"/>
                  </a:lnTo>
                  <a:lnTo>
                    <a:pt x="15065" y="5830"/>
                  </a:lnTo>
                  <a:lnTo>
                    <a:pt x="0" y="18098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6" name="Волокна матрикса в интерстиции"/>
            <p:cNvSpPr/>
            <p:nvPr/>
          </p:nvSpPr>
          <p:spPr>
            <a:xfrm>
              <a:off x="9992577" y="3429360"/>
              <a:ext cx="57326" cy="128716"/>
            </a:xfrm>
            <a:custGeom>
              <a:avLst/>
              <a:gdLst/>
              <a:ahLst/>
              <a:cxnLst/>
              <a:rect l="l" t="t" r="r" b="b"/>
              <a:pathLst>
                <a:path w="57326" h="128716">
                  <a:moveTo>
                    <a:pt x="57326" y="0"/>
                  </a:moveTo>
                  <a:lnTo>
                    <a:pt x="50160" y="27081"/>
                  </a:lnTo>
                  <a:lnTo>
                    <a:pt x="42994" y="47724"/>
                  </a:lnTo>
                  <a:lnTo>
                    <a:pt x="35829" y="59260"/>
                  </a:lnTo>
                  <a:lnTo>
                    <a:pt x="28663" y="64358"/>
                  </a:lnTo>
                  <a:lnTo>
                    <a:pt x="21497" y="69456"/>
                  </a:lnTo>
                  <a:lnTo>
                    <a:pt x="14331" y="80992"/>
                  </a:lnTo>
                  <a:lnTo>
                    <a:pt x="7165" y="101635"/>
                  </a:lnTo>
                  <a:lnTo>
                    <a:pt x="0" y="128716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7" name="Волокна матрикса в интерстиции"/>
            <p:cNvSpPr/>
            <p:nvPr/>
          </p:nvSpPr>
          <p:spPr>
            <a:xfrm>
              <a:off x="9710624" y="3022391"/>
              <a:ext cx="127173" cy="121051"/>
            </a:xfrm>
            <a:custGeom>
              <a:avLst/>
              <a:gdLst/>
              <a:ahLst/>
              <a:cxnLst/>
              <a:rect l="l" t="t" r="r" b="b"/>
              <a:pathLst>
                <a:path w="127173" h="121051">
                  <a:moveTo>
                    <a:pt x="0" y="0"/>
                  </a:moveTo>
                  <a:lnTo>
                    <a:pt x="15896" y="26124"/>
                  </a:lnTo>
                  <a:lnTo>
                    <a:pt x="31793" y="45808"/>
                  </a:lnTo>
                  <a:lnTo>
                    <a:pt x="47690" y="56386"/>
                  </a:lnTo>
                  <a:lnTo>
                    <a:pt x="63586" y="60526"/>
                  </a:lnTo>
                  <a:lnTo>
                    <a:pt x="79483" y="64665"/>
                  </a:lnTo>
                  <a:lnTo>
                    <a:pt x="95380" y="75243"/>
                  </a:lnTo>
                  <a:lnTo>
                    <a:pt x="111276" y="94928"/>
                  </a:lnTo>
                  <a:lnTo>
                    <a:pt x="127173" y="12105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8" name="Волокна матрикса в интерстиции"/>
            <p:cNvSpPr/>
            <p:nvPr/>
          </p:nvSpPr>
          <p:spPr>
            <a:xfrm>
              <a:off x="10197097" y="4343323"/>
              <a:ext cx="122231" cy="127999"/>
            </a:xfrm>
            <a:custGeom>
              <a:avLst/>
              <a:gdLst/>
              <a:ahLst/>
              <a:cxnLst/>
              <a:rect l="l" t="t" r="r" b="b"/>
              <a:pathLst>
                <a:path w="122231" h="127999">
                  <a:moveTo>
                    <a:pt x="122231" y="0"/>
                  </a:moveTo>
                  <a:lnTo>
                    <a:pt x="106952" y="26992"/>
                  </a:lnTo>
                  <a:lnTo>
                    <a:pt x="91673" y="47544"/>
                  </a:lnTo>
                  <a:lnTo>
                    <a:pt x="76394" y="58991"/>
                  </a:lnTo>
                  <a:lnTo>
                    <a:pt x="61115" y="64000"/>
                  </a:lnTo>
                  <a:lnTo>
                    <a:pt x="45836" y="69008"/>
                  </a:lnTo>
                  <a:lnTo>
                    <a:pt x="30558" y="80455"/>
                  </a:lnTo>
                  <a:lnTo>
                    <a:pt x="15279" y="101007"/>
                  </a:lnTo>
                  <a:lnTo>
                    <a:pt x="0" y="127999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9" name="Волокна матрикса в интерстиции"/>
            <p:cNvSpPr/>
            <p:nvPr/>
          </p:nvSpPr>
          <p:spPr>
            <a:xfrm>
              <a:off x="8535066" y="3615113"/>
              <a:ext cx="23506" cy="109215"/>
            </a:xfrm>
            <a:custGeom>
              <a:avLst/>
              <a:gdLst/>
              <a:ahLst/>
              <a:cxnLst/>
              <a:rect l="l" t="t" r="r" b="b"/>
              <a:pathLst>
                <a:path w="23506" h="109215">
                  <a:moveTo>
                    <a:pt x="23506" y="0"/>
                  </a:moveTo>
                  <a:lnTo>
                    <a:pt x="20568" y="24644"/>
                  </a:lnTo>
                  <a:lnTo>
                    <a:pt x="17629" y="42849"/>
                  </a:lnTo>
                  <a:lnTo>
                    <a:pt x="14691" y="51948"/>
                  </a:lnTo>
                  <a:lnTo>
                    <a:pt x="11753" y="54608"/>
                  </a:lnTo>
                  <a:lnTo>
                    <a:pt x="8815" y="57268"/>
                  </a:lnTo>
                  <a:lnTo>
                    <a:pt x="5877" y="66366"/>
                  </a:lnTo>
                  <a:lnTo>
                    <a:pt x="2938" y="84571"/>
                  </a:lnTo>
                  <a:lnTo>
                    <a:pt x="0" y="109215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0" name="Волокна матрикса в интерстиции"/>
            <p:cNvSpPr/>
            <p:nvPr/>
          </p:nvSpPr>
          <p:spPr>
            <a:xfrm>
              <a:off x="9935425" y="3089436"/>
              <a:ext cx="30777" cy="142162"/>
            </a:xfrm>
            <a:custGeom>
              <a:avLst/>
              <a:gdLst/>
              <a:ahLst/>
              <a:cxnLst/>
              <a:rect l="l" t="t" r="r" b="b"/>
              <a:pathLst>
                <a:path w="30777" h="142162">
                  <a:moveTo>
                    <a:pt x="0" y="0"/>
                  </a:moveTo>
                  <a:lnTo>
                    <a:pt x="3847" y="28762"/>
                  </a:lnTo>
                  <a:lnTo>
                    <a:pt x="7694" y="51086"/>
                  </a:lnTo>
                  <a:lnTo>
                    <a:pt x="11541" y="64303"/>
                  </a:lnTo>
                  <a:lnTo>
                    <a:pt x="15388" y="71081"/>
                  </a:lnTo>
                  <a:lnTo>
                    <a:pt x="19236" y="77860"/>
                  </a:lnTo>
                  <a:lnTo>
                    <a:pt x="23083" y="91077"/>
                  </a:lnTo>
                  <a:lnTo>
                    <a:pt x="26930" y="113400"/>
                  </a:lnTo>
                  <a:lnTo>
                    <a:pt x="30777" y="142162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1" name="Волокна матрикса в интерстиции"/>
            <p:cNvSpPr/>
            <p:nvPr/>
          </p:nvSpPr>
          <p:spPr>
            <a:xfrm>
              <a:off x="10644577" y="2320275"/>
              <a:ext cx="240423" cy="126680"/>
            </a:xfrm>
            <a:custGeom>
              <a:avLst/>
              <a:gdLst/>
              <a:ahLst/>
              <a:cxnLst/>
              <a:rect l="l" t="t" r="r" b="b"/>
              <a:pathLst>
                <a:path w="240423" h="126680">
                  <a:moveTo>
                    <a:pt x="0" y="0"/>
                  </a:moveTo>
                  <a:lnTo>
                    <a:pt x="30053" y="26827"/>
                  </a:lnTo>
                  <a:lnTo>
                    <a:pt x="60106" y="47215"/>
                  </a:lnTo>
                  <a:lnTo>
                    <a:pt x="90159" y="58497"/>
                  </a:lnTo>
                  <a:lnTo>
                    <a:pt x="120212" y="63340"/>
                  </a:lnTo>
                  <a:lnTo>
                    <a:pt x="150264" y="68183"/>
                  </a:lnTo>
                  <a:lnTo>
                    <a:pt x="180317" y="79465"/>
                  </a:lnTo>
                  <a:lnTo>
                    <a:pt x="210370" y="99853"/>
                  </a:lnTo>
                  <a:lnTo>
                    <a:pt x="240423" y="126680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2" name="Волокна матрикса в интерстиции"/>
            <p:cNvSpPr/>
            <p:nvPr/>
          </p:nvSpPr>
          <p:spPr>
            <a:xfrm>
              <a:off x="8346873" y="3654299"/>
              <a:ext cx="240119" cy="123642"/>
            </a:xfrm>
            <a:custGeom>
              <a:avLst/>
              <a:gdLst/>
              <a:ahLst/>
              <a:cxnLst/>
              <a:rect l="l" t="t" r="r" b="b"/>
              <a:pathLst>
                <a:path w="240119" h="123642">
                  <a:moveTo>
                    <a:pt x="0" y="0"/>
                  </a:moveTo>
                  <a:lnTo>
                    <a:pt x="30015" y="26447"/>
                  </a:lnTo>
                  <a:lnTo>
                    <a:pt x="60030" y="46455"/>
                  </a:lnTo>
                  <a:lnTo>
                    <a:pt x="90044" y="57358"/>
                  </a:lnTo>
                  <a:lnTo>
                    <a:pt x="120059" y="61821"/>
                  </a:lnTo>
                  <a:lnTo>
                    <a:pt x="150074" y="66285"/>
                  </a:lnTo>
                  <a:lnTo>
                    <a:pt x="180089" y="77187"/>
                  </a:lnTo>
                  <a:lnTo>
                    <a:pt x="210104" y="97195"/>
                  </a:lnTo>
                  <a:lnTo>
                    <a:pt x="240119" y="12364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3" name="Волокна матрикса в интерстиции"/>
            <p:cNvSpPr/>
            <p:nvPr/>
          </p:nvSpPr>
          <p:spPr>
            <a:xfrm>
              <a:off x="8886485" y="3699959"/>
              <a:ext cx="233398" cy="87161"/>
            </a:xfrm>
            <a:custGeom>
              <a:avLst/>
              <a:gdLst/>
              <a:ahLst/>
              <a:cxnLst/>
              <a:rect l="l" t="t" r="r" b="b"/>
              <a:pathLst>
                <a:path w="233398" h="87161">
                  <a:moveTo>
                    <a:pt x="233398" y="0"/>
                  </a:moveTo>
                  <a:lnTo>
                    <a:pt x="204223" y="21887"/>
                  </a:lnTo>
                  <a:lnTo>
                    <a:pt x="175048" y="37335"/>
                  </a:lnTo>
                  <a:lnTo>
                    <a:pt x="145874" y="43677"/>
                  </a:lnTo>
                  <a:lnTo>
                    <a:pt x="116699" y="43580"/>
                  </a:lnTo>
                  <a:lnTo>
                    <a:pt x="87524" y="43484"/>
                  </a:lnTo>
                  <a:lnTo>
                    <a:pt x="58349" y="49826"/>
                  </a:lnTo>
                  <a:lnTo>
                    <a:pt x="29175" y="65274"/>
                  </a:lnTo>
                  <a:lnTo>
                    <a:pt x="0" y="8716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4" name="Волокна матрикса в интерстиции"/>
            <p:cNvSpPr/>
            <p:nvPr/>
          </p:nvSpPr>
          <p:spPr>
            <a:xfrm>
              <a:off x="8462512" y="3093231"/>
              <a:ext cx="152976" cy="228190"/>
            </a:xfrm>
            <a:custGeom>
              <a:avLst/>
              <a:gdLst/>
              <a:ahLst/>
              <a:cxnLst/>
              <a:rect l="l" t="t" r="r" b="b"/>
              <a:pathLst>
                <a:path w="152976" h="228190">
                  <a:moveTo>
                    <a:pt x="0" y="0"/>
                  </a:moveTo>
                  <a:lnTo>
                    <a:pt x="19122" y="39516"/>
                  </a:lnTo>
                  <a:lnTo>
                    <a:pt x="38244" y="72592"/>
                  </a:lnTo>
                  <a:lnTo>
                    <a:pt x="57366" y="96563"/>
                  </a:lnTo>
                  <a:lnTo>
                    <a:pt x="76488" y="114095"/>
                  </a:lnTo>
                  <a:lnTo>
                    <a:pt x="95610" y="131627"/>
                  </a:lnTo>
                  <a:lnTo>
                    <a:pt x="114732" y="155598"/>
                  </a:lnTo>
                  <a:lnTo>
                    <a:pt x="133854" y="188674"/>
                  </a:lnTo>
                  <a:lnTo>
                    <a:pt x="152976" y="228190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5" name="Волокна матрикса в интерстиции"/>
            <p:cNvSpPr/>
            <p:nvPr/>
          </p:nvSpPr>
          <p:spPr>
            <a:xfrm>
              <a:off x="10133874" y="3500702"/>
              <a:ext cx="107361" cy="101772"/>
            </a:xfrm>
            <a:custGeom>
              <a:avLst/>
              <a:gdLst/>
              <a:ahLst/>
              <a:cxnLst/>
              <a:rect l="l" t="t" r="r" b="b"/>
              <a:pathLst>
                <a:path w="107361" h="101772">
                  <a:moveTo>
                    <a:pt x="0" y="0"/>
                  </a:moveTo>
                  <a:lnTo>
                    <a:pt x="13420" y="23714"/>
                  </a:lnTo>
                  <a:lnTo>
                    <a:pt x="26840" y="40988"/>
                  </a:lnTo>
                  <a:lnTo>
                    <a:pt x="40261" y="49156"/>
                  </a:lnTo>
                  <a:lnTo>
                    <a:pt x="53681" y="50886"/>
                  </a:lnTo>
                  <a:lnTo>
                    <a:pt x="67101" y="52616"/>
                  </a:lnTo>
                  <a:lnTo>
                    <a:pt x="80521" y="60784"/>
                  </a:lnTo>
                  <a:lnTo>
                    <a:pt x="93941" y="78059"/>
                  </a:lnTo>
                  <a:lnTo>
                    <a:pt x="107361" y="10177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6" name="Волокна матрикса в интерстиции"/>
            <p:cNvSpPr/>
            <p:nvPr/>
          </p:nvSpPr>
          <p:spPr>
            <a:xfrm>
              <a:off x="11206316" y="3431499"/>
              <a:ext cx="128627" cy="111567"/>
            </a:xfrm>
            <a:custGeom>
              <a:avLst/>
              <a:gdLst/>
              <a:ahLst/>
              <a:cxnLst/>
              <a:rect l="l" t="t" r="r" b="b"/>
              <a:pathLst>
                <a:path w="128627" h="111567">
                  <a:moveTo>
                    <a:pt x="128627" y="0"/>
                  </a:moveTo>
                  <a:lnTo>
                    <a:pt x="112549" y="24938"/>
                  </a:lnTo>
                  <a:lnTo>
                    <a:pt x="96470" y="43436"/>
                  </a:lnTo>
                  <a:lnTo>
                    <a:pt x="80392" y="52829"/>
                  </a:lnTo>
                  <a:lnTo>
                    <a:pt x="64313" y="55784"/>
                  </a:lnTo>
                  <a:lnTo>
                    <a:pt x="48235" y="58738"/>
                  </a:lnTo>
                  <a:lnTo>
                    <a:pt x="32156" y="68131"/>
                  </a:lnTo>
                  <a:lnTo>
                    <a:pt x="16078" y="86630"/>
                  </a:lnTo>
                  <a:lnTo>
                    <a:pt x="0" y="111567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7" name="Волокна матрикса в интерстиции"/>
            <p:cNvSpPr/>
            <p:nvPr/>
          </p:nvSpPr>
          <p:spPr>
            <a:xfrm>
              <a:off x="9097551" y="3328303"/>
              <a:ext cx="147945" cy="97021"/>
            </a:xfrm>
            <a:custGeom>
              <a:avLst/>
              <a:gdLst/>
              <a:ahLst/>
              <a:cxnLst/>
              <a:rect l="l" t="t" r="r" b="b"/>
              <a:pathLst>
                <a:path w="147945" h="97021">
                  <a:moveTo>
                    <a:pt x="147945" y="0"/>
                  </a:moveTo>
                  <a:lnTo>
                    <a:pt x="129452" y="23119"/>
                  </a:lnTo>
                  <a:lnTo>
                    <a:pt x="110959" y="39800"/>
                  </a:lnTo>
                  <a:lnTo>
                    <a:pt x="92465" y="47374"/>
                  </a:lnTo>
                  <a:lnTo>
                    <a:pt x="73972" y="48510"/>
                  </a:lnTo>
                  <a:lnTo>
                    <a:pt x="55479" y="49646"/>
                  </a:lnTo>
                  <a:lnTo>
                    <a:pt x="36986" y="57221"/>
                  </a:lnTo>
                  <a:lnTo>
                    <a:pt x="18493" y="73901"/>
                  </a:lnTo>
                  <a:lnTo>
                    <a:pt x="0" y="97021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8" name="Волокна матрикса в интерстиции"/>
            <p:cNvSpPr/>
            <p:nvPr/>
          </p:nvSpPr>
          <p:spPr>
            <a:xfrm>
              <a:off x="10427290" y="3710903"/>
              <a:ext cx="120724" cy="147953"/>
            </a:xfrm>
            <a:custGeom>
              <a:avLst/>
              <a:gdLst/>
              <a:ahLst/>
              <a:cxnLst/>
              <a:rect l="l" t="t" r="r" b="b"/>
              <a:pathLst>
                <a:path w="120724" h="147953">
                  <a:moveTo>
                    <a:pt x="0" y="0"/>
                  </a:moveTo>
                  <a:lnTo>
                    <a:pt x="15090" y="29486"/>
                  </a:lnTo>
                  <a:lnTo>
                    <a:pt x="30181" y="52533"/>
                  </a:lnTo>
                  <a:lnTo>
                    <a:pt x="45271" y="66474"/>
                  </a:lnTo>
                  <a:lnTo>
                    <a:pt x="60362" y="73976"/>
                  </a:lnTo>
                  <a:lnTo>
                    <a:pt x="75452" y="81479"/>
                  </a:lnTo>
                  <a:lnTo>
                    <a:pt x="90543" y="95420"/>
                  </a:lnTo>
                  <a:lnTo>
                    <a:pt x="105633" y="118467"/>
                  </a:lnTo>
                  <a:lnTo>
                    <a:pt x="120724" y="147953"/>
                  </a:lnTo>
                </a:path>
              </a:pathLst>
            </a:custGeom>
            <a:noFill/>
            <a:ln w="8255">
              <a:solidFill>
                <a:srgbClr val="BFA07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9" name="Волокна матрикса в интерстиции"/>
            <p:cNvSpPr/>
            <p:nvPr/>
          </p:nvSpPr>
          <p:spPr>
            <a:xfrm>
              <a:off x="10537381" y="3790715"/>
              <a:ext cx="155560" cy="98277"/>
            </a:xfrm>
            <a:custGeom>
              <a:avLst/>
              <a:gdLst/>
              <a:ahLst/>
              <a:cxnLst/>
              <a:rect l="l" t="t" r="r" b="b"/>
              <a:pathLst>
                <a:path w="155560" h="98277">
                  <a:moveTo>
                    <a:pt x="155560" y="0"/>
                  </a:moveTo>
                  <a:lnTo>
                    <a:pt x="136115" y="23276"/>
                  </a:lnTo>
                  <a:lnTo>
                    <a:pt x="116670" y="40114"/>
                  </a:lnTo>
                  <a:lnTo>
                    <a:pt x="97225" y="47846"/>
                  </a:lnTo>
                  <a:lnTo>
                    <a:pt x="77780" y="49138"/>
                  </a:lnTo>
                  <a:lnTo>
                    <a:pt x="58335" y="50431"/>
                  </a:lnTo>
                  <a:lnTo>
                    <a:pt x="38890" y="58163"/>
                  </a:lnTo>
                  <a:lnTo>
                    <a:pt x="19445" y="75001"/>
                  </a:lnTo>
                  <a:lnTo>
                    <a:pt x="0" y="98277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0" name="Волокна матрикса в интерстиции"/>
            <p:cNvSpPr/>
            <p:nvPr/>
          </p:nvSpPr>
          <p:spPr>
            <a:xfrm>
              <a:off x="9637126" y="2976807"/>
              <a:ext cx="313145" cy="90502"/>
            </a:xfrm>
            <a:custGeom>
              <a:avLst/>
              <a:gdLst/>
              <a:ahLst/>
              <a:cxnLst/>
              <a:rect l="l" t="t" r="r" b="b"/>
              <a:pathLst>
                <a:path w="313145" h="90502">
                  <a:moveTo>
                    <a:pt x="313145" y="0"/>
                  </a:moveTo>
                  <a:lnTo>
                    <a:pt x="274002" y="22304"/>
                  </a:lnTo>
                  <a:lnTo>
                    <a:pt x="234859" y="38170"/>
                  </a:lnTo>
                  <a:lnTo>
                    <a:pt x="195716" y="44930"/>
                  </a:lnTo>
                  <a:lnTo>
                    <a:pt x="156573" y="45251"/>
                  </a:lnTo>
                  <a:lnTo>
                    <a:pt x="117429" y="45572"/>
                  </a:lnTo>
                  <a:lnTo>
                    <a:pt x="78286" y="52332"/>
                  </a:lnTo>
                  <a:lnTo>
                    <a:pt x="39143" y="68197"/>
                  </a:lnTo>
                  <a:lnTo>
                    <a:pt x="0" y="90502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1" name="Волокна матрикса в интерстиции"/>
            <p:cNvSpPr/>
            <p:nvPr/>
          </p:nvSpPr>
          <p:spPr>
            <a:xfrm>
              <a:off x="8540728" y="3276607"/>
              <a:ext cx="103278" cy="201982"/>
            </a:xfrm>
            <a:custGeom>
              <a:avLst/>
              <a:gdLst/>
              <a:ahLst/>
              <a:cxnLst/>
              <a:rect l="l" t="t" r="r" b="b"/>
              <a:pathLst>
                <a:path w="103278" h="201982">
                  <a:moveTo>
                    <a:pt x="103278" y="0"/>
                  </a:moveTo>
                  <a:lnTo>
                    <a:pt x="90368" y="36240"/>
                  </a:lnTo>
                  <a:lnTo>
                    <a:pt x="77459" y="66041"/>
                  </a:lnTo>
                  <a:lnTo>
                    <a:pt x="64549" y="86735"/>
                  </a:lnTo>
                  <a:lnTo>
                    <a:pt x="51639" y="100991"/>
                  </a:lnTo>
                  <a:lnTo>
                    <a:pt x="38730" y="115247"/>
                  </a:lnTo>
                  <a:lnTo>
                    <a:pt x="25820" y="135942"/>
                  </a:lnTo>
                  <a:lnTo>
                    <a:pt x="12910" y="165742"/>
                  </a:lnTo>
                  <a:lnTo>
                    <a:pt x="0" y="201982"/>
                  </a:lnTo>
                </a:path>
              </a:pathLst>
            </a:custGeom>
            <a:noFill/>
            <a:ln w="8255">
              <a:solidFill>
                <a:srgbClr val="C7A9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2" name="Волокна матрикса в интерстиции"/>
            <p:cNvSpPr/>
            <p:nvPr/>
          </p:nvSpPr>
          <p:spPr>
            <a:xfrm>
              <a:off x="8444467" y="3910272"/>
              <a:ext cx="87914" cy="94029"/>
            </a:xfrm>
            <a:custGeom>
              <a:avLst/>
              <a:gdLst/>
              <a:ahLst/>
              <a:cxnLst/>
              <a:rect l="l" t="t" r="r" b="b"/>
              <a:pathLst>
                <a:path w="87914" h="94029">
                  <a:moveTo>
                    <a:pt x="87914" y="0"/>
                  </a:moveTo>
                  <a:lnTo>
                    <a:pt x="76925" y="22745"/>
                  </a:lnTo>
                  <a:lnTo>
                    <a:pt x="65936" y="39052"/>
                  </a:lnTo>
                  <a:lnTo>
                    <a:pt x="54946" y="46252"/>
                  </a:lnTo>
                  <a:lnTo>
                    <a:pt x="43957" y="47014"/>
                  </a:lnTo>
                  <a:lnTo>
                    <a:pt x="32968" y="47776"/>
                  </a:lnTo>
                  <a:lnTo>
                    <a:pt x="21979" y="54977"/>
                  </a:lnTo>
                  <a:lnTo>
                    <a:pt x="10989" y="71284"/>
                  </a:lnTo>
                  <a:lnTo>
                    <a:pt x="0" y="94029"/>
                  </a:lnTo>
                </a:path>
              </a:pathLst>
            </a:custGeom>
            <a:noFill/>
            <a:ln w="8255">
              <a:solidFill>
                <a:srgbClr val="D4BA8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3" name="Стромальная клетка"/>
            <p:cNvSpPr/>
            <p:nvPr/>
          </p:nvSpPr>
          <p:spPr>
            <a:xfrm rot="7320000">
              <a:off x="10606590" y="4240369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4" name="Стромальная клетка"/>
            <p:cNvSpPr/>
            <p:nvPr/>
          </p:nvSpPr>
          <p:spPr>
            <a:xfrm rot="1740000">
              <a:off x="8800869" y="407078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5" name="Стромальная клетка"/>
            <p:cNvSpPr/>
            <p:nvPr/>
          </p:nvSpPr>
          <p:spPr>
            <a:xfrm rot="2220000">
              <a:off x="10233521" y="419738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6" name="Стромальная клетка"/>
            <p:cNvSpPr/>
            <p:nvPr/>
          </p:nvSpPr>
          <p:spPr>
            <a:xfrm rot="8940000">
              <a:off x="10525384" y="441002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7" name="Стромальная клетка"/>
            <p:cNvSpPr/>
            <p:nvPr/>
          </p:nvSpPr>
          <p:spPr>
            <a:xfrm rot="6660000">
              <a:off x="10529559" y="403421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8" name="Стромальная клетка"/>
            <p:cNvSpPr/>
            <p:nvPr/>
          </p:nvSpPr>
          <p:spPr>
            <a:xfrm rot="5340000">
              <a:off x="10301819" y="3992268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59" name="Стромальная клетка"/>
            <p:cNvSpPr/>
            <p:nvPr/>
          </p:nvSpPr>
          <p:spPr>
            <a:xfrm rot="1800000">
              <a:off x="10255678" y="4416368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0" name="Стромальная клетка"/>
            <p:cNvSpPr/>
            <p:nvPr/>
          </p:nvSpPr>
          <p:spPr>
            <a:xfrm rot="1140000">
              <a:off x="8903911" y="3200351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1" name="Стромальная клетка"/>
            <p:cNvSpPr/>
            <p:nvPr/>
          </p:nvSpPr>
          <p:spPr>
            <a:xfrm rot="4380000">
              <a:off x="10352338" y="428841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2" name="Стромальная клетка"/>
            <p:cNvSpPr/>
            <p:nvPr/>
          </p:nvSpPr>
          <p:spPr>
            <a:xfrm rot="1560000">
              <a:off x="10076307" y="3579060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3" name="Стромальная клетка"/>
            <p:cNvSpPr/>
            <p:nvPr/>
          </p:nvSpPr>
          <p:spPr>
            <a:xfrm rot="5220000">
              <a:off x="10319714" y="3714411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4" name="Стромальная клетка"/>
            <p:cNvSpPr/>
            <p:nvPr/>
          </p:nvSpPr>
          <p:spPr>
            <a:xfrm rot="5880000">
              <a:off x="10839490" y="3676014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5" name="Стромальная клетка"/>
            <p:cNvSpPr/>
            <p:nvPr/>
          </p:nvSpPr>
          <p:spPr>
            <a:xfrm rot="1140000">
              <a:off x="9878309" y="3420543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6" name="Стромальная клетка"/>
            <p:cNvSpPr/>
            <p:nvPr/>
          </p:nvSpPr>
          <p:spPr>
            <a:xfrm rot="6060000">
              <a:off x="11127740" y="369398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7" name="Стромальная клетка"/>
            <p:cNvSpPr/>
            <p:nvPr/>
          </p:nvSpPr>
          <p:spPr>
            <a:xfrm rot="6840000">
              <a:off x="9641807" y="2149603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8" name="Стромальная клетка"/>
            <p:cNvSpPr/>
            <p:nvPr/>
          </p:nvSpPr>
          <p:spPr>
            <a:xfrm rot="6720000">
              <a:off x="9788738" y="3300235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69" name="Стромальная клетка"/>
            <p:cNvSpPr/>
            <p:nvPr/>
          </p:nvSpPr>
          <p:spPr>
            <a:xfrm rot="2700000">
              <a:off x="8383289" y="3834824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0" name="Стромальная клетка"/>
            <p:cNvSpPr/>
            <p:nvPr/>
          </p:nvSpPr>
          <p:spPr>
            <a:xfrm rot="9420000">
              <a:off x="8865152" y="4380656"/>
              <a:ext cx="164592" cy="50292"/>
            </a:xfrm>
            <a:prstGeom prst="ellipse">
              <a:avLst/>
            </a:prstGeom>
            <a:solidFill>
              <a:srgbClr val="A9929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1" name="Базальная мембрана канальца"/>
            <p:cNvSpPr/>
            <p:nvPr/>
          </p:nvSpPr>
          <p:spPr>
            <a:xfrm>
              <a:off x="8506366" y="2113493"/>
              <a:ext cx="1244697" cy="1056546"/>
            </a:xfrm>
            <a:custGeom>
              <a:avLst/>
              <a:gdLst/>
              <a:ahLst/>
              <a:cxnLst/>
              <a:rect l="l" t="t" r="r" b="b"/>
              <a:pathLst>
                <a:path w="1244697" h="1056546">
                  <a:moveTo>
                    <a:pt x="1228048" y="345284"/>
                  </a:moveTo>
                  <a:lnTo>
                    <a:pt x="1235172" y="372025"/>
                  </a:lnTo>
                  <a:lnTo>
                    <a:pt x="1240413" y="399250"/>
                  </a:lnTo>
                  <a:lnTo>
                    <a:pt x="1243631" y="426877"/>
                  </a:lnTo>
                  <a:lnTo>
                    <a:pt x="1244697" y="454800"/>
                  </a:lnTo>
                  <a:lnTo>
                    <a:pt x="1243513" y="482893"/>
                  </a:lnTo>
                  <a:lnTo>
                    <a:pt x="1240022" y="511010"/>
                  </a:lnTo>
                  <a:lnTo>
                    <a:pt x="1234212" y="538996"/>
                  </a:lnTo>
                  <a:lnTo>
                    <a:pt x="1226128" y="566694"/>
                  </a:lnTo>
                  <a:lnTo>
                    <a:pt x="1215868" y="593955"/>
                  </a:lnTo>
                  <a:lnTo>
                    <a:pt x="1203579" y="620648"/>
                  </a:lnTo>
                  <a:lnTo>
                    <a:pt x="1189454" y="646670"/>
                  </a:lnTo>
                  <a:lnTo>
                    <a:pt x="1173711" y="671952"/>
                  </a:lnTo>
                  <a:lnTo>
                    <a:pt x="1156589" y="696462"/>
                  </a:lnTo>
                  <a:lnTo>
                    <a:pt x="1138323" y="720205"/>
                  </a:lnTo>
                  <a:lnTo>
                    <a:pt x="1119132" y="743223"/>
                  </a:lnTo>
                  <a:lnTo>
                    <a:pt x="1099204" y="765586"/>
                  </a:lnTo>
                  <a:lnTo>
                    <a:pt x="1078683" y="787380"/>
                  </a:lnTo>
                  <a:lnTo>
                    <a:pt x="1057662" y="808701"/>
                  </a:lnTo>
                  <a:lnTo>
                    <a:pt x="1036180" y="829637"/>
                  </a:lnTo>
                  <a:lnTo>
                    <a:pt x="1014222" y="850256"/>
                  </a:lnTo>
                  <a:lnTo>
                    <a:pt x="991725" y="870594"/>
                  </a:lnTo>
                  <a:lnTo>
                    <a:pt x="968590" y="890647"/>
                  </a:lnTo>
                  <a:lnTo>
                    <a:pt x="944694" y="910364"/>
                  </a:lnTo>
                  <a:lnTo>
                    <a:pt x="919909" y="929642"/>
                  </a:lnTo>
                  <a:lnTo>
                    <a:pt x="894113" y="948333"/>
                  </a:lnTo>
                  <a:lnTo>
                    <a:pt x="867211" y="966246"/>
                  </a:lnTo>
                  <a:lnTo>
                    <a:pt x="839143" y="983160"/>
                  </a:lnTo>
                  <a:lnTo>
                    <a:pt x="809899" y="998832"/>
                  </a:lnTo>
                  <a:lnTo>
                    <a:pt x="779521" y="1013021"/>
                  </a:lnTo>
                  <a:lnTo>
                    <a:pt x="748104" y="1025494"/>
                  </a:lnTo>
                  <a:lnTo>
                    <a:pt x="715796" y="1036046"/>
                  </a:lnTo>
                  <a:lnTo>
                    <a:pt x="682783" y="1044514"/>
                  </a:lnTo>
                  <a:lnTo>
                    <a:pt x="649285" y="1050781"/>
                  </a:lnTo>
                  <a:lnTo>
                    <a:pt x="615538" y="1054792"/>
                  </a:lnTo>
                  <a:lnTo>
                    <a:pt x="581781" y="1056546"/>
                  </a:lnTo>
                  <a:lnTo>
                    <a:pt x="548242" y="1056100"/>
                  </a:lnTo>
                  <a:lnTo>
                    <a:pt x="515124" y="1053560"/>
                  </a:lnTo>
                  <a:lnTo>
                    <a:pt x="482595" y="1049072"/>
                  </a:lnTo>
                  <a:lnTo>
                    <a:pt x="450788" y="1042808"/>
                  </a:lnTo>
                  <a:lnTo>
                    <a:pt x="419789" y="1034955"/>
                  </a:lnTo>
                  <a:lnTo>
                    <a:pt x="389650" y="1025699"/>
                  </a:lnTo>
                  <a:lnTo>
                    <a:pt x="360387" y="1015211"/>
                  </a:lnTo>
                  <a:lnTo>
                    <a:pt x="331992" y="1003641"/>
                  </a:lnTo>
                  <a:lnTo>
                    <a:pt x="304446" y="991104"/>
                  </a:lnTo>
                  <a:lnTo>
                    <a:pt x="277725" y="977681"/>
                  </a:lnTo>
                  <a:lnTo>
                    <a:pt x="251817" y="963418"/>
                  </a:lnTo>
                  <a:lnTo>
                    <a:pt x="226728" y="948325"/>
                  </a:lnTo>
                  <a:lnTo>
                    <a:pt x="202488" y="932390"/>
                  </a:lnTo>
                  <a:lnTo>
                    <a:pt x="179157" y="915578"/>
                  </a:lnTo>
                  <a:lnTo>
                    <a:pt x="156821" y="897851"/>
                  </a:lnTo>
                  <a:lnTo>
                    <a:pt x="135593" y="879169"/>
                  </a:lnTo>
                  <a:lnTo>
                    <a:pt x="115599" y="859507"/>
                  </a:lnTo>
                  <a:lnTo>
                    <a:pt x="96973" y="838857"/>
                  </a:lnTo>
                  <a:lnTo>
                    <a:pt x="79844" y="817234"/>
                  </a:lnTo>
                  <a:lnTo>
                    <a:pt x="64326" y="794682"/>
                  </a:lnTo>
                  <a:lnTo>
                    <a:pt x="50506" y="771268"/>
                  </a:lnTo>
                  <a:lnTo>
                    <a:pt x="38438" y="747079"/>
                  </a:lnTo>
                  <a:lnTo>
                    <a:pt x="28138" y="722220"/>
                  </a:lnTo>
                  <a:lnTo>
                    <a:pt x="19581" y="696802"/>
                  </a:lnTo>
                  <a:lnTo>
                    <a:pt x="12707" y="670933"/>
                  </a:lnTo>
                  <a:lnTo>
                    <a:pt x="7425" y="644716"/>
                  </a:lnTo>
                  <a:lnTo>
                    <a:pt x="3627" y="618235"/>
                  </a:lnTo>
                  <a:lnTo>
                    <a:pt x="1194" y="591557"/>
                  </a:lnTo>
                  <a:lnTo>
                    <a:pt x="16" y="564723"/>
                  </a:lnTo>
                  <a:lnTo>
                    <a:pt x="0" y="537757"/>
                  </a:lnTo>
                  <a:lnTo>
                    <a:pt x="1084" y="510665"/>
                  </a:lnTo>
                  <a:lnTo>
                    <a:pt x="3246" y="483443"/>
                  </a:lnTo>
                  <a:lnTo>
                    <a:pt x="6507" y="456085"/>
                  </a:lnTo>
                  <a:lnTo>
                    <a:pt x="10935" y="428593"/>
                  </a:lnTo>
                  <a:lnTo>
                    <a:pt x="16637" y="400987"/>
                  </a:lnTo>
                  <a:lnTo>
                    <a:pt x="23756" y="373312"/>
                  </a:lnTo>
                  <a:lnTo>
                    <a:pt x="32453" y="345646"/>
                  </a:lnTo>
                  <a:lnTo>
                    <a:pt x="42898" y="318102"/>
                  </a:lnTo>
                  <a:lnTo>
                    <a:pt x="55252" y="290829"/>
                  </a:lnTo>
                  <a:lnTo>
                    <a:pt x="69649" y="264007"/>
                  </a:lnTo>
                  <a:lnTo>
                    <a:pt x="86186" y="237843"/>
                  </a:lnTo>
                  <a:lnTo>
                    <a:pt x="104907" y="212558"/>
                  </a:lnTo>
                  <a:lnTo>
                    <a:pt x="125797" y="188375"/>
                  </a:lnTo>
                  <a:lnTo>
                    <a:pt x="148781" y="165507"/>
                  </a:lnTo>
                  <a:lnTo>
                    <a:pt x="173720" y="144142"/>
                  </a:lnTo>
                  <a:lnTo>
                    <a:pt x="200424" y="124433"/>
                  </a:lnTo>
                  <a:lnTo>
                    <a:pt x="228659" y="106483"/>
                  </a:lnTo>
                  <a:lnTo>
                    <a:pt x="258161" y="90346"/>
                  </a:lnTo>
                  <a:lnTo>
                    <a:pt x="288656" y="76018"/>
                  </a:lnTo>
                  <a:lnTo>
                    <a:pt x="319870" y="63443"/>
                  </a:lnTo>
                  <a:lnTo>
                    <a:pt x="351552" y="52515"/>
                  </a:lnTo>
                  <a:lnTo>
                    <a:pt x="383481" y="43092"/>
                  </a:lnTo>
                  <a:lnTo>
                    <a:pt x="415484" y="35005"/>
                  </a:lnTo>
                  <a:lnTo>
                    <a:pt x="447433" y="28076"/>
                  </a:lnTo>
                  <a:lnTo>
                    <a:pt x="479254" y="22130"/>
                  </a:lnTo>
                  <a:lnTo>
                    <a:pt x="510920" y="17015"/>
                  </a:lnTo>
                  <a:lnTo>
                    <a:pt x="542443" y="12607"/>
                  </a:lnTo>
                  <a:lnTo>
                    <a:pt x="573866" y="8828"/>
                  </a:lnTo>
                  <a:lnTo>
                    <a:pt x="605246" y="5648"/>
                  </a:lnTo>
                  <a:lnTo>
                    <a:pt x="636645" y="3087"/>
                  </a:lnTo>
                  <a:lnTo>
                    <a:pt x="668112" y="1213"/>
                  </a:lnTo>
                  <a:lnTo>
                    <a:pt x="699670" y="137"/>
                  </a:lnTo>
                  <a:lnTo>
                    <a:pt x="731312" y="0"/>
                  </a:lnTo>
                  <a:lnTo>
                    <a:pt x="762994" y="962"/>
                  </a:lnTo>
                  <a:lnTo>
                    <a:pt x="794629" y="3192"/>
                  </a:lnTo>
                  <a:lnTo>
                    <a:pt x="826096" y="6846"/>
                  </a:lnTo>
                  <a:lnTo>
                    <a:pt x="857242" y="12061"/>
                  </a:lnTo>
                  <a:lnTo>
                    <a:pt x="887896" y="18943"/>
                  </a:lnTo>
                  <a:lnTo>
                    <a:pt x="917874" y="27557"/>
                  </a:lnTo>
                  <a:lnTo>
                    <a:pt x="946996" y="37927"/>
                  </a:lnTo>
                  <a:lnTo>
                    <a:pt x="975096" y="50032"/>
                  </a:lnTo>
                  <a:lnTo>
                    <a:pt x="1002033" y="63811"/>
                  </a:lnTo>
                  <a:lnTo>
                    <a:pt x="1027694" y="79171"/>
                  </a:lnTo>
                  <a:lnTo>
                    <a:pt x="1052002" y="95994"/>
                  </a:lnTo>
                  <a:lnTo>
                    <a:pt x="1074913" y="114148"/>
                  </a:lnTo>
                  <a:lnTo>
                    <a:pt x="1096415" y="133495"/>
                  </a:lnTo>
                  <a:lnTo>
                    <a:pt x="1116518" y="153906"/>
                  </a:lnTo>
                  <a:lnTo>
                    <a:pt x="1135245" y="175263"/>
                  </a:lnTo>
                  <a:lnTo>
                    <a:pt x="1152623" y="197466"/>
                  </a:lnTo>
                  <a:lnTo>
                    <a:pt x="1168672" y="220439"/>
                  </a:lnTo>
                  <a:lnTo>
                    <a:pt x="1183392" y="244123"/>
                  </a:lnTo>
                  <a:lnTo>
                    <a:pt x="1196760" y="268478"/>
                  </a:lnTo>
                  <a:lnTo>
                    <a:pt x="1208719" y="293474"/>
                  </a:lnTo>
                  <a:lnTo>
                    <a:pt x="1219186" y="319086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2" name="Клетка однослойного эпителия"/>
            <p:cNvSpPr/>
            <p:nvPr/>
          </p:nvSpPr>
          <p:spPr>
            <a:xfrm>
              <a:off x="9631276" y="2464636"/>
              <a:ext cx="95902" cy="186724"/>
            </a:xfrm>
            <a:custGeom>
              <a:avLst/>
              <a:gdLst/>
              <a:ahLst/>
              <a:cxnLst/>
              <a:rect l="l" t="t" r="r" b="b"/>
              <a:pathLst>
                <a:path w="95902" h="186724">
                  <a:moveTo>
                    <a:pt x="81270" y="0"/>
                  </a:moveTo>
                  <a:lnTo>
                    <a:pt x="86133" y="18023"/>
                  </a:lnTo>
                  <a:lnTo>
                    <a:pt x="90075" y="36288"/>
                  </a:lnTo>
                  <a:lnTo>
                    <a:pt x="93049" y="54768"/>
                  </a:lnTo>
                  <a:lnTo>
                    <a:pt x="95005" y="73429"/>
                  </a:lnTo>
                  <a:lnTo>
                    <a:pt x="95902" y="92234"/>
                  </a:lnTo>
                  <a:lnTo>
                    <a:pt x="95704" y="111137"/>
                  </a:lnTo>
                  <a:lnTo>
                    <a:pt x="94386" y="130092"/>
                  </a:lnTo>
                  <a:lnTo>
                    <a:pt x="91931" y="149044"/>
                  </a:lnTo>
                  <a:lnTo>
                    <a:pt x="88339" y="167940"/>
                  </a:lnTo>
                  <a:lnTo>
                    <a:pt x="83619" y="186724"/>
                  </a:lnTo>
                  <a:lnTo>
                    <a:pt x="610" y="177741"/>
                  </a:lnTo>
                  <a:lnTo>
                    <a:pt x="4819" y="162014"/>
                  </a:lnTo>
                  <a:lnTo>
                    <a:pt x="8057" y="146202"/>
                  </a:lnTo>
                  <a:lnTo>
                    <a:pt x="10315" y="130351"/>
                  </a:lnTo>
                  <a:lnTo>
                    <a:pt x="11595" y="114507"/>
                  </a:lnTo>
                  <a:lnTo>
                    <a:pt x="11908" y="98714"/>
                  </a:lnTo>
                  <a:lnTo>
                    <a:pt x="11278" y="83012"/>
                  </a:lnTo>
                  <a:lnTo>
                    <a:pt x="9734" y="67438"/>
                  </a:lnTo>
                  <a:lnTo>
                    <a:pt x="7312" y="52023"/>
                  </a:lnTo>
                  <a:lnTo>
                    <a:pt x="4053" y="36795"/>
                  </a:lnTo>
                  <a:lnTo>
                    <a:pt x="0" y="21776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3" name="Ядро эпителиальной клетки"/>
            <p:cNvSpPr/>
            <p:nvPr/>
          </p:nvSpPr>
          <p:spPr>
            <a:xfrm rot="5135294">
              <a:off x="9636866" y="253006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4" name="Клетка однослойного эпителия"/>
            <p:cNvSpPr/>
            <p:nvPr/>
          </p:nvSpPr>
          <p:spPr>
            <a:xfrm>
              <a:off x="9546224" y="2642377"/>
              <a:ext cx="168671" cy="181277"/>
            </a:xfrm>
            <a:custGeom>
              <a:avLst/>
              <a:gdLst/>
              <a:ahLst/>
              <a:cxnLst/>
              <a:rect l="l" t="t" r="r" b="b"/>
              <a:pathLst>
                <a:path w="168671" h="181277">
                  <a:moveTo>
                    <a:pt x="168671" y="8983"/>
                  </a:moveTo>
                  <a:lnTo>
                    <a:pt x="162850" y="27600"/>
                  </a:lnTo>
                  <a:lnTo>
                    <a:pt x="155965" y="45999"/>
                  </a:lnTo>
                  <a:lnTo>
                    <a:pt x="148069" y="64132"/>
                  </a:lnTo>
                  <a:lnTo>
                    <a:pt x="139226" y="81958"/>
                  </a:lnTo>
                  <a:lnTo>
                    <a:pt x="129508" y="99445"/>
                  </a:lnTo>
                  <a:lnTo>
                    <a:pt x="118998" y="116568"/>
                  </a:lnTo>
                  <a:lnTo>
                    <a:pt x="107781" y="133312"/>
                  </a:lnTo>
                  <a:lnTo>
                    <a:pt x="95946" y="149673"/>
                  </a:lnTo>
                  <a:lnTo>
                    <a:pt x="83579" y="165657"/>
                  </a:lnTo>
                  <a:lnTo>
                    <a:pt x="70765" y="181277"/>
                  </a:lnTo>
                  <a:lnTo>
                    <a:pt x="0" y="144669"/>
                  </a:lnTo>
                  <a:lnTo>
                    <a:pt x="11159" y="131524"/>
                  </a:lnTo>
                  <a:lnTo>
                    <a:pt x="21935" y="118078"/>
                  </a:lnTo>
                  <a:lnTo>
                    <a:pt x="32257" y="104321"/>
                  </a:lnTo>
                  <a:lnTo>
                    <a:pt x="42048" y="90249"/>
                  </a:lnTo>
                  <a:lnTo>
                    <a:pt x="51234" y="75865"/>
                  </a:lnTo>
                  <a:lnTo>
                    <a:pt x="59739" y="61184"/>
                  </a:lnTo>
                  <a:lnTo>
                    <a:pt x="67493" y="46225"/>
                  </a:lnTo>
                  <a:lnTo>
                    <a:pt x="74434" y="31018"/>
                  </a:lnTo>
                  <a:lnTo>
                    <a:pt x="80505" y="15596"/>
                  </a:lnTo>
                  <a:lnTo>
                    <a:pt x="8566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5" name="Ядро эпителиальной клетки"/>
            <p:cNvSpPr/>
            <p:nvPr/>
          </p:nvSpPr>
          <p:spPr>
            <a:xfrm rot="6405882">
              <a:off x="9588395" y="269938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6" name="Клетка однослойного эпителия"/>
            <p:cNvSpPr/>
            <p:nvPr/>
          </p:nvSpPr>
          <p:spPr>
            <a:xfrm>
              <a:off x="9423017" y="2787046"/>
              <a:ext cx="193972" cy="179754"/>
            </a:xfrm>
            <a:custGeom>
              <a:avLst/>
              <a:gdLst/>
              <a:ahLst/>
              <a:cxnLst/>
              <a:rect l="l" t="t" r="r" b="b"/>
              <a:pathLst>
                <a:path w="193972" h="179754">
                  <a:moveTo>
                    <a:pt x="193972" y="36608"/>
                  </a:moveTo>
                  <a:lnTo>
                    <a:pt x="180787" y="51888"/>
                  </a:lnTo>
                  <a:lnTo>
                    <a:pt x="167298" y="66859"/>
                  </a:lnTo>
                  <a:lnTo>
                    <a:pt x="153561" y="81556"/>
                  </a:lnTo>
                  <a:lnTo>
                    <a:pt x="139619" y="96017"/>
                  </a:lnTo>
                  <a:lnTo>
                    <a:pt x="125500" y="110281"/>
                  </a:lnTo>
                  <a:lnTo>
                    <a:pt x="111217" y="124386"/>
                  </a:lnTo>
                  <a:lnTo>
                    <a:pt x="96770" y="138364"/>
                  </a:lnTo>
                  <a:lnTo>
                    <a:pt x="82144" y="152241"/>
                  </a:lnTo>
                  <a:lnTo>
                    <a:pt x="67311" y="166035"/>
                  </a:lnTo>
                  <a:lnTo>
                    <a:pt x="52234" y="179754"/>
                  </a:lnTo>
                  <a:lnTo>
                    <a:pt x="0" y="120653"/>
                  </a:lnTo>
                  <a:lnTo>
                    <a:pt x="13095" y="109079"/>
                  </a:lnTo>
                  <a:lnTo>
                    <a:pt x="25979" y="97443"/>
                  </a:lnTo>
                  <a:lnTo>
                    <a:pt x="38687" y="85740"/>
                  </a:lnTo>
                  <a:lnTo>
                    <a:pt x="51240" y="73954"/>
                  </a:lnTo>
                  <a:lnTo>
                    <a:pt x="63652" y="62063"/>
                  </a:lnTo>
                  <a:lnTo>
                    <a:pt x="75926" y="50041"/>
                  </a:lnTo>
                  <a:lnTo>
                    <a:pt x="88048" y="37855"/>
                  </a:lnTo>
                  <a:lnTo>
                    <a:pt x="99995" y="25473"/>
                  </a:lnTo>
                  <a:lnTo>
                    <a:pt x="111731" y="12865"/>
                  </a:lnTo>
                  <a:lnTo>
                    <a:pt x="123207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7" name="Ядро эпителиальной клетки"/>
            <p:cNvSpPr/>
            <p:nvPr/>
          </p:nvSpPr>
          <p:spPr>
            <a:xfrm rot="7676471">
              <a:off x="9469721" y="284207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8" name="Клетка однослойного эпителия"/>
            <p:cNvSpPr/>
            <p:nvPr/>
          </p:nvSpPr>
          <p:spPr>
            <a:xfrm>
              <a:off x="9271586" y="2907699"/>
              <a:ext cx="203665" cy="184746"/>
            </a:xfrm>
            <a:custGeom>
              <a:avLst/>
              <a:gdLst/>
              <a:ahLst/>
              <a:cxnLst/>
              <a:rect l="l" t="t" r="r" b="b"/>
              <a:pathLst>
                <a:path w="203665" h="184746">
                  <a:moveTo>
                    <a:pt x="203665" y="59101"/>
                  </a:moveTo>
                  <a:lnTo>
                    <a:pt x="188296" y="72738"/>
                  </a:lnTo>
                  <a:lnTo>
                    <a:pt x="172586" y="86276"/>
                  </a:lnTo>
                  <a:lnTo>
                    <a:pt x="156480" y="99683"/>
                  </a:lnTo>
                  <a:lnTo>
                    <a:pt x="139925" y="112914"/>
                  </a:lnTo>
                  <a:lnTo>
                    <a:pt x="122872" y="125913"/>
                  </a:lnTo>
                  <a:lnTo>
                    <a:pt x="105279" y="138611"/>
                  </a:lnTo>
                  <a:lnTo>
                    <a:pt x="87112" y="150930"/>
                  </a:lnTo>
                  <a:lnTo>
                    <a:pt x="68350" y="162786"/>
                  </a:lnTo>
                  <a:lnTo>
                    <a:pt x="48982" y="174089"/>
                  </a:lnTo>
                  <a:lnTo>
                    <a:pt x="29015" y="184746"/>
                  </a:lnTo>
                  <a:lnTo>
                    <a:pt x="0" y="106282"/>
                  </a:lnTo>
                  <a:lnTo>
                    <a:pt x="17284" y="97228"/>
                  </a:lnTo>
                  <a:lnTo>
                    <a:pt x="34057" y="87640"/>
                  </a:lnTo>
                  <a:lnTo>
                    <a:pt x="50313" y="77594"/>
                  </a:lnTo>
                  <a:lnTo>
                    <a:pt x="66059" y="67165"/>
                  </a:lnTo>
                  <a:lnTo>
                    <a:pt x="81314" y="56425"/>
                  </a:lnTo>
                  <a:lnTo>
                    <a:pt x="96105" y="45437"/>
                  </a:lnTo>
                  <a:lnTo>
                    <a:pt x="110469" y="34258"/>
                  </a:lnTo>
                  <a:lnTo>
                    <a:pt x="124447" y="22936"/>
                  </a:lnTo>
                  <a:lnTo>
                    <a:pt x="138086" y="11508"/>
                  </a:lnTo>
                  <a:lnTo>
                    <a:pt x="15143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79" name="Ядро эпителиальной клетки"/>
            <p:cNvSpPr/>
            <p:nvPr/>
          </p:nvSpPr>
          <p:spPr>
            <a:xfrm rot="8947059">
              <a:off x="9326213" y="296730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0" name="Клетка однослойного эпителия"/>
            <p:cNvSpPr/>
            <p:nvPr/>
          </p:nvSpPr>
          <p:spPr>
            <a:xfrm>
              <a:off x="9078384" y="3013981"/>
              <a:ext cx="222217" cy="133409"/>
            </a:xfrm>
            <a:custGeom>
              <a:avLst/>
              <a:gdLst/>
              <a:ahLst/>
              <a:cxnLst/>
              <a:rect l="l" t="t" r="r" b="b"/>
              <a:pathLst>
                <a:path w="222217" h="133409">
                  <a:moveTo>
                    <a:pt x="222217" y="78464"/>
                  </a:moveTo>
                  <a:lnTo>
                    <a:pt x="201670" y="88385"/>
                  </a:lnTo>
                  <a:lnTo>
                    <a:pt x="180578" y="97484"/>
                  </a:lnTo>
                  <a:lnTo>
                    <a:pt x="158988" y="105680"/>
                  </a:lnTo>
                  <a:lnTo>
                    <a:pt x="136960" y="112902"/>
                  </a:lnTo>
                  <a:lnTo>
                    <a:pt x="114565" y="119090"/>
                  </a:lnTo>
                  <a:lnTo>
                    <a:pt x="91883" y="124198"/>
                  </a:lnTo>
                  <a:lnTo>
                    <a:pt x="68997" y="128193"/>
                  </a:lnTo>
                  <a:lnTo>
                    <a:pt x="45997" y="131059"/>
                  </a:lnTo>
                  <a:lnTo>
                    <a:pt x="22969" y="132793"/>
                  </a:lnTo>
                  <a:lnTo>
                    <a:pt x="0" y="133409"/>
                  </a:lnTo>
                  <a:lnTo>
                    <a:pt x="1322" y="47583"/>
                  </a:lnTo>
                  <a:lnTo>
                    <a:pt x="21117" y="46894"/>
                  </a:lnTo>
                  <a:lnTo>
                    <a:pt x="40971" y="45271"/>
                  </a:lnTo>
                  <a:lnTo>
                    <a:pt x="60810" y="42703"/>
                  </a:lnTo>
                  <a:lnTo>
                    <a:pt x="80559" y="39192"/>
                  </a:lnTo>
                  <a:lnTo>
                    <a:pt x="100141" y="34754"/>
                  </a:lnTo>
                  <a:lnTo>
                    <a:pt x="119483" y="29415"/>
                  </a:lnTo>
                  <a:lnTo>
                    <a:pt x="138517" y="23215"/>
                  </a:lnTo>
                  <a:lnTo>
                    <a:pt x="157181" y="16205"/>
                  </a:lnTo>
                  <a:lnTo>
                    <a:pt x="175423" y="8444"/>
                  </a:lnTo>
                  <a:lnTo>
                    <a:pt x="193202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1" name="Ядро эпителиальной клетки"/>
            <p:cNvSpPr/>
            <p:nvPr/>
          </p:nvSpPr>
          <p:spPr>
            <a:xfrm rot="10217647">
              <a:off x="9138814" y="305904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2" name="Клетка однослойного эпителия"/>
            <p:cNvSpPr/>
            <p:nvPr/>
          </p:nvSpPr>
          <p:spPr>
            <a:xfrm>
              <a:off x="8865415" y="3025740"/>
              <a:ext cx="214291" cy="121650"/>
            </a:xfrm>
            <a:custGeom>
              <a:avLst/>
              <a:gdLst/>
              <a:ahLst/>
              <a:cxnLst/>
              <a:rect l="l" t="t" r="r" b="b"/>
              <a:pathLst>
                <a:path w="214291" h="121650">
                  <a:moveTo>
                    <a:pt x="212969" y="121650"/>
                  </a:moveTo>
                  <a:lnTo>
                    <a:pt x="190140" y="121176"/>
                  </a:lnTo>
                  <a:lnTo>
                    <a:pt x="167525" y="119650"/>
                  </a:lnTo>
                  <a:lnTo>
                    <a:pt x="145190" y="117124"/>
                  </a:lnTo>
                  <a:lnTo>
                    <a:pt x="123190" y="113657"/>
                  </a:lnTo>
                  <a:lnTo>
                    <a:pt x="101570" y="109313"/>
                  </a:lnTo>
                  <a:lnTo>
                    <a:pt x="80363" y="104162"/>
                  </a:lnTo>
                  <a:lnTo>
                    <a:pt x="59594" y="98272"/>
                  </a:lnTo>
                  <a:lnTo>
                    <a:pt x="39275" y="91713"/>
                  </a:lnTo>
                  <a:lnTo>
                    <a:pt x="19411" y="84547"/>
                  </a:lnTo>
                  <a:lnTo>
                    <a:pt x="0" y="76834"/>
                  </a:lnTo>
                  <a:lnTo>
                    <a:pt x="31135" y="0"/>
                  </a:lnTo>
                  <a:lnTo>
                    <a:pt x="47801" y="6296"/>
                  </a:lnTo>
                  <a:lnTo>
                    <a:pt x="64861" y="12131"/>
                  </a:lnTo>
                  <a:lnTo>
                    <a:pt x="82319" y="17457"/>
                  </a:lnTo>
                  <a:lnTo>
                    <a:pt x="100169" y="22220"/>
                  </a:lnTo>
                  <a:lnTo>
                    <a:pt x="118402" y="26362"/>
                  </a:lnTo>
                  <a:lnTo>
                    <a:pt x="136997" y="29827"/>
                  </a:lnTo>
                  <a:lnTo>
                    <a:pt x="155926" y="32557"/>
                  </a:lnTo>
                  <a:lnTo>
                    <a:pt x="175151" y="34498"/>
                  </a:lnTo>
                  <a:lnTo>
                    <a:pt x="194625" y="35601"/>
                  </a:lnTo>
                  <a:lnTo>
                    <a:pt x="214291" y="358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3" name="Ядро эпителиальной клетки"/>
            <p:cNvSpPr/>
            <p:nvPr/>
          </p:nvSpPr>
          <p:spPr>
            <a:xfrm rot="11488235">
              <a:off x="8929103" y="306174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4" name="Клетка однослойного эпителия"/>
            <p:cNvSpPr/>
            <p:nvPr/>
          </p:nvSpPr>
          <p:spPr>
            <a:xfrm>
              <a:off x="8694752" y="2943317"/>
              <a:ext cx="201798" cy="159257"/>
            </a:xfrm>
            <a:custGeom>
              <a:avLst/>
              <a:gdLst/>
              <a:ahLst/>
              <a:cxnLst/>
              <a:rect l="l" t="t" r="r" b="b"/>
              <a:pathLst>
                <a:path w="201798" h="159257">
                  <a:moveTo>
                    <a:pt x="170663" y="159257"/>
                  </a:moveTo>
                  <a:lnTo>
                    <a:pt x="151699" y="151049"/>
                  </a:lnTo>
                  <a:lnTo>
                    <a:pt x="133171" y="142387"/>
                  </a:lnTo>
                  <a:lnTo>
                    <a:pt x="115068" y="133307"/>
                  </a:lnTo>
                  <a:lnTo>
                    <a:pt x="97381" y="123831"/>
                  </a:lnTo>
                  <a:lnTo>
                    <a:pt x="80103" y="113977"/>
                  </a:lnTo>
                  <a:lnTo>
                    <a:pt x="63233" y="103751"/>
                  </a:lnTo>
                  <a:lnTo>
                    <a:pt x="46773" y="93152"/>
                  </a:lnTo>
                  <a:lnTo>
                    <a:pt x="30734" y="82175"/>
                  </a:lnTo>
                  <a:lnTo>
                    <a:pt x="15135" y="70809"/>
                  </a:lnTo>
                  <a:lnTo>
                    <a:pt x="0" y="59042"/>
                  </a:lnTo>
                  <a:lnTo>
                    <a:pt x="55512" y="0"/>
                  </a:lnTo>
                  <a:lnTo>
                    <a:pt x="68464" y="9715"/>
                  </a:lnTo>
                  <a:lnTo>
                    <a:pt x="81819" y="19091"/>
                  </a:lnTo>
                  <a:lnTo>
                    <a:pt x="95554" y="28139"/>
                  </a:lnTo>
                  <a:lnTo>
                    <a:pt x="109656" y="36869"/>
                  </a:lnTo>
                  <a:lnTo>
                    <a:pt x="124114" y="45284"/>
                  </a:lnTo>
                  <a:lnTo>
                    <a:pt x="138926" y="53385"/>
                  </a:lnTo>
                  <a:lnTo>
                    <a:pt x="154094" y="61166"/>
                  </a:lnTo>
                  <a:lnTo>
                    <a:pt x="169622" y="68615"/>
                  </a:lnTo>
                  <a:lnTo>
                    <a:pt x="185520" y="75710"/>
                  </a:lnTo>
                  <a:lnTo>
                    <a:pt x="201798" y="8242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5" name="Ядро эпителиальной клетки"/>
            <p:cNvSpPr/>
            <p:nvPr/>
          </p:nvSpPr>
          <p:spPr>
            <a:xfrm rot="12758824">
              <a:off x="8751106" y="299139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6" name="Клетка однослойного эпителия"/>
            <p:cNvSpPr/>
            <p:nvPr/>
          </p:nvSpPr>
          <p:spPr>
            <a:xfrm>
              <a:off x="8576997" y="2826236"/>
              <a:ext cx="173267" cy="176123"/>
            </a:xfrm>
            <a:custGeom>
              <a:avLst/>
              <a:gdLst/>
              <a:ahLst/>
              <a:cxnLst/>
              <a:rect l="l" t="t" r="r" b="b"/>
              <a:pathLst>
                <a:path w="173267" h="176123">
                  <a:moveTo>
                    <a:pt x="117755" y="176123"/>
                  </a:moveTo>
                  <a:lnTo>
                    <a:pt x="103113" y="163941"/>
                  </a:lnTo>
                  <a:lnTo>
                    <a:pt x="89003" y="151331"/>
                  </a:lnTo>
                  <a:lnTo>
                    <a:pt x="75462" y="138284"/>
                  </a:lnTo>
                  <a:lnTo>
                    <a:pt x="62534" y="124794"/>
                  </a:lnTo>
                  <a:lnTo>
                    <a:pt x="50262" y="110860"/>
                  </a:lnTo>
                  <a:lnTo>
                    <a:pt x="38685" y="96486"/>
                  </a:lnTo>
                  <a:lnTo>
                    <a:pt x="27842" y="81683"/>
                  </a:lnTo>
                  <a:lnTo>
                    <a:pt x="17765" y="66469"/>
                  </a:lnTo>
                  <a:lnTo>
                    <a:pt x="8478" y="50865"/>
                  </a:lnTo>
                  <a:lnTo>
                    <a:pt x="0" y="34899"/>
                  </a:lnTo>
                  <a:lnTo>
                    <a:pt x="72879" y="0"/>
                  </a:lnTo>
                  <a:lnTo>
                    <a:pt x="80063" y="13273"/>
                  </a:lnTo>
                  <a:lnTo>
                    <a:pt x="87946" y="26237"/>
                  </a:lnTo>
                  <a:lnTo>
                    <a:pt x="96514" y="38870"/>
                  </a:lnTo>
                  <a:lnTo>
                    <a:pt x="105744" y="51154"/>
                  </a:lnTo>
                  <a:lnTo>
                    <a:pt x="115609" y="63074"/>
                  </a:lnTo>
                  <a:lnTo>
                    <a:pt x="126078" y="74621"/>
                  </a:lnTo>
                  <a:lnTo>
                    <a:pt x="137115" y="85792"/>
                  </a:lnTo>
                  <a:lnTo>
                    <a:pt x="148682" y="96589"/>
                  </a:lnTo>
                  <a:lnTo>
                    <a:pt x="160745" y="107015"/>
                  </a:lnTo>
                  <a:lnTo>
                    <a:pt x="173267" y="117081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7" name="Ядро эпителиальной клетки"/>
            <p:cNvSpPr/>
            <p:nvPr/>
          </p:nvSpPr>
          <p:spPr>
            <a:xfrm rot="14029412">
              <a:off x="8614604" y="288207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8" name="Клетка однослойного эпителия"/>
            <p:cNvSpPr/>
            <p:nvPr/>
          </p:nvSpPr>
          <p:spPr>
            <a:xfrm>
              <a:off x="8534183" y="2682487"/>
              <a:ext cx="115693" cy="178648"/>
            </a:xfrm>
            <a:custGeom>
              <a:avLst/>
              <a:gdLst/>
              <a:ahLst/>
              <a:cxnLst/>
              <a:rect l="l" t="t" r="r" b="b"/>
              <a:pathLst>
                <a:path w="115693" h="178648">
                  <a:moveTo>
                    <a:pt x="42814" y="178648"/>
                  </a:moveTo>
                  <a:lnTo>
                    <a:pt x="35150" y="162352"/>
                  </a:lnTo>
                  <a:lnTo>
                    <a:pt x="28301" y="145758"/>
                  </a:lnTo>
                  <a:lnTo>
                    <a:pt x="22254" y="128903"/>
                  </a:lnTo>
                  <a:lnTo>
                    <a:pt x="16990" y="111821"/>
                  </a:lnTo>
                  <a:lnTo>
                    <a:pt x="12483" y="94546"/>
                  </a:lnTo>
                  <a:lnTo>
                    <a:pt x="8697" y="77108"/>
                  </a:lnTo>
                  <a:lnTo>
                    <a:pt x="5596" y="59533"/>
                  </a:lnTo>
                  <a:lnTo>
                    <a:pt x="3138" y="41843"/>
                  </a:lnTo>
                  <a:lnTo>
                    <a:pt x="1286" y="24056"/>
                  </a:lnTo>
                  <a:lnTo>
                    <a:pt x="0" y="6181"/>
                  </a:lnTo>
                  <a:lnTo>
                    <a:pt x="80111" y="0"/>
                  </a:lnTo>
                  <a:lnTo>
                    <a:pt x="81083" y="14922"/>
                  </a:lnTo>
                  <a:lnTo>
                    <a:pt x="82545" y="29767"/>
                  </a:lnTo>
                  <a:lnTo>
                    <a:pt x="84528" y="44526"/>
                  </a:lnTo>
                  <a:lnTo>
                    <a:pt x="87067" y="59184"/>
                  </a:lnTo>
                  <a:lnTo>
                    <a:pt x="90197" y="73722"/>
                  </a:lnTo>
                  <a:lnTo>
                    <a:pt x="93950" y="88120"/>
                  </a:lnTo>
                  <a:lnTo>
                    <a:pt x="98355" y="102349"/>
                  </a:lnTo>
                  <a:lnTo>
                    <a:pt x="103438" y="116384"/>
                  </a:lnTo>
                  <a:lnTo>
                    <a:pt x="109213" y="130193"/>
                  </a:lnTo>
                  <a:lnTo>
                    <a:pt x="115693" y="143749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89" name="Ядро эпителиальной клетки"/>
            <p:cNvSpPr/>
            <p:nvPr/>
          </p:nvSpPr>
          <p:spPr>
            <a:xfrm rot="15300000">
              <a:off x="8540442" y="273602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0" name="Клетка однослойного эпителия"/>
            <p:cNvSpPr/>
            <p:nvPr/>
          </p:nvSpPr>
          <p:spPr>
            <a:xfrm>
              <a:off x="8533191" y="2505263"/>
              <a:ext cx="96057" cy="183405"/>
            </a:xfrm>
            <a:custGeom>
              <a:avLst/>
              <a:gdLst/>
              <a:ahLst/>
              <a:cxnLst/>
              <a:rect l="l" t="t" r="r" b="b"/>
              <a:pathLst>
                <a:path w="96057" h="183405">
                  <a:moveTo>
                    <a:pt x="992" y="183405"/>
                  </a:moveTo>
                  <a:lnTo>
                    <a:pt x="241" y="165450"/>
                  </a:lnTo>
                  <a:lnTo>
                    <a:pt x="0" y="147415"/>
                  </a:lnTo>
                  <a:lnTo>
                    <a:pt x="252" y="129300"/>
                  </a:lnTo>
                  <a:lnTo>
                    <a:pt x="990" y="111099"/>
                  </a:lnTo>
                  <a:lnTo>
                    <a:pt x="2221" y="92809"/>
                  </a:lnTo>
                  <a:lnTo>
                    <a:pt x="3961" y="74425"/>
                  </a:lnTo>
                  <a:lnTo>
                    <a:pt x="6238" y="55945"/>
                  </a:lnTo>
                  <a:lnTo>
                    <a:pt x="9092" y="37374"/>
                  </a:lnTo>
                  <a:lnTo>
                    <a:pt x="12573" y="18720"/>
                  </a:lnTo>
                  <a:lnTo>
                    <a:pt x="16736" y="0"/>
                  </a:lnTo>
                  <a:lnTo>
                    <a:pt x="96057" y="23895"/>
                  </a:lnTo>
                  <a:lnTo>
                    <a:pt x="92328" y="39564"/>
                  </a:lnTo>
                  <a:lnTo>
                    <a:pt x="89189" y="55174"/>
                  </a:lnTo>
                  <a:lnTo>
                    <a:pt x="86589" y="70709"/>
                  </a:lnTo>
                  <a:lnTo>
                    <a:pt x="84486" y="86164"/>
                  </a:lnTo>
                  <a:lnTo>
                    <a:pt x="82848" y="101534"/>
                  </a:lnTo>
                  <a:lnTo>
                    <a:pt x="81649" y="116823"/>
                  </a:lnTo>
                  <a:lnTo>
                    <a:pt x="80875" y="132033"/>
                  </a:lnTo>
                  <a:lnTo>
                    <a:pt x="80521" y="147167"/>
                  </a:lnTo>
                  <a:lnTo>
                    <a:pt x="80592" y="162231"/>
                  </a:lnTo>
                  <a:lnTo>
                    <a:pt x="81103" y="17722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1" name="Ядро эпителиальной клетки"/>
            <p:cNvSpPr/>
            <p:nvPr/>
          </p:nvSpPr>
          <p:spPr>
            <a:xfrm rot="16570588">
              <a:off x="8530703" y="257243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2" name="Клетка однослойного эпителия"/>
            <p:cNvSpPr/>
            <p:nvPr/>
          </p:nvSpPr>
          <p:spPr>
            <a:xfrm>
              <a:off x="8549927" y="2324358"/>
              <a:ext cx="159976" cy="204800"/>
            </a:xfrm>
            <a:custGeom>
              <a:avLst/>
              <a:gdLst/>
              <a:ahLst/>
              <a:cxnLst/>
              <a:rect l="l" t="t" r="r" b="b"/>
              <a:pathLst>
                <a:path w="159976" h="204800">
                  <a:moveTo>
                    <a:pt x="0" y="180905"/>
                  </a:moveTo>
                  <a:lnTo>
                    <a:pt x="4907" y="162144"/>
                  </a:lnTo>
                  <a:lnTo>
                    <a:pt x="10625" y="143376"/>
                  </a:lnTo>
                  <a:lnTo>
                    <a:pt x="17218" y="124646"/>
                  </a:lnTo>
                  <a:lnTo>
                    <a:pt x="24748" y="106007"/>
                  </a:lnTo>
                  <a:lnTo>
                    <a:pt x="33271" y="87520"/>
                  </a:lnTo>
                  <a:lnTo>
                    <a:pt x="42836" y="69256"/>
                  </a:lnTo>
                  <a:lnTo>
                    <a:pt x="53478" y="51291"/>
                  </a:lnTo>
                  <a:lnTo>
                    <a:pt x="65219" y="33705"/>
                  </a:lnTo>
                  <a:lnTo>
                    <a:pt x="78069" y="16581"/>
                  </a:lnTo>
                  <a:lnTo>
                    <a:pt x="92019" y="0"/>
                  </a:lnTo>
                  <a:lnTo>
                    <a:pt x="159976" y="52982"/>
                  </a:lnTo>
                  <a:lnTo>
                    <a:pt x="147831" y="66938"/>
                  </a:lnTo>
                  <a:lnTo>
                    <a:pt x="136630" y="81341"/>
                  </a:lnTo>
                  <a:lnTo>
                    <a:pt x="126380" y="96121"/>
                  </a:lnTo>
                  <a:lnTo>
                    <a:pt x="117075" y="111209"/>
                  </a:lnTo>
                  <a:lnTo>
                    <a:pt x="108696" y="126538"/>
                  </a:lnTo>
                  <a:lnTo>
                    <a:pt x="101212" y="142045"/>
                  </a:lnTo>
                  <a:lnTo>
                    <a:pt x="94583" y="157673"/>
                  </a:lnTo>
                  <a:lnTo>
                    <a:pt x="88760" y="173369"/>
                  </a:lnTo>
                  <a:lnTo>
                    <a:pt x="83692" y="189090"/>
                  </a:lnTo>
                  <a:lnTo>
                    <a:pt x="79321" y="20480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3" name="Ядро эпителиальной клетки"/>
            <p:cNvSpPr/>
            <p:nvPr/>
          </p:nvSpPr>
          <p:spPr>
            <a:xfrm rot="17841176">
              <a:off x="8575784" y="240199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4" name="Клетка однослойного эпителия"/>
            <p:cNvSpPr/>
            <p:nvPr/>
          </p:nvSpPr>
          <p:spPr>
            <a:xfrm>
              <a:off x="8641946" y="2201616"/>
              <a:ext cx="230537" cy="175724"/>
            </a:xfrm>
            <a:custGeom>
              <a:avLst/>
              <a:gdLst/>
              <a:ahLst/>
              <a:cxnLst/>
              <a:rect l="l" t="t" r="r" b="b"/>
              <a:pathLst>
                <a:path w="230537" h="175724">
                  <a:moveTo>
                    <a:pt x="0" y="122742"/>
                  </a:moveTo>
                  <a:lnTo>
                    <a:pt x="15024" y="106784"/>
                  </a:lnTo>
                  <a:lnTo>
                    <a:pt x="31082" y="91523"/>
                  </a:lnTo>
                  <a:lnTo>
                    <a:pt x="48118" y="77026"/>
                  </a:lnTo>
                  <a:lnTo>
                    <a:pt x="66060" y="63347"/>
                  </a:lnTo>
                  <a:lnTo>
                    <a:pt x="84826" y="50533"/>
                  </a:lnTo>
                  <a:lnTo>
                    <a:pt x="104323" y="38613"/>
                  </a:lnTo>
                  <a:lnTo>
                    <a:pt x="124454" y="27605"/>
                  </a:lnTo>
                  <a:lnTo>
                    <a:pt x="145114" y="17511"/>
                  </a:lnTo>
                  <a:lnTo>
                    <a:pt x="166201" y="8318"/>
                  </a:lnTo>
                  <a:lnTo>
                    <a:pt x="187614" y="0"/>
                  </a:lnTo>
                  <a:lnTo>
                    <a:pt x="230537" y="71768"/>
                  </a:lnTo>
                  <a:lnTo>
                    <a:pt x="212024" y="78879"/>
                  </a:lnTo>
                  <a:lnTo>
                    <a:pt x="193785" y="86718"/>
                  </a:lnTo>
                  <a:lnTo>
                    <a:pt x="175908" y="95307"/>
                  </a:lnTo>
                  <a:lnTo>
                    <a:pt x="158480" y="104655"/>
                  </a:lnTo>
                  <a:lnTo>
                    <a:pt x="141591" y="114760"/>
                  </a:lnTo>
                  <a:lnTo>
                    <a:pt x="125325" y="125607"/>
                  </a:lnTo>
                  <a:lnTo>
                    <a:pt x="109762" y="137170"/>
                  </a:lnTo>
                  <a:lnTo>
                    <a:pt x="94974" y="149409"/>
                  </a:lnTo>
                  <a:lnTo>
                    <a:pt x="81023" y="162279"/>
                  </a:lnTo>
                  <a:lnTo>
                    <a:pt x="67957" y="17572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5" name="Ядро эпителиальной клетки"/>
            <p:cNvSpPr/>
            <p:nvPr/>
          </p:nvSpPr>
          <p:spPr>
            <a:xfrm rot="19111765">
              <a:off x="8709655" y="225537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6" name="Клетка однослойного эпителия"/>
            <p:cNvSpPr/>
            <p:nvPr/>
          </p:nvSpPr>
          <p:spPr>
            <a:xfrm>
              <a:off x="8829560" y="2154414"/>
              <a:ext cx="229780" cy="118970"/>
            </a:xfrm>
            <a:custGeom>
              <a:avLst/>
              <a:gdLst/>
              <a:ahLst/>
              <a:cxnLst/>
              <a:rect l="l" t="t" r="r" b="b"/>
              <a:pathLst>
                <a:path w="229780" h="118970">
                  <a:moveTo>
                    <a:pt x="0" y="47202"/>
                  </a:moveTo>
                  <a:lnTo>
                    <a:pt x="21645" y="39719"/>
                  </a:lnTo>
                  <a:lnTo>
                    <a:pt x="43433" y="33022"/>
                  </a:lnTo>
                  <a:lnTo>
                    <a:pt x="65289" y="27051"/>
                  </a:lnTo>
                  <a:lnTo>
                    <a:pt x="87149" y="21741"/>
                  </a:lnTo>
                  <a:lnTo>
                    <a:pt x="108960" y="17022"/>
                  </a:lnTo>
                  <a:lnTo>
                    <a:pt x="130687" y="12826"/>
                  </a:lnTo>
                  <a:lnTo>
                    <a:pt x="152304" y="9085"/>
                  </a:lnTo>
                  <a:lnTo>
                    <a:pt x="173802" y="5735"/>
                  </a:lnTo>
                  <a:lnTo>
                    <a:pt x="195183" y="2722"/>
                  </a:lnTo>
                  <a:lnTo>
                    <a:pt x="216456" y="0"/>
                  </a:lnTo>
                  <a:lnTo>
                    <a:pt x="229780" y="77900"/>
                  </a:lnTo>
                  <a:lnTo>
                    <a:pt x="211430" y="80335"/>
                  </a:lnTo>
                  <a:lnTo>
                    <a:pt x="192986" y="83014"/>
                  </a:lnTo>
                  <a:lnTo>
                    <a:pt x="174437" y="85975"/>
                  </a:lnTo>
                  <a:lnTo>
                    <a:pt x="155783" y="89264"/>
                  </a:lnTo>
                  <a:lnTo>
                    <a:pt x="137032" y="92934"/>
                  </a:lnTo>
                  <a:lnTo>
                    <a:pt x="118203" y="97041"/>
                  </a:lnTo>
                  <a:lnTo>
                    <a:pt x="99329" y="101642"/>
                  </a:lnTo>
                  <a:lnTo>
                    <a:pt x="80452" y="106796"/>
                  </a:lnTo>
                  <a:lnTo>
                    <a:pt x="61628" y="112555"/>
                  </a:lnTo>
                  <a:lnTo>
                    <a:pt x="42923" y="11897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7" name="Ядро эпителиальной клетки"/>
            <p:cNvSpPr/>
            <p:nvPr/>
          </p:nvSpPr>
          <p:spPr>
            <a:xfrm rot="20382353">
              <a:off x="8906483" y="218073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8" name="Клетка однослойного эпителия"/>
            <p:cNvSpPr/>
            <p:nvPr/>
          </p:nvSpPr>
          <p:spPr>
            <a:xfrm>
              <a:off x="9046016" y="2141552"/>
              <a:ext cx="211845" cy="90762"/>
            </a:xfrm>
            <a:custGeom>
              <a:avLst/>
              <a:gdLst/>
              <a:ahLst/>
              <a:cxnLst/>
              <a:rect l="l" t="t" r="r" b="b"/>
              <a:pathLst>
                <a:path w="211845" h="90762">
                  <a:moveTo>
                    <a:pt x="0" y="12862"/>
                  </a:moveTo>
                  <a:lnTo>
                    <a:pt x="21187" y="10396"/>
                  </a:lnTo>
                  <a:lnTo>
                    <a:pt x="42311" y="8165"/>
                  </a:lnTo>
                  <a:lnTo>
                    <a:pt x="63401" y="6159"/>
                  </a:lnTo>
                  <a:lnTo>
                    <a:pt x="84484" y="4385"/>
                  </a:lnTo>
                  <a:lnTo>
                    <a:pt x="105586" y="2859"/>
                  </a:lnTo>
                  <a:lnTo>
                    <a:pt x="126728" y="1613"/>
                  </a:lnTo>
                  <a:lnTo>
                    <a:pt x="147925" y="687"/>
                  </a:lnTo>
                  <a:lnTo>
                    <a:pt x="169181" y="130"/>
                  </a:lnTo>
                  <a:lnTo>
                    <a:pt x="190492" y="0"/>
                  </a:lnTo>
                  <a:lnTo>
                    <a:pt x="211845" y="356"/>
                  </a:lnTo>
                  <a:lnTo>
                    <a:pt x="195946" y="78710"/>
                  </a:lnTo>
                  <a:lnTo>
                    <a:pt x="177551" y="78574"/>
                  </a:lnTo>
                  <a:lnTo>
                    <a:pt x="159187" y="78844"/>
                  </a:lnTo>
                  <a:lnTo>
                    <a:pt x="140869" y="79470"/>
                  </a:lnTo>
                  <a:lnTo>
                    <a:pt x="122599" y="80405"/>
                  </a:lnTo>
                  <a:lnTo>
                    <a:pt x="104374" y="81606"/>
                  </a:lnTo>
                  <a:lnTo>
                    <a:pt x="86180" y="83040"/>
                  </a:lnTo>
                  <a:lnTo>
                    <a:pt x="68001" y="84682"/>
                  </a:lnTo>
                  <a:lnTo>
                    <a:pt x="49815" y="86517"/>
                  </a:lnTo>
                  <a:lnTo>
                    <a:pt x="31597" y="88541"/>
                  </a:lnTo>
                  <a:lnTo>
                    <a:pt x="13324" y="90762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99" name="Ядро эпителиальной клетки"/>
            <p:cNvSpPr/>
            <p:nvPr/>
          </p:nvSpPr>
          <p:spPr>
            <a:xfrm rot="52941">
              <a:off x="9104337" y="215518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0" name="Клетка однослойного эпителия"/>
            <p:cNvSpPr/>
            <p:nvPr/>
          </p:nvSpPr>
          <p:spPr>
            <a:xfrm>
              <a:off x="9241962" y="2141908"/>
              <a:ext cx="222294" cy="111777"/>
            </a:xfrm>
            <a:custGeom>
              <a:avLst/>
              <a:gdLst/>
              <a:ahLst/>
              <a:cxnLst/>
              <a:rect l="l" t="t" r="r" b="b"/>
              <a:pathLst>
                <a:path w="222294" h="111777">
                  <a:moveTo>
                    <a:pt x="15899" y="0"/>
                  </a:moveTo>
                  <a:lnTo>
                    <a:pt x="37268" y="905"/>
                  </a:lnTo>
                  <a:lnTo>
                    <a:pt x="58619" y="2420"/>
                  </a:lnTo>
                  <a:lnTo>
                    <a:pt x="79907" y="4603"/>
                  </a:lnTo>
                  <a:lnTo>
                    <a:pt x="101081" y="7506"/>
                  </a:lnTo>
                  <a:lnTo>
                    <a:pt x="122082" y="11175"/>
                  </a:lnTo>
                  <a:lnTo>
                    <a:pt x="142848" y="15645"/>
                  </a:lnTo>
                  <a:lnTo>
                    <a:pt x="163315" y="20941"/>
                  </a:lnTo>
                  <a:lnTo>
                    <a:pt x="183419" y="27079"/>
                  </a:lnTo>
                  <a:lnTo>
                    <a:pt x="203098" y="34062"/>
                  </a:lnTo>
                  <a:lnTo>
                    <a:pt x="222294" y="41883"/>
                  </a:lnTo>
                  <a:lnTo>
                    <a:pt x="177514" y="111777"/>
                  </a:lnTo>
                  <a:lnTo>
                    <a:pt x="161034" y="105389"/>
                  </a:lnTo>
                  <a:lnTo>
                    <a:pt x="144131" y="99705"/>
                  </a:lnTo>
                  <a:lnTo>
                    <a:pt x="126856" y="94730"/>
                  </a:lnTo>
                  <a:lnTo>
                    <a:pt x="109261" y="90461"/>
                  </a:lnTo>
                  <a:lnTo>
                    <a:pt x="91403" y="86885"/>
                  </a:lnTo>
                  <a:lnTo>
                    <a:pt x="73336" y="83979"/>
                  </a:lnTo>
                  <a:lnTo>
                    <a:pt x="55115" y="81714"/>
                  </a:lnTo>
                  <a:lnTo>
                    <a:pt x="36789" y="80052"/>
                  </a:lnTo>
                  <a:lnTo>
                    <a:pt x="18405" y="78948"/>
                  </a:lnTo>
                  <a:lnTo>
                    <a:pt x="0" y="78354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1" name="Ядро эпителиальной клетки"/>
            <p:cNvSpPr/>
            <p:nvPr/>
          </p:nvSpPr>
          <p:spPr>
            <a:xfrm rot="1323529">
              <a:off x="9301456" y="216227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2" name="Клетка однослойного эпителия"/>
            <p:cNvSpPr/>
            <p:nvPr/>
          </p:nvSpPr>
          <p:spPr>
            <a:xfrm>
              <a:off x="9419476" y="2183791"/>
              <a:ext cx="202601" cy="166783"/>
            </a:xfrm>
            <a:custGeom>
              <a:avLst/>
              <a:gdLst/>
              <a:ahLst/>
              <a:cxnLst/>
              <a:rect l="l" t="t" r="r" b="b"/>
              <a:pathLst>
                <a:path w="202601" h="166783">
                  <a:moveTo>
                    <a:pt x="44780" y="0"/>
                  </a:moveTo>
                  <a:lnTo>
                    <a:pt x="63442" y="8641"/>
                  </a:lnTo>
                  <a:lnTo>
                    <a:pt x="81524" y="18078"/>
                  </a:lnTo>
                  <a:lnTo>
                    <a:pt x="98991" y="28277"/>
                  </a:lnTo>
                  <a:lnTo>
                    <a:pt x="115814" y="39198"/>
                  </a:lnTo>
                  <a:lnTo>
                    <a:pt x="131972" y="50798"/>
                  </a:lnTo>
                  <a:lnTo>
                    <a:pt x="147455" y="63032"/>
                  </a:lnTo>
                  <a:lnTo>
                    <a:pt x="162257" y="75854"/>
                  </a:lnTo>
                  <a:lnTo>
                    <a:pt x="176379" y="89219"/>
                  </a:lnTo>
                  <a:lnTo>
                    <a:pt x="189825" y="103085"/>
                  </a:lnTo>
                  <a:lnTo>
                    <a:pt x="202601" y="117414"/>
                  </a:lnTo>
                  <a:lnTo>
                    <a:pt x="135090" y="166783"/>
                  </a:lnTo>
                  <a:lnTo>
                    <a:pt x="124190" y="154909"/>
                  </a:lnTo>
                  <a:lnTo>
                    <a:pt x="112710" y="143428"/>
                  </a:lnTo>
                  <a:lnTo>
                    <a:pt x="100644" y="132370"/>
                  </a:lnTo>
                  <a:lnTo>
                    <a:pt x="87988" y="121771"/>
                  </a:lnTo>
                  <a:lnTo>
                    <a:pt x="74740" y="111669"/>
                  </a:lnTo>
                  <a:lnTo>
                    <a:pt x="60906" y="102101"/>
                  </a:lnTo>
                  <a:lnTo>
                    <a:pt x="46494" y="93105"/>
                  </a:lnTo>
                  <a:lnTo>
                    <a:pt x="31522" y="84718"/>
                  </a:lnTo>
                  <a:lnTo>
                    <a:pt x="16013" y="76972"/>
                  </a:lnTo>
                  <a:lnTo>
                    <a:pt x="0" y="6989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3" name="Ядро эпителиальной клетки"/>
            <p:cNvSpPr/>
            <p:nvPr/>
          </p:nvSpPr>
          <p:spPr>
            <a:xfrm rot="2594118">
              <a:off x="9475053" y="223606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4" name="Клетка однослойного эпителия"/>
            <p:cNvSpPr/>
            <p:nvPr/>
          </p:nvSpPr>
          <p:spPr>
            <a:xfrm>
              <a:off x="9554566" y="2301205"/>
              <a:ext cx="157980" cy="185207"/>
            </a:xfrm>
            <a:custGeom>
              <a:avLst/>
              <a:gdLst/>
              <a:ahLst/>
              <a:cxnLst/>
              <a:rect l="l" t="t" r="r" b="b"/>
              <a:pathLst>
                <a:path w="157980" h="185207">
                  <a:moveTo>
                    <a:pt x="67511" y="0"/>
                  </a:moveTo>
                  <a:lnTo>
                    <a:pt x="79625" y="14759"/>
                  </a:lnTo>
                  <a:lnTo>
                    <a:pt x="91081" y="29917"/>
                  </a:lnTo>
                  <a:lnTo>
                    <a:pt x="101881" y="45451"/>
                  </a:lnTo>
                  <a:lnTo>
                    <a:pt x="112022" y="61342"/>
                  </a:lnTo>
                  <a:lnTo>
                    <a:pt x="121494" y="77573"/>
                  </a:lnTo>
                  <a:lnTo>
                    <a:pt x="130280" y="94133"/>
                  </a:lnTo>
                  <a:lnTo>
                    <a:pt x="138356" y="111010"/>
                  </a:lnTo>
                  <a:lnTo>
                    <a:pt x="145691" y="128193"/>
                  </a:lnTo>
                  <a:lnTo>
                    <a:pt x="152247" y="145672"/>
                  </a:lnTo>
                  <a:lnTo>
                    <a:pt x="157980" y="163431"/>
                  </a:lnTo>
                  <a:lnTo>
                    <a:pt x="76710" y="185207"/>
                  </a:lnTo>
                  <a:lnTo>
                    <a:pt x="71905" y="170415"/>
                  </a:lnTo>
                  <a:lnTo>
                    <a:pt x="66389" y="155864"/>
                  </a:lnTo>
                  <a:lnTo>
                    <a:pt x="60199" y="141565"/>
                  </a:lnTo>
                  <a:lnTo>
                    <a:pt x="53368" y="127528"/>
                  </a:lnTo>
                  <a:lnTo>
                    <a:pt x="45924" y="113761"/>
                  </a:lnTo>
                  <a:lnTo>
                    <a:pt x="37886" y="100274"/>
                  </a:lnTo>
                  <a:lnTo>
                    <a:pt x="29269" y="87076"/>
                  </a:lnTo>
                  <a:lnTo>
                    <a:pt x="20081" y="74181"/>
                  </a:lnTo>
                  <a:lnTo>
                    <a:pt x="10325" y="61605"/>
                  </a:lnTo>
                  <a:lnTo>
                    <a:pt x="0" y="49369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5" name="Ядро эпителиальной клетки"/>
            <p:cNvSpPr/>
            <p:nvPr/>
          </p:nvSpPr>
          <p:spPr>
            <a:xfrm rot="3864706">
              <a:off x="9590128" y="236742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6" name="Просвет канальца"/>
            <p:cNvSpPr/>
            <p:nvPr/>
          </p:nvSpPr>
          <p:spPr>
            <a:xfrm>
              <a:off x="8611284" y="2216471"/>
              <a:ext cx="1029179" cy="840679"/>
            </a:xfrm>
            <a:custGeom>
              <a:avLst/>
              <a:gdLst/>
              <a:ahLst/>
              <a:cxnLst/>
              <a:rect l="l" t="t" r="r" b="b"/>
              <a:pathLst>
                <a:path w="1029179" h="840679">
                  <a:moveTo>
                    <a:pt x="1016538" y="270867"/>
                  </a:moveTo>
                  <a:lnTo>
                    <a:pt x="1022124" y="292038"/>
                  </a:lnTo>
                  <a:lnTo>
                    <a:pt x="1026163" y="313604"/>
                  </a:lnTo>
                  <a:lnTo>
                    <a:pt x="1028547" y="335502"/>
                  </a:lnTo>
                  <a:lnTo>
                    <a:pt x="1029179" y="357651"/>
                  </a:lnTo>
                  <a:lnTo>
                    <a:pt x="1027984" y="379953"/>
                  </a:lnTo>
                  <a:lnTo>
                    <a:pt x="1024919" y="402298"/>
                  </a:lnTo>
                  <a:lnTo>
                    <a:pt x="1019978" y="424567"/>
                  </a:lnTo>
                  <a:lnTo>
                    <a:pt x="1013197" y="446639"/>
                  </a:lnTo>
                  <a:lnTo>
                    <a:pt x="1004652" y="468400"/>
                  </a:lnTo>
                  <a:lnTo>
                    <a:pt x="994461" y="489749"/>
                  </a:lnTo>
                  <a:lnTo>
                    <a:pt x="982770" y="510603"/>
                  </a:lnTo>
                  <a:lnTo>
                    <a:pt x="969752" y="530904"/>
                  </a:lnTo>
                  <a:lnTo>
                    <a:pt x="955589" y="550624"/>
                  </a:lnTo>
                  <a:lnTo>
                    <a:pt x="940465" y="569759"/>
                  </a:lnTo>
                  <a:lnTo>
                    <a:pt x="924549" y="588336"/>
                  </a:lnTo>
                  <a:lnTo>
                    <a:pt x="907987" y="606398"/>
                  </a:lnTo>
                  <a:lnTo>
                    <a:pt x="890891" y="624006"/>
                  </a:lnTo>
                  <a:lnTo>
                    <a:pt x="873337" y="641224"/>
                  </a:lnTo>
                  <a:lnTo>
                    <a:pt x="855356" y="658113"/>
                  </a:lnTo>
                  <a:lnTo>
                    <a:pt x="836939" y="674720"/>
                  </a:lnTo>
                  <a:lnTo>
                    <a:pt x="818042" y="691069"/>
                  </a:lnTo>
                  <a:lnTo>
                    <a:pt x="798594" y="707155"/>
                  </a:lnTo>
                  <a:lnTo>
                    <a:pt x="778506" y="722936"/>
                  </a:lnTo>
                  <a:lnTo>
                    <a:pt x="757684" y="738337"/>
                  </a:lnTo>
                  <a:lnTo>
                    <a:pt x="736042" y="753246"/>
                  </a:lnTo>
                  <a:lnTo>
                    <a:pt x="713513" y="767521"/>
                  </a:lnTo>
                  <a:lnTo>
                    <a:pt x="690058" y="780996"/>
                  </a:lnTo>
                  <a:lnTo>
                    <a:pt x="665677" y="793494"/>
                  </a:lnTo>
                  <a:lnTo>
                    <a:pt x="640409" y="804831"/>
                  </a:lnTo>
                  <a:lnTo>
                    <a:pt x="614334" y="814836"/>
                  </a:lnTo>
                  <a:lnTo>
                    <a:pt x="587570" y="823354"/>
                  </a:lnTo>
                  <a:lnTo>
                    <a:pt x="560270" y="830262"/>
                  </a:lnTo>
                  <a:lnTo>
                    <a:pt x="532606" y="835472"/>
                  </a:lnTo>
                  <a:lnTo>
                    <a:pt x="504766" y="838940"/>
                  </a:lnTo>
                  <a:lnTo>
                    <a:pt x="476937" y="840663"/>
                  </a:lnTo>
                  <a:lnTo>
                    <a:pt x="449298" y="840679"/>
                  </a:lnTo>
                  <a:lnTo>
                    <a:pt x="422009" y="839067"/>
                  </a:lnTo>
                  <a:lnTo>
                    <a:pt x="395205" y="835931"/>
                  </a:lnTo>
                  <a:lnTo>
                    <a:pt x="368989" y="831397"/>
                  </a:lnTo>
                  <a:lnTo>
                    <a:pt x="343432" y="825603"/>
                  </a:lnTo>
                  <a:lnTo>
                    <a:pt x="318577" y="818686"/>
                  </a:lnTo>
                  <a:lnTo>
                    <a:pt x="294439" y="810772"/>
                  </a:lnTo>
                  <a:lnTo>
                    <a:pt x="271018" y="801974"/>
                  </a:lnTo>
                  <a:lnTo>
                    <a:pt x="248301" y="792376"/>
                  </a:lnTo>
                  <a:lnTo>
                    <a:pt x="226275" y="782042"/>
                  </a:lnTo>
                  <a:lnTo>
                    <a:pt x="204935" y="771007"/>
                  </a:lnTo>
                  <a:lnTo>
                    <a:pt x="184289" y="759279"/>
                  </a:lnTo>
                  <a:lnTo>
                    <a:pt x="164366" y="746852"/>
                  </a:lnTo>
                  <a:lnTo>
                    <a:pt x="145215" y="733704"/>
                  </a:lnTo>
                  <a:lnTo>
                    <a:pt x="126908" y="719806"/>
                  </a:lnTo>
                  <a:lnTo>
                    <a:pt x="109533" y="705133"/>
                  </a:lnTo>
                  <a:lnTo>
                    <a:pt x="93192" y="689667"/>
                  </a:lnTo>
                  <a:lnTo>
                    <a:pt x="77990" y="673405"/>
                  </a:lnTo>
                  <a:lnTo>
                    <a:pt x="64029" y="656360"/>
                  </a:lnTo>
                  <a:lnTo>
                    <a:pt x="51398" y="638567"/>
                  </a:lnTo>
                  <a:lnTo>
                    <a:pt x="40167" y="620077"/>
                  </a:lnTo>
                  <a:lnTo>
                    <a:pt x="30377" y="600960"/>
                  </a:lnTo>
                  <a:lnTo>
                    <a:pt x="22043" y="581295"/>
                  </a:lnTo>
                  <a:lnTo>
                    <a:pt x="15146" y="561168"/>
                  </a:lnTo>
                  <a:lnTo>
                    <a:pt x="9642" y="540664"/>
                  </a:lnTo>
                  <a:lnTo>
                    <a:pt x="5460" y="519863"/>
                  </a:lnTo>
                  <a:lnTo>
                    <a:pt x="2518" y="498832"/>
                  </a:lnTo>
                  <a:lnTo>
                    <a:pt x="727" y="477625"/>
                  </a:lnTo>
                  <a:lnTo>
                    <a:pt x="0" y="456280"/>
                  </a:lnTo>
                  <a:lnTo>
                    <a:pt x="268" y="434817"/>
                  </a:lnTo>
                  <a:lnTo>
                    <a:pt x="1483" y="413247"/>
                  </a:lnTo>
                  <a:lnTo>
                    <a:pt x="3627" y="391571"/>
                  </a:lnTo>
                  <a:lnTo>
                    <a:pt x="6717" y="369789"/>
                  </a:lnTo>
                  <a:lnTo>
                    <a:pt x="10802" y="347906"/>
                  </a:lnTo>
                  <a:lnTo>
                    <a:pt x="15964" y="325941"/>
                  </a:lnTo>
                  <a:lnTo>
                    <a:pt x="22309" y="303930"/>
                  </a:lnTo>
                  <a:lnTo>
                    <a:pt x="29959" y="281933"/>
                  </a:lnTo>
                  <a:lnTo>
                    <a:pt x="39040" y="260037"/>
                  </a:lnTo>
                  <a:lnTo>
                    <a:pt x="49672" y="238353"/>
                  </a:lnTo>
                  <a:lnTo>
                    <a:pt x="61953" y="217019"/>
                  </a:lnTo>
                  <a:lnTo>
                    <a:pt x="75953" y="196188"/>
                  </a:lnTo>
                  <a:lnTo>
                    <a:pt x="91701" y="176027"/>
                  </a:lnTo>
                  <a:lnTo>
                    <a:pt x="109179" y="156704"/>
                  </a:lnTo>
                  <a:lnTo>
                    <a:pt x="128326" y="138380"/>
                  </a:lnTo>
                  <a:lnTo>
                    <a:pt x="149029" y="121199"/>
                  </a:lnTo>
                  <a:lnTo>
                    <a:pt x="171138" y="105277"/>
                  </a:lnTo>
                  <a:lnTo>
                    <a:pt x="194469" y="90697"/>
                  </a:lnTo>
                  <a:lnTo>
                    <a:pt x="218816" y="77502"/>
                  </a:lnTo>
                  <a:lnTo>
                    <a:pt x="243963" y="65697"/>
                  </a:lnTo>
                  <a:lnTo>
                    <a:pt x="269698" y="55242"/>
                  </a:lnTo>
                  <a:lnTo>
                    <a:pt x="295824" y="46067"/>
                  </a:lnTo>
                  <a:lnTo>
                    <a:pt x="322170" y="38070"/>
                  </a:lnTo>
                  <a:lnTo>
                    <a:pt x="348597" y="31132"/>
                  </a:lnTo>
                  <a:lnTo>
                    <a:pt x="375006" y="25122"/>
                  </a:lnTo>
                  <a:lnTo>
                    <a:pt x="401336" y="19917"/>
                  </a:lnTo>
                  <a:lnTo>
                    <a:pt x="427561" y="15405"/>
                  </a:lnTo>
                  <a:lnTo>
                    <a:pt x="453688" y="11497"/>
                  </a:lnTo>
                  <a:lnTo>
                    <a:pt x="479744" y="8135"/>
                  </a:lnTo>
                  <a:lnTo>
                    <a:pt x="505768" y="5299"/>
                  </a:lnTo>
                  <a:lnTo>
                    <a:pt x="531801" y="3002"/>
                  </a:lnTo>
                  <a:lnTo>
                    <a:pt x="557873" y="1295"/>
                  </a:lnTo>
                  <a:lnTo>
                    <a:pt x="583998" y="260"/>
                  </a:lnTo>
                  <a:lnTo>
                    <a:pt x="610164" y="0"/>
                  </a:lnTo>
                  <a:lnTo>
                    <a:pt x="636328" y="634"/>
                  </a:lnTo>
                  <a:lnTo>
                    <a:pt x="662419" y="2285"/>
                  </a:lnTo>
                  <a:lnTo>
                    <a:pt x="688337" y="5069"/>
                  </a:lnTo>
                  <a:lnTo>
                    <a:pt x="713959" y="9087"/>
                  </a:lnTo>
                  <a:lnTo>
                    <a:pt x="739148" y="14417"/>
                  </a:lnTo>
                  <a:lnTo>
                    <a:pt x="763758" y="21108"/>
                  </a:lnTo>
                  <a:lnTo>
                    <a:pt x="787646" y="29175"/>
                  </a:lnTo>
                  <a:lnTo>
                    <a:pt x="810681" y="38604"/>
                  </a:lnTo>
                  <a:lnTo>
                    <a:pt x="832751" y="49349"/>
                  </a:lnTo>
                  <a:lnTo>
                    <a:pt x="853765" y="61341"/>
                  </a:lnTo>
                  <a:lnTo>
                    <a:pt x="873663" y="74490"/>
                  </a:lnTo>
                  <a:lnTo>
                    <a:pt x="892407" y="88696"/>
                  </a:lnTo>
                  <a:lnTo>
                    <a:pt x="909986" y="103857"/>
                  </a:lnTo>
                  <a:lnTo>
                    <a:pt x="926404" y="119873"/>
                  </a:lnTo>
                  <a:lnTo>
                    <a:pt x="941677" y="136654"/>
                  </a:lnTo>
                  <a:lnTo>
                    <a:pt x="955824" y="154125"/>
                  </a:lnTo>
                  <a:lnTo>
                    <a:pt x="968858" y="172223"/>
                  </a:lnTo>
                  <a:lnTo>
                    <a:pt x="980775" y="190903"/>
                  </a:lnTo>
                  <a:lnTo>
                    <a:pt x="991557" y="210132"/>
                  </a:lnTo>
                  <a:lnTo>
                    <a:pt x="1001159" y="229884"/>
                  </a:lnTo>
                  <a:lnTo>
                    <a:pt x="1009516" y="250138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7" name="Базальная мембрана канальца"/>
            <p:cNvSpPr/>
            <p:nvPr/>
          </p:nvSpPr>
          <p:spPr>
            <a:xfrm>
              <a:off x="9976860" y="2418746"/>
              <a:ext cx="1378666" cy="1072723"/>
            </a:xfrm>
            <a:custGeom>
              <a:avLst/>
              <a:gdLst/>
              <a:ahLst/>
              <a:cxnLst/>
              <a:rect l="l" t="t" r="r" b="b"/>
              <a:pathLst>
                <a:path w="1378666" h="1072723">
                  <a:moveTo>
                    <a:pt x="1325740" y="758816"/>
                  </a:moveTo>
                  <a:lnTo>
                    <a:pt x="1312673" y="781505"/>
                  </a:lnTo>
                  <a:lnTo>
                    <a:pt x="1298901" y="803653"/>
                  </a:lnTo>
                  <a:lnTo>
                    <a:pt x="1284519" y="825352"/>
                  </a:lnTo>
                  <a:lnTo>
                    <a:pt x="1269549" y="846680"/>
                  </a:lnTo>
                  <a:lnTo>
                    <a:pt x="1253948" y="867679"/>
                  </a:lnTo>
                  <a:lnTo>
                    <a:pt x="1237617" y="888358"/>
                  </a:lnTo>
                  <a:lnTo>
                    <a:pt x="1220410" y="908678"/>
                  </a:lnTo>
                  <a:lnTo>
                    <a:pt x="1202157" y="928556"/>
                  </a:lnTo>
                  <a:lnTo>
                    <a:pt x="1182675" y="947863"/>
                  </a:lnTo>
                  <a:lnTo>
                    <a:pt x="1161793" y="966435"/>
                  </a:lnTo>
                  <a:lnTo>
                    <a:pt x="1139366" y="984080"/>
                  </a:lnTo>
                  <a:lnTo>
                    <a:pt x="1115289" y="1000592"/>
                  </a:lnTo>
                  <a:lnTo>
                    <a:pt x="1089506" y="1015765"/>
                  </a:lnTo>
                  <a:lnTo>
                    <a:pt x="1062019" y="1029401"/>
                  </a:lnTo>
                  <a:lnTo>
                    <a:pt x="1032886" y="1041334"/>
                  </a:lnTo>
                  <a:lnTo>
                    <a:pt x="1002217" y="1051428"/>
                  </a:lnTo>
                  <a:lnTo>
                    <a:pt x="970164" y="1059592"/>
                  </a:lnTo>
                  <a:lnTo>
                    <a:pt x="936916" y="1065782"/>
                  </a:lnTo>
                  <a:lnTo>
                    <a:pt x="902676" y="1069999"/>
                  </a:lnTo>
                  <a:lnTo>
                    <a:pt x="867656" y="1072287"/>
                  </a:lnTo>
                  <a:lnTo>
                    <a:pt x="832062" y="1072723"/>
                  </a:lnTo>
                  <a:lnTo>
                    <a:pt x="796081" y="1071410"/>
                  </a:lnTo>
                  <a:lnTo>
                    <a:pt x="759875" y="1068464"/>
                  </a:lnTo>
                  <a:lnTo>
                    <a:pt x="723581" y="1064002"/>
                  </a:lnTo>
                  <a:lnTo>
                    <a:pt x="687307" y="1058131"/>
                  </a:lnTo>
                  <a:lnTo>
                    <a:pt x="651136" y="1050943"/>
                  </a:lnTo>
                  <a:lnTo>
                    <a:pt x="615137" y="1042503"/>
                  </a:lnTo>
                  <a:lnTo>
                    <a:pt x="579368" y="1032850"/>
                  </a:lnTo>
                  <a:lnTo>
                    <a:pt x="543889" y="1021995"/>
                  </a:lnTo>
                  <a:lnTo>
                    <a:pt x="508771" y="1009928"/>
                  </a:lnTo>
                  <a:lnTo>
                    <a:pt x="474103" y="996621"/>
                  </a:lnTo>
                  <a:lnTo>
                    <a:pt x="439994" y="982040"/>
                  </a:lnTo>
                  <a:lnTo>
                    <a:pt x="406580" y="966149"/>
                  </a:lnTo>
                  <a:lnTo>
                    <a:pt x="374016" y="948929"/>
                  </a:lnTo>
                  <a:lnTo>
                    <a:pt x="342472" y="930377"/>
                  </a:lnTo>
                  <a:lnTo>
                    <a:pt x="312127" y="910519"/>
                  </a:lnTo>
                  <a:lnTo>
                    <a:pt x="283154" y="889410"/>
                  </a:lnTo>
                  <a:lnTo>
                    <a:pt x="255708" y="867138"/>
                  </a:lnTo>
                  <a:lnTo>
                    <a:pt x="229915" y="843818"/>
                  </a:lnTo>
                  <a:lnTo>
                    <a:pt x="205864" y="819588"/>
                  </a:lnTo>
                  <a:lnTo>
                    <a:pt x="183594" y="794603"/>
                  </a:lnTo>
                  <a:lnTo>
                    <a:pt x="163093" y="769020"/>
                  </a:lnTo>
                  <a:lnTo>
                    <a:pt x="144301" y="742993"/>
                  </a:lnTo>
                  <a:lnTo>
                    <a:pt x="127111" y="716657"/>
                  </a:lnTo>
                  <a:lnTo>
                    <a:pt x="111380" y="690126"/>
                  </a:lnTo>
                  <a:lnTo>
                    <a:pt x="96946" y="663480"/>
                  </a:lnTo>
                  <a:lnTo>
                    <a:pt x="83639" y="636769"/>
                  </a:lnTo>
                  <a:lnTo>
                    <a:pt x="71301" y="610007"/>
                  </a:lnTo>
                  <a:lnTo>
                    <a:pt x="59804" y="583179"/>
                  </a:lnTo>
                  <a:lnTo>
                    <a:pt x="49064" y="556250"/>
                  </a:lnTo>
                  <a:lnTo>
                    <a:pt x="39053" y="529170"/>
                  </a:lnTo>
                  <a:lnTo>
                    <a:pt x="29809" y="501890"/>
                  </a:lnTo>
                  <a:lnTo>
                    <a:pt x="21434" y="474372"/>
                  </a:lnTo>
                  <a:lnTo>
                    <a:pt x="14095" y="446600"/>
                  </a:lnTo>
                  <a:lnTo>
                    <a:pt x="8012" y="418592"/>
                  </a:lnTo>
                  <a:lnTo>
                    <a:pt x="3446" y="390404"/>
                  </a:lnTo>
                  <a:lnTo>
                    <a:pt x="680" y="362135"/>
                  </a:lnTo>
                  <a:lnTo>
                    <a:pt x="0" y="333928"/>
                  </a:lnTo>
                  <a:lnTo>
                    <a:pt x="1672" y="305960"/>
                  </a:lnTo>
                  <a:lnTo>
                    <a:pt x="5925" y="278443"/>
                  </a:lnTo>
                  <a:lnTo>
                    <a:pt x="12932" y="251603"/>
                  </a:lnTo>
                  <a:lnTo>
                    <a:pt x="22798" y="225675"/>
                  </a:lnTo>
                  <a:lnTo>
                    <a:pt x="35552" y="200884"/>
                  </a:lnTo>
                  <a:lnTo>
                    <a:pt x="51140" y="177431"/>
                  </a:lnTo>
                  <a:lnTo>
                    <a:pt x="69438" y="155485"/>
                  </a:lnTo>
                  <a:lnTo>
                    <a:pt x="90251" y="135171"/>
                  </a:lnTo>
                  <a:lnTo>
                    <a:pt x="113334" y="116562"/>
                  </a:lnTo>
                  <a:lnTo>
                    <a:pt x="138405" y="99681"/>
                  </a:lnTo>
                  <a:lnTo>
                    <a:pt x="165163" y="84502"/>
                  </a:lnTo>
                  <a:lnTo>
                    <a:pt x="193310" y="70955"/>
                  </a:lnTo>
                  <a:lnTo>
                    <a:pt x="222567" y="58935"/>
                  </a:lnTo>
                  <a:lnTo>
                    <a:pt x="252685" y="48318"/>
                  </a:lnTo>
                  <a:lnTo>
                    <a:pt x="283463" y="38971"/>
                  </a:lnTo>
                  <a:lnTo>
                    <a:pt x="314746" y="30766"/>
                  </a:lnTo>
                  <a:lnTo>
                    <a:pt x="346431" y="23594"/>
                  </a:lnTo>
                  <a:lnTo>
                    <a:pt x="378461" y="17372"/>
                  </a:lnTo>
                  <a:lnTo>
                    <a:pt x="410818" y="12055"/>
                  </a:lnTo>
                  <a:lnTo>
                    <a:pt x="443512" y="7636"/>
                  </a:lnTo>
                  <a:lnTo>
                    <a:pt x="476567" y="4143"/>
                  </a:lnTo>
                  <a:lnTo>
                    <a:pt x="510010" y="1643"/>
                  </a:lnTo>
                  <a:lnTo>
                    <a:pt x="543859" y="226"/>
                  </a:lnTo>
                  <a:lnTo>
                    <a:pt x="578110" y="0"/>
                  </a:lnTo>
                  <a:lnTo>
                    <a:pt x="612735" y="1077"/>
                  </a:lnTo>
                  <a:lnTo>
                    <a:pt x="647675" y="3563"/>
                  </a:lnTo>
                  <a:lnTo>
                    <a:pt x="682842" y="7548"/>
                  </a:lnTo>
                  <a:lnTo>
                    <a:pt x="718126" y="13094"/>
                  </a:lnTo>
                  <a:lnTo>
                    <a:pt x="753397" y="20234"/>
                  </a:lnTo>
                  <a:lnTo>
                    <a:pt x="788519" y="28962"/>
                  </a:lnTo>
                  <a:lnTo>
                    <a:pt x="823358" y="39240"/>
                  </a:lnTo>
                  <a:lnTo>
                    <a:pt x="857792" y="51000"/>
                  </a:lnTo>
                  <a:lnTo>
                    <a:pt x="891719" y="64148"/>
                  </a:lnTo>
                  <a:lnTo>
                    <a:pt x="925062" y="78577"/>
                  </a:lnTo>
                  <a:lnTo>
                    <a:pt x="957769" y="94174"/>
                  </a:lnTo>
                  <a:lnTo>
                    <a:pt x="989815" y="110831"/>
                  </a:lnTo>
                  <a:lnTo>
                    <a:pt x="1021194" y="128453"/>
                  </a:lnTo>
                  <a:lnTo>
                    <a:pt x="1051912" y="146968"/>
                  </a:lnTo>
                  <a:lnTo>
                    <a:pt x="1081973" y="166324"/>
                  </a:lnTo>
                  <a:lnTo>
                    <a:pt x="1111372" y="186499"/>
                  </a:lnTo>
                  <a:lnTo>
                    <a:pt x="1140080" y="207491"/>
                  </a:lnTo>
                  <a:lnTo>
                    <a:pt x="1168033" y="229319"/>
                  </a:lnTo>
                  <a:lnTo>
                    <a:pt x="1195131" y="252008"/>
                  </a:lnTo>
                  <a:lnTo>
                    <a:pt x="1221225" y="275588"/>
                  </a:lnTo>
                  <a:lnTo>
                    <a:pt x="1246128" y="300074"/>
                  </a:lnTo>
                  <a:lnTo>
                    <a:pt x="1269613" y="325467"/>
                  </a:lnTo>
                  <a:lnTo>
                    <a:pt x="1291426" y="351736"/>
                  </a:lnTo>
                  <a:lnTo>
                    <a:pt x="1311301" y="378819"/>
                  </a:lnTo>
                  <a:lnTo>
                    <a:pt x="1328975" y="406616"/>
                  </a:lnTo>
                  <a:lnTo>
                    <a:pt x="1344204" y="434993"/>
                  </a:lnTo>
                  <a:lnTo>
                    <a:pt x="1356785" y="463784"/>
                  </a:lnTo>
                  <a:lnTo>
                    <a:pt x="1366569" y="492801"/>
                  </a:lnTo>
                  <a:lnTo>
                    <a:pt x="1373470" y="521841"/>
                  </a:lnTo>
                  <a:lnTo>
                    <a:pt x="1377480" y="550702"/>
                  </a:lnTo>
                  <a:lnTo>
                    <a:pt x="1378666" y="579190"/>
                  </a:lnTo>
                  <a:lnTo>
                    <a:pt x="1377168" y="607138"/>
                  </a:lnTo>
                  <a:lnTo>
                    <a:pt x="1373190" y="634409"/>
                  </a:lnTo>
                  <a:lnTo>
                    <a:pt x="1366986" y="660908"/>
                  </a:lnTo>
                  <a:lnTo>
                    <a:pt x="1358846" y="686585"/>
                  </a:lnTo>
                  <a:lnTo>
                    <a:pt x="1349068" y="711434"/>
                  </a:lnTo>
                  <a:lnTo>
                    <a:pt x="1337945" y="735489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8" name="Клетка однослойного эпителия"/>
            <p:cNvSpPr/>
            <p:nvPr/>
          </p:nvSpPr>
          <p:spPr>
            <a:xfrm>
              <a:off x="11119730" y="3140606"/>
              <a:ext cx="155987" cy="161413"/>
            </a:xfrm>
            <a:custGeom>
              <a:avLst/>
              <a:gdLst/>
              <a:ahLst/>
              <a:cxnLst/>
              <a:rect l="l" t="t" r="r" b="b"/>
              <a:pathLst>
                <a:path w="155987" h="161413">
                  <a:moveTo>
                    <a:pt x="155987" y="27172"/>
                  </a:moveTo>
                  <a:lnTo>
                    <a:pt x="147388" y="41341"/>
                  </a:lnTo>
                  <a:lnTo>
                    <a:pt x="138535" y="55272"/>
                  </a:lnTo>
                  <a:lnTo>
                    <a:pt x="129470" y="68997"/>
                  </a:lnTo>
                  <a:lnTo>
                    <a:pt x="120217" y="82551"/>
                  </a:lnTo>
                  <a:lnTo>
                    <a:pt x="110789" y="95961"/>
                  </a:lnTo>
                  <a:lnTo>
                    <a:pt x="101180" y="109252"/>
                  </a:lnTo>
                  <a:lnTo>
                    <a:pt x="91374" y="122439"/>
                  </a:lnTo>
                  <a:lnTo>
                    <a:pt x="81339" y="135531"/>
                  </a:lnTo>
                  <a:lnTo>
                    <a:pt x="71034" y="148526"/>
                  </a:lnTo>
                  <a:lnTo>
                    <a:pt x="60410" y="161413"/>
                  </a:lnTo>
                  <a:lnTo>
                    <a:pt x="0" y="110723"/>
                  </a:lnTo>
                  <a:lnTo>
                    <a:pt x="9072" y="100115"/>
                  </a:lnTo>
                  <a:lnTo>
                    <a:pt x="17864" y="89413"/>
                  </a:lnTo>
                  <a:lnTo>
                    <a:pt x="26419" y="78626"/>
                  </a:lnTo>
                  <a:lnTo>
                    <a:pt x="34773" y="67756"/>
                  </a:lnTo>
                  <a:lnTo>
                    <a:pt x="42953" y="56796"/>
                  </a:lnTo>
                  <a:lnTo>
                    <a:pt x="50974" y="45734"/>
                  </a:lnTo>
                  <a:lnTo>
                    <a:pt x="58839" y="34548"/>
                  </a:lnTo>
                  <a:lnTo>
                    <a:pt x="66538" y="23217"/>
                  </a:lnTo>
                  <a:lnTo>
                    <a:pt x="74048" y="11710"/>
                  </a:lnTo>
                  <a:lnTo>
                    <a:pt x="81334" y="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09" name="Ядро эпителиальной клетки"/>
            <p:cNvSpPr/>
            <p:nvPr/>
          </p:nvSpPr>
          <p:spPr>
            <a:xfrm rot="7200000">
              <a:off x="11148609" y="318602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0" name="Клетка однослойного эпителия"/>
            <p:cNvSpPr/>
            <p:nvPr/>
          </p:nvSpPr>
          <p:spPr>
            <a:xfrm>
              <a:off x="11002778" y="3251329"/>
              <a:ext cx="177362" cy="165100"/>
            </a:xfrm>
            <a:custGeom>
              <a:avLst/>
              <a:gdLst/>
              <a:ahLst/>
              <a:cxnLst/>
              <a:rect l="l" t="t" r="r" b="b"/>
              <a:pathLst>
                <a:path w="177362" h="165100">
                  <a:moveTo>
                    <a:pt x="177362" y="50690"/>
                  </a:moveTo>
                  <a:lnTo>
                    <a:pt x="166363" y="63450"/>
                  </a:lnTo>
                  <a:lnTo>
                    <a:pt x="154927" y="76050"/>
                  </a:lnTo>
                  <a:lnTo>
                    <a:pt x="142995" y="88453"/>
                  </a:lnTo>
                  <a:lnTo>
                    <a:pt x="130507" y="100611"/>
                  </a:lnTo>
                  <a:lnTo>
                    <a:pt x="117407" y="112468"/>
                  </a:lnTo>
                  <a:lnTo>
                    <a:pt x="103646" y="123967"/>
                  </a:lnTo>
                  <a:lnTo>
                    <a:pt x="89184" y="135044"/>
                  </a:lnTo>
                  <a:lnTo>
                    <a:pt x="73988" y="145634"/>
                  </a:lnTo>
                  <a:lnTo>
                    <a:pt x="58039" y="155674"/>
                  </a:lnTo>
                  <a:lnTo>
                    <a:pt x="41327" y="165100"/>
                  </a:lnTo>
                  <a:lnTo>
                    <a:pt x="0" y="93520"/>
                  </a:lnTo>
                  <a:lnTo>
                    <a:pt x="14439" y="85899"/>
                  </a:lnTo>
                  <a:lnTo>
                    <a:pt x="28203" y="77755"/>
                  </a:lnTo>
                  <a:lnTo>
                    <a:pt x="41301" y="69139"/>
                  </a:lnTo>
                  <a:lnTo>
                    <a:pt x="53751" y="60105"/>
                  </a:lnTo>
                  <a:lnTo>
                    <a:pt x="65583" y="50707"/>
                  </a:lnTo>
                  <a:lnTo>
                    <a:pt x="76832" y="40999"/>
                  </a:lnTo>
                  <a:lnTo>
                    <a:pt x="87543" y="31030"/>
                  </a:lnTo>
                  <a:lnTo>
                    <a:pt x="97764" y="20849"/>
                  </a:lnTo>
                  <a:lnTo>
                    <a:pt x="107549" y="10494"/>
                  </a:lnTo>
                  <a:lnTo>
                    <a:pt x="11695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1" name="Ядро эпителиальной клетки"/>
            <p:cNvSpPr/>
            <p:nvPr/>
          </p:nvSpPr>
          <p:spPr>
            <a:xfrm rot="8400000">
              <a:off x="11046602" y="330150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2" name="Клетка однослойного эпителия"/>
            <p:cNvSpPr/>
            <p:nvPr/>
          </p:nvSpPr>
          <p:spPr>
            <a:xfrm>
              <a:off x="10826172" y="3344849"/>
              <a:ext cx="217933" cy="122950"/>
            </a:xfrm>
            <a:custGeom>
              <a:avLst/>
              <a:gdLst/>
              <a:ahLst/>
              <a:cxnLst/>
              <a:rect l="l" t="t" r="r" b="b"/>
              <a:pathLst>
                <a:path w="217933" h="122950">
                  <a:moveTo>
                    <a:pt x="217933" y="71580"/>
                  </a:moveTo>
                  <a:lnTo>
                    <a:pt x="200463" y="80336"/>
                  </a:lnTo>
                  <a:lnTo>
                    <a:pt x="182249" y="88368"/>
                  </a:lnTo>
                  <a:lnTo>
                    <a:pt x="163317" y="95630"/>
                  </a:lnTo>
                  <a:lnTo>
                    <a:pt x="143705" y="102087"/>
                  </a:lnTo>
                  <a:lnTo>
                    <a:pt x="123456" y="107708"/>
                  </a:lnTo>
                  <a:lnTo>
                    <a:pt x="102624" y="112476"/>
                  </a:lnTo>
                  <a:lnTo>
                    <a:pt x="81267" y="116380"/>
                  </a:lnTo>
                  <a:lnTo>
                    <a:pt x="59445" y="119420"/>
                  </a:lnTo>
                  <a:lnTo>
                    <a:pt x="37223" y="121605"/>
                  </a:lnTo>
                  <a:lnTo>
                    <a:pt x="14664" y="122950"/>
                  </a:lnTo>
                  <a:lnTo>
                    <a:pt x="0" y="39787"/>
                  </a:lnTo>
                  <a:lnTo>
                    <a:pt x="19668" y="39012"/>
                  </a:lnTo>
                  <a:lnTo>
                    <a:pt x="39028" y="37530"/>
                  </a:lnTo>
                  <a:lnTo>
                    <a:pt x="58026" y="35327"/>
                  </a:lnTo>
                  <a:lnTo>
                    <a:pt x="76605" y="32395"/>
                  </a:lnTo>
                  <a:lnTo>
                    <a:pt x="94712" y="28733"/>
                  </a:lnTo>
                  <a:lnTo>
                    <a:pt x="112296" y="24348"/>
                  </a:lnTo>
                  <a:lnTo>
                    <a:pt x="129313" y="19255"/>
                  </a:lnTo>
                  <a:lnTo>
                    <a:pt x="145723" y="13478"/>
                  </a:lnTo>
                  <a:lnTo>
                    <a:pt x="161494" y="7047"/>
                  </a:lnTo>
                  <a:lnTo>
                    <a:pt x="176606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3" name="Ядро эпителиальной клетки"/>
            <p:cNvSpPr/>
            <p:nvPr/>
          </p:nvSpPr>
          <p:spPr>
            <a:xfrm rot="9600000">
              <a:off x="10888046" y="338131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4" name="Клетка однослойного эпителия"/>
            <p:cNvSpPr/>
            <p:nvPr/>
          </p:nvSpPr>
          <p:spPr>
            <a:xfrm>
              <a:off x="10608171" y="3359032"/>
              <a:ext cx="232665" cy="109295"/>
            </a:xfrm>
            <a:custGeom>
              <a:avLst/>
              <a:gdLst/>
              <a:ahLst/>
              <a:cxnLst/>
              <a:rect l="l" t="t" r="r" b="b"/>
              <a:pathLst>
                <a:path w="232665" h="109295">
                  <a:moveTo>
                    <a:pt x="232665" y="108767"/>
                  </a:moveTo>
                  <a:lnTo>
                    <a:pt x="209829" y="109295"/>
                  </a:lnTo>
                  <a:lnTo>
                    <a:pt x="186777" y="109034"/>
                  </a:lnTo>
                  <a:lnTo>
                    <a:pt x="163562" y="108016"/>
                  </a:lnTo>
                  <a:lnTo>
                    <a:pt x="140234" y="106275"/>
                  </a:lnTo>
                  <a:lnTo>
                    <a:pt x="116837" y="103845"/>
                  </a:lnTo>
                  <a:lnTo>
                    <a:pt x="93410" y="100759"/>
                  </a:lnTo>
                  <a:lnTo>
                    <a:pt x="69986" y="97050"/>
                  </a:lnTo>
                  <a:lnTo>
                    <a:pt x="46594" y="92746"/>
                  </a:lnTo>
                  <a:lnTo>
                    <a:pt x="23258" y="87871"/>
                  </a:lnTo>
                  <a:lnTo>
                    <a:pt x="0" y="82444"/>
                  </a:lnTo>
                  <a:lnTo>
                    <a:pt x="14537" y="0"/>
                  </a:lnTo>
                  <a:lnTo>
                    <a:pt x="34919" y="4896"/>
                  </a:lnTo>
                  <a:lnTo>
                    <a:pt x="55361" y="9332"/>
                  </a:lnTo>
                  <a:lnTo>
                    <a:pt x="75843" y="13292"/>
                  </a:lnTo>
                  <a:lnTo>
                    <a:pt x="96344" y="16755"/>
                  </a:lnTo>
                  <a:lnTo>
                    <a:pt x="116837" y="19696"/>
                  </a:lnTo>
                  <a:lnTo>
                    <a:pt x="137294" y="22090"/>
                  </a:lnTo>
                  <a:lnTo>
                    <a:pt x="157681" y="23907"/>
                  </a:lnTo>
                  <a:lnTo>
                    <a:pt x="177957" y="25117"/>
                  </a:lnTo>
                  <a:lnTo>
                    <a:pt x="198080" y="25692"/>
                  </a:lnTo>
                  <a:lnTo>
                    <a:pt x="218001" y="25604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5" name="Ядро эпителиальной клетки"/>
            <p:cNvSpPr/>
            <p:nvPr/>
          </p:nvSpPr>
          <p:spPr>
            <a:xfrm rot="10800000">
              <a:off x="10678374" y="338894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6" name="Клетка однослойного эпителия"/>
            <p:cNvSpPr/>
            <p:nvPr/>
          </p:nvSpPr>
          <p:spPr>
            <a:xfrm>
              <a:off x="10384783" y="3285672"/>
              <a:ext cx="237925" cy="155804"/>
            </a:xfrm>
            <a:custGeom>
              <a:avLst/>
              <a:gdLst/>
              <a:ahLst/>
              <a:cxnLst/>
              <a:rect l="l" t="t" r="r" b="b"/>
              <a:pathLst>
                <a:path w="237925" h="155804">
                  <a:moveTo>
                    <a:pt x="223388" y="155804"/>
                  </a:moveTo>
                  <a:lnTo>
                    <a:pt x="200227" y="149840"/>
                  </a:lnTo>
                  <a:lnTo>
                    <a:pt x="177183" y="143347"/>
                  </a:lnTo>
                  <a:lnTo>
                    <a:pt x="154275" y="136330"/>
                  </a:lnTo>
                  <a:lnTo>
                    <a:pt x="131526" y="128787"/>
                  </a:lnTo>
                  <a:lnTo>
                    <a:pt x="108959" y="120716"/>
                  </a:lnTo>
                  <a:lnTo>
                    <a:pt x="86604" y="112109"/>
                  </a:lnTo>
                  <a:lnTo>
                    <a:pt x="64491" y="102959"/>
                  </a:lnTo>
                  <a:lnTo>
                    <a:pt x="42659" y="93258"/>
                  </a:lnTo>
                  <a:lnTo>
                    <a:pt x="21147" y="82998"/>
                  </a:lnTo>
                  <a:lnTo>
                    <a:pt x="0" y="72174"/>
                  </a:lnTo>
                  <a:lnTo>
                    <a:pt x="41670" y="0"/>
                  </a:lnTo>
                  <a:lnTo>
                    <a:pt x="60293" y="9374"/>
                  </a:lnTo>
                  <a:lnTo>
                    <a:pt x="79226" y="18283"/>
                  </a:lnTo>
                  <a:lnTo>
                    <a:pt x="98431" y="26730"/>
                  </a:lnTo>
                  <a:lnTo>
                    <a:pt x="117871" y="34720"/>
                  </a:lnTo>
                  <a:lnTo>
                    <a:pt x="137515" y="42260"/>
                  </a:lnTo>
                  <a:lnTo>
                    <a:pt x="157335" y="49356"/>
                  </a:lnTo>
                  <a:lnTo>
                    <a:pt x="177306" y="56012"/>
                  </a:lnTo>
                  <a:lnTo>
                    <a:pt x="197407" y="62232"/>
                  </a:lnTo>
                  <a:lnTo>
                    <a:pt x="217619" y="68016"/>
                  </a:lnTo>
                  <a:lnTo>
                    <a:pt x="237925" y="7336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7" name="Ядро эпителиальной клетки"/>
            <p:cNvSpPr/>
            <p:nvPr/>
          </p:nvSpPr>
          <p:spPr>
            <a:xfrm rot="12000000">
              <a:off x="10461957" y="333541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8" name="Клетка однослойного эпителия"/>
            <p:cNvSpPr/>
            <p:nvPr/>
          </p:nvSpPr>
          <p:spPr>
            <a:xfrm>
              <a:off x="10203919" y="3168441"/>
              <a:ext cx="222534" cy="189405"/>
            </a:xfrm>
            <a:custGeom>
              <a:avLst/>
              <a:gdLst/>
              <a:ahLst/>
              <a:cxnLst/>
              <a:rect l="l" t="t" r="r" b="b"/>
              <a:pathLst>
                <a:path w="222534" h="189405">
                  <a:moveTo>
                    <a:pt x="180864" y="189405"/>
                  </a:moveTo>
                  <a:lnTo>
                    <a:pt x="160131" y="178017"/>
                  </a:lnTo>
                  <a:lnTo>
                    <a:pt x="139863" y="166068"/>
                  </a:lnTo>
                  <a:lnTo>
                    <a:pt x="120108" y="153566"/>
                  </a:lnTo>
                  <a:lnTo>
                    <a:pt x="100920" y="140525"/>
                  </a:lnTo>
                  <a:lnTo>
                    <a:pt x="82344" y="126966"/>
                  </a:lnTo>
                  <a:lnTo>
                    <a:pt x="64427" y="112915"/>
                  </a:lnTo>
                  <a:lnTo>
                    <a:pt x="47206" y="98404"/>
                  </a:lnTo>
                  <a:lnTo>
                    <a:pt x="30714" y="83470"/>
                  </a:lnTo>
                  <a:lnTo>
                    <a:pt x="14973" y="68154"/>
                  </a:lnTo>
                  <a:lnTo>
                    <a:pt x="0" y="52499"/>
                  </a:lnTo>
                  <a:lnTo>
                    <a:pt x="62566" y="0"/>
                  </a:lnTo>
                  <a:lnTo>
                    <a:pt x="75877" y="13316"/>
                  </a:lnTo>
                  <a:lnTo>
                    <a:pt x="89851" y="26362"/>
                  </a:lnTo>
                  <a:lnTo>
                    <a:pt x="104476" y="39100"/>
                  </a:lnTo>
                  <a:lnTo>
                    <a:pt x="119730" y="51495"/>
                  </a:lnTo>
                  <a:lnTo>
                    <a:pt x="135585" y="63517"/>
                  </a:lnTo>
                  <a:lnTo>
                    <a:pt x="152006" y="75137"/>
                  </a:lnTo>
                  <a:lnTo>
                    <a:pt x="168955" y="86334"/>
                  </a:lnTo>
                  <a:lnTo>
                    <a:pt x="186389" y="97090"/>
                  </a:lnTo>
                  <a:lnTo>
                    <a:pt x="204263" y="107391"/>
                  </a:lnTo>
                  <a:lnTo>
                    <a:pt x="222534" y="117231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19" name="Ядро эпителиальной клетки"/>
            <p:cNvSpPr/>
            <p:nvPr/>
          </p:nvSpPr>
          <p:spPr>
            <a:xfrm rot="13200000">
              <a:off x="10267313" y="323223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0" name="Клетка однослойного эпителия"/>
            <p:cNvSpPr/>
            <p:nvPr/>
          </p:nvSpPr>
          <p:spPr>
            <a:xfrm>
              <a:off x="10092460" y="3028107"/>
              <a:ext cx="174025" cy="192833"/>
            </a:xfrm>
            <a:custGeom>
              <a:avLst/>
              <a:gdLst/>
              <a:ahLst/>
              <a:cxnLst/>
              <a:rect l="l" t="t" r="r" b="b"/>
              <a:pathLst>
                <a:path w="174025" h="192833">
                  <a:moveTo>
                    <a:pt x="111459" y="192833"/>
                  </a:moveTo>
                  <a:lnTo>
                    <a:pt x="97255" y="176887"/>
                  </a:lnTo>
                  <a:lnTo>
                    <a:pt x="83815" y="160696"/>
                  </a:lnTo>
                  <a:lnTo>
                    <a:pt x="71123" y="144304"/>
                  </a:lnTo>
                  <a:lnTo>
                    <a:pt x="59150" y="127756"/>
                  </a:lnTo>
                  <a:lnTo>
                    <a:pt x="47862" y="111091"/>
                  </a:lnTo>
                  <a:lnTo>
                    <a:pt x="37215" y="94343"/>
                  </a:lnTo>
                  <a:lnTo>
                    <a:pt x="27160" y="77541"/>
                  </a:lnTo>
                  <a:lnTo>
                    <a:pt x="17642" y="60708"/>
                  </a:lnTo>
                  <a:lnTo>
                    <a:pt x="8607" y="43858"/>
                  </a:lnTo>
                  <a:lnTo>
                    <a:pt x="0" y="27000"/>
                  </a:lnTo>
                  <a:lnTo>
                    <a:pt x="74182" y="0"/>
                  </a:lnTo>
                  <a:lnTo>
                    <a:pt x="81955" y="14224"/>
                  </a:lnTo>
                  <a:lnTo>
                    <a:pt x="90101" y="28447"/>
                  </a:lnTo>
                  <a:lnTo>
                    <a:pt x="98668" y="42665"/>
                  </a:lnTo>
                  <a:lnTo>
                    <a:pt x="107704" y="56864"/>
                  </a:lnTo>
                  <a:lnTo>
                    <a:pt x="117256" y="71027"/>
                  </a:lnTo>
                  <a:lnTo>
                    <a:pt x="127365" y="85131"/>
                  </a:lnTo>
                  <a:lnTo>
                    <a:pt x="138070" y="99148"/>
                  </a:lnTo>
                  <a:lnTo>
                    <a:pt x="149402" y="113044"/>
                  </a:lnTo>
                  <a:lnTo>
                    <a:pt x="161382" y="126786"/>
                  </a:lnTo>
                  <a:lnTo>
                    <a:pt x="174025" y="14033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1" name="Ядро эпителиальной клетки"/>
            <p:cNvSpPr/>
            <p:nvPr/>
          </p:nvSpPr>
          <p:spPr>
            <a:xfrm rot="14400000">
              <a:off x="10129772" y="308818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2" name="Клетка однослойного эпителия"/>
            <p:cNvSpPr/>
            <p:nvPr/>
          </p:nvSpPr>
          <p:spPr>
            <a:xfrm>
              <a:off x="10022817" y="2884078"/>
              <a:ext cx="143825" cy="171029"/>
            </a:xfrm>
            <a:custGeom>
              <a:avLst/>
              <a:gdLst/>
              <a:ahLst/>
              <a:cxnLst/>
              <a:rect l="l" t="t" r="r" b="b"/>
              <a:pathLst>
                <a:path w="143825" h="171029">
                  <a:moveTo>
                    <a:pt x="69643" y="171029"/>
                  </a:moveTo>
                  <a:lnTo>
                    <a:pt x="61412" y="154164"/>
                  </a:lnTo>
                  <a:lnTo>
                    <a:pt x="53511" y="137286"/>
                  </a:lnTo>
                  <a:lnTo>
                    <a:pt x="45901" y="120386"/>
                  </a:lnTo>
                  <a:lnTo>
                    <a:pt x="38555" y="103447"/>
                  </a:lnTo>
                  <a:lnTo>
                    <a:pt x="31455" y="86453"/>
                  </a:lnTo>
                  <a:lnTo>
                    <a:pt x="24597" y="69383"/>
                  </a:lnTo>
                  <a:lnTo>
                    <a:pt x="17991" y="52218"/>
                  </a:lnTo>
                  <a:lnTo>
                    <a:pt x="11662" y="34941"/>
                  </a:lnTo>
                  <a:lnTo>
                    <a:pt x="5648" y="17538"/>
                  </a:lnTo>
                  <a:lnTo>
                    <a:pt x="0" y="0"/>
                  </a:lnTo>
                  <a:lnTo>
                    <a:pt x="80396" y="0"/>
                  </a:lnTo>
                  <a:lnTo>
                    <a:pt x="85596" y="14746"/>
                  </a:lnTo>
                  <a:lnTo>
                    <a:pt x="91115" y="29385"/>
                  </a:lnTo>
                  <a:lnTo>
                    <a:pt x="96906" y="43924"/>
                  </a:lnTo>
                  <a:lnTo>
                    <a:pt x="102937" y="58373"/>
                  </a:lnTo>
                  <a:lnTo>
                    <a:pt x="109187" y="72747"/>
                  </a:lnTo>
                  <a:lnTo>
                    <a:pt x="115646" y="87061"/>
                  </a:lnTo>
                  <a:lnTo>
                    <a:pt x="122320" y="101332"/>
                  </a:lnTo>
                  <a:lnTo>
                    <a:pt x="129223" y="115576"/>
                  </a:lnTo>
                  <a:lnTo>
                    <a:pt x="136380" y="129805"/>
                  </a:lnTo>
                  <a:lnTo>
                    <a:pt x="143825" y="144029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3" name="Ядро эпителиальной клетки"/>
            <p:cNvSpPr/>
            <p:nvPr/>
          </p:nvSpPr>
          <p:spPr>
            <a:xfrm rot="15600000">
              <a:off x="10048057" y="293322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4" name="Клетка однослойного эпителия"/>
            <p:cNvSpPr/>
            <p:nvPr/>
          </p:nvSpPr>
          <p:spPr>
            <a:xfrm>
              <a:off x="10000005" y="2704918"/>
              <a:ext cx="103208" cy="179160"/>
            </a:xfrm>
            <a:custGeom>
              <a:avLst/>
              <a:gdLst/>
              <a:ahLst/>
              <a:cxnLst/>
              <a:rect l="l" t="t" r="r" b="b"/>
              <a:pathLst>
                <a:path w="103208" h="179160">
                  <a:moveTo>
                    <a:pt x="22812" y="179160"/>
                  </a:moveTo>
                  <a:lnTo>
                    <a:pt x="17596" y="161484"/>
                  </a:lnTo>
                  <a:lnTo>
                    <a:pt x="12885" y="143676"/>
                  </a:lnTo>
                  <a:lnTo>
                    <a:pt x="8764" y="125750"/>
                  </a:lnTo>
                  <a:lnTo>
                    <a:pt x="5322" y="107729"/>
                  </a:lnTo>
                  <a:lnTo>
                    <a:pt x="2652" y="89645"/>
                  </a:lnTo>
                  <a:lnTo>
                    <a:pt x="848" y="71538"/>
                  </a:lnTo>
                  <a:lnTo>
                    <a:pt x="0" y="53460"/>
                  </a:lnTo>
                  <a:lnTo>
                    <a:pt x="196" y="35468"/>
                  </a:lnTo>
                  <a:lnTo>
                    <a:pt x="1511" y="17625"/>
                  </a:lnTo>
                  <a:lnTo>
                    <a:pt x="4015" y="0"/>
                  </a:lnTo>
                  <a:lnTo>
                    <a:pt x="84028" y="29122"/>
                  </a:lnTo>
                  <a:lnTo>
                    <a:pt x="82116" y="43815"/>
                  </a:lnTo>
                  <a:lnTo>
                    <a:pt x="81244" y="58708"/>
                  </a:lnTo>
                  <a:lnTo>
                    <a:pt x="81352" y="73744"/>
                  </a:lnTo>
                  <a:lnTo>
                    <a:pt x="82372" y="88867"/>
                  </a:lnTo>
                  <a:lnTo>
                    <a:pt x="84227" y="104028"/>
                  </a:lnTo>
                  <a:lnTo>
                    <a:pt x="86837" y="119185"/>
                  </a:lnTo>
                  <a:lnTo>
                    <a:pt x="90120" y="134301"/>
                  </a:lnTo>
                  <a:lnTo>
                    <a:pt x="93994" y="149348"/>
                  </a:lnTo>
                  <a:lnTo>
                    <a:pt x="98381" y="164305"/>
                  </a:lnTo>
                  <a:lnTo>
                    <a:pt x="103208" y="17916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5" name="Ядро эпителиальной клетки"/>
            <p:cNvSpPr/>
            <p:nvPr/>
          </p:nvSpPr>
          <p:spPr>
            <a:xfrm rot="16800000">
              <a:off x="9998441" y="277186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6" name="Клетка однослойного эпителия"/>
            <p:cNvSpPr/>
            <p:nvPr/>
          </p:nvSpPr>
          <p:spPr>
            <a:xfrm>
              <a:off x="10004020" y="2555558"/>
              <a:ext cx="160172" cy="178482"/>
            </a:xfrm>
            <a:custGeom>
              <a:avLst/>
              <a:gdLst/>
              <a:ahLst/>
              <a:cxnLst/>
              <a:rect l="l" t="t" r="r" b="b"/>
              <a:pathLst>
                <a:path w="160172" h="178482">
                  <a:moveTo>
                    <a:pt x="0" y="149360"/>
                  </a:moveTo>
                  <a:lnTo>
                    <a:pt x="3744" y="132025"/>
                  </a:lnTo>
                  <a:lnTo>
                    <a:pt x="8770" y="115052"/>
                  </a:lnTo>
                  <a:lnTo>
                    <a:pt x="15101" y="98515"/>
                  </a:lnTo>
                  <a:lnTo>
                    <a:pt x="22743" y="82483"/>
                  </a:lnTo>
                  <a:lnTo>
                    <a:pt x="31687" y="67021"/>
                  </a:lnTo>
                  <a:lnTo>
                    <a:pt x="41907" y="52186"/>
                  </a:lnTo>
                  <a:lnTo>
                    <a:pt x="53361" y="38031"/>
                  </a:lnTo>
                  <a:lnTo>
                    <a:pt x="65991" y="24596"/>
                  </a:lnTo>
                  <a:lnTo>
                    <a:pt x="79730" y="11912"/>
                  </a:lnTo>
                  <a:lnTo>
                    <a:pt x="94498" y="0"/>
                  </a:lnTo>
                  <a:lnTo>
                    <a:pt x="160172" y="55107"/>
                  </a:lnTo>
                  <a:lnTo>
                    <a:pt x="147468" y="64834"/>
                  </a:lnTo>
                  <a:lnTo>
                    <a:pt x="135674" y="75223"/>
                  </a:lnTo>
                  <a:lnTo>
                    <a:pt x="124859" y="86257"/>
                  </a:lnTo>
                  <a:lnTo>
                    <a:pt x="115082" y="97911"/>
                  </a:lnTo>
                  <a:lnTo>
                    <a:pt x="106392" y="110152"/>
                  </a:lnTo>
                  <a:lnTo>
                    <a:pt x="98826" y="122937"/>
                  </a:lnTo>
                  <a:lnTo>
                    <a:pt x="92404" y="136219"/>
                  </a:lnTo>
                  <a:lnTo>
                    <a:pt x="87136" y="149943"/>
                  </a:lnTo>
                  <a:lnTo>
                    <a:pt x="83012" y="164051"/>
                  </a:lnTo>
                  <a:lnTo>
                    <a:pt x="80013" y="178482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7" name="Ядро эпителиальной клетки"/>
            <p:cNvSpPr/>
            <p:nvPr/>
          </p:nvSpPr>
          <p:spPr>
            <a:xfrm rot="18000000">
              <a:off x="10027919" y="261483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8" name="Клетка однослойного эпителия"/>
            <p:cNvSpPr/>
            <p:nvPr/>
          </p:nvSpPr>
          <p:spPr>
            <a:xfrm>
              <a:off x="10098518" y="2476401"/>
              <a:ext cx="225468" cy="134264"/>
            </a:xfrm>
            <a:custGeom>
              <a:avLst/>
              <a:gdLst/>
              <a:ahLst/>
              <a:cxnLst/>
              <a:rect l="l" t="t" r="r" b="b"/>
              <a:pathLst>
                <a:path w="225468" h="134264">
                  <a:moveTo>
                    <a:pt x="0" y="79157"/>
                  </a:moveTo>
                  <a:lnTo>
                    <a:pt x="15710" y="68026"/>
                  </a:lnTo>
                  <a:lnTo>
                    <a:pt x="32270" y="57675"/>
                  </a:lnTo>
                  <a:lnTo>
                    <a:pt x="49585" y="48092"/>
                  </a:lnTo>
                  <a:lnTo>
                    <a:pt x="67558" y="39258"/>
                  </a:lnTo>
                  <a:lnTo>
                    <a:pt x="86099" y="31143"/>
                  </a:lnTo>
                  <a:lnTo>
                    <a:pt x="105118" y="23712"/>
                  </a:lnTo>
                  <a:lnTo>
                    <a:pt x="124536" y="16925"/>
                  </a:lnTo>
                  <a:lnTo>
                    <a:pt x="144279" y="10740"/>
                  </a:lnTo>
                  <a:lnTo>
                    <a:pt x="164284" y="5112"/>
                  </a:lnTo>
                  <a:lnTo>
                    <a:pt x="184500" y="0"/>
                  </a:lnTo>
                  <a:lnTo>
                    <a:pt x="225468" y="70960"/>
                  </a:lnTo>
                  <a:lnTo>
                    <a:pt x="207905" y="74920"/>
                  </a:lnTo>
                  <a:lnTo>
                    <a:pt x="190532" y="79314"/>
                  </a:lnTo>
                  <a:lnTo>
                    <a:pt x="173398" y="84178"/>
                  </a:lnTo>
                  <a:lnTo>
                    <a:pt x="156556" y="89549"/>
                  </a:lnTo>
                  <a:lnTo>
                    <a:pt x="140072" y="95466"/>
                  </a:lnTo>
                  <a:lnTo>
                    <a:pt x="124017" y="101962"/>
                  </a:lnTo>
                  <a:lnTo>
                    <a:pt x="108467" y="109067"/>
                  </a:lnTo>
                  <a:lnTo>
                    <a:pt x="93505" y="116808"/>
                  </a:lnTo>
                  <a:lnTo>
                    <a:pt x="79213" y="125203"/>
                  </a:lnTo>
                  <a:lnTo>
                    <a:pt x="65674" y="13426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29" name="Ядро эпителиальной клетки"/>
            <p:cNvSpPr/>
            <p:nvPr/>
          </p:nvSpPr>
          <p:spPr>
            <a:xfrm rot="19200000">
              <a:off x="10166048" y="251081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0" name="Клетка однослойного эпителия"/>
            <p:cNvSpPr/>
            <p:nvPr/>
          </p:nvSpPr>
          <p:spPr>
            <a:xfrm>
              <a:off x="10283018" y="2447584"/>
              <a:ext cx="222981" cy="99777"/>
            </a:xfrm>
            <a:custGeom>
              <a:avLst/>
              <a:gdLst/>
              <a:ahLst/>
              <a:cxnLst/>
              <a:rect l="l" t="t" r="r" b="b"/>
              <a:pathLst>
                <a:path w="222981" h="99777">
                  <a:moveTo>
                    <a:pt x="0" y="28817"/>
                  </a:moveTo>
                  <a:lnTo>
                    <a:pt x="20384" y="24178"/>
                  </a:lnTo>
                  <a:lnTo>
                    <a:pt x="40905" y="19977"/>
                  </a:lnTo>
                  <a:lnTo>
                    <a:pt x="61543" y="16184"/>
                  </a:lnTo>
                  <a:lnTo>
                    <a:pt x="82285" y="12774"/>
                  </a:lnTo>
                  <a:lnTo>
                    <a:pt x="103129" y="9731"/>
                  </a:lnTo>
                  <a:lnTo>
                    <a:pt x="124075" y="7047"/>
                  </a:lnTo>
                  <a:lnTo>
                    <a:pt x="145131" y="4721"/>
                  </a:lnTo>
                  <a:lnTo>
                    <a:pt x="166308" y="2761"/>
                  </a:lnTo>
                  <a:lnTo>
                    <a:pt x="187615" y="1180"/>
                  </a:lnTo>
                  <a:lnTo>
                    <a:pt x="209063" y="0"/>
                  </a:lnTo>
                  <a:lnTo>
                    <a:pt x="222981" y="78929"/>
                  </a:lnTo>
                  <a:lnTo>
                    <a:pt x="204280" y="79583"/>
                  </a:lnTo>
                  <a:lnTo>
                    <a:pt x="185709" y="80574"/>
                  </a:lnTo>
                  <a:lnTo>
                    <a:pt x="167258" y="81885"/>
                  </a:lnTo>
                  <a:lnTo>
                    <a:pt x="148917" y="83503"/>
                  </a:lnTo>
                  <a:lnTo>
                    <a:pt x="130678" y="85422"/>
                  </a:lnTo>
                  <a:lnTo>
                    <a:pt x="112534" y="87642"/>
                  </a:lnTo>
                  <a:lnTo>
                    <a:pt x="94484" y="90171"/>
                  </a:lnTo>
                  <a:lnTo>
                    <a:pt x="76531" y="93022"/>
                  </a:lnTo>
                  <a:lnTo>
                    <a:pt x="58686" y="96215"/>
                  </a:lnTo>
                  <a:lnTo>
                    <a:pt x="40968" y="99777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1" name="Ядро эпителиальной клетки"/>
            <p:cNvSpPr/>
            <p:nvPr/>
          </p:nvSpPr>
          <p:spPr>
            <a:xfrm rot="20400000">
              <a:off x="10353837" y="246649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2" name="Клетка однослойного эпителия"/>
            <p:cNvSpPr/>
            <p:nvPr/>
          </p:nvSpPr>
          <p:spPr>
            <a:xfrm>
              <a:off x="10492081" y="2446531"/>
              <a:ext cx="221733" cy="97245"/>
            </a:xfrm>
            <a:custGeom>
              <a:avLst/>
              <a:gdLst/>
              <a:ahLst/>
              <a:cxnLst/>
              <a:rect l="l" t="t" r="r" b="b"/>
              <a:pathLst>
                <a:path w="221733" h="97245">
                  <a:moveTo>
                    <a:pt x="0" y="1053"/>
                  </a:moveTo>
                  <a:lnTo>
                    <a:pt x="21598" y="299"/>
                  </a:lnTo>
                  <a:lnTo>
                    <a:pt x="43349" y="0"/>
                  </a:lnTo>
                  <a:lnTo>
                    <a:pt x="65254" y="189"/>
                  </a:lnTo>
                  <a:lnTo>
                    <a:pt x="87307" y="897"/>
                  </a:lnTo>
                  <a:lnTo>
                    <a:pt x="109497" y="2157"/>
                  </a:lnTo>
                  <a:lnTo>
                    <a:pt x="131807" y="3997"/>
                  </a:lnTo>
                  <a:lnTo>
                    <a:pt x="154215" y="6443"/>
                  </a:lnTo>
                  <a:lnTo>
                    <a:pt x="176693" y="9516"/>
                  </a:lnTo>
                  <a:lnTo>
                    <a:pt x="199211" y="13231"/>
                  </a:lnTo>
                  <a:lnTo>
                    <a:pt x="221733" y="17598"/>
                  </a:lnTo>
                  <a:lnTo>
                    <a:pt x="207689" y="97245"/>
                  </a:lnTo>
                  <a:lnTo>
                    <a:pt x="187965" y="93246"/>
                  </a:lnTo>
                  <a:lnTo>
                    <a:pt x="168256" y="89792"/>
                  </a:lnTo>
                  <a:lnTo>
                    <a:pt x="148591" y="86875"/>
                  </a:lnTo>
                  <a:lnTo>
                    <a:pt x="128996" y="84484"/>
                  </a:lnTo>
                  <a:lnTo>
                    <a:pt x="109497" y="82600"/>
                  </a:lnTo>
                  <a:lnTo>
                    <a:pt x="90111" y="81204"/>
                  </a:lnTo>
                  <a:lnTo>
                    <a:pt x="70854" y="80270"/>
                  </a:lnTo>
                  <a:lnTo>
                    <a:pt x="51733" y="79773"/>
                  </a:lnTo>
                  <a:lnTo>
                    <a:pt x="32755" y="79686"/>
                  </a:lnTo>
                  <a:lnTo>
                    <a:pt x="13918" y="79982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3" name="Ядро эпителиальной клетки"/>
            <p:cNvSpPr/>
            <p:nvPr/>
          </p:nvSpPr>
          <p:spPr>
            <a:xfrm>
              <a:off x="10554943" y="246034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4" name="Клетка однослойного эпителия"/>
            <p:cNvSpPr/>
            <p:nvPr/>
          </p:nvSpPr>
          <p:spPr>
            <a:xfrm>
              <a:off x="10699770" y="2464129"/>
              <a:ext cx="232313" cy="147485"/>
            </a:xfrm>
            <a:custGeom>
              <a:avLst/>
              <a:gdLst/>
              <a:ahLst/>
              <a:cxnLst/>
              <a:rect l="l" t="t" r="r" b="b"/>
              <a:pathLst>
                <a:path w="232313" h="147485">
                  <a:moveTo>
                    <a:pt x="14044" y="0"/>
                  </a:moveTo>
                  <a:lnTo>
                    <a:pt x="36535" y="5019"/>
                  </a:lnTo>
                  <a:lnTo>
                    <a:pt x="58959" y="10688"/>
                  </a:lnTo>
                  <a:lnTo>
                    <a:pt x="81279" y="16994"/>
                  </a:lnTo>
                  <a:lnTo>
                    <a:pt x="103463" y="23921"/>
                  </a:lnTo>
                  <a:lnTo>
                    <a:pt x="125480" y="31449"/>
                  </a:lnTo>
                  <a:lnTo>
                    <a:pt x="147304" y="39551"/>
                  </a:lnTo>
                  <a:lnTo>
                    <a:pt x="168914" y="48198"/>
                  </a:lnTo>
                  <a:lnTo>
                    <a:pt x="190292" y="57362"/>
                  </a:lnTo>
                  <a:lnTo>
                    <a:pt x="211427" y="67012"/>
                  </a:lnTo>
                  <a:lnTo>
                    <a:pt x="232313" y="77119"/>
                  </a:lnTo>
                  <a:lnTo>
                    <a:pt x="191687" y="147485"/>
                  </a:lnTo>
                  <a:lnTo>
                    <a:pt x="173303" y="138714"/>
                  </a:lnTo>
                  <a:lnTo>
                    <a:pt x="154707" y="130321"/>
                  </a:lnTo>
                  <a:lnTo>
                    <a:pt x="135908" y="122331"/>
                  </a:lnTo>
                  <a:lnTo>
                    <a:pt x="116914" y="114768"/>
                  </a:lnTo>
                  <a:lnTo>
                    <a:pt x="97742" y="107659"/>
                  </a:lnTo>
                  <a:lnTo>
                    <a:pt x="78410" y="101026"/>
                  </a:lnTo>
                  <a:lnTo>
                    <a:pt x="58942" y="94892"/>
                  </a:lnTo>
                  <a:lnTo>
                    <a:pt x="39365" y="89275"/>
                  </a:lnTo>
                  <a:lnTo>
                    <a:pt x="19707" y="84190"/>
                  </a:lnTo>
                  <a:lnTo>
                    <a:pt x="0" y="79647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5" name="Ядро эпителиальной клетки"/>
            <p:cNvSpPr/>
            <p:nvPr/>
          </p:nvSpPr>
          <p:spPr>
            <a:xfrm rot="1200000">
              <a:off x="10764192" y="2505031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6" name="Клетка однослойного эпителия"/>
            <p:cNvSpPr/>
            <p:nvPr/>
          </p:nvSpPr>
          <p:spPr>
            <a:xfrm>
              <a:off x="10891457" y="2541248"/>
              <a:ext cx="235404" cy="175636"/>
            </a:xfrm>
            <a:custGeom>
              <a:avLst/>
              <a:gdLst/>
              <a:ahLst/>
              <a:cxnLst/>
              <a:rect l="l" t="t" r="r" b="b"/>
              <a:pathLst>
                <a:path w="235404" h="175636">
                  <a:moveTo>
                    <a:pt x="40626" y="0"/>
                  </a:moveTo>
                  <a:lnTo>
                    <a:pt x="61258" y="10537"/>
                  </a:lnTo>
                  <a:lnTo>
                    <a:pt x="81637" y="21482"/>
                  </a:lnTo>
                  <a:lnTo>
                    <a:pt x="101763" y="32813"/>
                  </a:lnTo>
                  <a:lnTo>
                    <a:pt x="121640" y="44518"/>
                  </a:lnTo>
                  <a:lnTo>
                    <a:pt x="141268" y="56585"/>
                  </a:lnTo>
                  <a:lnTo>
                    <a:pt x="160644" y="69010"/>
                  </a:lnTo>
                  <a:lnTo>
                    <a:pt x="179761" y="81793"/>
                  </a:lnTo>
                  <a:lnTo>
                    <a:pt x="198608" y="94937"/>
                  </a:lnTo>
                  <a:lnTo>
                    <a:pt x="217165" y="108448"/>
                  </a:lnTo>
                  <a:lnTo>
                    <a:pt x="235404" y="122337"/>
                  </a:lnTo>
                  <a:lnTo>
                    <a:pt x="171886" y="175636"/>
                  </a:lnTo>
                  <a:lnTo>
                    <a:pt x="155753" y="163745"/>
                  </a:lnTo>
                  <a:lnTo>
                    <a:pt x="139348" y="152164"/>
                  </a:lnTo>
                  <a:lnTo>
                    <a:pt x="122696" y="140886"/>
                  </a:lnTo>
                  <a:lnTo>
                    <a:pt x="105813" y="129906"/>
                  </a:lnTo>
                  <a:lnTo>
                    <a:pt x="88710" y="119220"/>
                  </a:lnTo>
                  <a:lnTo>
                    <a:pt x="71394" y="108830"/>
                  </a:lnTo>
                  <a:lnTo>
                    <a:pt x="53865" y="98740"/>
                  </a:lnTo>
                  <a:lnTo>
                    <a:pt x="36124" y="88956"/>
                  </a:lnTo>
                  <a:lnTo>
                    <a:pt x="18169" y="79493"/>
                  </a:lnTo>
                  <a:lnTo>
                    <a:pt x="0" y="7036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7" name="Ядро эпителиальной клетки"/>
            <p:cNvSpPr/>
            <p:nvPr/>
          </p:nvSpPr>
          <p:spPr>
            <a:xfrm rot="2400000">
              <a:off x="10958760" y="260022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8" name="Клетка однослойного эпителия"/>
            <p:cNvSpPr/>
            <p:nvPr/>
          </p:nvSpPr>
          <p:spPr>
            <a:xfrm>
              <a:off x="11063343" y="2663585"/>
              <a:ext cx="216383" cy="189930"/>
            </a:xfrm>
            <a:custGeom>
              <a:avLst/>
              <a:gdLst/>
              <a:ahLst/>
              <a:cxnLst/>
              <a:rect l="l" t="t" r="r" b="b"/>
              <a:pathLst>
                <a:path w="216383" h="189930">
                  <a:moveTo>
                    <a:pt x="63518" y="0"/>
                  </a:moveTo>
                  <a:lnTo>
                    <a:pt x="81404" y="14277"/>
                  </a:lnTo>
                  <a:lnTo>
                    <a:pt x="98889" y="28950"/>
                  </a:lnTo>
                  <a:lnTo>
                    <a:pt x="115920" y="44028"/>
                  </a:lnTo>
                  <a:lnTo>
                    <a:pt x="132434" y="59515"/>
                  </a:lnTo>
                  <a:lnTo>
                    <a:pt x="148360" y="75413"/>
                  </a:lnTo>
                  <a:lnTo>
                    <a:pt x="163622" y="91715"/>
                  </a:lnTo>
                  <a:lnTo>
                    <a:pt x="178139" y="108411"/>
                  </a:lnTo>
                  <a:lnTo>
                    <a:pt x="191826" y="125482"/>
                  </a:lnTo>
                  <a:lnTo>
                    <a:pt x="204601" y="142901"/>
                  </a:lnTo>
                  <a:lnTo>
                    <a:pt x="216383" y="160636"/>
                  </a:lnTo>
                  <a:lnTo>
                    <a:pt x="135899" y="189930"/>
                  </a:lnTo>
                  <a:lnTo>
                    <a:pt x="125342" y="174924"/>
                  </a:lnTo>
                  <a:lnTo>
                    <a:pt x="113923" y="160167"/>
                  </a:lnTo>
                  <a:lnTo>
                    <a:pt x="101713" y="145686"/>
                  </a:lnTo>
                  <a:lnTo>
                    <a:pt x="88785" y="131507"/>
                  </a:lnTo>
                  <a:lnTo>
                    <a:pt x="75213" y="117644"/>
                  </a:lnTo>
                  <a:lnTo>
                    <a:pt x="61067" y="104110"/>
                  </a:lnTo>
                  <a:lnTo>
                    <a:pt x="46415" y="90909"/>
                  </a:lnTo>
                  <a:lnTo>
                    <a:pt x="31317" y="78043"/>
                  </a:lnTo>
                  <a:lnTo>
                    <a:pt x="15830" y="65508"/>
                  </a:lnTo>
                  <a:lnTo>
                    <a:pt x="0" y="53299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39" name="Ядро эпителиальной клетки"/>
            <p:cNvSpPr/>
            <p:nvPr/>
          </p:nvSpPr>
          <p:spPr>
            <a:xfrm rot="3600000">
              <a:off x="11127032" y="273078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0" name="Клетка однослойного эпителия"/>
            <p:cNvSpPr/>
            <p:nvPr/>
          </p:nvSpPr>
          <p:spPr>
            <a:xfrm>
              <a:off x="11199242" y="2824221"/>
              <a:ext cx="132505" cy="183287"/>
            </a:xfrm>
            <a:custGeom>
              <a:avLst/>
              <a:gdLst/>
              <a:ahLst/>
              <a:cxnLst/>
              <a:rect l="l" t="t" r="r" b="b"/>
              <a:pathLst>
                <a:path w="132505" h="183287">
                  <a:moveTo>
                    <a:pt x="80484" y="0"/>
                  </a:moveTo>
                  <a:lnTo>
                    <a:pt x="91195" y="18009"/>
                  </a:lnTo>
                  <a:lnTo>
                    <a:pt x="100766" y="36244"/>
                  </a:lnTo>
                  <a:lnTo>
                    <a:pt x="109138" y="54652"/>
                  </a:lnTo>
                  <a:lnTo>
                    <a:pt x="116263" y="73176"/>
                  </a:lnTo>
                  <a:lnTo>
                    <a:pt x="122106" y="91753"/>
                  </a:lnTo>
                  <a:lnTo>
                    <a:pt x="126647" y="110322"/>
                  </a:lnTo>
                  <a:lnTo>
                    <a:pt x="129884" y="128818"/>
                  </a:lnTo>
                  <a:lnTo>
                    <a:pt x="131827" y="147182"/>
                  </a:lnTo>
                  <a:lnTo>
                    <a:pt x="132505" y="165356"/>
                  </a:lnTo>
                  <a:lnTo>
                    <a:pt x="131962" y="183287"/>
                  </a:lnTo>
                  <a:lnTo>
                    <a:pt x="47766" y="183287"/>
                  </a:lnTo>
                  <a:lnTo>
                    <a:pt x="47962" y="168308"/>
                  </a:lnTo>
                  <a:lnTo>
                    <a:pt x="47088" y="153108"/>
                  </a:lnTo>
                  <a:lnTo>
                    <a:pt x="45108" y="137728"/>
                  </a:lnTo>
                  <a:lnTo>
                    <a:pt x="41997" y="122218"/>
                  </a:lnTo>
                  <a:lnTo>
                    <a:pt x="37746" y="106628"/>
                  </a:lnTo>
                  <a:lnTo>
                    <a:pt x="32359" y="91010"/>
                  </a:lnTo>
                  <a:lnTo>
                    <a:pt x="25854" y="75417"/>
                  </a:lnTo>
                  <a:lnTo>
                    <a:pt x="18262" y="59902"/>
                  </a:lnTo>
                  <a:lnTo>
                    <a:pt x="9626" y="44512"/>
                  </a:lnTo>
                  <a:lnTo>
                    <a:pt x="0" y="2929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1" name="Ядро эпителиальной клетки"/>
            <p:cNvSpPr/>
            <p:nvPr/>
          </p:nvSpPr>
          <p:spPr>
            <a:xfrm rot="4800000">
              <a:off x="11230846" y="289353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2" name="Клетка однослойного эпителия"/>
            <p:cNvSpPr/>
            <p:nvPr/>
          </p:nvSpPr>
          <p:spPr>
            <a:xfrm>
              <a:off x="11201064" y="3007508"/>
              <a:ext cx="130140" cy="160270"/>
            </a:xfrm>
            <a:custGeom>
              <a:avLst/>
              <a:gdLst/>
              <a:ahLst/>
              <a:cxnLst/>
              <a:rect l="l" t="t" r="r" b="b"/>
              <a:pathLst>
                <a:path w="130140" h="160270">
                  <a:moveTo>
                    <a:pt x="130140" y="0"/>
                  </a:moveTo>
                  <a:lnTo>
                    <a:pt x="128434" y="17644"/>
                  </a:lnTo>
                  <a:lnTo>
                    <a:pt x="125636" y="34963"/>
                  </a:lnTo>
                  <a:lnTo>
                    <a:pt x="121826" y="51926"/>
                  </a:lnTo>
                  <a:lnTo>
                    <a:pt x="117095" y="68516"/>
                  </a:lnTo>
                  <a:lnTo>
                    <a:pt x="111536" y="84722"/>
                  </a:lnTo>
                  <a:lnTo>
                    <a:pt x="105247" y="100544"/>
                  </a:lnTo>
                  <a:lnTo>
                    <a:pt x="98324" y="115989"/>
                  </a:lnTo>
                  <a:lnTo>
                    <a:pt x="90861" y="131075"/>
                  </a:lnTo>
                  <a:lnTo>
                    <a:pt x="82945" y="145826"/>
                  </a:lnTo>
                  <a:lnTo>
                    <a:pt x="74653" y="160270"/>
                  </a:lnTo>
                  <a:lnTo>
                    <a:pt x="0" y="133098"/>
                  </a:lnTo>
                  <a:lnTo>
                    <a:pt x="7013" y="121154"/>
                  </a:lnTo>
                  <a:lnTo>
                    <a:pt x="13693" y="108948"/>
                  </a:lnTo>
                  <a:lnTo>
                    <a:pt x="19973" y="96454"/>
                  </a:lnTo>
                  <a:lnTo>
                    <a:pt x="25775" y="83651"/>
                  </a:lnTo>
                  <a:lnTo>
                    <a:pt x="31019" y="70525"/>
                  </a:lnTo>
                  <a:lnTo>
                    <a:pt x="35620" y="57066"/>
                  </a:lnTo>
                  <a:lnTo>
                    <a:pt x="39492" y="43273"/>
                  </a:lnTo>
                  <a:lnTo>
                    <a:pt x="42554" y="29153"/>
                  </a:lnTo>
                  <a:lnTo>
                    <a:pt x="44728" y="14721"/>
                  </a:lnTo>
                  <a:lnTo>
                    <a:pt x="45944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3" name="Ядро эпителиальной клетки"/>
            <p:cNvSpPr/>
            <p:nvPr/>
          </p:nvSpPr>
          <p:spPr>
            <a:xfrm rot="6000000">
              <a:off x="11224096" y="305467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4" name="Просвет канальца"/>
            <p:cNvSpPr/>
            <p:nvPr/>
          </p:nvSpPr>
          <p:spPr>
            <a:xfrm>
              <a:off x="10083843" y="2523257"/>
              <a:ext cx="1160480" cy="858591"/>
            </a:xfrm>
            <a:custGeom>
              <a:avLst/>
              <a:gdLst/>
              <a:ahLst/>
              <a:cxnLst/>
              <a:rect l="l" t="t" r="r" b="b"/>
              <a:pathLst>
                <a:path w="1160480" h="858591">
                  <a:moveTo>
                    <a:pt x="1121521" y="618914"/>
                  </a:moveTo>
                  <a:lnTo>
                    <a:pt x="1111163" y="636842"/>
                  </a:lnTo>
                  <a:lnTo>
                    <a:pt x="1100136" y="654314"/>
                  </a:lnTo>
                  <a:lnTo>
                    <a:pt x="1088517" y="671397"/>
                  </a:lnTo>
                  <a:lnTo>
                    <a:pt x="1076327" y="688142"/>
                  </a:lnTo>
                  <a:lnTo>
                    <a:pt x="1063536" y="704579"/>
                  </a:lnTo>
                  <a:lnTo>
                    <a:pt x="1050069" y="720708"/>
                  </a:lnTo>
                  <a:lnTo>
                    <a:pt x="1035816" y="736494"/>
                  </a:lnTo>
                  <a:lnTo>
                    <a:pt x="1020646" y="751870"/>
                  </a:lnTo>
                  <a:lnTo>
                    <a:pt x="1004419" y="766736"/>
                  </a:lnTo>
                  <a:lnTo>
                    <a:pt x="987003" y="780965"/>
                  </a:lnTo>
                  <a:lnTo>
                    <a:pt x="968285" y="794411"/>
                  </a:lnTo>
                  <a:lnTo>
                    <a:pt x="948185" y="806918"/>
                  </a:lnTo>
                  <a:lnTo>
                    <a:pt x="926660" y="818330"/>
                  </a:lnTo>
                  <a:lnTo>
                    <a:pt x="903714" y="828502"/>
                  </a:lnTo>
                  <a:lnTo>
                    <a:pt x="879394" y="837309"/>
                  </a:lnTo>
                  <a:lnTo>
                    <a:pt x="853786" y="844651"/>
                  </a:lnTo>
                  <a:lnTo>
                    <a:pt x="827016" y="850464"/>
                  </a:lnTo>
                  <a:lnTo>
                    <a:pt x="799231" y="854718"/>
                  </a:lnTo>
                  <a:lnTo>
                    <a:pt x="770599" y="857415"/>
                  </a:lnTo>
                  <a:lnTo>
                    <a:pt x="741289" y="858591"/>
                  </a:lnTo>
                  <a:lnTo>
                    <a:pt x="711467" y="858306"/>
                  </a:lnTo>
                  <a:lnTo>
                    <a:pt x="681288" y="856640"/>
                  </a:lnTo>
                  <a:lnTo>
                    <a:pt x="650886" y="853680"/>
                  </a:lnTo>
                  <a:lnTo>
                    <a:pt x="620374" y="849516"/>
                  </a:lnTo>
                  <a:lnTo>
                    <a:pt x="589845" y="844230"/>
                  </a:lnTo>
                  <a:lnTo>
                    <a:pt x="559372" y="837890"/>
                  </a:lnTo>
                  <a:lnTo>
                    <a:pt x="529014" y="830547"/>
                  </a:lnTo>
                  <a:lnTo>
                    <a:pt x="498824" y="822233"/>
                  </a:lnTo>
                  <a:lnTo>
                    <a:pt x="468855" y="812958"/>
                  </a:lnTo>
                  <a:lnTo>
                    <a:pt x="439167" y="802718"/>
                  </a:lnTo>
                  <a:lnTo>
                    <a:pt x="409836" y="791496"/>
                  </a:lnTo>
                  <a:lnTo>
                    <a:pt x="380952" y="779271"/>
                  </a:lnTo>
                  <a:lnTo>
                    <a:pt x="352624" y="766022"/>
                  </a:lnTo>
                  <a:lnTo>
                    <a:pt x="324980" y="751738"/>
                  </a:lnTo>
                  <a:lnTo>
                    <a:pt x="298158" y="736425"/>
                  </a:lnTo>
                  <a:lnTo>
                    <a:pt x="272301" y="720108"/>
                  </a:lnTo>
                  <a:lnTo>
                    <a:pt x="247550" y="702832"/>
                  </a:lnTo>
                  <a:lnTo>
                    <a:pt x="224033" y="684670"/>
                  </a:lnTo>
                  <a:lnTo>
                    <a:pt x="201856" y="665710"/>
                  </a:lnTo>
                  <a:lnTo>
                    <a:pt x="181093" y="646062"/>
                  </a:lnTo>
                  <a:lnTo>
                    <a:pt x="161782" y="625842"/>
                  </a:lnTo>
                  <a:lnTo>
                    <a:pt x="143922" y="605170"/>
                  </a:lnTo>
                  <a:lnTo>
                    <a:pt x="127471" y="584162"/>
                  </a:lnTo>
                  <a:lnTo>
                    <a:pt x="112354" y="562922"/>
                  </a:lnTo>
                  <a:lnTo>
                    <a:pt x="98465" y="541533"/>
                  </a:lnTo>
                  <a:lnTo>
                    <a:pt x="85682" y="520057"/>
                  </a:lnTo>
                  <a:lnTo>
                    <a:pt x="73876" y="498531"/>
                  </a:lnTo>
                  <a:lnTo>
                    <a:pt x="62929" y="476968"/>
                  </a:lnTo>
                  <a:lnTo>
                    <a:pt x="52742" y="455360"/>
                  </a:lnTo>
                  <a:lnTo>
                    <a:pt x="43253" y="433683"/>
                  </a:lnTo>
                  <a:lnTo>
                    <a:pt x="34440" y="411905"/>
                  </a:lnTo>
                  <a:lnTo>
                    <a:pt x="26333" y="389995"/>
                  </a:lnTo>
                  <a:lnTo>
                    <a:pt x="19013" y="367930"/>
                  </a:lnTo>
                  <a:lnTo>
                    <a:pt x="12610" y="345708"/>
                  </a:lnTo>
                  <a:lnTo>
                    <a:pt x="7296" y="323349"/>
                  </a:lnTo>
                  <a:lnTo>
                    <a:pt x="3275" y="300904"/>
                  </a:lnTo>
                  <a:lnTo>
                    <a:pt x="768" y="278454"/>
                  </a:lnTo>
                  <a:lnTo>
                    <a:pt x="0" y="256114"/>
                  </a:lnTo>
                  <a:lnTo>
                    <a:pt x="1180" y="234025"/>
                  </a:lnTo>
                  <a:lnTo>
                    <a:pt x="4490" y="212348"/>
                  </a:lnTo>
                  <a:lnTo>
                    <a:pt x="10066" y="191260"/>
                  </a:lnTo>
                  <a:lnTo>
                    <a:pt x="17992" y="170937"/>
                  </a:lnTo>
                  <a:lnTo>
                    <a:pt x="28291" y="151549"/>
                  </a:lnTo>
                  <a:lnTo>
                    <a:pt x="40926" y="133249"/>
                  </a:lnTo>
                  <a:lnTo>
                    <a:pt x="55797" y="116162"/>
                  </a:lnTo>
                  <a:lnTo>
                    <a:pt x="72755" y="100379"/>
                  </a:lnTo>
                  <a:lnTo>
                    <a:pt x="91605" y="85954"/>
                  </a:lnTo>
                  <a:lnTo>
                    <a:pt x="112127" y="72902"/>
                  </a:lnTo>
                  <a:lnTo>
                    <a:pt x="134081" y="61201"/>
                  </a:lnTo>
                  <a:lnTo>
                    <a:pt x="157232" y="50796"/>
                  </a:lnTo>
                  <a:lnTo>
                    <a:pt x="181356" y="41610"/>
                  </a:lnTo>
                  <a:lnTo>
                    <a:pt x="206254" y="33549"/>
                  </a:lnTo>
                  <a:lnTo>
                    <a:pt x="231762" y="26512"/>
                  </a:lnTo>
                  <a:lnTo>
                    <a:pt x="257752" y="20406"/>
                  </a:lnTo>
                  <a:lnTo>
                    <a:pt x="284139" y="15148"/>
                  </a:lnTo>
                  <a:lnTo>
                    <a:pt x="310870" y="10681"/>
                  </a:lnTo>
                  <a:lnTo>
                    <a:pt x="337927" y="6969"/>
                  </a:lnTo>
                  <a:lnTo>
                    <a:pt x="365310" y="4010"/>
                  </a:lnTo>
                  <a:lnTo>
                    <a:pt x="393034" y="1827"/>
                  </a:lnTo>
                  <a:lnTo>
                    <a:pt x="421115" y="467"/>
                  </a:lnTo>
                  <a:lnTo>
                    <a:pt x="449563" y="0"/>
                  </a:lnTo>
                  <a:lnTo>
                    <a:pt x="478371" y="502"/>
                  </a:lnTo>
                  <a:lnTo>
                    <a:pt x="507512" y="2058"/>
                  </a:lnTo>
                  <a:lnTo>
                    <a:pt x="536937" y="4744"/>
                  </a:lnTo>
                  <a:lnTo>
                    <a:pt x="566573" y="8623"/>
                  </a:lnTo>
                  <a:lnTo>
                    <a:pt x="596328" y="13739"/>
                  </a:lnTo>
                  <a:lnTo>
                    <a:pt x="626097" y="20111"/>
                  </a:lnTo>
                  <a:lnTo>
                    <a:pt x="655769" y="27733"/>
                  </a:lnTo>
                  <a:lnTo>
                    <a:pt x="685231" y="36572"/>
                  </a:lnTo>
                  <a:lnTo>
                    <a:pt x="714381" y="46574"/>
                  </a:lnTo>
                  <a:lnTo>
                    <a:pt x="743134" y="57666"/>
                  </a:lnTo>
                  <a:lnTo>
                    <a:pt x="771420" y="69766"/>
                  </a:lnTo>
                  <a:lnTo>
                    <a:pt x="799192" y="82788"/>
                  </a:lnTo>
                  <a:lnTo>
                    <a:pt x="826424" y="96647"/>
                  </a:lnTo>
                  <a:lnTo>
                    <a:pt x="853103" y="111273"/>
                  </a:lnTo>
                  <a:lnTo>
                    <a:pt x="879227" y="126607"/>
                  </a:lnTo>
                  <a:lnTo>
                    <a:pt x="904793" y="142611"/>
                  </a:lnTo>
                  <a:lnTo>
                    <a:pt x="929791" y="159263"/>
                  </a:lnTo>
                  <a:lnTo>
                    <a:pt x="954195" y="176558"/>
                  </a:lnTo>
                  <a:lnTo>
                    <a:pt x="977951" y="194505"/>
                  </a:lnTo>
                  <a:lnTo>
                    <a:pt x="1000974" y="213118"/>
                  </a:lnTo>
                  <a:lnTo>
                    <a:pt x="1023149" y="232410"/>
                  </a:lnTo>
                  <a:lnTo>
                    <a:pt x="1044323" y="252388"/>
                  </a:lnTo>
                  <a:lnTo>
                    <a:pt x="1064318" y="273043"/>
                  </a:lnTo>
                  <a:lnTo>
                    <a:pt x="1082931" y="294343"/>
                  </a:lnTo>
                  <a:lnTo>
                    <a:pt x="1099952" y="316235"/>
                  </a:lnTo>
                  <a:lnTo>
                    <a:pt x="1115170" y="338635"/>
                  </a:lnTo>
                  <a:lnTo>
                    <a:pt x="1128393" y="361437"/>
                  </a:lnTo>
                  <a:lnTo>
                    <a:pt x="1139456" y="384510"/>
                  </a:lnTo>
                  <a:lnTo>
                    <a:pt x="1148238" y="407708"/>
                  </a:lnTo>
                  <a:lnTo>
                    <a:pt x="1154667" y="430876"/>
                  </a:lnTo>
                  <a:lnTo>
                    <a:pt x="1158732" y="453860"/>
                  </a:lnTo>
                  <a:lnTo>
                    <a:pt x="1160480" y="476515"/>
                  </a:lnTo>
                  <a:lnTo>
                    <a:pt x="1160016" y="498714"/>
                  </a:lnTo>
                  <a:lnTo>
                    <a:pt x="1157496" y="520358"/>
                  </a:lnTo>
                  <a:lnTo>
                    <a:pt x="1153116" y="541374"/>
                  </a:lnTo>
                  <a:lnTo>
                    <a:pt x="1147100" y="561728"/>
                  </a:lnTo>
                  <a:lnTo>
                    <a:pt x="1139680" y="581415"/>
                  </a:lnTo>
                  <a:lnTo>
                    <a:pt x="1131084" y="60046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5" name="Базальная мембрана канальца"/>
            <p:cNvSpPr/>
            <p:nvPr/>
          </p:nvSpPr>
          <p:spPr>
            <a:xfrm>
              <a:off x="9032565" y="3584383"/>
              <a:ext cx="1255079" cy="918578"/>
            </a:xfrm>
            <a:custGeom>
              <a:avLst/>
              <a:gdLst/>
              <a:ahLst/>
              <a:cxnLst/>
              <a:rect l="l" t="t" r="r" b="b"/>
              <a:pathLst>
                <a:path w="1255079" h="918578">
                  <a:moveTo>
                    <a:pt x="1255079" y="372358"/>
                  </a:moveTo>
                  <a:lnTo>
                    <a:pt x="1254291" y="395685"/>
                  </a:lnTo>
                  <a:lnTo>
                    <a:pt x="1252709" y="418883"/>
                  </a:lnTo>
                  <a:lnTo>
                    <a:pt x="1250458" y="441986"/>
                  </a:lnTo>
                  <a:lnTo>
                    <a:pt x="1247603" y="465042"/>
                  </a:lnTo>
                  <a:lnTo>
                    <a:pt x="1244141" y="488108"/>
                  </a:lnTo>
                  <a:lnTo>
                    <a:pt x="1240008" y="511236"/>
                  </a:lnTo>
                  <a:lnTo>
                    <a:pt x="1235081" y="534463"/>
                  </a:lnTo>
                  <a:lnTo>
                    <a:pt x="1229190" y="557800"/>
                  </a:lnTo>
                  <a:lnTo>
                    <a:pt x="1222136" y="581230"/>
                  </a:lnTo>
                  <a:lnTo>
                    <a:pt x="1213703" y="604700"/>
                  </a:lnTo>
                  <a:lnTo>
                    <a:pt x="1203684" y="628123"/>
                  </a:lnTo>
                  <a:lnTo>
                    <a:pt x="1191889" y="651380"/>
                  </a:lnTo>
                  <a:lnTo>
                    <a:pt x="1178169" y="674327"/>
                  </a:lnTo>
                  <a:lnTo>
                    <a:pt x="1162421" y="696800"/>
                  </a:lnTo>
                  <a:lnTo>
                    <a:pt x="1144599" y="718632"/>
                  </a:lnTo>
                  <a:lnTo>
                    <a:pt x="1124720" y="739654"/>
                  </a:lnTo>
                  <a:lnTo>
                    <a:pt x="1102854" y="759714"/>
                  </a:lnTo>
                  <a:lnTo>
                    <a:pt x="1079124" y="778681"/>
                  </a:lnTo>
                  <a:lnTo>
                    <a:pt x="1053696" y="796453"/>
                  </a:lnTo>
                  <a:lnTo>
                    <a:pt x="1026762" y="812960"/>
                  </a:lnTo>
                  <a:lnTo>
                    <a:pt x="998533" y="828167"/>
                  </a:lnTo>
                  <a:lnTo>
                    <a:pt x="969218" y="842070"/>
                  </a:lnTo>
                  <a:lnTo>
                    <a:pt x="939020" y="854691"/>
                  </a:lnTo>
                  <a:lnTo>
                    <a:pt x="908118" y="866072"/>
                  </a:lnTo>
                  <a:lnTo>
                    <a:pt x="876667" y="876265"/>
                  </a:lnTo>
                  <a:lnTo>
                    <a:pt x="844792" y="885324"/>
                  </a:lnTo>
                  <a:lnTo>
                    <a:pt x="812591" y="893294"/>
                  </a:lnTo>
                  <a:lnTo>
                    <a:pt x="780136" y="900207"/>
                  </a:lnTo>
                  <a:lnTo>
                    <a:pt x="747484" y="906074"/>
                  </a:lnTo>
                  <a:lnTo>
                    <a:pt x="714683" y="910883"/>
                  </a:lnTo>
                  <a:lnTo>
                    <a:pt x="681779" y="914598"/>
                  </a:lnTo>
                  <a:lnTo>
                    <a:pt x="648829" y="917167"/>
                  </a:lnTo>
                  <a:lnTo>
                    <a:pt x="615905" y="918518"/>
                  </a:lnTo>
                  <a:lnTo>
                    <a:pt x="583098" y="918578"/>
                  </a:lnTo>
                  <a:lnTo>
                    <a:pt x="550520" y="917273"/>
                  </a:lnTo>
                  <a:lnTo>
                    <a:pt x="518300" y="914541"/>
                  </a:lnTo>
                  <a:lnTo>
                    <a:pt x="486582" y="910340"/>
                  </a:lnTo>
                  <a:lnTo>
                    <a:pt x="455513" y="904656"/>
                  </a:lnTo>
                  <a:lnTo>
                    <a:pt x="425237" y="897502"/>
                  </a:lnTo>
                  <a:lnTo>
                    <a:pt x="395883" y="888928"/>
                  </a:lnTo>
                  <a:lnTo>
                    <a:pt x="367555" y="879012"/>
                  </a:lnTo>
                  <a:lnTo>
                    <a:pt x="340323" y="867860"/>
                  </a:lnTo>
                  <a:lnTo>
                    <a:pt x="314222" y="855599"/>
                  </a:lnTo>
                  <a:lnTo>
                    <a:pt x="289245" y="842366"/>
                  </a:lnTo>
                  <a:lnTo>
                    <a:pt x="265350" y="828298"/>
                  </a:lnTo>
                  <a:lnTo>
                    <a:pt x="242460" y="813523"/>
                  </a:lnTo>
                  <a:lnTo>
                    <a:pt x="220480" y="798152"/>
                  </a:lnTo>
                  <a:lnTo>
                    <a:pt x="199304" y="782268"/>
                  </a:lnTo>
                  <a:lnTo>
                    <a:pt x="178831" y="765923"/>
                  </a:lnTo>
                  <a:lnTo>
                    <a:pt x="158981" y="749136"/>
                  </a:lnTo>
                  <a:lnTo>
                    <a:pt x="139707" y="731894"/>
                  </a:lnTo>
                  <a:lnTo>
                    <a:pt x="121009" y="714156"/>
                  </a:lnTo>
                  <a:lnTo>
                    <a:pt x="102938" y="695860"/>
                  </a:lnTo>
                  <a:lnTo>
                    <a:pt x="85604" y="676936"/>
                  </a:lnTo>
                  <a:lnTo>
                    <a:pt x="69173" y="657311"/>
                  </a:lnTo>
                  <a:lnTo>
                    <a:pt x="53860" y="636926"/>
                  </a:lnTo>
                  <a:lnTo>
                    <a:pt x="39919" y="615740"/>
                  </a:lnTo>
                  <a:lnTo>
                    <a:pt x="27626" y="593744"/>
                  </a:lnTo>
                  <a:lnTo>
                    <a:pt x="17266" y="570965"/>
                  </a:lnTo>
                  <a:lnTo>
                    <a:pt x="9109" y="547467"/>
                  </a:lnTo>
                  <a:lnTo>
                    <a:pt x="3395" y="523354"/>
                  </a:lnTo>
                  <a:lnTo>
                    <a:pt x="316" y="498762"/>
                  </a:lnTo>
                  <a:lnTo>
                    <a:pt x="0" y="473854"/>
                  </a:lnTo>
                  <a:lnTo>
                    <a:pt x="2508" y="448814"/>
                  </a:lnTo>
                  <a:lnTo>
                    <a:pt x="7822" y="423827"/>
                  </a:lnTo>
                  <a:lnTo>
                    <a:pt x="15853" y="399079"/>
                  </a:lnTo>
                  <a:lnTo>
                    <a:pt x="26445" y="374737"/>
                  </a:lnTo>
                  <a:lnTo>
                    <a:pt x="39386" y="350943"/>
                  </a:lnTo>
                  <a:lnTo>
                    <a:pt x="54425" y="327809"/>
                  </a:lnTo>
                  <a:lnTo>
                    <a:pt x="71287" y="305410"/>
                  </a:lnTo>
                  <a:lnTo>
                    <a:pt x="89693" y="283784"/>
                  </a:lnTo>
                  <a:lnTo>
                    <a:pt x="109377" y="262936"/>
                  </a:lnTo>
                  <a:lnTo>
                    <a:pt x="130102" y="242842"/>
                  </a:lnTo>
                  <a:lnTo>
                    <a:pt x="151672" y="223457"/>
                  </a:lnTo>
                  <a:lnTo>
                    <a:pt x="173940" y="204728"/>
                  </a:lnTo>
                  <a:lnTo>
                    <a:pt x="196809" y="186598"/>
                  </a:lnTo>
                  <a:lnTo>
                    <a:pt x="220236" y="169022"/>
                  </a:lnTo>
                  <a:lnTo>
                    <a:pt x="244218" y="151972"/>
                  </a:lnTo>
                  <a:lnTo>
                    <a:pt x="268790" y="135445"/>
                  </a:lnTo>
                  <a:lnTo>
                    <a:pt x="294008" y="119465"/>
                  </a:lnTo>
                  <a:lnTo>
                    <a:pt x="319939" y="104085"/>
                  </a:lnTo>
                  <a:lnTo>
                    <a:pt x="346644" y="89386"/>
                  </a:lnTo>
                  <a:lnTo>
                    <a:pt x="374172" y="75468"/>
                  </a:lnTo>
                  <a:lnTo>
                    <a:pt x="402545" y="62446"/>
                  </a:lnTo>
                  <a:lnTo>
                    <a:pt x="431754" y="50438"/>
                  </a:lnTo>
                  <a:lnTo>
                    <a:pt x="461759" y="39560"/>
                  </a:lnTo>
                  <a:lnTo>
                    <a:pt x="492488" y="29911"/>
                  </a:lnTo>
                  <a:lnTo>
                    <a:pt x="523840" y="21572"/>
                  </a:lnTo>
                  <a:lnTo>
                    <a:pt x="555698" y="14595"/>
                  </a:lnTo>
                  <a:lnTo>
                    <a:pt x="587932" y="9004"/>
                  </a:lnTo>
                  <a:lnTo>
                    <a:pt x="620411" y="4791"/>
                  </a:lnTo>
                  <a:lnTo>
                    <a:pt x="653012" y="1924"/>
                  </a:lnTo>
                  <a:lnTo>
                    <a:pt x="685627" y="349"/>
                  </a:lnTo>
                  <a:lnTo>
                    <a:pt x="718169" y="0"/>
                  </a:lnTo>
                  <a:lnTo>
                    <a:pt x="750568" y="803"/>
                  </a:lnTo>
                  <a:lnTo>
                    <a:pt x="782778" y="2691"/>
                  </a:lnTo>
                  <a:lnTo>
                    <a:pt x="814765" y="5610"/>
                  </a:lnTo>
                  <a:lnTo>
                    <a:pt x="846502" y="9524"/>
                  </a:lnTo>
                  <a:lnTo>
                    <a:pt x="877960" y="14424"/>
                  </a:lnTo>
                  <a:lnTo>
                    <a:pt x="909098" y="20323"/>
                  </a:lnTo>
                  <a:lnTo>
                    <a:pt x="939856" y="27261"/>
                  </a:lnTo>
                  <a:lnTo>
                    <a:pt x="970142" y="35298"/>
                  </a:lnTo>
                  <a:lnTo>
                    <a:pt x="999832" y="44508"/>
                  </a:lnTo>
                  <a:lnTo>
                    <a:pt x="1028767" y="54968"/>
                  </a:lnTo>
                  <a:lnTo>
                    <a:pt x="1056757" y="66752"/>
                  </a:lnTo>
                  <a:lnTo>
                    <a:pt x="1083583" y="79917"/>
                  </a:lnTo>
                  <a:lnTo>
                    <a:pt x="1109013" y="94496"/>
                  </a:lnTo>
                  <a:lnTo>
                    <a:pt x="1132812" y="110491"/>
                  </a:lnTo>
                  <a:lnTo>
                    <a:pt x="1154755" y="127866"/>
                  </a:lnTo>
                  <a:lnTo>
                    <a:pt x="1174646" y="146548"/>
                  </a:lnTo>
                  <a:lnTo>
                    <a:pt x="1192330" y="166426"/>
                  </a:lnTo>
                  <a:lnTo>
                    <a:pt x="1207704" y="187358"/>
                  </a:lnTo>
                  <a:lnTo>
                    <a:pt x="1220727" y="209177"/>
                  </a:lnTo>
                  <a:lnTo>
                    <a:pt x="1231424" y="231701"/>
                  </a:lnTo>
                  <a:lnTo>
                    <a:pt x="1239882" y="254745"/>
                  </a:lnTo>
                  <a:lnTo>
                    <a:pt x="1246250" y="278131"/>
                  </a:lnTo>
                  <a:lnTo>
                    <a:pt x="1250720" y="301701"/>
                  </a:lnTo>
                  <a:lnTo>
                    <a:pt x="1253521" y="325322"/>
                  </a:lnTo>
                  <a:lnTo>
                    <a:pt x="1254894" y="348895"/>
                  </a:lnTo>
                  <a:close/>
                </a:path>
              </a:pathLst>
            </a:custGeom>
            <a:solidFill>
              <a:srgbClr val="C9B6CF"/>
            </a:solidFill>
            <a:ln w="8890">
              <a:solidFill>
                <a:srgbClr val="9976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6" name="Клетка однослойного эпителия"/>
            <p:cNvSpPr/>
            <p:nvPr/>
          </p:nvSpPr>
          <p:spPr>
            <a:xfrm>
              <a:off x="10166497" y="3960709"/>
              <a:ext cx="92910" cy="153331"/>
            </a:xfrm>
            <a:custGeom>
              <a:avLst/>
              <a:gdLst/>
              <a:ahLst/>
              <a:cxnLst/>
              <a:rect l="l" t="t" r="r" b="b"/>
              <a:pathLst>
                <a:path w="92910" h="153331">
                  <a:moveTo>
                    <a:pt x="92910" y="0"/>
                  </a:moveTo>
                  <a:lnTo>
                    <a:pt x="92049" y="15505"/>
                  </a:lnTo>
                  <a:lnTo>
                    <a:pt x="90851" y="30923"/>
                  </a:lnTo>
                  <a:lnTo>
                    <a:pt x="89375" y="46264"/>
                  </a:lnTo>
                  <a:lnTo>
                    <a:pt x="87663" y="61547"/>
                  </a:lnTo>
                  <a:lnTo>
                    <a:pt x="85740" y="76795"/>
                  </a:lnTo>
                  <a:lnTo>
                    <a:pt x="83615" y="92032"/>
                  </a:lnTo>
                  <a:lnTo>
                    <a:pt x="81277" y="107283"/>
                  </a:lnTo>
                  <a:lnTo>
                    <a:pt x="78699" y="122571"/>
                  </a:lnTo>
                  <a:lnTo>
                    <a:pt x="75839" y="137916"/>
                  </a:lnTo>
                  <a:lnTo>
                    <a:pt x="72639" y="153331"/>
                  </a:lnTo>
                  <a:lnTo>
                    <a:pt x="0" y="136325"/>
                  </a:lnTo>
                  <a:lnTo>
                    <a:pt x="2895" y="123659"/>
                  </a:lnTo>
                  <a:lnTo>
                    <a:pt x="5494" y="111053"/>
                  </a:lnTo>
                  <a:lnTo>
                    <a:pt x="7846" y="98496"/>
                  </a:lnTo>
                  <a:lnTo>
                    <a:pt x="9990" y="85971"/>
                  </a:lnTo>
                  <a:lnTo>
                    <a:pt x="11949" y="73460"/>
                  </a:lnTo>
                  <a:lnTo>
                    <a:pt x="13732" y="60940"/>
                  </a:lnTo>
                  <a:lnTo>
                    <a:pt x="15331" y="48393"/>
                  </a:lnTo>
                  <a:lnTo>
                    <a:pt x="16726" y="35800"/>
                  </a:lnTo>
                  <a:lnTo>
                    <a:pt x="17879" y="23147"/>
                  </a:lnTo>
                  <a:lnTo>
                    <a:pt x="18740" y="104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7" name="Ядро эпителиальной клетки"/>
            <p:cNvSpPr/>
            <p:nvPr/>
          </p:nvSpPr>
          <p:spPr>
            <a:xfrm rot="5555294">
              <a:off x="10167231" y="400559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8" name="Клетка однослойного эпителия"/>
            <p:cNvSpPr/>
            <p:nvPr/>
          </p:nvSpPr>
          <p:spPr>
            <a:xfrm>
              <a:off x="10106915" y="4097034"/>
              <a:ext cx="132221" cy="172289"/>
            </a:xfrm>
            <a:custGeom>
              <a:avLst/>
              <a:gdLst/>
              <a:ahLst/>
              <a:cxnLst/>
              <a:rect l="l" t="t" r="r" b="b"/>
              <a:pathLst>
                <a:path w="132221" h="172289">
                  <a:moveTo>
                    <a:pt x="132221" y="17006"/>
                  </a:moveTo>
                  <a:lnTo>
                    <a:pt x="128615" y="32498"/>
                  </a:lnTo>
                  <a:lnTo>
                    <a:pt x="124525" y="48067"/>
                  </a:lnTo>
                  <a:lnTo>
                    <a:pt x="119871" y="63701"/>
                  </a:lnTo>
                  <a:lnTo>
                    <a:pt x="114567" y="79382"/>
                  </a:lnTo>
                  <a:lnTo>
                    <a:pt x="108533" y="95081"/>
                  </a:lnTo>
                  <a:lnTo>
                    <a:pt x="101691" y="110760"/>
                  </a:lnTo>
                  <a:lnTo>
                    <a:pt x="93973" y="126374"/>
                  </a:lnTo>
                  <a:lnTo>
                    <a:pt x="85318" y="141872"/>
                  </a:lnTo>
                  <a:lnTo>
                    <a:pt x="75682" y="157197"/>
                  </a:lnTo>
                  <a:lnTo>
                    <a:pt x="65033" y="172289"/>
                  </a:lnTo>
                  <a:lnTo>
                    <a:pt x="0" y="127839"/>
                  </a:lnTo>
                  <a:lnTo>
                    <a:pt x="9375" y="115384"/>
                  </a:lnTo>
                  <a:lnTo>
                    <a:pt x="17871" y="102746"/>
                  </a:lnTo>
                  <a:lnTo>
                    <a:pt x="25513" y="89974"/>
                  </a:lnTo>
                  <a:lnTo>
                    <a:pt x="32342" y="77112"/>
                  </a:lnTo>
                  <a:lnTo>
                    <a:pt x="38408" y="64204"/>
                  </a:lnTo>
                  <a:lnTo>
                    <a:pt x="43771" y="51285"/>
                  </a:lnTo>
                  <a:lnTo>
                    <a:pt x="48499" y="38386"/>
                  </a:lnTo>
                  <a:lnTo>
                    <a:pt x="52662" y="25530"/>
                  </a:lnTo>
                  <a:lnTo>
                    <a:pt x="56333" y="12732"/>
                  </a:lnTo>
                  <a:lnTo>
                    <a:pt x="59582" y="0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49" name="Ядро эпителиальной клетки"/>
            <p:cNvSpPr/>
            <p:nvPr/>
          </p:nvSpPr>
          <p:spPr>
            <a:xfrm rot="6825882">
              <a:off x="10132348" y="414588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0" name="Клетка однослойного эпителия"/>
            <p:cNvSpPr/>
            <p:nvPr/>
          </p:nvSpPr>
          <p:spPr>
            <a:xfrm>
              <a:off x="9967800" y="4224873"/>
              <a:ext cx="204148" cy="170721"/>
            </a:xfrm>
            <a:custGeom>
              <a:avLst/>
              <a:gdLst/>
              <a:ahLst/>
              <a:cxnLst/>
              <a:rect l="l" t="t" r="r" b="b"/>
              <a:pathLst>
                <a:path w="204148" h="170721">
                  <a:moveTo>
                    <a:pt x="204148" y="44450"/>
                  </a:moveTo>
                  <a:lnTo>
                    <a:pt x="192467" y="59248"/>
                  </a:lnTo>
                  <a:lnTo>
                    <a:pt x="179756" y="73692"/>
                  </a:lnTo>
                  <a:lnTo>
                    <a:pt x="166028" y="87723"/>
                  </a:lnTo>
                  <a:lnTo>
                    <a:pt x="151313" y="101287"/>
                  </a:lnTo>
                  <a:lnTo>
                    <a:pt x="135652" y="114337"/>
                  </a:lnTo>
                  <a:lnTo>
                    <a:pt x="119100" y="126832"/>
                  </a:lnTo>
                  <a:lnTo>
                    <a:pt x="101720" y="138738"/>
                  </a:lnTo>
                  <a:lnTo>
                    <a:pt x="83580" y="150031"/>
                  </a:lnTo>
                  <a:lnTo>
                    <a:pt x="64757" y="160695"/>
                  </a:lnTo>
                  <a:lnTo>
                    <a:pt x="45324" y="170721"/>
                  </a:lnTo>
                  <a:lnTo>
                    <a:pt x="0" y="104701"/>
                  </a:lnTo>
                  <a:lnTo>
                    <a:pt x="16982" y="96339"/>
                  </a:lnTo>
                  <a:lnTo>
                    <a:pt x="33439" y="87458"/>
                  </a:lnTo>
                  <a:lnTo>
                    <a:pt x="49305" y="78066"/>
                  </a:lnTo>
                  <a:lnTo>
                    <a:pt x="64515" y="68176"/>
                  </a:lnTo>
                  <a:lnTo>
                    <a:pt x="79009" y="57810"/>
                  </a:lnTo>
                  <a:lnTo>
                    <a:pt x="92730" y="46994"/>
                  </a:lnTo>
                  <a:lnTo>
                    <a:pt x="105633" y="35763"/>
                  </a:lnTo>
                  <a:lnTo>
                    <a:pt x="117679" y="24157"/>
                  </a:lnTo>
                  <a:lnTo>
                    <a:pt x="128844" y="12220"/>
                  </a:lnTo>
                  <a:lnTo>
                    <a:pt x="139115" y="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1" name="Ядро эпителиальной клетки"/>
            <p:cNvSpPr/>
            <p:nvPr/>
          </p:nvSpPr>
          <p:spPr>
            <a:xfrm rot="8096471">
              <a:off x="10027363" y="427964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2" name="Клетка однослойного эпителия"/>
            <p:cNvSpPr/>
            <p:nvPr/>
          </p:nvSpPr>
          <p:spPr>
            <a:xfrm>
              <a:off x="9781539" y="4329574"/>
              <a:ext cx="231585" cy="133320"/>
            </a:xfrm>
            <a:custGeom>
              <a:avLst/>
              <a:gdLst/>
              <a:ahLst/>
              <a:cxnLst/>
              <a:rect l="l" t="t" r="r" b="b"/>
              <a:pathLst>
                <a:path w="231585" h="133320">
                  <a:moveTo>
                    <a:pt x="231585" y="66020"/>
                  </a:moveTo>
                  <a:lnTo>
                    <a:pt x="211620" y="75408"/>
                  </a:lnTo>
                  <a:lnTo>
                    <a:pt x="191195" y="84165"/>
                  </a:lnTo>
                  <a:lnTo>
                    <a:pt x="170379" y="92302"/>
                  </a:lnTo>
                  <a:lnTo>
                    <a:pt x="149233" y="99835"/>
                  </a:lnTo>
                  <a:lnTo>
                    <a:pt x="127815" y="106781"/>
                  </a:lnTo>
                  <a:lnTo>
                    <a:pt x="106173" y="113160"/>
                  </a:lnTo>
                  <a:lnTo>
                    <a:pt x="84349" y="118990"/>
                  </a:lnTo>
                  <a:lnTo>
                    <a:pt x="62376" y="124286"/>
                  </a:lnTo>
                  <a:lnTo>
                    <a:pt x="40284" y="129060"/>
                  </a:lnTo>
                  <a:lnTo>
                    <a:pt x="18097" y="133320"/>
                  </a:lnTo>
                  <a:lnTo>
                    <a:pt x="0" y="56729"/>
                  </a:lnTo>
                  <a:lnTo>
                    <a:pt x="19338" y="53076"/>
                  </a:lnTo>
                  <a:lnTo>
                    <a:pt x="38597" y="49002"/>
                  </a:lnTo>
                  <a:lnTo>
                    <a:pt x="57755" y="44501"/>
                  </a:lnTo>
                  <a:lnTo>
                    <a:pt x="76789" y="39563"/>
                  </a:lnTo>
                  <a:lnTo>
                    <a:pt x="95668" y="34175"/>
                  </a:lnTo>
                  <a:lnTo>
                    <a:pt x="114355" y="28324"/>
                  </a:lnTo>
                  <a:lnTo>
                    <a:pt x="132810" y="21995"/>
                  </a:lnTo>
                  <a:lnTo>
                    <a:pt x="150983" y="15172"/>
                  </a:lnTo>
                  <a:lnTo>
                    <a:pt x="168820" y="7843"/>
                  </a:lnTo>
                  <a:lnTo>
                    <a:pt x="186261" y="0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3" name="Ядро эпителиальной клетки"/>
            <p:cNvSpPr/>
            <p:nvPr/>
          </p:nvSpPr>
          <p:spPr>
            <a:xfrm rot="9367059">
              <a:off x="9846003" y="436842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4" name="Клетка однослойного эпителия"/>
            <p:cNvSpPr/>
            <p:nvPr/>
          </p:nvSpPr>
          <p:spPr>
            <a:xfrm>
              <a:off x="9577129" y="4386303"/>
              <a:ext cx="222507" cy="91566"/>
            </a:xfrm>
            <a:custGeom>
              <a:avLst/>
              <a:gdLst/>
              <a:ahLst/>
              <a:cxnLst/>
              <a:rect l="l" t="t" r="r" b="b"/>
              <a:pathLst>
                <a:path w="222507" h="91566">
                  <a:moveTo>
                    <a:pt x="222507" y="76591"/>
                  </a:moveTo>
                  <a:lnTo>
                    <a:pt x="200245" y="80339"/>
                  </a:lnTo>
                  <a:lnTo>
                    <a:pt x="177926" y="83573"/>
                  </a:lnTo>
                  <a:lnTo>
                    <a:pt x="155568" y="86284"/>
                  </a:lnTo>
                  <a:lnTo>
                    <a:pt x="133190" y="88458"/>
                  </a:lnTo>
                  <a:lnTo>
                    <a:pt x="110814" y="90077"/>
                  </a:lnTo>
                  <a:lnTo>
                    <a:pt x="88466" y="91121"/>
                  </a:lnTo>
                  <a:lnTo>
                    <a:pt x="66174" y="91566"/>
                  </a:lnTo>
                  <a:lnTo>
                    <a:pt x="43972" y="91390"/>
                  </a:lnTo>
                  <a:lnTo>
                    <a:pt x="21900" y="90568"/>
                  </a:lnTo>
                  <a:lnTo>
                    <a:pt x="0" y="89083"/>
                  </a:lnTo>
                  <a:lnTo>
                    <a:pt x="10694" y="11841"/>
                  </a:lnTo>
                  <a:lnTo>
                    <a:pt x="29741" y="12903"/>
                  </a:lnTo>
                  <a:lnTo>
                    <a:pt x="48942" y="13418"/>
                  </a:lnTo>
                  <a:lnTo>
                    <a:pt x="68261" y="13404"/>
                  </a:lnTo>
                  <a:lnTo>
                    <a:pt x="87663" y="12878"/>
                  </a:lnTo>
                  <a:lnTo>
                    <a:pt x="107118" y="11862"/>
                  </a:lnTo>
                  <a:lnTo>
                    <a:pt x="126601" y="10373"/>
                  </a:lnTo>
                  <a:lnTo>
                    <a:pt x="146089" y="8430"/>
                  </a:lnTo>
                  <a:lnTo>
                    <a:pt x="165565" y="6046"/>
                  </a:lnTo>
                  <a:lnTo>
                    <a:pt x="185010" y="3234"/>
                  </a:lnTo>
                  <a:lnTo>
                    <a:pt x="204410" y="0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5" name="Ядро эпителиальной клетки"/>
            <p:cNvSpPr/>
            <p:nvPr/>
          </p:nvSpPr>
          <p:spPr>
            <a:xfrm rot="10637647">
              <a:off x="9639386" y="4405532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6" name="Клетка однослойного эпителия"/>
            <p:cNvSpPr/>
            <p:nvPr/>
          </p:nvSpPr>
          <p:spPr>
            <a:xfrm>
              <a:off x="9377612" y="4357204"/>
              <a:ext cx="210211" cy="118182"/>
            </a:xfrm>
            <a:custGeom>
              <a:avLst/>
              <a:gdLst/>
              <a:ahLst/>
              <a:cxnLst/>
              <a:rect l="l" t="t" r="r" b="b"/>
              <a:pathLst>
                <a:path w="210211" h="118182">
                  <a:moveTo>
                    <a:pt x="199517" y="118182"/>
                  </a:moveTo>
                  <a:lnTo>
                    <a:pt x="177835" y="116015"/>
                  </a:lnTo>
                  <a:lnTo>
                    <a:pt x="156421" y="113158"/>
                  </a:lnTo>
                  <a:lnTo>
                    <a:pt x="135323" y="109606"/>
                  </a:lnTo>
                  <a:lnTo>
                    <a:pt x="114589" y="105362"/>
                  </a:lnTo>
                  <a:lnTo>
                    <a:pt x="94266" y="100438"/>
                  </a:lnTo>
                  <a:lnTo>
                    <a:pt x="74395" y="94852"/>
                  </a:lnTo>
                  <a:lnTo>
                    <a:pt x="55009" y="88631"/>
                  </a:lnTo>
                  <a:lnTo>
                    <a:pt x="36138" y="81808"/>
                  </a:lnTo>
                  <a:lnTo>
                    <a:pt x="17799" y="74422"/>
                  </a:lnTo>
                  <a:lnTo>
                    <a:pt x="0" y="66519"/>
                  </a:lnTo>
                  <a:lnTo>
                    <a:pt x="36961" y="0"/>
                  </a:lnTo>
                  <a:lnTo>
                    <a:pt x="52393" y="6355"/>
                  </a:lnTo>
                  <a:lnTo>
                    <a:pt x="68299" y="12280"/>
                  </a:lnTo>
                  <a:lnTo>
                    <a:pt x="84672" y="17741"/>
                  </a:lnTo>
                  <a:lnTo>
                    <a:pt x="101496" y="22704"/>
                  </a:lnTo>
                  <a:lnTo>
                    <a:pt x="118748" y="27143"/>
                  </a:lnTo>
                  <a:lnTo>
                    <a:pt x="136398" y="31036"/>
                  </a:lnTo>
                  <a:lnTo>
                    <a:pt x="154410" y="34368"/>
                  </a:lnTo>
                  <a:lnTo>
                    <a:pt x="172744" y="37130"/>
                  </a:lnTo>
                  <a:lnTo>
                    <a:pt x="191359" y="39319"/>
                  </a:lnTo>
                  <a:lnTo>
                    <a:pt x="210211" y="40940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7" name="Ядро эпителиальной клетки"/>
            <p:cNvSpPr/>
            <p:nvPr/>
          </p:nvSpPr>
          <p:spPr>
            <a:xfrm rot="11908235">
              <a:off x="9437974" y="438935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8" name="Клетка однослойного эпителия"/>
            <p:cNvSpPr/>
            <p:nvPr/>
          </p:nvSpPr>
          <p:spPr>
            <a:xfrm>
              <a:off x="9225046" y="4278013"/>
              <a:ext cx="189527" cy="145710"/>
            </a:xfrm>
            <a:custGeom>
              <a:avLst/>
              <a:gdLst/>
              <a:ahLst/>
              <a:cxnLst/>
              <a:rect l="l" t="t" r="r" b="b"/>
              <a:pathLst>
                <a:path w="189527" h="145710">
                  <a:moveTo>
                    <a:pt x="152566" y="145710"/>
                  </a:moveTo>
                  <a:lnTo>
                    <a:pt x="135306" y="137335"/>
                  </a:lnTo>
                  <a:lnTo>
                    <a:pt x="118574" y="128538"/>
                  </a:lnTo>
                  <a:lnTo>
                    <a:pt x="102349" y="119365"/>
                  </a:lnTo>
                  <a:lnTo>
                    <a:pt x="86602" y="109864"/>
                  </a:lnTo>
                  <a:lnTo>
                    <a:pt x="71298" y="100075"/>
                  </a:lnTo>
                  <a:lnTo>
                    <a:pt x="56396" y="90034"/>
                  </a:lnTo>
                  <a:lnTo>
                    <a:pt x="41855" y="79772"/>
                  </a:lnTo>
                  <a:lnTo>
                    <a:pt x="27633" y="69308"/>
                  </a:lnTo>
                  <a:lnTo>
                    <a:pt x="13692" y="58656"/>
                  </a:lnTo>
                  <a:lnTo>
                    <a:pt x="0" y="47819"/>
                  </a:lnTo>
                  <a:lnTo>
                    <a:pt x="57466" y="0"/>
                  </a:lnTo>
                  <a:lnTo>
                    <a:pt x="69303" y="8790"/>
                  </a:lnTo>
                  <a:lnTo>
                    <a:pt x="81358" y="17426"/>
                  </a:lnTo>
                  <a:lnTo>
                    <a:pt x="93659" y="25906"/>
                  </a:lnTo>
                  <a:lnTo>
                    <a:pt x="106239" y="34219"/>
                  </a:lnTo>
                  <a:lnTo>
                    <a:pt x="119134" y="42346"/>
                  </a:lnTo>
                  <a:lnTo>
                    <a:pt x="132382" y="50265"/>
                  </a:lnTo>
                  <a:lnTo>
                    <a:pt x="146017" y="57945"/>
                  </a:lnTo>
                  <a:lnTo>
                    <a:pt x="160070" y="65351"/>
                  </a:lnTo>
                  <a:lnTo>
                    <a:pt x="174568" y="72446"/>
                  </a:lnTo>
                  <a:lnTo>
                    <a:pt x="189527" y="79191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59" name="Ядро эпителиальной клетки"/>
            <p:cNvSpPr/>
            <p:nvPr/>
          </p:nvSpPr>
          <p:spPr>
            <a:xfrm rot="13178824">
              <a:off x="9274584" y="4317893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0" name="Клетка однослойного эпителия"/>
            <p:cNvSpPr/>
            <p:nvPr/>
          </p:nvSpPr>
          <p:spPr>
            <a:xfrm>
              <a:off x="9102951" y="4178597"/>
              <a:ext cx="179561" cy="147235"/>
            </a:xfrm>
            <a:custGeom>
              <a:avLst/>
              <a:gdLst/>
              <a:ahLst/>
              <a:cxnLst/>
              <a:rect l="l" t="t" r="r" b="b"/>
              <a:pathLst>
                <a:path w="179561" h="147235">
                  <a:moveTo>
                    <a:pt x="122095" y="147235"/>
                  </a:moveTo>
                  <a:lnTo>
                    <a:pt x="108627" y="136210"/>
                  </a:lnTo>
                  <a:lnTo>
                    <a:pt x="95371" y="124984"/>
                  </a:lnTo>
                  <a:lnTo>
                    <a:pt x="82326" y="113538"/>
                  </a:lnTo>
                  <a:lnTo>
                    <a:pt x="69506" y="101848"/>
                  </a:lnTo>
                  <a:lnTo>
                    <a:pt x="56942" y="89884"/>
                  </a:lnTo>
                  <a:lnTo>
                    <a:pt x="44676" y="77616"/>
                  </a:lnTo>
                  <a:lnTo>
                    <a:pt x="32770" y="65015"/>
                  </a:lnTo>
                  <a:lnTo>
                    <a:pt x="21296" y="52052"/>
                  </a:lnTo>
                  <a:lnTo>
                    <a:pt x="10341" y="38704"/>
                  </a:lnTo>
                  <a:lnTo>
                    <a:pt x="0" y="24951"/>
                  </a:lnTo>
                  <a:lnTo>
                    <a:pt x="74191" y="0"/>
                  </a:lnTo>
                  <a:lnTo>
                    <a:pt x="83091" y="11205"/>
                  </a:lnTo>
                  <a:lnTo>
                    <a:pt x="92528" y="22075"/>
                  </a:lnTo>
                  <a:lnTo>
                    <a:pt x="102420" y="32624"/>
                  </a:lnTo>
                  <a:lnTo>
                    <a:pt x="112691" y="42873"/>
                  </a:lnTo>
                  <a:lnTo>
                    <a:pt x="123276" y="52846"/>
                  </a:lnTo>
                  <a:lnTo>
                    <a:pt x="134124" y="62569"/>
                  </a:lnTo>
                  <a:lnTo>
                    <a:pt x="145195" y="72065"/>
                  </a:lnTo>
                  <a:lnTo>
                    <a:pt x="156465" y="81359"/>
                  </a:lnTo>
                  <a:lnTo>
                    <a:pt x="167920" y="90471"/>
                  </a:lnTo>
                  <a:lnTo>
                    <a:pt x="179561" y="99416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1" name="Ядро эпителиальной клетки"/>
            <p:cNvSpPr/>
            <p:nvPr/>
          </p:nvSpPr>
          <p:spPr>
            <a:xfrm rot="14449412">
              <a:off x="9147752" y="4219046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2" name="Клетка однослойного эпителия"/>
            <p:cNvSpPr/>
            <p:nvPr/>
          </p:nvSpPr>
          <p:spPr>
            <a:xfrm>
              <a:off x="9054316" y="4046225"/>
              <a:ext cx="122826" cy="157323"/>
            </a:xfrm>
            <a:custGeom>
              <a:avLst/>
              <a:gdLst/>
              <a:ahLst/>
              <a:cxnLst/>
              <a:rect l="l" t="t" r="r" b="b"/>
              <a:pathLst>
                <a:path w="122826" h="157323">
                  <a:moveTo>
                    <a:pt x="48635" y="157323"/>
                  </a:moveTo>
                  <a:lnTo>
                    <a:pt x="39012" y="143157"/>
                  </a:lnTo>
                  <a:lnTo>
                    <a:pt x="30213" y="128575"/>
                  </a:lnTo>
                  <a:lnTo>
                    <a:pt x="22348" y="113585"/>
                  </a:lnTo>
                  <a:lnTo>
                    <a:pt x="15521" y="98206"/>
                  </a:lnTo>
                  <a:lnTo>
                    <a:pt x="9830" y="82467"/>
                  </a:lnTo>
                  <a:lnTo>
                    <a:pt x="5364" y="66406"/>
                  </a:lnTo>
                  <a:lnTo>
                    <a:pt x="2200" y="50070"/>
                  </a:lnTo>
                  <a:lnTo>
                    <a:pt x="398" y="33515"/>
                  </a:lnTo>
                  <a:lnTo>
                    <a:pt x="0" y="16803"/>
                  </a:lnTo>
                  <a:lnTo>
                    <a:pt x="1030" y="0"/>
                  </a:lnTo>
                  <a:lnTo>
                    <a:pt x="82529" y="3684"/>
                  </a:lnTo>
                  <a:lnTo>
                    <a:pt x="81512" y="17473"/>
                  </a:lnTo>
                  <a:lnTo>
                    <a:pt x="81738" y="31176"/>
                  </a:lnTo>
                  <a:lnTo>
                    <a:pt x="83187" y="44741"/>
                  </a:lnTo>
                  <a:lnTo>
                    <a:pt x="85824" y="58116"/>
                  </a:lnTo>
                  <a:lnTo>
                    <a:pt x="89594" y="71257"/>
                  </a:lnTo>
                  <a:lnTo>
                    <a:pt x="94434" y="84125"/>
                  </a:lnTo>
                  <a:lnTo>
                    <a:pt x="100265" y="96689"/>
                  </a:lnTo>
                  <a:lnTo>
                    <a:pt x="107002" y="108926"/>
                  </a:lnTo>
                  <a:lnTo>
                    <a:pt x="114553" y="120823"/>
                  </a:lnTo>
                  <a:lnTo>
                    <a:pt x="122826" y="132372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3" name="Ядро эпителиальной клетки"/>
            <p:cNvSpPr/>
            <p:nvPr/>
          </p:nvSpPr>
          <p:spPr>
            <a:xfrm rot="15720000">
              <a:off x="9058988" y="409268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4" name="Клетка однослойного эпителия"/>
            <p:cNvSpPr/>
            <p:nvPr/>
          </p:nvSpPr>
          <p:spPr>
            <a:xfrm>
              <a:off x="9055346" y="3886853"/>
              <a:ext cx="153038" cy="163056"/>
            </a:xfrm>
            <a:custGeom>
              <a:avLst/>
              <a:gdLst/>
              <a:ahLst/>
              <a:cxnLst/>
              <a:rect l="l" t="t" r="r" b="b"/>
              <a:pathLst>
                <a:path w="153038" h="163056">
                  <a:moveTo>
                    <a:pt x="0" y="159372"/>
                  </a:moveTo>
                  <a:lnTo>
                    <a:pt x="2463" y="142546"/>
                  </a:lnTo>
                  <a:lnTo>
                    <a:pt x="6341" y="125765"/>
                  </a:lnTo>
                  <a:lnTo>
                    <a:pt x="11600" y="109098"/>
                  </a:lnTo>
                  <a:lnTo>
                    <a:pt x="18186" y="92606"/>
                  </a:lnTo>
                  <a:lnTo>
                    <a:pt x="26029" y="76348"/>
                  </a:lnTo>
                  <a:lnTo>
                    <a:pt x="35046" y="60373"/>
                  </a:lnTo>
                  <a:lnTo>
                    <a:pt x="45145" y="44723"/>
                  </a:lnTo>
                  <a:lnTo>
                    <a:pt x="56222" y="29430"/>
                  </a:lnTo>
                  <a:lnTo>
                    <a:pt x="68175" y="14519"/>
                  </a:lnTo>
                  <a:lnTo>
                    <a:pt x="80896" y="0"/>
                  </a:lnTo>
                  <a:lnTo>
                    <a:pt x="153038" y="31765"/>
                  </a:lnTo>
                  <a:lnTo>
                    <a:pt x="141864" y="43764"/>
                  </a:lnTo>
                  <a:lnTo>
                    <a:pt x="131356" y="56080"/>
                  </a:lnTo>
                  <a:lnTo>
                    <a:pt x="121606" y="68702"/>
                  </a:lnTo>
                  <a:lnTo>
                    <a:pt x="112707" y="81610"/>
                  </a:lnTo>
                  <a:lnTo>
                    <a:pt x="104745" y="94776"/>
                  </a:lnTo>
                  <a:lnTo>
                    <a:pt x="97803" y="108167"/>
                  </a:lnTo>
                  <a:lnTo>
                    <a:pt x="91954" y="121740"/>
                  </a:lnTo>
                  <a:lnTo>
                    <a:pt x="87258" y="135448"/>
                  </a:lnTo>
                  <a:lnTo>
                    <a:pt x="83763" y="149238"/>
                  </a:lnTo>
                  <a:lnTo>
                    <a:pt x="81499" y="16305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5" name="Ядро эпителиальной клетки"/>
            <p:cNvSpPr/>
            <p:nvPr/>
          </p:nvSpPr>
          <p:spPr>
            <a:xfrm rot="16990588">
              <a:off x="9075672" y="3942608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6" name="Клетка однослойного эпителия"/>
            <p:cNvSpPr/>
            <p:nvPr/>
          </p:nvSpPr>
          <p:spPr>
            <a:xfrm>
              <a:off x="9136242" y="3761194"/>
              <a:ext cx="204829" cy="157424"/>
            </a:xfrm>
            <a:custGeom>
              <a:avLst/>
              <a:gdLst/>
              <a:ahLst/>
              <a:cxnLst/>
              <a:rect l="l" t="t" r="r" b="b"/>
              <a:pathLst>
                <a:path w="204829" h="157424">
                  <a:moveTo>
                    <a:pt x="0" y="125659"/>
                  </a:moveTo>
                  <a:lnTo>
                    <a:pt x="13388" y="111538"/>
                  </a:lnTo>
                  <a:lnTo>
                    <a:pt x="27346" y="97810"/>
                  </a:lnTo>
                  <a:lnTo>
                    <a:pt x="41784" y="84463"/>
                  </a:lnTo>
                  <a:lnTo>
                    <a:pt x="56626" y="71480"/>
                  </a:lnTo>
                  <a:lnTo>
                    <a:pt x="71806" y="58840"/>
                  </a:lnTo>
                  <a:lnTo>
                    <a:pt x="87273" y="46520"/>
                  </a:lnTo>
                  <a:lnTo>
                    <a:pt x="102988" y="34496"/>
                  </a:lnTo>
                  <a:lnTo>
                    <a:pt x="118926" y="22746"/>
                  </a:lnTo>
                  <a:lnTo>
                    <a:pt x="135078" y="11252"/>
                  </a:lnTo>
                  <a:lnTo>
                    <a:pt x="151442" y="0"/>
                  </a:lnTo>
                  <a:lnTo>
                    <a:pt x="204829" y="53277"/>
                  </a:lnTo>
                  <a:lnTo>
                    <a:pt x="190508" y="62623"/>
                  </a:lnTo>
                  <a:lnTo>
                    <a:pt x="176371" y="72166"/>
                  </a:lnTo>
                  <a:lnTo>
                    <a:pt x="162417" y="81917"/>
                  </a:lnTo>
                  <a:lnTo>
                    <a:pt x="148655" y="91892"/>
                  </a:lnTo>
                  <a:lnTo>
                    <a:pt x="135108" y="102107"/>
                  </a:lnTo>
                  <a:lnTo>
                    <a:pt x="121807" y="112583"/>
                  </a:lnTo>
                  <a:lnTo>
                    <a:pt x="108799" y="123337"/>
                  </a:lnTo>
                  <a:lnTo>
                    <a:pt x="96138" y="134387"/>
                  </a:lnTo>
                  <a:lnTo>
                    <a:pt x="83894" y="145747"/>
                  </a:lnTo>
                  <a:lnTo>
                    <a:pt x="72142" y="157424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7" name="Ядро эпителиальной клетки"/>
            <p:cNvSpPr/>
            <p:nvPr/>
          </p:nvSpPr>
          <p:spPr>
            <a:xfrm rot="18261176">
              <a:off x="9194330" y="381235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8" name="Клетка однослойного эпителия"/>
            <p:cNvSpPr/>
            <p:nvPr/>
          </p:nvSpPr>
          <p:spPr>
            <a:xfrm>
              <a:off x="9287684" y="3663648"/>
              <a:ext cx="210301" cy="150823"/>
            </a:xfrm>
            <a:custGeom>
              <a:avLst/>
              <a:gdLst/>
              <a:ahLst/>
              <a:cxnLst/>
              <a:rect l="l" t="t" r="r" b="b"/>
              <a:pathLst>
                <a:path w="210301" h="150823">
                  <a:moveTo>
                    <a:pt x="0" y="97546"/>
                  </a:moveTo>
                  <a:lnTo>
                    <a:pt x="16587" y="86527"/>
                  </a:lnTo>
                  <a:lnTo>
                    <a:pt x="33415" y="75742"/>
                  </a:lnTo>
                  <a:lnTo>
                    <a:pt x="50506" y="65197"/>
                  </a:lnTo>
                  <a:lnTo>
                    <a:pt x="67886" y="54904"/>
                  </a:lnTo>
                  <a:lnTo>
                    <a:pt x="85583" y="44885"/>
                  </a:lnTo>
                  <a:lnTo>
                    <a:pt x="103621" y="35167"/>
                  </a:lnTo>
                  <a:lnTo>
                    <a:pt x="122021" y="25781"/>
                  </a:lnTo>
                  <a:lnTo>
                    <a:pt x="140799" y="16766"/>
                  </a:lnTo>
                  <a:lnTo>
                    <a:pt x="159963" y="8158"/>
                  </a:lnTo>
                  <a:lnTo>
                    <a:pt x="179514" y="0"/>
                  </a:lnTo>
                  <a:lnTo>
                    <a:pt x="210301" y="69532"/>
                  </a:lnTo>
                  <a:lnTo>
                    <a:pt x="193229" y="76364"/>
                  </a:lnTo>
                  <a:lnTo>
                    <a:pt x="176491" y="83561"/>
                  </a:lnTo>
                  <a:lnTo>
                    <a:pt x="160085" y="91090"/>
                  </a:lnTo>
                  <a:lnTo>
                    <a:pt x="144006" y="98919"/>
                  </a:lnTo>
                  <a:lnTo>
                    <a:pt x="128240" y="107019"/>
                  </a:lnTo>
                  <a:lnTo>
                    <a:pt x="112768" y="115363"/>
                  </a:lnTo>
                  <a:lnTo>
                    <a:pt x="97570" y="123930"/>
                  </a:lnTo>
                  <a:lnTo>
                    <a:pt x="82621" y="132702"/>
                  </a:lnTo>
                  <a:lnTo>
                    <a:pt x="67901" y="141668"/>
                  </a:lnTo>
                  <a:lnTo>
                    <a:pt x="53387" y="150823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69" name="Ядро эпителиальной клетки"/>
            <p:cNvSpPr/>
            <p:nvPr/>
          </p:nvSpPr>
          <p:spPr>
            <a:xfrm rot="19531765">
              <a:off x="9348814" y="371066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0" name="Клетка однослойного эпителия"/>
            <p:cNvSpPr/>
            <p:nvPr/>
          </p:nvSpPr>
          <p:spPr>
            <a:xfrm>
              <a:off x="9467198" y="3613340"/>
              <a:ext cx="215558" cy="119840"/>
            </a:xfrm>
            <a:custGeom>
              <a:avLst/>
              <a:gdLst/>
              <a:ahLst/>
              <a:cxnLst/>
              <a:rect l="l" t="t" r="r" b="b"/>
              <a:pathLst>
                <a:path w="215558" h="119840">
                  <a:moveTo>
                    <a:pt x="0" y="50308"/>
                  </a:moveTo>
                  <a:lnTo>
                    <a:pt x="19931" y="42637"/>
                  </a:lnTo>
                  <a:lnTo>
                    <a:pt x="40226" y="35492"/>
                  </a:lnTo>
                  <a:lnTo>
                    <a:pt x="60864" y="28905"/>
                  </a:lnTo>
                  <a:lnTo>
                    <a:pt x="81813" y="22905"/>
                  </a:lnTo>
                  <a:lnTo>
                    <a:pt x="103039" y="17514"/>
                  </a:lnTo>
                  <a:lnTo>
                    <a:pt x="124504" y="12747"/>
                  </a:lnTo>
                  <a:lnTo>
                    <a:pt x="146166" y="8615"/>
                  </a:lnTo>
                  <a:lnTo>
                    <a:pt x="167982" y="5117"/>
                  </a:lnTo>
                  <a:lnTo>
                    <a:pt x="189912" y="2249"/>
                  </a:lnTo>
                  <a:lnTo>
                    <a:pt x="211916" y="0"/>
                  </a:lnTo>
                  <a:lnTo>
                    <a:pt x="215558" y="77060"/>
                  </a:lnTo>
                  <a:lnTo>
                    <a:pt x="196394" y="79062"/>
                  </a:lnTo>
                  <a:lnTo>
                    <a:pt x="177290" y="81571"/>
                  </a:lnTo>
                  <a:lnTo>
                    <a:pt x="158280" y="84597"/>
                  </a:lnTo>
                  <a:lnTo>
                    <a:pt x="139400" y="88142"/>
                  </a:lnTo>
                  <a:lnTo>
                    <a:pt x="120688" y="92205"/>
                  </a:lnTo>
                  <a:lnTo>
                    <a:pt x="102177" y="96778"/>
                  </a:lnTo>
                  <a:lnTo>
                    <a:pt x="83904" y="101850"/>
                  </a:lnTo>
                  <a:lnTo>
                    <a:pt x="65898" y="107400"/>
                  </a:lnTo>
                  <a:lnTo>
                    <a:pt x="48186" y="113406"/>
                  </a:lnTo>
                  <a:lnTo>
                    <a:pt x="30787" y="119840"/>
                  </a:lnTo>
                  <a:close/>
                </a:path>
              </a:pathLst>
            </a:custGeom>
            <a:solidFill>
              <a:srgbClr val="E3D1E5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1" name="Ядро эпителиальной клетки"/>
            <p:cNvSpPr/>
            <p:nvPr/>
          </p:nvSpPr>
          <p:spPr>
            <a:xfrm rot="20802353">
              <a:off x="9532780" y="3639517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2" name="Клетка однослойного эпителия"/>
            <p:cNvSpPr/>
            <p:nvPr/>
          </p:nvSpPr>
          <p:spPr>
            <a:xfrm>
              <a:off x="9679114" y="3610135"/>
              <a:ext cx="218455" cy="84839"/>
            </a:xfrm>
            <a:custGeom>
              <a:avLst/>
              <a:gdLst/>
              <a:ahLst/>
              <a:cxnLst/>
              <a:rect l="l" t="t" r="r" b="b"/>
              <a:pathLst>
                <a:path w="218455" h="84839">
                  <a:moveTo>
                    <a:pt x="0" y="3205"/>
                  </a:moveTo>
                  <a:lnTo>
                    <a:pt x="22044" y="1560"/>
                  </a:lnTo>
                  <a:lnTo>
                    <a:pt x="44095" y="499"/>
                  </a:lnTo>
                  <a:lnTo>
                    <a:pt x="66128" y="0"/>
                  </a:lnTo>
                  <a:lnTo>
                    <a:pt x="88121" y="41"/>
                  </a:lnTo>
                  <a:lnTo>
                    <a:pt x="110056" y="602"/>
                  </a:lnTo>
                  <a:lnTo>
                    <a:pt x="131920" y="1663"/>
                  </a:lnTo>
                  <a:lnTo>
                    <a:pt x="153702" y="3210"/>
                  </a:lnTo>
                  <a:lnTo>
                    <a:pt x="175392" y="5233"/>
                  </a:lnTo>
                  <a:lnTo>
                    <a:pt x="196980" y="7726"/>
                  </a:lnTo>
                  <a:lnTo>
                    <a:pt x="218455" y="10693"/>
                  </a:lnTo>
                  <a:lnTo>
                    <a:pt x="193688" y="84839"/>
                  </a:lnTo>
                  <a:lnTo>
                    <a:pt x="175023" y="82559"/>
                  </a:lnTo>
                  <a:lnTo>
                    <a:pt x="156254" y="80669"/>
                  </a:lnTo>
                  <a:lnTo>
                    <a:pt x="137394" y="79166"/>
                  </a:lnTo>
                  <a:lnTo>
                    <a:pt x="118450" y="78053"/>
                  </a:lnTo>
                  <a:lnTo>
                    <a:pt x="99432" y="77340"/>
                  </a:lnTo>
                  <a:lnTo>
                    <a:pt x="80348" y="77037"/>
                  </a:lnTo>
                  <a:lnTo>
                    <a:pt x="61210" y="77161"/>
                  </a:lnTo>
                  <a:lnTo>
                    <a:pt x="42033" y="77728"/>
                  </a:lnTo>
                  <a:lnTo>
                    <a:pt x="22836" y="78757"/>
                  </a:lnTo>
                  <a:lnTo>
                    <a:pt x="3642" y="80265"/>
                  </a:lnTo>
                  <a:close/>
                </a:path>
              </a:pathLst>
            </a:custGeom>
            <a:solidFill>
              <a:srgbClr val="EDDE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3" name="Ядро эпителиальной клетки"/>
            <p:cNvSpPr/>
            <p:nvPr/>
          </p:nvSpPr>
          <p:spPr>
            <a:xfrm rot="472941">
              <a:off x="9737011" y="3620465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4" name="Клетка однослойного эпителия"/>
            <p:cNvSpPr/>
            <p:nvPr/>
          </p:nvSpPr>
          <p:spPr>
            <a:xfrm>
              <a:off x="9872802" y="3620828"/>
              <a:ext cx="226260" cy="121654"/>
            </a:xfrm>
            <a:custGeom>
              <a:avLst/>
              <a:gdLst/>
              <a:ahLst/>
              <a:cxnLst/>
              <a:rect l="l" t="t" r="r" b="b"/>
              <a:pathLst>
                <a:path w="226260" h="121654">
                  <a:moveTo>
                    <a:pt x="24767" y="0"/>
                  </a:moveTo>
                  <a:lnTo>
                    <a:pt x="46111" y="3449"/>
                  </a:lnTo>
                  <a:lnTo>
                    <a:pt x="67304" y="7392"/>
                  </a:lnTo>
                  <a:lnTo>
                    <a:pt x="88318" y="11851"/>
                  </a:lnTo>
                  <a:lnTo>
                    <a:pt x="109116" y="16849"/>
                  </a:lnTo>
                  <a:lnTo>
                    <a:pt x="129653" y="22413"/>
                  </a:lnTo>
                  <a:lnTo>
                    <a:pt x="149877" y="28572"/>
                  </a:lnTo>
                  <a:lnTo>
                    <a:pt x="169723" y="35354"/>
                  </a:lnTo>
                  <a:lnTo>
                    <a:pt x="189121" y="42787"/>
                  </a:lnTo>
                  <a:lnTo>
                    <a:pt x="207995" y="50892"/>
                  </a:lnTo>
                  <a:lnTo>
                    <a:pt x="226260" y="59689"/>
                  </a:lnTo>
                  <a:lnTo>
                    <a:pt x="174912" y="121654"/>
                  </a:lnTo>
                  <a:lnTo>
                    <a:pt x="159081" y="114570"/>
                  </a:lnTo>
                  <a:lnTo>
                    <a:pt x="142715" y="108058"/>
                  </a:lnTo>
                  <a:lnTo>
                    <a:pt x="125888" y="102101"/>
                  </a:lnTo>
                  <a:lnTo>
                    <a:pt x="108666" y="96681"/>
                  </a:lnTo>
                  <a:lnTo>
                    <a:pt x="91112" y="91775"/>
                  </a:lnTo>
                  <a:lnTo>
                    <a:pt x="73280" y="87359"/>
                  </a:lnTo>
                  <a:lnTo>
                    <a:pt x="55218" y="83409"/>
                  </a:lnTo>
                  <a:lnTo>
                    <a:pt x="36964" y="79903"/>
                  </a:lnTo>
                  <a:lnTo>
                    <a:pt x="18550" y="76821"/>
                  </a:lnTo>
                  <a:lnTo>
                    <a:pt x="0" y="74146"/>
                  </a:lnTo>
                  <a:close/>
                </a:path>
              </a:pathLst>
            </a:custGeom>
            <a:solidFill>
              <a:srgbClr val="E9D8E8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5" name="Ядро эпителиальной клетки"/>
            <p:cNvSpPr/>
            <p:nvPr/>
          </p:nvSpPr>
          <p:spPr>
            <a:xfrm rot="1743529">
              <a:off x="9935779" y="3649134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6" name="Клетка однослойного эпителия"/>
            <p:cNvSpPr/>
            <p:nvPr/>
          </p:nvSpPr>
          <p:spPr>
            <a:xfrm>
              <a:off x="10047714" y="3680517"/>
              <a:ext cx="183514" cy="162590"/>
            </a:xfrm>
            <a:custGeom>
              <a:avLst/>
              <a:gdLst/>
              <a:ahLst/>
              <a:cxnLst/>
              <a:rect l="l" t="t" r="r" b="b"/>
              <a:pathLst>
                <a:path w="183514" h="162590">
                  <a:moveTo>
                    <a:pt x="51348" y="0"/>
                  </a:moveTo>
                  <a:lnTo>
                    <a:pt x="68920" y="9497"/>
                  </a:lnTo>
                  <a:lnTo>
                    <a:pt x="85711" y="19698"/>
                  </a:lnTo>
                  <a:lnTo>
                    <a:pt x="101639" y="30597"/>
                  </a:lnTo>
                  <a:lnTo>
                    <a:pt x="116622" y="42176"/>
                  </a:lnTo>
                  <a:lnTo>
                    <a:pt x="130589" y="54409"/>
                  </a:lnTo>
                  <a:lnTo>
                    <a:pt x="143480" y="67261"/>
                  </a:lnTo>
                  <a:lnTo>
                    <a:pt x="155243" y="80687"/>
                  </a:lnTo>
                  <a:lnTo>
                    <a:pt x="165846" y="94633"/>
                  </a:lnTo>
                  <a:lnTo>
                    <a:pt x="175270" y="109041"/>
                  </a:lnTo>
                  <a:lnTo>
                    <a:pt x="183514" y="123846"/>
                  </a:lnTo>
                  <a:lnTo>
                    <a:pt x="114123" y="162590"/>
                  </a:lnTo>
                  <a:lnTo>
                    <a:pt x="107055" y="150506"/>
                  </a:lnTo>
                  <a:lnTo>
                    <a:pt x="98958" y="138757"/>
                  </a:lnTo>
                  <a:lnTo>
                    <a:pt x="89831" y="127395"/>
                  </a:lnTo>
                  <a:lnTo>
                    <a:pt x="79691" y="116469"/>
                  </a:lnTo>
                  <a:lnTo>
                    <a:pt x="68566" y="106021"/>
                  </a:lnTo>
                  <a:lnTo>
                    <a:pt x="56499" y="96088"/>
                  </a:lnTo>
                  <a:lnTo>
                    <a:pt x="43544" y="86698"/>
                  </a:lnTo>
                  <a:lnTo>
                    <a:pt x="29762" y="77874"/>
                  </a:lnTo>
                  <a:lnTo>
                    <a:pt x="15223" y="69628"/>
                  </a:lnTo>
                  <a:lnTo>
                    <a:pt x="0" y="61965"/>
                  </a:lnTo>
                  <a:close/>
                </a:path>
              </a:pathLst>
            </a:custGeom>
            <a:solidFill>
              <a:srgbClr val="E7D8E9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7" name="Ядро эпителиальной клетки"/>
            <p:cNvSpPr/>
            <p:nvPr/>
          </p:nvSpPr>
          <p:spPr>
            <a:xfrm rot="3014118">
              <a:off x="10099416" y="3731589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8" name="Клетка однослойного эпителия"/>
            <p:cNvSpPr/>
            <p:nvPr/>
          </p:nvSpPr>
          <p:spPr>
            <a:xfrm>
              <a:off x="10161837" y="3804363"/>
              <a:ext cx="98024" cy="166770"/>
            </a:xfrm>
            <a:custGeom>
              <a:avLst/>
              <a:gdLst/>
              <a:ahLst/>
              <a:cxnLst/>
              <a:rect l="l" t="t" r="r" b="b"/>
              <a:pathLst>
                <a:path w="98024" h="166770">
                  <a:moveTo>
                    <a:pt x="69391" y="0"/>
                  </a:moveTo>
                  <a:lnTo>
                    <a:pt x="76470" y="15135"/>
                  </a:lnTo>
                  <a:lnTo>
                    <a:pt x="82419" y="30533"/>
                  </a:lnTo>
                  <a:lnTo>
                    <a:pt x="87286" y="46128"/>
                  </a:lnTo>
                  <a:lnTo>
                    <a:pt x="91136" y="61856"/>
                  </a:lnTo>
                  <a:lnTo>
                    <a:pt x="94043" y="77660"/>
                  </a:lnTo>
                  <a:lnTo>
                    <a:pt x="96093" y="93490"/>
                  </a:lnTo>
                  <a:lnTo>
                    <a:pt x="97377" y="109301"/>
                  </a:lnTo>
                  <a:lnTo>
                    <a:pt x="97990" y="125062"/>
                  </a:lnTo>
                  <a:lnTo>
                    <a:pt x="98024" y="140748"/>
                  </a:lnTo>
                  <a:lnTo>
                    <a:pt x="97570" y="156346"/>
                  </a:lnTo>
                  <a:lnTo>
                    <a:pt x="23400" y="166770"/>
                  </a:lnTo>
                  <a:lnTo>
                    <a:pt x="23907" y="153974"/>
                  </a:lnTo>
                  <a:lnTo>
                    <a:pt x="23990" y="141109"/>
                  </a:lnTo>
                  <a:lnTo>
                    <a:pt x="23569" y="128187"/>
                  </a:lnTo>
                  <a:lnTo>
                    <a:pt x="22565" y="115228"/>
                  </a:lnTo>
                  <a:lnTo>
                    <a:pt x="20895" y="102261"/>
                  </a:lnTo>
                  <a:lnTo>
                    <a:pt x="18479" y="89320"/>
                  </a:lnTo>
                  <a:lnTo>
                    <a:pt x="15242" y="76448"/>
                  </a:lnTo>
                  <a:lnTo>
                    <a:pt x="11118" y="63692"/>
                  </a:lnTo>
                  <a:lnTo>
                    <a:pt x="6052" y="51106"/>
                  </a:lnTo>
                  <a:lnTo>
                    <a:pt x="0" y="38744"/>
                  </a:lnTo>
                  <a:close/>
                </a:path>
              </a:pathLst>
            </a:custGeom>
            <a:solidFill>
              <a:srgbClr val="EADBED"/>
            </a:solidFill>
            <a:ln w="5715">
              <a:solidFill>
                <a:srgbClr val="B599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79" name="Ядро эпителиальной клетки"/>
            <p:cNvSpPr/>
            <p:nvPr/>
          </p:nvSpPr>
          <p:spPr>
            <a:xfrm rot="4284706">
              <a:off x="10171208" y="3864640"/>
              <a:ext cx="93268" cy="60350"/>
            </a:xfrm>
            <a:prstGeom prst="ellipse">
              <a:avLst/>
            </a:prstGeom>
            <a:solidFill>
              <a:srgbClr val="A77EB4"/>
            </a:solidFill>
            <a:ln w="4826">
              <a:solidFill>
                <a:srgbClr val="8F689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0" name="Просвет канальца"/>
            <p:cNvSpPr/>
            <p:nvPr/>
          </p:nvSpPr>
          <p:spPr>
            <a:xfrm>
              <a:off x="9141682" y="3686888"/>
              <a:ext cx="1047900" cy="712427"/>
            </a:xfrm>
            <a:custGeom>
              <a:avLst/>
              <a:gdLst/>
              <a:ahLst/>
              <a:cxnLst/>
              <a:rect l="l" t="t" r="r" b="b"/>
              <a:pathLst>
                <a:path w="1047900" h="712427">
                  <a:moveTo>
                    <a:pt x="1047900" y="283634"/>
                  </a:moveTo>
                  <a:lnTo>
                    <a:pt x="1047242" y="301724"/>
                  </a:lnTo>
                  <a:lnTo>
                    <a:pt x="1045865" y="319739"/>
                  </a:lnTo>
                  <a:lnTo>
                    <a:pt x="1043866" y="337697"/>
                  </a:lnTo>
                  <a:lnTo>
                    <a:pt x="1041294" y="355631"/>
                  </a:lnTo>
                  <a:lnTo>
                    <a:pt x="1038148" y="373577"/>
                  </a:lnTo>
                  <a:lnTo>
                    <a:pt x="1034378" y="391569"/>
                  </a:lnTo>
                  <a:lnTo>
                    <a:pt x="1029890" y="409630"/>
                  </a:lnTo>
                  <a:lnTo>
                    <a:pt x="1024554" y="427766"/>
                  </a:lnTo>
                  <a:lnTo>
                    <a:pt x="1018218" y="445963"/>
                  </a:lnTo>
                  <a:lnTo>
                    <a:pt x="1010718" y="464181"/>
                  </a:lnTo>
                  <a:lnTo>
                    <a:pt x="1001896" y="482355"/>
                  </a:lnTo>
                  <a:lnTo>
                    <a:pt x="991608" y="500399"/>
                  </a:lnTo>
                  <a:lnTo>
                    <a:pt x="979744" y="518205"/>
                  </a:lnTo>
                  <a:lnTo>
                    <a:pt x="966229" y="535656"/>
                  </a:lnTo>
                  <a:lnTo>
                    <a:pt x="951031" y="552626"/>
                  </a:lnTo>
                  <a:lnTo>
                    <a:pt x="934168" y="568994"/>
                  </a:lnTo>
                  <a:lnTo>
                    <a:pt x="915699" y="584645"/>
                  </a:lnTo>
                  <a:lnTo>
                    <a:pt x="895724" y="599481"/>
                  </a:lnTo>
                  <a:lnTo>
                    <a:pt x="874377" y="613425"/>
                  </a:lnTo>
                  <a:lnTo>
                    <a:pt x="851810" y="626424"/>
                  </a:lnTo>
                  <a:lnTo>
                    <a:pt x="828191" y="638447"/>
                  </a:lnTo>
                  <a:lnTo>
                    <a:pt x="803688" y="649487"/>
                  </a:lnTo>
                  <a:lnTo>
                    <a:pt x="778459" y="659557"/>
                  </a:lnTo>
                  <a:lnTo>
                    <a:pt x="752649" y="668683"/>
                  </a:lnTo>
                  <a:lnTo>
                    <a:pt x="726382" y="676898"/>
                  </a:lnTo>
                  <a:lnTo>
                    <a:pt x="699761" y="684239"/>
                  </a:lnTo>
                  <a:lnTo>
                    <a:pt x="672863" y="690736"/>
                  </a:lnTo>
                  <a:lnTo>
                    <a:pt x="645753" y="696409"/>
                  </a:lnTo>
                  <a:lnTo>
                    <a:pt x="618477" y="701266"/>
                  </a:lnTo>
                  <a:lnTo>
                    <a:pt x="591078" y="705295"/>
                  </a:lnTo>
                  <a:lnTo>
                    <a:pt x="563600" y="708470"/>
                  </a:lnTo>
                  <a:lnTo>
                    <a:pt x="536090" y="710752"/>
                  </a:lnTo>
                  <a:lnTo>
                    <a:pt x="508612" y="712089"/>
                  </a:lnTo>
                  <a:lnTo>
                    <a:pt x="481240" y="712427"/>
                  </a:lnTo>
                  <a:lnTo>
                    <a:pt x="454069" y="711712"/>
                  </a:lnTo>
                  <a:lnTo>
                    <a:pt x="427204" y="709899"/>
                  </a:lnTo>
                  <a:lnTo>
                    <a:pt x="400761" y="706957"/>
                  </a:lnTo>
                  <a:lnTo>
                    <a:pt x="374861" y="702875"/>
                  </a:lnTo>
                  <a:lnTo>
                    <a:pt x="349619" y="697662"/>
                  </a:lnTo>
                  <a:lnTo>
                    <a:pt x="325140" y="691354"/>
                  </a:lnTo>
                  <a:lnTo>
                    <a:pt x="301508" y="684007"/>
                  </a:lnTo>
                  <a:lnTo>
                    <a:pt x="278783" y="675698"/>
                  </a:lnTo>
                  <a:lnTo>
                    <a:pt x="256994" y="666518"/>
                  </a:lnTo>
                  <a:lnTo>
                    <a:pt x="236141" y="656568"/>
                  </a:lnTo>
                  <a:lnTo>
                    <a:pt x="216194" y="645948"/>
                  </a:lnTo>
                  <a:lnTo>
                    <a:pt x="197097" y="634753"/>
                  </a:lnTo>
                  <a:lnTo>
                    <a:pt x="178779" y="623065"/>
                  </a:lnTo>
                  <a:lnTo>
                    <a:pt x="161163" y="610946"/>
                  </a:lnTo>
                  <a:lnTo>
                    <a:pt x="144174" y="598438"/>
                  </a:lnTo>
                  <a:lnTo>
                    <a:pt x="127752" y="585557"/>
                  </a:lnTo>
                  <a:lnTo>
                    <a:pt x="111866" y="572297"/>
                  </a:lnTo>
                  <a:lnTo>
                    <a:pt x="96519" y="558630"/>
                  </a:lnTo>
                  <a:lnTo>
                    <a:pt x="81753" y="544518"/>
                  </a:lnTo>
                  <a:lnTo>
                    <a:pt x="67657" y="529909"/>
                  </a:lnTo>
                  <a:lnTo>
                    <a:pt x="54362" y="514755"/>
                  </a:lnTo>
                  <a:lnTo>
                    <a:pt x="42036" y="499013"/>
                  </a:lnTo>
                  <a:lnTo>
                    <a:pt x="30878" y="482658"/>
                  </a:lnTo>
                  <a:lnTo>
                    <a:pt x="21103" y="465683"/>
                  </a:lnTo>
                  <a:lnTo>
                    <a:pt x="12932" y="448109"/>
                  </a:lnTo>
                  <a:lnTo>
                    <a:pt x="6574" y="429983"/>
                  </a:lnTo>
                  <a:lnTo>
                    <a:pt x="2214" y="411382"/>
                  </a:lnTo>
                  <a:lnTo>
                    <a:pt x="0" y="392405"/>
                  </a:lnTo>
                  <a:lnTo>
                    <a:pt x="31" y="373173"/>
                  </a:lnTo>
                  <a:lnTo>
                    <a:pt x="2350" y="353819"/>
                  </a:lnTo>
                  <a:lnTo>
                    <a:pt x="6942" y="334482"/>
                  </a:lnTo>
                  <a:lnTo>
                    <a:pt x="13737" y="315297"/>
                  </a:lnTo>
                  <a:lnTo>
                    <a:pt x="22612" y="296391"/>
                  </a:lnTo>
                  <a:lnTo>
                    <a:pt x="33399" y="277871"/>
                  </a:lnTo>
                  <a:lnTo>
                    <a:pt x="45903" y="259822"/>
                  </a:lnTo>
                  <a:lnTo>
                    <a:pt x="59908" y="242305"/>
                  </a:lnTo>
                  <a:lnTo>
                    <a:pt x="75197" y="225352"/>
                  </a:lnTo>
                  <a:lnTo>
                    <a:pt x="91561" y="208973"/>
                  </a:lnTo>
                  <a:lnTo>
                    <a:pt x="108815" y="193155"/>
                  </a:lnTo>
                  <a:lnTo>
                    <a:pt x="126804" y="177873"/>
                  </a:lnTo>
                  <a:lnTo>
                    <a:pt x="145413" y="163090"/>
                  </a:lnTo>
                  <a:lnTo>
                    <a:pt x="164564" y="148773"/>
                  </a:lnTo>
                  <a:lnTo>
                    <a:pt x="184218" y="134891"/>
                  </a:lnTo>
                  <a:lnTo>
                    <a:pt x="204373" y="121427"/>
                  </a:lnTo>
                  <a:lnTo>
                    <a:pt x="225048" y="108382"/>
                  </a:lnTo>
                  <a:lnTo>
                    <a:pt x="246285" y="95775"/>
                  </a:lnTo>
                  <a:lnTo>
                    <a:pt x="268129" y="83646"/>
                  </a:lnTo>
                  <a:lnTo>
                    <a:pt x="290624" y="72056"/>
                  </a:lnTo>
                  <a:lnTo>
                    <a:pt x="313799" y="61078"/>
                  </a:lnTo>
                  <a:lnTo>
                    <a:pt x="337667" y="50796"/>
                  </a:lnTo>
                  <a:lnTo>
                    <a:pt x="362216" y="41298"/>
                  </a:lnTo>
                  <a:lnTo>
                    <a:pt x="387408" y="32667"/>
                  </a:lnTo>
                  <a:lnTo>
                    <a:pt x="413180" y="24978"/>
                  </a:lnTo>
                  <a:lnTo>
                    <a:pt x="439451" y="18291"/>
                  </a:lnTo>
                  <a:lnTo>
                    <a:pt x="466122" y="12645"/>
                  </a:lnTo>
                  <a:lnTo>
                    <a:pt x="493088" y="8059"/>
                  </a:lnTo>
                  <a:lnTo>
                    <a:pt x="520243" y="4531"/>
                  </a:lnTo>
                  <a:lnTo>
                    <a:pt x="547485" y="2038"/>
                  </a:lnTo>
                  <a:lnTo>
                    <a:pt x="574727" y="543"/>
                  </a:lnTo>
                  <a:lnTo>
                    <a:pt x="601895" y="0"/>
                  </a:lnTo>
                  <a:lnTo>
                    <a:pt x="628933" y="356"/>
                  </a:lnTo>
                  <a:lnTo>
                    <a:pt x="655797" y="1564"/>
                  </a:lnTo>
                  <a:lnTo>
                    <a:pt x="682457" y="3585"/>
                  </a:lnTo>
                  <a:lnTo>
                    <a:pt x="708888" y="6393"/>
                  </a:lnTo>
                  <a:lnTo>
                    <a:pt x="735061" y="9980"/>
                  </a:lnTo>
                  <a:lnTo>
                    <a:pt x="760941" y="14356"/>
                  </a:lnTo>
                  <a:lnTo>
                    <a:pt x="786474" y="19548"/>
                  </a:lnTo>
                  <a:lnTo>
                    <a:pt x="811583" y="25600"/>
                  </a:lnTo>
                  <a:lnTo>
                    <a:pt x="836170" y="32564"/>
                  </a:lnTo>
                  <a:lnTo>
                    <a:pt x="860104" y="40494"/>
                  </a:lnTo>
                  <a:lnTo>
                    <a:pt x="883233" y="49444"/>
                  </a:lnTo>
                  <a:lnTo>
                    <a:pt x="905385" y="59453"/>
                  </a:lnTo>
                  <a:lnTo>
                    <a:pt x="926375" y="70546"/>
                  </a:lnTo>
                  <a:lnTo>
                    <a:pt x="946017" y="82723"/>
                  </a:lnTo>
                  <a:lnTo>
                    <a:pt x="964134" y="95958"/>
                  </a:lnTo>
                  <a:lnTo>
                    <a:pt x="980572" y="110197"/>
                  </a:lnTo>
                  <a:lnTo>
                    <a:pt x="995208" y="125360"/>
                  </a:lnTo>
                  <a:lnTo>
                    <a:pt x="1007962" y="141343"/>
                  </a:lnTo>
                  <a:lnTo>
                    <a:pt x="1018798" y="158022"/>
                  </a:lnTo>
                  <a:lnTo>
                    <a:pt x="1027737" y="175265"/>
                  </a:lnTo>
                  <a:lnTo>
                    <a:pt x="1034844" y="192934"/>
                  </a:lnTo>
                  <a:lnTo>
                    <a:pt x="1040234" y="210899"/>
                  </a:lnTo>
                  <a:lnTo>
                    <a:pt x="1044055" y="229039"/>
                  </a:lnTo>
                  <a:lnTo>
                    <a:pt x="1046482" y="247255"/>
                  </a:lnTo>
                  <a:lnTo>
                    <a:pt x="1047703" y="265470"/>
                  </a:lnTo>
                  <a:close/>
                </a:path>
              </a:pathLst>
            </a:custGeom>
            <a:solidFill>
              <a:srgbClr val="FFFFFF"/>
            </a:solidFill>
            <a:ln w="7620">
              <a:solidFill>
                <a:srgbClr val="B28D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1" name="Перитубулярный капилляр"/>
            <p:cNvSpPr/>
            <p:nvPr/>
          </p:nvSpPr>
          <p:spPr>
            <a:xfrm>
              <a:off x="9797565" y="2324177"/>
              <a:ext cx="240341" cy="456651"/>
            </a:xfrm>
            <a:custGeom>
              <a:avLst/>
              <a:gdLst/>
              <a:ahLst/>
              <a:cxnLst/>
              <a:rect l="l" t="t" r="r" b="b"/>
              <a:pathLst>
                <a:path w="240341" h="456651">
                  <a:moveTo>
                    <a:pt x="236839" y="225442"/>
                  </a:moveTo>
                  <a:lnTo>
                    <a:pt x="239605" y="248683"/>
                  </a:lnTo>
                  <a:lnTo>
                    <a:pt x="240341" y="272059"/>
                  </a:lnTo>
                  <a:lnTo>
                    <a:pt x="239063" y="294896"/>
                  </a:lnTo>
                  <a:lnTo>
                    <a:pt x="235984" y="316652"/>
                  </a:lnTo>
                  <a:lnTo>
                    <a:pt x="231441" y="337015"/>
                  </a:lnTo>
                  <a:lnTo>
                    <a:pt x="225796" y="355915"/>
                  </a:lnTo>
                  <a:lnTo>
                    <a:pt x="219349" y="373441"/>
                  </a:lnTo>
                  <a:lnTo>
                    <a:pt x="212277" y="389724"/>
                  </a:lnTo>
                  <a:lnTo>
                    <a:pt x="204628" y="404806"/>
                  </a:lnTo>
                  <a:lnTo>
                    <a:pt x="196359" y="418560"/>
                  </a:lnTo>
                  <a:lnTo>
                    <a:pt x="187396" y="430688"/>
                  </a:lnTo>
                  <a:lnTo>
                    <a:pt x="177706" y="440795"/>
                  </a:lnTo>
                  <a:lnTo>
                    <a:pt x="167340" y="448518"/>
                  </a:lnTo>
                  <a:lnTo>
                    <a:pt x="156439" y="453657"/>
                  </a:lnTo>
                  <a:lnTo>
                    <a:pt x="145200" y="456265"/>
                  </a:lnTo>
                  <a:lnTo>
                    <a:pt x="133823" y="456651"/>
                  </a:lnTo>
                  <a:lnTo>
                    <a:pt x="122445" y="455298"/>
                  </a:lnTo>
                  <a:lnTo>
                    <a:pt x="111109" y="452713"/>
                  </a:lnTo>
                  <a:lnTo>
                    <a:pt x="99763" y="449257"/>
                  </a:lnTo>
                  <a:lnTo>
                    <a:pt x="88310" y="445014"/>
                  </a:lnTo>
                  <a:lnTo>
                    <a:pt x="76675" y="439740"/>
                  </a:lnTo>
                  <a:lnTo>
                    <a:pt x="64885" y="432922"/>
                  </a:lnTo>
                  <a:lnTo>
                    <a:pt x="53116" y="423925"/>
                  </a:lnTo>
                  <a:lnTo>
                    <a:pt x="41705" y="412183"/>
                  </a:lnTo>
                  <a:lnTo>
                    <a:pt x="31094" y="397389"/>
                  </a:lnTo>
                  <a:lnTo>
                    <a:pt x="21748" y="379611"/>
                  </a:lnTo>
                  <a:lnTo>
                    <a:pt x="14046" y="359299"/>
                  </a:lnTo>
                  <a:lnTo>
                    <a:pt x="8187" y="337199"/>
                  </a:lnTo>
                  <a:lnTo>
                    <a:pt x="4150" y="314175"/>
                  </a:lnTo>
                  <a:lnTo>
                    <a:pt x="1698" y="291012"/>
                  </a:lnTo>
                  <a:lnTo>
                    <a:pt x="453" y="268263"/>
                  </a:lnTo>
                  <a:lnTo>
                    <a:pt x="0" y="246163"/>
                  </a:lnTo>
                  <a:lnTo>
                    <a:pt x="1" y="224661"/>
                  </a:lnTo>
                  <a:lnTo>
                    <a:pt x="278" y="203526"/>
                  </a:lnTo>
                  <a:lnTo>
                    <a:pt x="854" y="182511"/>
                  </a:lnTo>
                  <a:lnTo>
                    <a:pt x="1924" y="161498"/>
                  </a:lnTo>
                  <a:lnTo>
                    <a:pt x="3783" y="140587"/>
                  </a:lnTo>
                  <a:lnTo>
                    <a:pt x="6733" y="120103"/>
                  </a:lnTo>
                  <a:lnTo>
                    <a:pt x="10990" y="100518"/>
                  </a:lnTo>
                  <a:lnTo>
                    <a:pt x="16630" y="82317"/>
                  </a:lnTo>
                  <a:lnTo>
                    <a:pt x="23577" y="65876"/>
                  </a:lnTo>
                  <a:lnTo>
                    <a:pt x="31646" y="51371"/>
                  </a:lnTo>
                  <a:lnTo>
                    <a:pt x="40609" y="38776"/>
                  </a:lnTo>
                  <a:lnTo>
                    <a:pt x="50258" y="27934"/>
                  </a:lnTo>
                  <a:lnTo>
                    <a:pt x="60458" y="18685"/>
                  </a:lnTo>
                  <a:lnTo>
                    <a:pt x="71152" y="10991"/>
                  </a:lnTo>
                  <a:lnTo>
                    <a:pt x="82330" y="5029"/>
                  </a:lnTo>
                  <a:lnTo>
                    <a:pt x="93975" y="1191"/>
                  </a:lnTo>
                  <a:lnTo>
                    <a:pt x="106004" y="0"/>
                  </a:lnTo>
                  <a:lnTo>
                    <a:pt x="118232" y="1962"/>
                  </a:lnTo>
                  <a:lnTo>
                    <a:pt x="130382" y="7394"/>
                  </a:lnTo>
                  <a:lnTo>
                    <a:pt x="142130" y="16294"/>
                  </a:lnTo>
                  <a:lnTo>
                    <a:pt x="153178" y="28292"/>
                  </a:lnTo>
                  <a:lnTo>
                    <a:pt x="163333" y="42709"/>
                  </a:lnTo>
                  <a:lnTo>
                    <a:pt x="172563" y="58704"/>
                  </a:lnTo>
                  <a:lnTo>
                    <a:pt x="180999" y="75472"/>
                  </a:lnTo>
                  <a:lnTo>
                    <a:pt x="188894" y="92431"/>
                  </a:lnTo>
                  <a:lnTo>
                    <a:pt x="196535" y="109342"/>
                  </a:lnTo>
                  <a:lnTo>
                    <a:pt x="204135" y="126323"/>
                  </a:lnTo>
                  <a:lnTo>
                    <a:pt x="211749" y="143759"/>
                  </a:lnTo>
                  <a:lnTo>
                    <a:pt x="219224" y="162133"/>
                  </a:lnTo>
                  <a:lnTo>
                    <a:pt x="226212" y="181834"/>
                  </a:lnTo>
                  <a:lnTo>
                    <a:pt x="232246" y="20299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2" name="Эритроцит в просвете капилляра"/>
            <p:cNvSpPr/>
            <p:nvPr/>
          </p:nvSpPr>
          <p:spPr>
            <a:xfrm rot="21300000">
              <a:off x="9844245" y="2361467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3" name="Центральное просветление эритроцита"/>
            <p:cNvSpPr/>
            <p:nvPr/>
          </p:nvSpPr>
          <p:spPr>
            <a:xfrm rot="21300000">
              <a:off x="9875335" y="240078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4" name="Эритроцит в просвете капилляра"/>
            <p:cNvSpPr/>
            <p:nvPr/>
          </p:nvSpPr>
          <p:spPr>
            <a:xfrm rot="21300000">
              <a:off x="9855403" y="2488996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5" name="Центральное просветление эритроцита"/>
            <p:cNvSpPr/>
            <p:nvPr/>
          </p:nvSpPr>
          <p:spPr>
            <a:xfrm rot="21300000">
              <a:off x="9886492" y="2528315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6" name="Эритроцит в просвете капилляра"/>
            <p:cNvSpPr/>
            <p:nvPr/>
          </p:nvSpPr>
          <p:spPr>
            <a:xfrm rot="21300000">
              <a:off x="9866560" y="2616525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7" name="Центральное просветление эритроцита"/>
            <p:cNvSpPr/>
            <p:nvPr/>
          </p:nvSpPr>
          <p:spPr>
            <a:xfrm rot="21300000">
              <a:off x="9897650" y="26558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8" name="Ядро эндотелия"/>
            <p:cNvSpPr/>
            <p:nvPr/>
          </p:nvSpPr>
          <p:spPr>
            <a:xfrm rot="21300000">
              <a:off x="9981207" y="2472000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89" name="Перитубулярный капилляр"/>
            <p:cNvSpPr/>
            <p:nvPr/>
          </p:nvSpPr>
          <p:spPr>
            <a:xfrm>
              <a:off x="8723979" y="3364947"/>
              <a:ext cx="340428" cy="433871"/>
            </a:xfrm>
            <a:custGeom>
              <a:avLst/>
              <a:gdLst/>
              <a:ahLst/>
              <a:cxnLst/>
              <a:rect l="l" t="t" r="r" b="b"/>
              <a:pathLst>
                <a:path w="340428" h="433871">
                  <a:moveTo>
                    <a:pt x="276101" y="286369"/>
                  </a:moveTo>
                  <a:lnTo>
                    <a:pt x="262953" y="307955"/>
                  </a:lnTo>
                  <a:lnTo>
                    <a:pt x="248123" y="328396"/>
                  </a:lnTo>
                  <a:lnTo>
                    <a:pt x="232070" y="347123"/>
                  </a:lnTo>
                  <a:lnTo>
                    <a:pt x="215317" y="363808"/>
                  </a:lnTo>
                  <a:lnTo>
                    <a:pt x="198333" y="378392"/>
                  </a:lnTo>
                  <a:lnTo>
                    <a:pt x="181451" y="391040"/>
                  </a:lnTo>
                  <a:lnTo>
                    <a:pt x="164844" y="402015"/>
                  </a:lnTo>
                  <a:lnTo>
                    <a:pt x="148566" y="411540"/>
                  </a:lnTo>
                  <a:lnTo>
                    <a:pt x="132628" y="419679"/>
                  </a:lnTo>
                  <a:lnTo>
                    <a:pt x="117079" y="426297"/>
                  </a:lnTo>
                  <a:lnTo>
                    <a:pt x="102057" y="431094"/>
                  </a:lnTo>
                  <a:lnTo>
                    <a:pt x="87797" y="433712"/>
                  </a:lnTo>
                  <a:lnTo>
                    <a:pt x="74577" y="433871"/>
                  </a:lnTo>
                  <a:lnTo>
                    <a:pt x="62641" y="431489"/>
                  </a:lnTo>
                  <a:lnTo>
                    <a:pt x="52109" y="426734"/>
                  </a:lnTo>
                  <a:lnTo>
                    <a:pt x="42932" y="419992"/>
                  </a:lnTo>
                  <a:lnTo>
                    <a:pt x="34901" y="411764"/>
                  </a:lnTo>
                  <a:lnTo>
                    <a:pt x="27715" y="402509"/>
                  </a:lnTo>
                  <a:lnTo>
                    <a:pt x="21095" y="392503"/>
                  </a:lnTo>
                  <a:lnTo>
                    <a:pt x="14911" y="381757"/>
                  </a:lnTo>
                  <a:lnTo>
                    <a:pt x="9262" y="370018"/>
                  </a:lnTo>
                  <a:lnTo>
                    <a:pt x="4509" y="356862"/>
                  </a:lnTo>
                  <a:lnTo>
                    <a:pt x="1210" y="341856"/>
                  </a:lnTo>
                  <a:lnTo>
                    <a:pt x="0" y="324726"/>
                  </a:lnTo>
                  <a:lnTo>
                    <a:pt x="1429" y="305486"/>
                  </a:lnTo>
                  <a:lnTo>
                    <a:pt x="5817" y="284479"/>
                  </a:lnTo>
                  <a:lnTo>
                    <a:pt x="13163" y="262328"/>
                  </a:lnTo>
                  <a:lnTo>
                    <a:pt x="23134" y="239795"/>
                  </a:lnTo>
                  <a:lnTo>
                    <a:pt x="35142" y="217603"/>
                  </a:lnTo>
                  <a:lnTo>
                    <a:pt x="48485" y="196279"/>
                  </a:lnTo>
                  <a:lnTo>
                    <a:pt x="62502" y="176058"/>
                  </a:lnTo>
                  <a:lnTo>
                    <a:pt x="76712" y="156885"/>
                  </a:lnTo>
                  <a:lnTo>
                    <a:pt x="90884" y="138504"/>
                  </a:lnTo>
                  <a:lnTo>
                    <a:pt x="105031" y="120609"/>
                  </a:lnTo>
                  <a:lnTo>
                    <a:pt x="119333" y="103003"/>
                  </a:lnTo>
                  <a:lnTo>
                    <a:pt x="134021" y="85704"/>
                  </a:lnTo>
                  <a:lnTo>
                    <a:pt x="149261" y="68984"/>
                  </a:lnTo>
                  <a:lnTo>
                    <a:pt x="165074" y="53307"/>
                  </a:lnTo>
                  <a:lnTo>
                    <a:pt x="181321" y="39210"/>
                  </a:lnTo>
                  <a:lnTo>
                    <a:pt x="197739" y="27156"/>
                  </a:lnTo>
                  <a:lnTo>
                    <a:pt x="214023" y="17419"/>
                  </a:lnTo>
                  <a:lnTo>
                    <a:pt x="229911" y="10035"/>
                  </a:lnTo>
                  <a:lnTo>
                    <a:pt x="245240" y="4838"/>
                  </a:lnTo>
                  <a:lnTo>
                    <a:pt x="259952" y="1567"/>
                  </a:lnTo>
                  <a:lnTo>
                    <a:pt x="274048" y="0"/>
                  </a:lnTo>
                  <a:lnTo>
                    <a:pt x="287505" y="70"/>
                  </a:lnTo>
                  <a:lnTo>
                    <a:pt x="300200" y="1921"/>
                  </a:lnTo>
                  <a:lnTo>
                    <a:pt x="311862" y="5877"/>
                  </a:lnTo>
                  <a:lnTo>
                    <a:pt x="322079" y="12335"/>
                  </a:lnTo>
                  <a:lnTo>
                    <a:pt x="330376" y="21612"/>
                  </a:lnTo>
                  <a:lnTo>
                    <a:pt x="336325" y="33807"/>
                  </a:lnTo>
                  <a:lnTo>
                    <a:pt x="339672" y="48716"/>
                  </a:lnTo>
                  <a:lnTo>
                    <a:pt x="340428" y="65839"/>
                  </a:lnTo>
                  <a:lnTo>
                    <a:pt x="338891" y="84475"/>
                  </a:lnTo>
                  <a:lnTo>
                    <a:pt x="335587" y="103885"/>
                  </a:lnTo>
                  <a:lnTo>
                    <a:pt x="331151" y="123462"/>
                  </a:lnTo>
                  <a:lnTo>
                    <a:pt x="326165" y="142867"/>
                  </a:lnTo>
                  <a:lnTo>
                    <a:pt x="321012" y="162071"/>
                  </a:lnTo>
                  <a:lnTo>
                    <a:pt x="315781" y="181311"/>
                  </a:lnTo>
                  <a:lnTo>
                    <a:pt x="310260" y="200948"/>
                  </a:lnTo>
                  <a:lnTo>
                    <a:pt x="304012" y="221301"/>
                  </a:lnTo>
                  <a:lnTo>
                    <a:pt x="296508" y="242486"/>
                  </a:lnTo>
                  <a:lnTo>
                    <a:pt x="287291" y="264329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0" name="Эритроцит в просвете капилляра"/>
            <p:cNvSpPr/>
            <p:nvPr/>
          </p:nvSpPr>
          <p:spPr>
            <a:xfrm rot="1980000">
              <a:off x="8910141" y="3405761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1" name="Центральное просветление эритроцита"/>
            <p:cNvSpPr/>
            <p:nvPr/>
          </p:nvSpPr>
          <p:spPr>
            <a:xfrm rot="1980000">
              <a:off x="8941231" y="344508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2" name="Эритроцит в просвете капилляра"/>
            <p:cNvSpPr/>
            <p:nvPr/>
          </p:nvSpPr>
          <p:spPr>
            <a:xfrm rot="1980000">
              <a:off x="8840419" y="351312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3" name="Центральное просветление эритроцита"/>
            <p:cNvSpPr/>
            <p:nvPr/>
          </p:nvSpPr>
          <p:spPr>
            <a:xfrm rot="1980000">
              <a:off x="8871508" y="3552444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4" name="Эритроцит в просвете капилляра"/>
            <p:cNvSpPr/>
            <p:nvPr/>
          </p:nvSpPr>
          <p:spPr>
            <a:xfrm rot="1980000">
              <a:off x="8770696" y="3620488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5" name="Центральное просветление эритроцита"/>
            <p:cNvSpPr/>
            <p:nvPr/>
          </p:nvSpPr>
          <p:spPr>
            <a:xfrm rot="1980000">
              <a:off x="8801786" y="3659807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6" name="Ядро эндотелия"/>
            <p:cNvSpPr/>
            <p:nvPr/>
          </p:nvSpPr>
          <p:spPr>
            <a:xfrm rot="1980000">
              <a:off x="8950379" y="3559677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7" name="Перитубулярный капилляр"/>
            <p:cNvSpPr/>
            <p:nvPr/>
          </p:nvSpPr>
          <p:spPr>
            <a:xfrm>
              <a:off x="10758365" y="3759893"/>
              <a:ext cx="299872" cy="489520"/>
            </a:xfrm>
            <a:custGeom>
              <a:avLst/>
              <a:gdLst/>
              <a:ahLst/>
              <a:cxnLst/>
              <a:rect l="l" t="t" r="r" b="b"/>
              <a:pathLst>
                <a:path w="299872" h="489520">
                  <a:moveTo>
                    <a:pt x="253140" y="206427"/>
                  </a:moveTo>
                  <a:lnTo>
                    <a:pt x="265219" y="230736"/>
                  </a:lnTo>
                  <a:lnTo>
                    <a:pt x="275575" y="255795"/>
                  </a:lnTo>
                  <a:lnTo>
                    <a:pt x="283943" y="280868"/>
                  </a:lnTo>
                  <a:lnTo>
                    <a:pt x="290284" y="305307"/>
                  </a:lnTo>
                  <a:lnTo>
                    <a:pt x="294764" y="328676"/>
                  </a:lnTo>
                  <a:lnTo>
                    <a:pt x="297670" y="350789"/>
                  </a:lnTo>
                  <a:lnTo>
                    <a:pt x="299303" y="371655"/>
                  </a:lnTo>
                  <a:lnTo>
                    <a:pt x="299872" y="391363"/>
                  </a:lnTo>
                  <a:lnTo>
                    <a:pt x="299437" y="409942"/>
                  </a:lnTo>
                  <a:lnTo>
                    <a:pt x="297906" y="427271"/>
                  </a:lnTo>
                  <a:lnTo>
                    <a:pt x="295092" y="443047"/>
                  </a:lnTo>
                  <a:lnTo>
                    <a:pt x="290802" y="456854"/>
                  </a:lnTo>
                  <a:lnTo>
                    <a:pt x="284928" y="468283"/>
                  </a:lnTo>
                  <a:lnTo>
                    <a:pt x="277512" y="477079"/>
                  </a:lnTo>
                  <a:lnTo>
                    <a:pt x="268749" y="483236"/>
                  </a:lnTo>
                  <a:lnTo>
                    <a:pt x="258941" y="487033"/>
                  </a:lnTo>
                  <a:lnTo>
                    <a:pt x="248411" y="488949"/>
                  </a:lnTo>
                  <a:lnTo>
                    <a:pt x="237404" y="489520"/>
                  </a:lnTo>
                  <a:lnTo>
                    <a:pt x="226028" y="489153"/>
                  </a:lnTo>
                  <a:lnTo>
                    <a:pt x="214231" y="487966"/>
                  </a:lnTo>
                  <a:lnTo>
                    <a:pt x="201846" y="485718"/>
                  </a:lnTo>
                  <a:lnTo>
                    <a:pt x="188683" y="481848"/>
                  </a:lnTo>
                  <a:lnTo>
                    <a:pt x="174635" y="475614"/>
                  </a:lnTo>
                  <a:lnTo>
                    <a:pt x="159759" y="466307"/>
                  </a:lnTo>
                  <a:lnTo>
                    <a:pt x="144316" y="453462"/>
                  </a:lnTo>
                  <a:lnTo>
                    <a:pt x="128742" y="437013"/>
                  </a:lnTo>
                  <a:lnTo>
                    <a:pt x="113554" y="417338"/>
                  </a:lnTo>
                  <a:lnTo>
                    <a:pt x="99240" y="395181"/>
                  </a:lnTo>
                  <a:lnTo>
                    <a:pt x="86137" y="371483"/>
                  </a:lnTo>
                  <a:lnTo>
                    <a:pt x="74366" y="347165"/>
                  </a:lnTo>
                  <a:lnTo>
                    <a:pt x="63824" y="322936"/>
                  </a:lnTo>
                  <a:lnTo>
                    <a:pt x="54245" y="299173"/>
                  </a:lnTo>
                  <a:lnTo>
                    <a:pt x="45312" y="275922"/>
                  </a:lnTo>
                  <a:lnTo>
                    <a:pt x="36775" y="252986"/>
                  </a:lnTo>
                  <a:lnTo>
                    <a:pt x="28549" y="230092"/>
                  </a:lnTo>
                  <a:lnTo>
                    <a:pt x="20756" y="207052"/>
                  </a:lnTo>
                  <a:lnTo>
                    <a:pt x="13697" y="183889"/>
                  </a:lnTo>
                  <a:lnTo>
                    <a:pt x="7772" y="160863"/>
                  </a:lnTo>
                  <a:lnTo>
                    <a:pt x="3365" y="138420"/>
                  </a:lnTo>
                  <a:lnTo>
                    <a:pt x="744" y="117065"/>
                  </a:lnTo>
                  <a:lnTo>
                    <a:pt x="0" y="97223"/>
                  </a:lnTo>
                  <a:lnTo>
                    <a:pt x="1044" y="79142"/>
                  </a:lnTo>
                  <a:lnTo>
                    <a:pt x="3663" y="62861"/>
                  </a:lnTo>
                  <a:lnTo>
                    <a:pt x="7613" y="48272"/>
                  </a:lnTo>
                  <a:lnTo>
                    <a:pt x="12707" y="35241"/>
                  </a:lnTo>
                  <a:lnTo>
                    <a:pt x="18880" y="23746"/>
                  </a:lnTo>
                  <a:lnTo>
                    <a:pt x="26197" y="13979"/>
                  </a:lnTo>
                  <a:lnTo>
                    <a:pt x="34805" y="6371"/>
                  </a:lnTo>
                  <a:lnTo>
                    <a:pt x="44848" y="1511"/>
                  </a:lnTo>
                  <a:lnTo>
                    <a:pt x="56377" y="0"/>
                  </a:lnTo>
                  <a:lnTo>
                    <a:pt x="69279" y="2265"/>
                  </a:lnTo>
                  <a:lnTo>
                    <a:pt x="83269" y="8399"/>
                  </a:lnTo>
                  <a:lnTo>
                    <a:pt x="97934" y="18092"/>
                  </a:lnTo>
                  <a:lnTo>
                    <a:pt x="112821" y="30665"/>
                  </a:lnTo>
                  <a:lnTo>
                    <a:pt x="127552" y="45220"/>
                  </a:lnTo>
                  <a:lnTo>
                    <a:pt x="141910" y="60846"/>
                  </a:lnTo>
                  <a:lnTo>
                    <a:pt x="155873" y="76839"/>
                  </a:lnTo>
                  <a:lnTo>
                    <a:pt x="169593" y="92856"/>
                  </a:lnTo>
                  <a:lnTo>
                    <a:pt x="183307" y="108960"/>
                  </a:lnTo>
                  <a:lnTo>
                    <a:pt x="197221" y="125553"/>
                  </a:lnTo>
                  <a:lnTo>
                    <a:pt x="211404" y="143201"/>
                  </a:lnTo>
                  <a:lnTo>
                    <a:pt x="225712" y="162429"/>
                  </a:lnTo>
                  <a:lnTo>
                    <a:pt x="239791" y="183523"/>
                  </a:lnTo>
                  <a:close/>
                </a:path>
              </a:pathLst>
            </a:custGeom>
            <a:solidFill>
              <a:srgbClr val="F7DEDC"/>
            </a:solidFill>
            <a:ln w="9525">
              <a:solidFill>
                <a:srgbClr val="D68E9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8" name="Эритроцит в просвете капилляра"/>
            <p:cNvSpPr/>
            <p:nvPr/>
          </p:nvSpPr>
          <p:spPr>
            <a:xfrm rot="20100000">
              <a:off x="10797997" y="3826870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99" name="Центральное просветление эритроцита"/>
            <p:cNvSpPr/>
            <p:nvPr/>
          </p:nvSpPr>
          <p:spPr>
            <a:xfrm rot="20100000">
              <a:off x="10829086" y="3866190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0" name="Эритроцит в просвете капилляра"/>
            <p:cNvSpPr/>
            <p:nvPr/>
          </p:nvSpPr>
          <p:spPr>
            <a:xfrm rot="20100000">
              <a:off x="10852099" y="3942892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1" name="Центральное просветление эритроцита"/>
            <p:cNvSpPr/>
            <p:nvPr/>
          </p:nvSpPr>
          <p:spPr>
            <a:xfrm rot="20100000">
              <a:off x="10883188" y="3982212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2" name="Эритроцит в просвете капилляра"/>
            <p:cNvSpPr/>
            <p:nvPr/>
          </p:nvSpPr>
          <p:spPr>
            <a:xfrm rot="20100000">
              <a:off x="10906201" y="4058914"/>
              <a:ext cx="113385" cy="142646"/>
            </a:xfrm>
            <a:prstGeom prst="ellipse">
              <a:avLst/>
            </a:prstGeom>
            <a:solidFill>
              <a:srgbClr val="CB7770"/>
            </a:solidFill>
            <a:ln w="4445">
              <a:solidFill>
                <a:srgbClr val="B8646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3" name="Центральное просветление эритроцита"/>
            <p:cNvSpPr/>
            <p:nvPr/>
          </p:nvSpPr>
          <p:spPr>
            <a:xfrm rot="20100000">
              <a:off x="10937290" y="4098233"/>
              <a:ext cx="51206" cy="64008"/>
            </a:xfrm>
            <a:prstGeom prst="ellipse">
              <a:avLst/>
            </a:prstGeom>
            <a:solidFill>
              <a:srgbClr val="EFA6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04" name="Ядро эндотелия"/>
            <p:cNvSpPr/>
            <p:nvPr/>
          </p:nvSpPr>
          <p:spPr>
            <a:xfrm rot="20100000">
              <a:off x="10960575" y="3896018"/>
              <a:ext cx="62179" cy="159105"/>
            </a:xfrm>
            <a:prstGeom prst="ellipse">
              <a:avLst/>
            </a:prstGeom>
            <a:solidFill>
              <a:srgbClr val="9F759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</p:grpSp>
      <p:sp>
        <p:nvSpPr>
          <p:cNvPr id="705" name="Просвет"/>
          <p:cNvSpPr txBox="1"/>
          <p:nvPr/>
        </p:nvSpPr>
        <p:spPr>
          <a:xfrm>
            <a:off x="932688" y="2578608"/>
            <a:ext cx="832104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</p:txBody>
      </p:sp>
      <p:sp>
        <p:nvSpPr>
          <p:cNvPr id="706" name="Капилляр"/>
          <p:cNvSpPr txBox="1"/>
          <p:nvPr/>
        </p:nvSpPr>
        <p:spPr>
          <a:xfrm>
            <a:off x="1645920" y="1755648"/>
            <a:ext cx="1060704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Капилляр</a:t>
            </a:r>
          </a:p>
        </p:txBody>
      </p:sp>
      <p:cxnSp>
        <p:nvCxnSpPr>
          <p:cNvPr id="707" name="Указатель"/>
          <p:cNvCxnSpPr/>
          <p:nvPr/>
        </p:nvCxnSpPr>
        <p:spPr>
          <a:xfrm flipH="1">
            <a:off x="2148840" y="1984248"/>
            <a:ext cx="18288" cy="347472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8" name="Эпителий"/>
          <p:cNvSpPr txBox="1"/>
          <p:nvPr/>
        </p:nvSpPr>
        <p:spPr>
          <a:xfrm>
            <a:off x="539496" y="4736592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</a:t>
            </a:r>
          </a:p>
        </p:txBody>
      </p:sp>
      <p:cxnSp>
        <p:nvCxnSpPr>
          <p:cNvPr id="709" name="Указатель"/>
          <p:cNvCxnSpPr/>
          <p:nvPr/>
        </p:nvCxnSpPr>
        <p:spPr>
          <a:xfrm flipV="1">
            <a:off x="1545336" y="4471416"/>
            <a:ext cx="73152" cy="274320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0" name="Интерстиций"/>
          <p:cNvSpPr txBox="1"/>
          <p:nvPr/>
        </p:nvSpPr>
        <p:spPr>
          <a:xfrm>
            <a:off x="2478024" y="4727448"/>
            <a:ext cx="144475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Интерстиций</a:t>
            </a:r>
          </a:p>
        </p:txBody>
      </p:sp>
      <p:cxnSp>
        <p:nvCxnSpPr>
          <p:cNvPr id="711" name="Указатель"/>
          <p:cNvCxnSpPr/>
          <p:nvPr/>
        </p:nvCxnSpPr>
        <p:spPr>
          <a:xfrm flipV="1">
            <a:off x="2752344" y="4471416"/>
            <a:ext cx="36576" cy="246888"/>
          </a:xfrm>
          <a:prstGeom prst="line">
            <a:avLst/>
          </a:prstGeom>
          <a:ln w="10795">
            <a:solidFill>
              <a:srgbClr val="586875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2" name="Воспалительные клетки"/>
          <p:cNvSpPr txBox="1"/>
          <p:nvPr/>
        </p:nvSpPr>
        <p:spPr>
          <a:xfrm>
            <a:off x="4480559" y="4736592"/>
            <a:ext cx="3273552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Воспалительные клетки</a:t>
            </a:r>
          </a:p>
        </p:txBody>
      </p:sp>
      <p:cxnSp>
        <p:nvCxnSpPr>
          <p:cNvPr id="713" name="Указатель"/>
          <p:cNvCxnSpPr/>
          <p:nvPr/>
        </p:nvCxnSpPr>
        <p:spPr>
          <a:xfrm flipH="1" flipV="1">
            <a:off x="5002579" y="4409593"/>
            <a:ext cx="319229" cy="308711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4" name="Межклеточный матрикс"/>
          <p:cNvSpPr txBox="1"/>
          <p:nvPr/>
        </p:nvSpPr>
        <p:spPr>
          <a:xfrm>
            <a:off x="8439912" y="175564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Межклеточный матрикс</a:t>
            </a:r>
          </a:p>
        </p:txBody>
      </p:sp>
      <p:cxnSp>
        <p:nvCxnSpPr>
          <p:cNvPr id="715" name="Указатель"/>
          <p:cNvCxnSpPr/>
          <p:nvPr/>
        </p:nvCxnSpPr>
        <p:spPr>
          <a:xfrm flipH="1">
            <a:off x="10731500" y="2019300"/>
            <a:ext cx="0" cy="304800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6" name="Уплощённый эпителий"/>
          <p:cNvSpPr txBox="1"/>
          <p:nvPr/>
        </p:nvSpPr>
        <p:spPr>
          <a:xfrm>
            <a:off x="8394192" y="4736592"/>
            <a:ext cx="16510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Уплощённый эпителий</a:t>
            </a:r>
          </a:p>
        </p:txBody>
      </p:sp>
      <p:cxnSp>
        <p:nvCxnSpPr>
          <p:cNvPr id="717" name="Указатель"/>
          <p:cNvCxnSpPr/>
          <p:nvPr/>
        </p:nvCxnSpPr>
        <p:spPr>
          <a:xfrm flipV="1">
            <a:off x="9573768" y="4425696"/>
            <a:ext cx="164592" cy="283464"/>
          </a:xfrm>
          <a:prstGeom prst="line">
            <a:avLst/>
          </a:prstGeom>
          <a:ln w="10795">
            <a:solidFill>
              <a:srgbClr val="30303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5" name="Метка_миофибробласты"/>
          <p:cNvSpPr txBox="1"/>
          <p:nvPr/>
        </p:nvSpPr>
        <p:spPr>
          <a:xfrm>
            <a:off x="10160000" y="4737100"/>
            <a:ext cx="15240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Миофибробласты</a:t>
            </a:r>
          </a:p>
        </p:txBody>
      </p:sp>
      <p:cxnSp>
        <p:nvCxnSpPr>
          <p:cNvPr id="726" name="Указатель_миофибробласты"/>
          <p:cNvCxnSpPr/>
          <p:nvPr/>
        </p:nvCxnSpPr>
        <p:spPr>
          <a:xfrm flipH="1" flipV="1">
            <a:off x="10629900" y="4483100"/>
            <a:ext cx="114300" cy="2794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727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Nguyen D, et al. Nephrology. 2006;11:226–231. Kuppe C, et al. Nature. 2021;589:281–286. Cohen Tervaert TW, et al. J Am Soc Nephrol. 2010;21:556–563. Финеренон-Орвилле. Инструкция по медицинскому применению (механизм действия).</a:t>
            </a:r>
            <a:endParaRPr lang="ru-RU" sz="800" b="0" dirty="0"/>
          </a:p>
        </p:txBody>
      </p:sp>
      <p:pic>
        <p:nvPicPr>
          <p:cNvPr id="728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729" name="Плашка: Сохранная ткань"/>
          <p:cNvSpPr/>
          <p:nvPr/>
        </p:nvSpPr>
        <p:spPr>
          <a:xfrm>
            <a:off x="5080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Сохранная ткань</a:t>
            </a:r>
          </a:p>
        </p:txBody>
      </p:sp>
      <p:sp>
        <p:nvSpPr>
          <p:cNvPr id="730" name="Плашка: Воспаление"/>
          <p:cNvSpPr/>
          <p:nvPr/>
        </p:nvSpPr>
        <p:spPr>
          <a:xfrm>
            <a:off x="43942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Воспаление</a:t>
            </a:r>
          </a:p>
        </p:txBody>
      </p:sp>
      <p:sp>
        <p:nvSpPr>
          <p:cNvPr id="731" name="Плашка: Фиброз и атрофия"/>
          <p:cNvSpPr/>
          <p:nvPr/>
        </p:nvSpPr>
        <p:spPr>
          <a:xfrm>
            <a:off x="8280400" y="1295400"/>
            <a:ext cx="34036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Фиброз и атрофия</a:t>
            </a:r>
          </a:p>
        </p:txBody>
      </p:sp>
      <p:sp>
        <p:nvSpPr>
          <p:cNvPr id="732" name="Карточка: Эпителий образует один с"/>
          <p:cNvSpPr/>
          <p:nvPr/>
        </p:nvSpPr>
        <p:spPr>
          <a:xfrm>
            <a:off x="5080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 образует один слой. Между канальцами лежит интерстиций, в нём проходят сосуды.</a:t>
            </a:r>
          </a:p>
        </p:txBody>
      </p:sp>
      <p:sp>
        <p:nvSpPr>
          <p:cNvPr id="733" name="Карточка: Воспалительные клетки ск"/>
          <p:cNvSpPr/>
          <p:nvPr/>
        </p:nvSpPr>
        <p:spPr>
          <a:xfrm>
            <a:off x="43942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Воспалительные клетки скапливаются в интерстиции рядом с канальцами и сосудами.</a:t>
            </a:r>
          </a:p>
        </p:txBody>
      </p:sp>
      <p:sp>
        <p:nvSpPr>
          <p:cNvPr id="734" name="Карточка: При фиброзе накапливаетс"/>
          <p:cNvSpPr/>
          <p:nvPr/>
        </p:nvSpPr>
        <p:spPr>
          <a:xfrm>
            <a:off x="8280400" y="5054600"/>
            <a:ext cx="3403600" cy="660400"/>
          </a:xfrm>
          <a:prstGeom prst="roundRect">
            <a:avLst>
              <a:gd name="adj" fmla="val 1538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01600" rIns="101600" tIns="12700" bIns="12700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При фиброзе накапливается матрикс. При атрофии уменьшается высота эпителия канальцев.</a:t>
            </a:r>
          </a:p>
        </p:txBody>
      </p:sp>
      <p:sp>
        <p:nvSpPr>
          <p:cNvPr id="735" name="Плашка: МКР и финеренон"/>
          <p:cNvSpPr/>
          <p:nvPr/>
        </p:nvSpPr>
        <p:spPr>
          <a:xfrm>
            <a:off x="508000" y="5816600"/>
            <a:ext cx="11176000" cy="3556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Избыточная активация МКР поддерживает воспаление и фиброз. Финеренон блокирует этот рецептор.</a:t>
            </a:r>
          </a:p>
        </p:txBody>
      </p:sp>
      <p:sp>
        <p:nvSpPr>
          <p:cNvPr id="73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МКР: минералокортикоидный рецептор. Миофибробласты: клетки, которые образуют межклеточный матрикс.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_1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Сердце и почки связаны: сердечная недостаточность ухудшает работу почек</a:t>
            </a:r>
          </a:p>
        </p:txBody>
      </p:sp>
      <p:sp>
        <p:nvSpPr>
          <p:cNvPr id="9" name="classification_1"/>
          <p:cNvSpPr txBox="1"/>
          <p:nvPr/>
        </p:nvSpPr>
        <p:spPr>
          <a:xfrm>
            <a:off x="457200" y="841248"/>
            <a:ext cx="1115568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Кардиоренальный синдром: болезнь сердца ухудшает работу почек</a:t>
            </a:r>
          </a:p>
        </p:txBody>
      </p:sp>
      <p:sp>
        <p:nvSpPr>
          <p:cNvPr id="10" name="clinical_context_1"/>
          <p:cNvSpPr txBox="1"/>
          <p:nvPr/>
        </p:nvSpPr>
        <p:spPr>
          <a:xfrm>
            <a:off x="457200" y="1234440"/>
            <a:ext cx="11082528" cy="279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диабете 2 типа и артериальной гипертензии оба органа могут повреждаться одновременно.</a:t>
            </a:r>
          </a:p>
        </p:txBody>
      </p:sp>
      <p:sp>
        <p:nvSpPr>
          <p:cNvPr id="11" name="heart_source_label"/>
          <p:cNvSpPr txBox="1"/>
          <p:nvPr/>
        </p:nvSpPr>
        <p:spPr>
          <a:xfrm>
            <a:off x="274320" y="1956816"/>
            <a:ext cx="1673352" cy="8686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сердечная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недостаточность</a:t>
            </a:r>
          </a:p>
        </p:txBody>
      </p:sp>
      <p:sp>
        <p:nvSpPr>
          <p:cNvPr id="37" name="kidney_target_label"/>
          <p:cNvSpPr txBox="1"/>
          <p:nvPr/>
        </p:nvSpPr>
        <p:spPr>
          <a:xfrm>
            <a:off x="8741664" y="1920240"/>
            <a:ext cx="2880360" cy="62179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болезнь почек</a:t>
            </a:r>
          </a:p>
        </p:txBody>
      </p:sp>
      <p:sp>
        <p:nvSpPr>
          <p:cNvPr id="39" name="kidney_changes"/>
          <p:cNvSpPr txBox="1"/>
          <p:nvPr/>
        </p:nvSpPr>
        <p:spPr>
          <a:xfrm>
            <a:off x="8796528" y="3867912"/>
            <a:ext cx="2825496" cy="218541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Недостаточное кровоснабжение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почечного кровотока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Венозный застой в почках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клубочковой фильтрации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Гибель клеток почки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Фиброз и склероз</a:t>
            </a:r>
          </a:p>
        </p:txBody>
      </p:sp>
      <p:pic>
        <p:nvPicPr>
          <p:cNvPr id="40" name="Сердц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84" y="2971800"/>
            <a:ext cx="1039047" cy="1362248"/>
          </a:xfrm>
          <a:prstGeom prst="rect">
            <a:avLst/>
          </a:prstGeom>
        </p:spPr>
      </p:pic>
      <p:pic>
        <p:nvPicPr>
          <p:cNvPr id="41" name="Почка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8089" y="2606040"/>
            <a:ext cx="739493" cy="1123683"/>
          </a:xfrm>
          <a:prstGeom prst="rect">
            <a:avLst/>
          </a:prstGeom>
        </p:spPr>
      </p:pic>
      <p:sp>
        <p:nvSpPr>
          <p:cNvPr id="42" name="Источники"/>
          <p:cNvSpPr txBox="1"/>
          <p:nvPr/>
        </p:nvSpPr>
        <p:spPr>
          <a:xfrm>
            <a:off x="457200" y="6631940"/>
            <a:ext cx="10795000" cy="14986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Kumar U, et al. Cardiol Clin. 2019;37:251–265. Иллюстрации: Servier Medical Art.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43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5" name="pathway_2_1"/>
          <p:cNvSpPr/>
          <p:nvPr/>
        </p:nvSpPr>
        <p:spPr>
          <a:xfrm>
            <a:off x="2159000" y="18796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сердечного выброса. Дисфункция эндотелия. Повышение центрального венозного давления и давления в правом предсердии.</a:t>
            </a:r>
          </a:p>
        </p:txBody>
      </p:sp>
      <p:sp>
        <p:nvSpPr>
          <p:cNvPr id="46" name="Шеврон 1"/>
          <p:cNvSpPr/>
          <p:nvPr/>
        </p:nvSpPr>
        <p:spPr>
          <a:xfrm rot="5400000">
            <a:off x="5029200" y="23622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pathway_2_2"/>
          <p:cNvSpPr/>
          <p:nvPr/>
        </p:nvSpPr>
        <p:spPr>
          <a:xfrm>
            <a:off x="2159000" y="2565400"/>
            <a:ext cx="5842000" cy="889000"/>
          </a:xfrm>
          <a:prstGeom prst="roundRect">
            <a:avLst>
              <a:gd name="adj" fmla="val 1142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Повторные воздействия на почки: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острая декомпенсация сердечной недостаточности. Гиповолемия и выраженная гипотензия могут ухудшать кровоснабжение почек.</a:t>
            </a:r>
          </a:p>
        </p:txBody>
      </p:sp>
      <p:sp>
        <p:nvSpPr>
          <p:cNvPr id="48" name="Шеврон 2"/>
          <p:cNvSpPr/>
          <p:nvPr/>
        </p:nvSpPr>
        <p:spPr>
          <a:xfrm rot="5400000">
            <a:off x="5029200" y="33782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pathway_2_3"/>
          <p:cNvSpPr/>
          <p:nvPr/>
        </p:nvSpPr>
        <p:spPr>
          <a:xfrm>
            <a:off x="2159000" y="35814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Ускоренное развитие атеросклероза. Изменения мелких и крупных сосудов.</a:t>
            </a:r>
          </a:p>
        </p:txBody>
      </p:sp>
      <p:sp>
        <p:nvSpPr>
          <p:cNvPr id="50" name="Шеврон 3"/>
          <p:cNvSpPr/>
          <p:nvPr/>
        </p:nvSpPr>
        <p:spPr>
          <a:xfrm rot="5400000">
            <a:off x="5029200" y="40640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pathway_2_4"/>
          <p:cNvSpPr/>
          <p:nvPr/>
        </p:nvSpPr>
        <p:spPr>
          <a:xfrm>
            <a:off x="2159000" y="42672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Нервно-гормональная активация. Сосудосуживающие медиаторы: катехоламины, эндотелин, ангиотензин II и </a:t>
            </a: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альдостерон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52" name="Шеврон 4"/>
          <p:cNvSpPr/>
          <p:nvPr/>
        </p:nvSpPr>
        <p:spPr>
          <a:xfrm rot="5400000">
            <a:off x="5029200" y="4749800"/>
            <a:ext cx="101600" cy="2794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pathway_2_5"/>
          <p:cNvSpPr/>
          <p:nvPr/>
        </p:nvSpPr>
        <p:spPr>
          <a:xfrm>
            <a:off x="2159000" y="4953000"/>
            <a:ext cx="58420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Изменение чувствительности к сосудорасширяющим факторам: натрийуретическим пептидам и оксиду азота.</a:t>
            </a:r>
          </a:p>
        </p:txBody>
      </p:sp>
      <p:sp>
        <p:nvSpPr>
          <p:cNvPr id="54" name="Шеврон: от сердца"/>
          <p:cNvSpPr/>
          <p:nvPr/>
        </p:nvSpPr>
        <p:spPr>
          <a:xfrm>
            <a:off x="1803400" y="347980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Шеврон: к почкам"/>
          <p:cNvSpPr/>
          <p:nvPr/>
        </p:nvSpPr>
        <p:spPr>
          <a:xfrm>
            <a:off x="8191500" y="387350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Связь_с_финереноном"/>
          <p:cNvSpPr txBox="1"/>
          <p:nvPr/>
        </p:nvSpPr>
        <p:spPr>
          <a:xfrm>
            <a:off x="457200" y="5740400"/>
            <a:ext cx="107950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 снижает риск госпитализации по поводу сердечной недостаточности у взрослых с ХБП, связанной с диабетом 2 типа.</a:t>
            </a:r>
          </a:p>
        </p:txBody>
      </p:sp>
      <p:sp>
        <p:nvSpPr>
          <p:cNvPr id="57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почек.</a:t>
            </a:r>
          </a:p>
        </p:txBody>
      </p:sp>
    </p:spTree>
    <p:extLst>
      <p:ext uri="{BB962C8B-B14F-4D97-AF65-F5344CB8AC3E}">
        <p14:creationId xmlns:p14="http://schemas.microsoft.com/office/powerpoint/2010/main" val="850306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_2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 ХБП растёт нагрузка на сердце: защита нужна и почкам, и сердцу</a:t>
            </a:r>
          </a:p>
        </p:txBody>
      </p:sp>
      <p:sp>
        <p:nvSpPr>
          <p:cNvPr id="4" name="classification_2"/>
          <p:cNvSpPr txBox="1"/>
          <p:nvPr/>
        </p:nvSpPr>
        <p:spPr>
          <a:xfrm>
            <a:off x="457200" y="841248"/>
            <a:ext cx="11155680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Ренокардиальный синдром: болезнь почек ухудшает работу сердца</a:t>
            </a:r>
          </a:p>
        </p:txBody>
      </p:sp>
      <p:sp>
        <p:nvSpPr>
          <p:cNvPr id="6" name="kidney_source_label"/>
          <p:cNvSpPr txBox="1"/>
          <p:nvPr/>
        </p:nvSpPr>
        <p:spPr>
          <a:xfrm>
            <a:off x="384048" y="1676400"/>
            <a:ext cx="1536192" cy="7498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болезнь почек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609344" y="2956560"/>
            <a:ext cx="265175" cy="0"/>
          </a:xfrm>
          <a:prstGeom prst="line">
            <a:avLst/>
          </a:prstGeom>
          <a:ln w="1651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athway_4_1"/>
          <p:cNvSpPr txBox="1"/>
          <p:nvPr/>
        </p:nvSpPr>
        <p:spPr>
          <a:xfrm>
            <a:off x="2184400" y="1600200"/>
            <a:ext cx="5867400" cy="69850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Активация ренин-ангиотензин-альдостероновой системы, избыток </a:t>
            </a: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альдостерона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. Задержка натрия и воды. Увеличение объёма жидкости.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19" y="1955291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077200" y="1955291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athway_4_2"/>
          <p:cNvSpPr txBox="1"/>
          <p:nvPr/>
        </p:nvSpPr>
        <p:spPr>
          <a:xfrm>
            <a:off x="2184400" y="2451100"/>
            <a:ext cx="5867400" cy="685800"/>
          </a:xfrm>
          <a:prstGeom prst="roundRect">
            <a:avLst>
              <a:gd name="adj" fmla="val 148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Активация симпатической нервной системы. Сужение сосудов. Повышение уровня катехоламинов, прежде всего норадреналина.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874519" y="2796540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77200" y="2796540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athway_4_3"/>
          <p:cNvSpPr txBox="1"/>
          <p:nvPr/>
        </p:nvSpPr>
        <p:spPr>
          <a:xfrm>
            <a:off x="2184400" y="3289300"/>
            <a:ext cx="5867400" cy="533400"/>
          </a:xfrm>
          <a:prstGeom prst="roundRect">
            <a:avLst>
              <a:gd name="adj" fmla="val 190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wrap="square" lIns="76200" tIns="25400" rIns="76200" bIns="2540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Уремия, электролитные нарушения и снижение pH крови (ацидемия).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74519" y="3550920"/>
            <a:ext cx="284481" cy="0"/>
          </a:xfrm>
          <a:prstGeom prst="line">
            <a:avLst/>
          </a:prstGeom>
          <a:ln w="1143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077200" y="3550920"/>
            <a:ext cx="234696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874519" y="1955291"/>
            <a:ext cx="0" cy="1595629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311896" y="1955291"/>
            <a:ext cx="0" cy="1595629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8311896" y="2781300"/>
            <a:ext cx="384048" cy="0"/>
          </a:xfrm>
          <a:prstGeom prst="line">
            <a:avLst/>
          </a:prstGeom>
          <a:ln w="17780">
            <a:solidFill>
              <a:srgbClr val="7F7F7F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heart_target_label"/>
          <p:cNvSpPr txBox="1"/>
          <p:nvPr/>
        </p:nvSpPr>
        <p:spPr>
          <a:xfrm>
            <a:off x="8801100" y="1562100"/>
            <a:ext cx="2159000" cy="5943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Хроническая сердечная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недостаточность</a:t>
            </a:r>
          </a:p>
        </p:txBody>
      </p:sp>
      <p:sp>
        <p:nvSpPr>
          <p:cNvPr id="28" name="heart_changes"/>
          <p:cNvSpPr txBox="1"/>
          <p:nvPr/>
        </p:nvSpPr>
        <p:spPr>
          <a:xfrm>
            <a:off x="8801100" y="2667000"/>
            <a:ext cx="2819400" cy="9083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Снижение функции сердца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Гипертрофия левого желудочка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Диастолическая дисфункция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Апоптоз и фиброз</a:t>
            </a:r>
          </a:p>
        </p:txBody>
      </p:sp>
      <p:sp>
        <p:nvSpPr>
          <p:cNvPr id="29" name="shared_title"/>
          <p:cNvSpPr txBox="1"/>
          <p:nvPr/>
        </p:nvSpPr>
        <p:spPr>
          <a:xfrm>
            <a:off x="457200" y="4140200"/>
            <a:ext cx="10795000" cy="330200"/>
          </a:xfrm>
          <a:prstGeom prst="roundRect">
            <a:avLst>
              <a:gd name="adj" fmla="val 2307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52400" tIns="0" rIns="10160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Общие для обоих органов процессы: окислительный стресс и воспаление</a:t>
            </a:r>
          </a:p>
        </p:txBody>
      </p:sp>
      <p:sp>
        <p:nvSpPr>
          <p:cNvPr id="45" name="Карточка_общие_процессы"/>
          <p:cNvSpPr/>
          <p:nvPr/>
        </p:nvSpPr>
        <p:spPr>
          <a:xfrm>
            <a:off x="457200" y="4495800"/>
            <a:ext cx="10795000" cy="838200"/>
          </a:xfrm>
          <a:prstGeom prst="roundRect">
            <a:avLst>
              <a:gd name="adj" fmla="val 12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cxnSp>
        <p:nvCxnSpPr>
          <p:cNvPr id="48" name="Разделитель_колонок_3"/>
          <p:cNvCxnSpPr/>
          <p:nvPr/>
        </p:nvCxnSpPr>
        <p:spPr>
          <a:xfrm>
            <a:off x="855345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47" name="Разделитель_колонок_2"/>
          <p:cNvCxnSpPr/>
          <p:nvPr/>
        </p:nvCxnSpPr>
        <p:spPr>
          <a:xfrm>
            <a:off x="585470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cxnSp>
        <p:nvCxnSpPr>
          <p:cNvPr id="46" name="Разделитель_колонок_1"/>
          <p:cNvCxnSpPr/>
          <p:nvPr/>
        </p:nvCxnSpPr>
        <p:spPr>
          <a:xfrm>
            <a:off x="3155950" y="4597400"/>
            <a:ext cx="0" cy="635000"/>
          </a:xfrm>
          <a:prstGeom prst="line">
            <a:avLst/>
          </a:prstGeom>
          <a:ln w="12700">
            <a:solidFill>
              <a:srgbClr val="FFFFFF"/>
            </a:solidFill>
          </a:ln>
        </p:spPr>
      </p:cxnSp>
      <p:sp>
        <p:nvSpPr>
          <p:cNvPr id="31" name="shared_0.57"/>
          <p:cNvSpPr txBox="1"/>
          <p:nvPr/>
        </p:nvSpPr>
        <p:spPr>
          <a:xfrm>
            <a:off x="45720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Больше воспалительных веществ (цитокинов)</a:t>
            </a:r>
          </a:p>
        </p:txBody>
      </p:sp>
      <p:sp>
        <p:nvSpPr>
          <p:cNvPr id="33" name="shared_3.75"/>
          <p:cNvSpPr txBox="1"/>
          <p:nvPr/>
        </p:nvSpPr>
        <p:spPr>
          <a:xfrm>
            <a:off x="315595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баланса оксида азота и активных форм кислорода</a:t>
            </a:r>
          </a:p>
        </p:txBody>
      </p:sp>
      <p:sp>
        <p:nvSpPr>
          <p:cNvPr id="35" name="shared_6.93"/>
          <p:cNvSpPr txBox="1"/>
          <p:nvPr/>
        </p:nvSpPr>
        <p:spPr>
          <a:xfrm>
            <a:off x="585470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функции митохондрий</a:t>
            </a:r>
          </a:p>
        </p:txBody>
      </p:sp>
      <p:sp>
        <p:nvSpPr>
          <p:cNvPr id="37" name="shared_10.05"/>
          <p:cNvSpPr txBox="1"/>
          <p:nvPr/>
        </p:nvSpPr>
        <p:spPr>
          <a:xfrm>
            <a:off x="8553450" y="4495800"/>
            <a:ext cx="2698750" cy="838200"/>
          </a:xfrm>
          <a:prstGeom prst="rect">
            <a:avLst/>
          </a:prstGeom>
          <a:noFill/>
          <a:effectLst/>
        </p:spPr>
        <p:txBody>
          <a:bodyPr wrap="square" lIns="127000" tIns="0" rIns="127000" bIns="0" anchor="ctr"/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Нарушение работы эндотелия (внутренней стенки сосудов)</a:t>
            </a:r>
          </a:p>
        </p:txBody>
      </p:sp>
      <p:pic>
        <p:nvPicPr>
          <p:cNvPr id="40" name="Почка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317" y="2453640"/>
            <a:ext cx="688493" cy="1046187"/>
          </a:xfrm>
          <a:prstGeom prst="rect">
            <a:avLst/>
          </a:prstGeom>
        </p:spPr>
      </p:pic>
      <p:pic>
        <p:nvPicPr>
          <p:cNvPr id="41" name="Сердц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23600" y="1524000"/>
            <a:ext cx="677639" cy="888422"/>
          </a:xfrm>
          <a:prstGeom prst="rect">
            <a:avLst/>
          </a:prstGeom>
        </p:spPr>
      </p:pic>
      <p:sp>
        <p:nvSpPr>
          <p:cNvPr id="42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Kumar U, et al. Cardiol Clin. 2019;37:251–265. Ndumele CE, et al. Circulation. 2026;154:e50–e158. Agarwal R, et al. Eur Heart J. 2021;42:152–161. Адаптировано по: Servier Medical Art (CC BY 4.0).</a:t>
            </a:r>
            <a:endParaRPr lang="ru-RU" sz="800" b="0" dirty="0"/>
          </a:p>
        </p:txBody>
      </p:sp>
      <p:pic>
        <p:nvPicPr>
          <p:cNvPr id="43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4" name="Связь_с_финереноном"/>
          <p:cNvSpPr txBox="1"/>
          <p:nvPr/>
        </p:nvSpPr>
        <p:spPr>
          <a:xfrm>
            <a:off x="457200" y="5537200"/>
            <a:ext cx="10795000" cy="482600"/>
          </a:xfrm>
          <a:prstGeom prst="roundRect">
            <a:avLst>
              <a:gd name="adj" fmla="val 21052"/>
            </a:avLst>
          </a:prstGeom>
          <a:solidFill>
            <a:srgbClr val="7030A0"/>
          </a:solidFill>
          <a:ln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Избыток альдостерона действует на сердце и почки через минералокортикоидный рецептор (МКР). </a:t>
            </a: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Финеренон блокирует МКР.</a:t>
            </a:r>
            <a:endParaRPr lang="ru-RU" sz="1300"/>
          </a:p>
        </p:txBody>
      </p:sp>
      <p:sp>
        <p:nvSpPr>
          <p:cNvPr id="49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Карточка_кровь"/>
          <p:cNvSpPr/>
          <p:nvPr/>
        </p:nvSpPr>
        <p:spPr>
          <a:xfrm>
            <a:off x="457200" y="1143000"/>
            <a:ext cx="6959600" cy="2844800"/>
          </a:xfrm>
          <a:prstGeom prst="roundRect">
            <a:avLst>
              <a:gd name="adj" fmla="val 357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6" name="Карточка_моча"/>
          <p:cNvSpPr/>
          <p:nvPr/>
        </p:nvSpPr>
        <p:spPr>
          <a:xfrm>
            <a:off x="457200" y="4140200"/>
            <a:ext cx="6959600" cy="2108200"/>
          </a:xfrm>
          <a:prstGeom prst="roundRect">
            <a:avLst>
              <a:gd name="adj" fmla="val 470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8" name="Карточка_ответ"/>
          <p:cNvSpPr/>
          <p:nvPr/>
        </p:nvSpPr>
        <p:spPr>
          <a:xfrm>
            <a:off x="7772400" y="1981200"/>
            <a:ext cx="3962400" cy="2362200"/>
          </a:xfrm>
          <a:prstGeom prst="roundRect">
            <a:avLst>
              <a:gd name="adj" fmla="val 256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0" name="Карточка_частота"/>
          <p:cNvSpPr/>
          <p:nvPr/>
        </p:nvSpPr>
        <p:spPr>
          <a:xfrm>
            <a:off x="7772400" y="4445000"/>
            <a:ext cx="39624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Карточка_вопрос_врачу"/>
          <p:cNvSpPr/>
          <p:nvPr/>
        </p:nvSpPr>
        <p:spPr>
          <a:xfrm>
            <a:off x="7772400" y="5283200"/>
            <a:ext cx="3962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Плашка_вопрос"/>
          <p:cNvSpPr/>
          <p:nvPr/>
        </p:nvSpPr>
        <p:spPr>
          <a:xfrm>
            <a:off x="7772400" y="1143000"/>
            <a:ext cx="3962400" cy="736600"/>
          </a:xfrm>
          <a:prstGeom prst="roundRect">
            <a:avLst>
              <a:gd name="adj" fmla="val 10344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При диабете 2 типа рСКФ и АКО проверяют не реже раза в год: АКО выявляет болезнь почек при сохранной фильтрации</a:t>
            </a:r>
          </a:p>
        </p:txBody>
      </p:sp>
      <p:sp>
        <p:nvSpPr>
          <p:cNvPr id="26" name="Blood_name"/>
          <p:cNvSpPr txBox="1"/>
          <p:nvPr/>
        </p:nvSpPr>
        <p:spPr>
          <a:xfrm>
            <a:off x="1755648" y="1252728"/>
            <a:ext cx="5157216" cy="34747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Креатинин крови</a:t>
            </a:r>
          </a:p>
        </p:txBody>
      </p:sp>
      <p:sp>
        <p:nvSpPr>
          <p:cNvPr id="27" name="Blood_explanation"/>
          <p:cNvSpPr txBox="1"/>
          <p:nvPr/>
        </p:nvSpPr>
        <p:spPr>
          <a:xfrm>
            <a:off x="1755648" y="1625600"/>
            <a:ext cx="5166360" cy="61264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По его уровню с учётом возраста и пола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рассчитывают фильтрацию.</a:t>
            </a:r>
          </a:p>
        </p:txBody>
      </p:sp>
      <p:sp>
        <p:nvSpPr>
          <p:cNvPr id="29" name="eGFR"/>
          <p:cNvSpPr txBox="1"/>
          <p:nvPr/>
        </p:nvSpPr>
        <p:spPr>
          <a:xfrm>
            <a:off x="2459736" y="2231136"/>
            <a:ext cx="4443984" cy="34747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рСКФ</a:t>
            </a:r>
          </a:p>
        </p:txBody>
      </p:sp>
      <p:sp>
        <p:nvSpPr>
          <p:cNvPr id="30" name="eGFR_expanded"/>
          <p:cNvSpPr txBox="1"/>
          <p:nvPr/>
        </p:nvSpPr>
        <p:spPr>
          <a:xfrm>
            <a:off x="2459736" y="2697480"/>
            <a:ext cx="4526280" cy="749808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Расчётная скорость клубочковой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фильтрации, мл/мин/1,73 м²</a:t>
            </a:r>
          </a:p>
        </p:txBody>
      </p:sp>
      <p:sp>
        <p:nvSpPr>
          <p:cNvPr id="31" name="Blood_question"/>
          <p:cNvSpPr txBox="1"/>
          <p:nvPr/>
        </p:nvSpPr>
        <p:spPr>
          <a:xfrm>
            <a:off x="1755648" y="3474720"/>
            <a:ext cx="5193792" cy="41148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Отвечает на вопрос: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насколько хорошо почки фильтруют?</a:t>
            </a:r>
          </a:p>
        </p:txBody>
      </p:sp>
      <p:sp>
        <p:nvSpPr>
          <p:cNvPr id="59" name="Urine_name"/>
          <p:cNvSpPr txBox="1"/>
          <p:nvPr/>
        </p:nvSpPr>
        <p:spPr>
          <a:xfrm>
            <a:off x="1755648" y="4270248"/>
            <a:ext cx="5230368" cy="393192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Альбумин и креатинин мочи</a:t>
            </a:r>
          </a:p>
        </p:txBody>
      </p:sp>
      <p:sp>
        <p:nvSpPr>
          <p:cNvPr id="60" name="Same_sample"/>
          <p:cNvSpPr txBox="1"/>
          <p:nvPr/>
        </p:nvSpPr>
        <p:spPr>
          <a:xfrm>
            <a:off x="1755648" y="4736592"/>
            <a:ext cx="5221224" cy="365760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Измеряют в одной порции мочи.</a:t>
            </a:r>
          </a:p>
        </p:txBody>
      </p:sp>
      <p:sp>
        <p:nvSpPr>
          <p:cNvPr id="62" name="ACR"/>
          <p:cNvSpPr txBox="1"/>
          <p:nvPr/>
        </p:nvSpPr>
        <p:spPr>
          <a:xfrm>
            <a:off x="2459736" y="5175504"/>
            <a:ext cx="4709160" cy="585216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Отношение альбумина к креатинину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мочи (АКО), мг/г</a:t>
            </a:r>
          </a:p>
        </p:txBody>
      </p:sp>
      <p:sp>
        <p:nvSpPr>
          <p:cNvPr id="63" name="Urine_question"/>
          <p:cNvSpPr txBox="1"/>
          <p:nvPr/>
        </p:nvSpPr>
        <p:spPr>
          <a:xfrm>
            <a:off x="1755648" y="5852160"/>
            <a:ext cx="5212080" cy="329184"/>
          </a:xfrm>
          <a:prstGeom prst="rect">
            <a:avLst/>
          </a:prstGeom>
          <a:noFill/>
          <a:effectLst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Отвечает на вопрос: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нет ли повышенной потери альбумина?</a:t>
            </a:r>
          </a:p>
        </p:txBody>
      </p:sp>
      <p:sp>
        <p:nvSpPr>
          <p:cNvPr id="65" name="Clinical_question"/>
          <p:cNvSpPr txBox="1"/>
          <p:nvPr/>
        </p:nvSpPr>
        <p:spPr>
          <a:xfrm>
            <a:off x="7772400" y="1143000"/>
            <a:ext cx="3962400" cy="736600"/>
          </a:xfrm>
          <a:prstGeom prst="rect">
            <a:avLst/>
          </a:prstGeom>
          <a:noFill/>
          <a:effectLst/>
        </p:spPr>
        <p:txBody>
          <a:bodyPr wrap="square" lIns="17780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Фильтрация сохранна: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значит, почки не повреждены?</a:t>
            </a:r>
          </a:p>
        </p:txBody>
      </p:sp>
      <p:sp>
        <p:nvSpPr>
          <p:cNvPr id="66" name="Answer"/>
          <p:cNvSpPr txBox="1"/>
          <p:nvPr/>
        </p:nvSpPr>
        <p:spPr>
          <a:xfrm>
            <a:off x="7975600" y="2082800"/>
            <a:ext cx="3581400" cy="838200"/>
          </a:xfrm>
          <a:prstGeom prst="rect">
            <a:avLst/>
          </a:prstGeom>
          <a:noFill/>
          <a:effectLst/>
        </p:spPr>
        <p:txBody>
          <a:bodyPr wrap="square" lIns="0" tIns="0" rIns="0" bIns="0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Ответ: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не обязательно. Альбумин мочи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может быть повышен уже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при сохранной фильтрации.</a:t>
            </a:r>
          </a:p>
        </p:txBody>
      </p:sp>
      <p:sp>
        <p:nvSpPr>
          <p:cNvPr id="82" name="Число_40"/>
          <p:cNvSpPr txBox="1"/>
          <p:nvPr/>
        </p:nvSpPr>
        <p:spPr>
          <a:xfrm>
            <a:off x="7975600" y="2971800"/>
            <a:ext cx="358140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2C71A4"/>
                </a:solidFill>
                <a:latin typeface="Arial Narrow"/>
                <a:cs typeface="Arial Narrow"/>
              </a:rPr>
              <a:t>40%</a:t>
            </a:r>
          </a:p>
        </p:txBody>
      </p:sp>
      <p:sp>
        <p:nvSpPr>
          <p:cNvPr id="83" name="Подпись_40"/>
          <p:cNvSpPr txBox="1"/>
          <p:nvPr/>
        </p:nvSpPr>
        <p:spPr>
          <a:xfrm>
            <a:off x="7975600" y="3454400"/>
            <a:ext cx="3581400" cy="787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участников FIDELITY имели рСКФ 60 и выше. ХБП у них определяли только по альбуминурии.</a:t>
            </a:r>
          </a:p>
        </p:txBody>
      </p:sp>
      <p:sp>
        <p:nvSpPr>
          <p:cNvPr id="67" name="Frequency"/>
          <p:cNvSpPr txBox="1"/>
          <p:nvPr/>
        </p:nvSpPr>
        <p:spPr>
          <a:xfrm>
            <a:off x="7975600" y="4445000"/>
            <a:ext cx="3581400" cy="736600"/>
          </a:xfrm>
          <a:prstGeom prst="rect">
            <a:avLst/>
          </a:prstGeom>
          <a:noFill/>
          <a:effectLst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 ХБП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частоту контроля определяет категория риска: чем выше риск, тем чаще.</a:t>
            </a:r>
          </a:p>
        </p:txBody>
      </p:sp>
      <p:sp>
        <p:nvSpPr>
          <p:cNvPr id="69" name="Dipstick_limitation"/>
          <p:cNvSpPr txBox="1"/>
          <p:nvPr/>
        </p:nvSpPr>
        <p:spPr>
          <a:xfrm>
            <a:off x="7975600" y="5283200"/>
            <a:ext cx="3581400" cy="965200"/>
          </a:xfrm>
          <a:prstGeom prst="rect">
            <a:avLst/>
          </a:prstGeom>
          <a:noFill/>
          <a:effectLst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Вопрос врачу: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у скольких ваших пациентов с диабетом 2 типа за год определяли и рСКФ, и АКО?</a:t>
            </a:r>
            <a:endParaRPr lang="ru-RU" sz="1800"/>
          </a:p>
        </p:txBody>
      </p:sp>
      <p:grpSp>
        <p:nvGrpSpPr>
          <p:cNvPr id="71" name="Blood_illustration_editable"/>
          <p:cNvGrpSpPr/>
          <p:nvPr/>
        </p:nvGrpSpPr>
        <p:grpSpPr>
          <a:xfrm>
            <a:off x="749808" y="1399032"/>
            <a:ext cx="1536192" cy="1754184"/>
            <a:chOff x="749808" y="1399032"/>
            <a:chExt cx="1536192" cy="1754184"/>
          </a:xfrm>
        </p:grpSpPr>
        <p:sp>
          <p:nvSpPr>
            <p:cNvPr id="4" name="Blood_glass"/>
            <p:cNvSpPr/>
            <p:nvPr/>
          </p:nvSpPr>
          <p:spPr>
            <a:xfrm>
              <a:off x="839510" y="1648206"/>
              <a:ext cx="468447" cy="1505010"/>
            </a:xfrm>
            <a:prstGeom prst="roundRect">
              <a:avLst>
                <a:gd name="adj" fmla="val 32000"/>
              </a:avLst>
            </a:pr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" name="Blood_blood"/>
            <p:cNvSpPr/>
            <p:nvPr/>
          </p:nvSpPr>
          <p:spPr>
            <a:xfrm>
              <a:off x="889345" y="2355860"/>
              <a:ext cx="368777" cy="687720"/>
            </a:xfrm>
            <a:prstGeom prst="roundRect">
              <a:avLst>
                <a:gd name="adj" fmla="val 32000"/>
              </a:avLst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6" name="Blood_liquid_top"/>
            <p:cNvSpPr/>
            <p:nvPr/>
          </p:nvSpPr>
          <p:spPr>
            <a:xfrm>
              <a:off x="889345" y="2315992"/>
              <a:ext cx="368777" cy="348843"/>
            </a:xfrm>
            <a:prstGeom prst="rect">
              <a:avLst/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7" name="Blood_blood_surface"/>
            <p:cNvSpPr/>
            <p:nvPr/>
          </p:nvSpPr>
          <p:spPr>
            <a:xfrm>
              <a:off x="889345" y="2276124"/>
              <a:ext cx="368777" cy="109636"/>
            </a:xfrm>
            <a:prstGeom prst="ellipse">
              <a:avLst/>
            </a:prstGeom>
            <a:solidFill>
              <a:srgbClr val="CA64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8" name="Blood_label"/>
            <p:cNvSpPr/>
            <p:nvPr/>
          </p:nvSpPr>
          <p:spPr>
            <a:xfrm>
              <a:off x="859444" y="1947214"/>
              <a:ext cx="428579" cy="3488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9" name="Blood_barcode0"/>
            <p:cNvCxnSpPr/>
            <p:nvPr/>
          </p:nvCxnSpPr>
          <p:spPr>
            <a:xfrm>
              <a:off x="91924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0" name="Blood_barcode1"/>
            <p:cNvCxnSpPr/>
            <p:nvPr/>
          </p:nvCxnSpPr>
          <p:spPr>
            <a:xfrm>
              <a:off x="954130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1" name="Blood_barcode2"/>
            <p:cNvCxnSpPr/>
            <p:nvPr/>
          </p:nvCxnSpPr>
          <p:spPr>
            <a:xfrm>
              <a:off x="989015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2" name="Blood_barcode3"/>
            <p:cNvCxnSpPr/>
            <p:nvPr/>
          </p:nvCxnSpPr>
          <p:spPr>
            <a:xfrm>
              <a:off x="1023899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3" name="Blood_barcode4"/>
            <p:cNvCxnSpPr/>
            <p:nvPr/>
          </p:nvCxnSpPr>
          <p:spPr>
            <a:xfrm>
              <a:off x="1058783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4" name="Blood_barcode5"/>
            <p:cNvCxnSpPr/>
            <p:nvPr/>
          </p:nvCxnSpPr>
          <p:spPr>
            <a:xfrm>
              <a:off x="1093668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5" name="Blood_barcode6"/>
            <p:cNvCxnSpPr/>
            <p:nvPr/>
          </p:nvCxnSpPr>
          <p:spPr>
            <a:xfrm>
              <a:off x="1128552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16" name="Blood_barcode7"/>
            <p:cNvCxnSpPr/>
            <p:nvPr/>
          </p:nvCxnSpPr>
          <p:spPr>
            <a:xfrm>
              <a:off x="116343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sp>
          <p:nvSpPr>
            <p:cNvPr id="17" name="Blood_cap"/>
            <p:cNvSpPr/>
            <p:nvPr/>
          </p:nvSpPr>
          <p:spPr>
            <a:xfrm>
              <a:off x="749808" y="1399032"/>
              <a:ext cx="647852" cy="328909"/>
            </a:xfrm>
            <a:prstGeom prst="roundRect">
              <a:avLst/>
            </a:prstGeom>
            <a:solidFill>
              <a:srgbClr val="1632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18" name="Blood_ridge1"/>
            <p:cNvCxnSpPr/>
            <p:nvPr/>
          </p:nvCxnSpPr>
          <p:spPr>
            <a:xfrm>
              <a:off x="827550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19" name="Blood_ridge2"/>
            <p:cNvCxnSpPr/>
            <p:nvPr/>
          </p:nvCxnSpPr>
          <p:spPr>
            <a:xfrm>
              <a:off x="905292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0" name="Blood_ridge3"/>
            <p:cNvCxnSpPr/>
            <p:nvPr/>
          </p:nvCxnSpPr>
          <p:spPr>
            <a:xfrm>
              <a:off x="98303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1" name="Blood_ridge4"/>
            <p:cNvCxnSpPr/>
            <p:nvPr/>
          </p:nvCxnSpPr>
          <p:spPr>
            <a:xfrm>
              <a:off x="1060777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2" name="Blood_ridge5"/>
            <p:cNvCxnSpPr/>
            <p:nvPr/>
          </p:nvCxnSpPr>
          <p:spPr>
            <a:xfrm>
              <a:off x="1138519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3" name="Blood_ridge6"/>
            <p:cNvCxnSpPr/>
            <p:nvPr/>
          </p:nvCxnSpPr>
          <p:spPr>
            <a:xfrm>
              <a:off x="1216261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4" name="Blood_ridge7"/>
            <p:cNvCxnSpPr/>
            <p:nvPr/>
          </p:nvCxnSpPr>
          <p:spPr>
            <a:xfrm>
              <a:off x="129400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25" name="Blood_shine"/>
            <p:cNvCxnSpPr/>
            <p:nvPr/>
          </p:nvCxnSpPr>
          <p:spPr>
            <a:xfrm>
              <a:off x="949147" y="1757842"/>
              <a:ext cx="0" cy="159471"/>
            </a:xfrm>
            <a:prstGeom prst="line">
              <a:avLst/>
            </a:prstGeom>
            <a:ln w="19050">
              <a:solidFill>
                <a:srgbClr val="FFFFFF"/>
              </a:solidFill>
            </a:ln>
            <a:effectLst/>
          </p:spPr>
        </p:cxnSp>
        <p:cxnSp>
          <p:nvCxnSpPr>
            <p:cNvPr id="28" name="Blood_to_result"/>
            <p:cNvCxnSpPr/>
            <p:nvPr/>
          </p:nvCxnSpPr>
          <p:spPr>
            <a:xfrm>
              <a:off x="1764792" y="2414016"/>
              <a:ext cx="521208" cy="0"/>
            </a:xfrm>
            <a:prstGeom prst="line">
              <a:avLst/>
            </a:prstGeom>
            <a:ln w="21590">
              <a:solidFill>
                <a:srgbClr val="404040"/>
              </a:solidFill>
              <a:tailEnd type="triangle" w="sm" len="sm"/>
            </a:ln>
            <a:effectLst/>
          </p:spPr>
        </p:cxnSp>
      </p:grpSp>
      <p:grpSp>
        <p:nvGrpSpPr>
          <p:cNvPr id="72" name="Urine_illustration_editable"/>
          <p:cNvGrpSpPr/>
          <p:nvPr/>
        </p:nvGrpSpPr>
        <p:grpSpPr>
          <a:xfrm>
            <a:off x="548640" y="4507992"/>
            <a:ext cx="1737360" cy="1293876"/>
            <a:chOff x="548640" y="4507992"/>
            <a:chExt cx="1737360" cy="1293876"/>
          </a:xfrm>
        </p:grpSpPr>
        <p:sp>
          <p:nvSpPr>
            <p:cNvPr id="33" name="Urine_cup"/>
            <p:cNvSpPr/>
            <p:nvPr/>
          </p:nvSpPr>
          <p:spPr>
            <a:xfrm>
              <a:off x="598018" y="4734763"/>
              <a:ext cx="918058" cy="1067105"/>
            </a:xfrm>
            <a:custGeom>
              <a:avLst/>
              <a:gdLst/>
              <a:ahLst/>
              <a:cxnLst/>
              <a:rect l="l" t="t" r="r" b="b"/>
              <a:pathLst>
                <a:path w="1004" h="1167">
                  <a:moveTo>
                    <a:pt x="0" y="0"/>
                  </a:moveTo>
                  <a:lnTo>
                    <a:pt x="1004" y="0"/>
                  </a:lnTo>
                  <a:lnTo>
                    <a:pt x="875" y="1167"/>
                  </a:lnTo>
                  <a:lnTo>
                    <a:pt x="130" y="1167"/>
                  </a:lnTo>
                  <a:close/>
                </a:path>
              </a:pathLst>
            </a:cu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4" name="Urine_urine"/>
            <p:cNvSpPr/>
            <p:nvPr/>
          </p:nvSpPr>
          <p:spPr>
            <a:xfrm>
              <a:off x="667512" y="5189220"/>
              <a:ext cx="779983" cy="533095"/>
            </a:xfrm>
            <a:custGeom>
              <a:avLst/>
              <a:gdLst/>
              <a:ahLst/>
              <a:cxnLst/>
              <a:rect l="l" t="t" r="r" b="b"/>
              <a:pathLst>
                <a:path w="853" h="583">
                  <a:moveTo>
                    <a:pt x="0" y="0"/>
                  </a:moveTo>
                  <a:lnTo>
                    <a:pt x="853" y="0"/>
                  </a:lnTo>
                  <a:lnTo>
                    <a:pt x="788" y="583"/>
                  </a:lnTo>
                  <a:lnTo>
                    <a:pt x="64" y="583"/>
                  </a:lnTo>
                  <a:close/>
                </a:path>
              </a:pathLst>
            </a:custGeom>
            <a:solidFill>
              <a:srgbClr val="FFF2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5" name="Urine_surface"/>
            <p:cNvSpPr/>
            <p:nvPr/>
          </p:nvSpPr>
          <p:spPr>
            <a:xfrm>
              <a:off x="667146" y="5149900"/>
              <a:ext cx="780166" cy="128381"/>
            </a:xfrm>
            <a:prstGeom prst="ellipse">
              <a:avLst/>
            </a:prstGeom>
            <a:solidFill>
              <a:srgbClr val="EBC9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6" name="Urine_lid"/>
            <p:cNvSpPr/>
            <p:nvPr/>
          </p:nvSpPr>
          <p:spPr>
            <a:xfrm>
              <a:off x="548640" y="4507992"/>
              <a:ext cx="1017178" cy="296265"/>
            </a:xfrm>
            <a:prstGeom prst="roundRect">
              <a:avLst/>
            </a:prstGeom>
            <a:solidFill>
              <a:srgbClr val="C8104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37" name="Urine_ridge1"/>
            <p:cNvCxnSpPr/>
            <p:nvPr/>
          </p:nvCxnSpPr>
          <p:spPr>
            <a:xfrm>
              <a:off x="62863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38" name="Urine_ridge2"/>
            <p:cNvCxnSpPr/>
            <p:nvPr/>
          </p:nvCxnSpPr>
          <p:spPr>
            <a:xfrm>
              <a:off x="70862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39" name="Urine_ridge3"/>
            <p:cNvCxnSpPr/>
            <p:nvPr/>
          </p:nvCxnSpPr>
          <p:spPr>
            <a:xfrm>
              <a:off x="78861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0" name="Urine_ridge4"/>
            <p:cNvCxnSpPr/>
            <p:nvPr/>
          </p:nvCxnSpPr>
          <p:spPr>
            <a:xfrm>
              <a:off x="868606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1" name="Urine_ridge5"/>
            <p:cNvCxnSpPr/>
            <p:nvPr/>
          </p:nvCxnSpPr>
          <p:spPr>
            <a:xfrm>
              <a:off x="94859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2" name="Urine_ridge6"/>
            <p:cNvCxnSpPr/>
            <p:nvPr/>
          </p:nvCxnSpPr>
          <p:spPr>
            <a:xfrm>
              <a:off x="1028590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3" name="Urine_ridge7"/>
            <p:cNvCxnSpPr/>
            <p:nvPr/>
          </p:nvCxnSpPr>
          <p:spPr>
            <a:xfrm>
              <a:off x="110858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4" name="Urine_ridge8"/>
            <p:cNvCxnSpPr/>
            <p:nvPr/>
          </p:nvCxnSpPr>
          <p:spPr>
            <a:xfrm>
              <a:off x="118857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5" name="Urine_ridge9"/>
            <p:cNvCxnSpPr/>
            <p:nvPr/>
          </p:nvCxnSpPr>
          <p:spPr>
            <a:xfrm>
              <a:off x="126856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6" name="Urine_ridge10"/>
            <p:cNvCxnSpPr/>
            <p:nvPr/>
          </p:nvCxnSpPr>
          <p:spPr>
            <a:xfrm>
              <a:off x="1348557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47" name="Urine_ridge11"/>
            <p:cNvCxnSpPr/>
            <p:nvPr/>
          </p:nvCxnSpPr>
          <p:spPr>
            <a:xfrm>
              <a:off x="142854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sp>
          <p:nvSpPr>
            <p:cNvPr id="48" name="Urine_label"/>
            <p:cNvSpPr/>
            <p:nvPr/>
          </p:nvSpPr>
          <p:spPr>
            <a:xfrm>
              <a:off x="775776" y="4991892"/>
              <a:ext cx="562904" cy="365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49" name="Urine_barcode0"/>
            <p:cNvCxnSpPr/>
            <p:nvPr/>
          </p:nvCxnSpPr>
          <p:spPr>
            <a:xfrm>
              <a:off x="864656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0" name="Urine_barcode1"/>
            <p:cNvCxnSpPr/>
            <p:nvPr/>
          </p:nvCxnSpPr>
          <p:spPr>
            <a:xfrm>
              <a:off x="917984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1" name="Urine_barcode2"/>
            <p:cNvCxnSpPr/>
            <p:nvPr/>
          </p:nvCxnSpPr>
          <p:spPr>
            <a:xfrm>
              <a:off x="971312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2" name="Urine_barcode3"/>
            <p:cNvCxnSpPr/>
            <p:nvPr/>
          </p:nvCxnSpPr>
          <p:spPr>
            <a:xfrm>
              <a:off x="1024640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3" name="Urine_barcode4"/>
            <p:cNvCxnSpPr/>
            <p:nvPr/>
          </p:nvCxnSpPr>
          <p:spPr>
            <a:xfrm>
              <a:off x="1077967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4" name="Urine_barcode5"/>
            <p:cNvCxnSpPr/>
            <p:nvPr/>
          </p:nvCxnSpPr>
          <p:spPr>
            <a:xfrm>
              <a:off x="1131295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55" name="Urine_measure0"/>
            <p:cNvCxnSpPr/>
            <p:nvPr/>
          </p:nvCxnSpPr>
          <p:spPr>
            <a:xfrm>
              <a:off x="677021" y="4942514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6" name="Urine_measure1"/>
            <p:cNvCxnSpPr/>
            <p:nvPr/>
          </p:nvCxnSpPr>
          <p:spPr>
            <a:xfrm>
              <a:off x="677021" y="5110398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7" name="Urine_measure2"/>
            <p:cNvCxnSpPr/>
            <p:nvPr/>
          </p:nvCxnSpPr>
          <p:spPr>
            <a:xfrm>
              <a:off x="677021" y="5278282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58" name="Urine_measure3"/>
            <p:cNvCxnSpPr/>
            <p:nvPr/>
          </p:nvCxnSpPr>
          <p:spPr>
            <a:xfrm>
              <a:off x="677021" y="5446166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61" name="Urine_to_ratio"/>
            <p:cNvCxnSpPr/>
            <p:nvPr/>
          </p:nvCxnSpPr>
          <p:spPr>
            <a:xfrm>
              <a:off x="1764792" y="5404104"/>
              <a:ext cx="521208" cy="0"/>
            </a:xfrm>
            <a:prstGeom prst="line">
              <a:avLst/>
            </a:prstGeom>
            <a:ln w="21590">
              <a:solidFill>
                <a:srgbClr val="404040"/>
              </a:solidFill>
              <a:tailEnd type="triangle" w="sm" len="sm"/>
            </a:ln>
            <a:effectLst/>
          </p:spPr>
        </p:cxnSp>
      </p:grpSp>
      <p:sp>
        <p:nvSpPr>
          <p:cNvPr id="7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 American Diabetes Association Professional Practice Committee. Standards of Care in Diabetes-2026. Diabetes Care. 2026;49(Suppl 1):S246–S260. Agarwal R, et al. Eur Heart J. 2022;43:474–484.</a:t>
            </a:r>
            <a:endParaRPr lang="ru-RU" sz="800" b="0" dirty="0"/>
          </a:p>
        </p:txBody>
      </p:sp>
      <p:pic>
        <p:nvPicPr>
          <p:cNvPr id="7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79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ХБП: хроническая болезнь почек; FIDELITY: объединённый анализ FIDELIO-DKD и FIGARO-DKD, 13 026 пациентов с ХБП и диабетом 2 типа; рСКФ 60 и выше у 5195 (39,9%).</a:t>
            </a:r>
            <a:endParaRPr lang="ru-RU" sz="1000" b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Карточка_хроническая"/>
          <p:cNvSpPr/>
          <p:nvPr/>
        </p:nvSpPr>
        <p:spPr>
          <a:xfrm>
            <a:off x="457200" y="4064000"/>
            <a:ext cx="11277600" cy="1168400"/>
          </a:xfrm>
          <a:prstGeom prst="roundRect">
            <a:avLst>
              <a:gd name="adj" fmla="val 70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Карточка_функция"/>
          <p:cNvSpPr/>
          <p:nvPr/>
        </p:nvSpPr>
        <p:spPr>
          <a:xfrm>
            <a:off x="457200" y="1524000"/>
            <a:ext cx="5334000" cy="2235200"/>
          </a:xfrm>
          <a:prstGeom prst="roundRect">
            <a:avLst>
              <a:gd name="adj" fmla="val 37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Карточка_повреждение"/>
          <p:cNvSpPr/>
          <p:nvPr/>
        </p:nvSpPr>
        <p:spPr>
          <a:xfrm>
            <a:off x="6400800" y="1524000"/>
            <a:ext cx="5334000" cy="2235200"/>
          </a:xfrm>
          <a:prstGeom prst="roundRect">
            <a:avLst>
              <a:gd name="adj" fmla="val 37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Круг_или"/>
          <p:cNvSpPr/>
          <p:nvPr/>
        </p:nvSpPr>
        <p:spPr>
          <a:xfrm>
            <a:off x="5816600" y="243840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SlideTitle">
            <a:extLst>
              <a:ext uri="{FF2B5EF4-FFF2-40B4-BE49-F238E27FC236}">
                <a16:creationId xmlns:a16="http://schemas.microsoft.com/office/drawing/2014/main" id="{F37E09DA-3F0E-4A7D-ACB3-6AE5F85A4D05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ХБП подтверждают по рСКФ ниже 60 или АКО от 30 мг/г, если это сохраняется не менее 3 месяцев</a:t>
            </a:r>
            <a:endParaRPr sz="2000" b="0" dirty="0"/>
          </a:p>
        </p:txBody>
      </p:sp>
      <p:sp>
        <p:nvSpPr>
          <p:cNvPr id="4" name="function-definition">
            <a:extLst>
              <a:ext uri="{FF2B5EF4-FFF2-40B4-BE49-F238E27FC236}">
                <a16:creationId xmlns:a16="http://schemas.microsoft.com/office/drawing/2014/main" id="{ACE45A74-7A10-4E35-9C25-7A16ABD111B6}"/>
              </a:ext>
            </a:extLst>
          </p:cNvPr>
          <p:cNvSpPr>
            <a:spLocks noGrp="1"/>
          </p:cNvSpPr>
          <p:nvPr/>
        </p:nvSpPr>
        <p:spPr>
          <a:xfrm>
            <a:off x="660400" y="1701800"/>
            <a:ext cx="40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Показатель: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расчётная скорость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клубочковой фильтрации (рСКФ)</a:t>
            </a:r>
          </a:p>
        </p:txBody>
      </p:sp>
      <p:sp>
        <p:nvSpPr>
          <p:cNvPr id="5" name="function-threshold">
            <a:extLst>
              <a:ext uri="{FF2B5EF4-FFF2-40B4-BE49-F238E27FC236}">
                <a16:creationId xmlns:a16="http://schemas.microsoft.com/office/drawing/2014/main" id="{0006504D-A6D2-4827-9FF8-6C7342AB7AD7}"/>
              </a:ext>
            </a:extLst>
          </p:cNvPr>
          <p:cNvSpPr>
            <a:spLocks noGrp="1"/>
          </p:cNvSpPr>
          <p:nvPr/>
        </p:nvSpPr>
        <p:spPr>
          <a:xfrm>
            <a:off x="660400" y="2413000"/>
            <a:ext cx="406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Критерий ХБП: &lt;60 мл/мин/1,73 м²</a:t>
            </a:r>
          </a:p>
        </p:txBody>
      </p:sp>
      <p:sp>
        <p:nvSpPr>
          <p:cNvPr id="6" name="function-detail">
            <a:extLst>
              <a:ext uri="{FF2B5EF4-FFF2-40B4-BE49-F238E27FC236}">
                <a16:creationId xmlns:a16="http://schemas.microsoft.com/office/drawing/2014/main" id="{7CA19F02-C03C-4085-A5A3-4BB18FC1A27F}"/>
              </a:ext>
            </a:extLst>
          </p:cNvPr>
          <p:cNvSpPr>
            <a:spLocks noGrp="1"/>
          </p:cNvSpPr>
          <p:nvPr/>
        </p:nvSpPr>
        <p:spPr>
          <a:xfrm>
            <a:off x="660400" y="2997200"/>
            <a:ext cx="4064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Снижение фильтрации относится к критериям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хронической болезни почек.</a:t>
            </a:r>
          </a:p>
        </p:txBody>
      </p:sp>
      <p:sp>
        <p:nvSpPr>
          <p:cNvPr id="8" name="damage-definition">
            <a:extLst>
              <a:ext uri="{FF2B5EF4-FFF2-40B4-BE49-F238E27FC236}">
                <a16:creationId xmlns:a16="http://schemas.microsoft.com/office/drawing/2014/main" id="{39B4F330-E641-4EB6-B91C-B379C0A3ECE0}"/>
              </a:ext>
            </a:extLst>
          </p:cNvPr>
          <p:cNvSpPr>
            <a:spLocks noGrp="1"/>
          </p:cNvSpPr>
          <p:nvPr/>
        </p:nvSpPr>
        <p:spPr>
          <a:xfrm>
            <a:off x="6604000" y="1701800"/>
            <a:ext cx="4064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Показатель: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отношение альбумина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 креатинину мочи (АКО)</a:t>
            </a:r>
          </a:p>
        </p:txBody>
      </p:sp>
      <p:sp>
        <p:nvSpPr>
          <p:cNvPr id="9" name="damage-threshold">
            <a:extLst>
              <a:ext uri="{FF2B5EF4-FFF2-40B4-BE49-F238E27FC236}">
                <a16:creationId xmlns:a16="http://schemas.microsoft.com/office/drawing/2014/main" id="{6631CADD-FE19-469E-AD44-7E1C927898A0}"/>
              </a:ext>
            </a:extLst>
          </p:cNvPr>
          <p:cNvSpPr>
            <a:spLocks noGrp="1"/>
          </p:cNvSpPr>
          <p:nvPr/>
        </p:nvSpPr>
        <p:spPr>
          <a:xfrm>
            <a:off x="6604000" y="2413000"/>
            <a:ext cx="406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Критерий ХБП: ≥30 мг/г (≥3 мг/ммоль)</a:t>
            </a:r>
          </a:p>
        </p:txBody>
      </p:sp>
      <p:sp>
        <p:nvSpPr>
          <p:cNvPr id="10" name="damage-detail">
            <a:extLst>
              <a:ext uri="{FF2B5EF4-FFF2-40B4-BE49-F238E27FC236}">
                <a16:creationId xmlns:a16="http://schemas.microsoft.com/office/drawing/2014/main" id="{B910AA36-4473-4D5C-8109-44CC2D72B30C}"/>
              </a:ext>
            </a:extLst>
          </p:cNvPr>
          <p:cNvSpPr>
            <a:spLocks noGrp="1"/>
          </p:cNvSpPr>
          <p:nvPr/>
        </p:nvSpPr>
        <p:spPr>
          <a:xfrm>
            <a:off x="6604000" y="2997200"/>
            <a:ext cx="4064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Повышенная потеря альбумина с мочой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называется альбуминурией.</a:t>
            </a:r>
          </a:p>
        </p:txBody>
      </p:sp>
      <p:sp>
        <p:nvSpPr>
          <p:cNvPr id="12" name="chronicity">
            <a:extLst>
              <a:ext uri="{FF2B5EF4-FFF2-40B4-BE49-F238E27FC236}">
                <a16:creationId xmlns:a16="http://schemas.microsoft.com/office/drawing/2014/main" id="{A7A03284-70F1-4855-B22C-28EA435F2238}"/>
              </a:ext>
            </a:extLst>
          </p:cNvPr>
          <p:cNvSpPr>
            <a:spLocks noGrp="1"/>
          </p:cNvSpPr>
          <p:nvPr/>
        </p:nvSpPr>
        <p:spPr>
          <a:xfrm>
            <a:off x="660400" y="4241800"/>
            <a:ext cx="10871200" cy="4668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Болезнь почек считают хронической, если изменения сохраняются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 менее 3 месяцев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Достаточно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одного критерия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: сниженной рСКФ или признака повреждения почек, например альбуминурии.</a:t>
            </a:r>
          </a:p>
        </p:txBody>
      </p:sp>
      <p:sp>
        <p:nvSpPr>
          <p:cNvPr id="13" name="transient">
            <a:extLst>
              <a:ext uri="{FF2B5EF4-FFF2-40B4-BE49-F238E27FC236}">
                <a16:creationId xmlns:a16="http://schemas.microsoft.com/office/drawing/2014/main" id="{AD8440F1-216F-4957-8A2C-D68CA2A26521}"/>
              </a:ext>
            </a:extLst>
          </p:cNvPr>
          <p:cNvSpPr>
            <a:spLocks noGrp="1"/>
          </p:cNvSpPr>
          <p:nvPr/>
        </p:nvSpPr>
        <p:spPr>
          <a:xfrm>
            <a:off x="660400" y="4861072"/>
            <a:ext cx="108712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Повышенную альбуминурию подтверждают повторным анализом и исключают временные причины, например инфекцию.</a:t>
            </a:r>
          </a:p>
        </p:txBody>
      </p:sp>
      <p:sp>
        <p:nvSpPr>
          <p:cNvPr id="18" name="Логическая связка критериев 18"/>
          <p:cNvSpPr txBox="1"/>
          <p:nvPr/>
        </p:nvSpPr>
        <p:spPr>
          <a:xfrm>
            <a:off x="5765800" y="2540000"/>
            <a:ext cx="660400" cy="355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или</a:t>
            </a:r>
          </a:p>
        </p:txBody>
      </p:sp>
      <p:sp>
        <p:nvSpPr>
          <p:cNvPr id="21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3" name="Плашка_функция"/>
          <p:cNvSpPr/>
          <p:nvPr/>
        </p:nvSpPr>
        <p:spPr>
          <a:xfrm>
            <a:off x="457200" y="10922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Функция почек</a:t>
            </a:r>
          </a:p>
        </p:txBody>
      </p:sp>
      <p:sp>
        <p:nvSpPr>
          <p:cNvPr id="24" name="Плашка_повреждение"/>
          <p:cNvSpPr/>
          <p:nvPr/>
        </p:nvSpPr>
        <p:spPr>
          <a:xfrm>
            <a:off x="6400800" y="1092200"/>
            <a:ext cx="5334000" cy="381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Повреждение почек</a:t>
            </a:r>
          </a:p>
        </p:txBody>
      </p:sp>
      <p:grpSp>
        <p:nvGrpSpPr>
          <p:cNvPr id="27" name="Blood_illustration_editable"/>
          <p:cNvGrpSpPr/>
          <p:nvPr/>
        </p:nvGrpSpPr>
        <p:grpSpPr>
          <a:xfrm>
            <a:off x="4978400" y="1930400"/>
            <a:ext cx="1245638" cy="1422400"/>
            <a:chOff x="749808" y="1399032"/>
            <a:chExt cx="1536192" cy="1754184"/>
          </a:xfrm>
        </p:grpSpPr>
        <p:sp>
          <p:nvSpPr>
            <p:cNvPr id="28" name="Blood_glass"/>
            <p:cNvSpPr/>
            <p:nvPr/>
          </p:nvSpPr>
          <p:spPr>
            <a:xfrm>
              <a:off x="839510" y="1648206"/>
              <a:ext cx="468447" cy="1505010"/>
            </a:xfrm>
            <a:prstGeom prst="roundRect">
              <a:avLst>
                <a:gd name="adj" fmla="val 32000"/>
              </a:avLst>
            </a:pr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29" name="Blood_blood"/>
            <p:cNvSpPr/>
            <p:nvPr/>
          </p:nvSpPr>
          <p:spPr>
            <a:xfrm>
              <a:off x="889345" y="2355860"/>
              <a:ext cx="368777" cy="687720"/>
            </a:xfrm>
            <a:prstGeom prst="roundRect">
              <a:avLst>
                <a:gd name="adj" fmla="val 32000"/>
              </a:avLst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0" name="Blood_liquid_top"/>
            <p:cNvSpPr/>
            <p:nvPr/>
          </p:nvSpPr>
          <p:spPr>
            <a:xfrm>
              <a:off x="889345" y="2315992"/>
              <a:ext cx="368777" cy="348843"/>
            </a:xfrm>
            <a:prstGeom prst="rect">
              <a:avLst/>
            </a:prstGeom>
            <a:solidFill>
              <a:srgbClr val="A63249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1" name="Blood_blood_surface"/>
            <p:cNvSpPr/>
            <p:nvPr/>
          </p:nvSpPr>
          <p:spPr>
            <a:xfrm>
              <a:off x="889345" y="2276124"/>
              <a:ext cx="368777" cy="109636"/>
            </a:xfrm>
            <a:prstGeom prst="ellipse">
              <a:avLst/>
            </a:prstGeom>
            <a:solidFill>
              <a:srgbClr val="CA647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32" name="Blood_label"/>
            <p:cNvSpPr/>
            <p:nvPr/>
          </p:nvSpPr>
          <p:spPr>
            <a:xfrm>
              <a:off x="859444" y="1947214"/>
              <a:ext cx="428579" cy="3488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33" name="Blood_barcode0"/>
            <p:cNvCxnSpPr/>
            <p:nvPr/>
          </p:nvCxnSpPr>
          <p:spPr>
            <a:xfrm>
              <a:off x="91924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4" name="Blood_barcode1"/>
            <p:cNvCxnSpPr/>
            <p:nvPr/>
          </p:nvCxnSpPr>
          <p:spPr>
            <a:xfrm>
              <a:off x="954130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5" name="Blood_barcode2"/>
            <p:cNvCxnSpPr/>
            <p:nvPr/>
          </p:nvCxnSpPr>
          <p:spPr>
            <a:xfrm>
              <a:off x="989015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6" name="Blood_barcode3"/>
            <p:cNvCxnSpPr/>
            <p:nvPr/>
          </p:nvCxnSpPr>
          <p:spPr>
            <a:xfrm>
              <a:off x="1023899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7" name="Blood_barcode4"/>
            <p:cNvCxnSpPr/>
            <p:nvPr/>
          </p:nvCxnSpPr>
          <p:spPr>
            <a:xfrm>
              <a:off x="1058783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8" name="Blood_barcode5"/>
            <p:cNvCxnSpPr/>
            <p:nvPr/>
          </p:nvCxnSpPr>
          <p:spPr>
            <a:xfrm>
              <a:off x="1093668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39" name="Blood_barcode6"/>
            <p:cNvCxnSpPr/>
            <p:nvPr/>
          </p:nvCxnSpPr>
          <p:spPr>
            <a:xfrm>
              <a:off x="1128552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cxnSp>
          <p:nvCxnSpPr>
            <p:cNvPr id="40" name="Blood_barcode7"/>
            <p:cNvCxnSpPr/>
            <p:nvPr/>
          </p:nvCxnSpPr>
          <p:spPr>
            <a:xfrm>
              <a:off x="1163436" y="2016983"/>
              <a:ext cx="0" cy="199339"/>
            </a:xfrm>
            <a:prstGeom prst="line">
              <a:avLst/>
            </a:prstGeom>
            <a:ln w="6350">
              <a:solidFill>
                <a:srgbClr val="9BADB9"/>
              </a:solidFill>
            </a:ln>
            <a:effectLst/>
          </p:spPr>
        </p:cxnSp>
        <p:sp>
          <p:nvSpPr>
            <p:cNvPr id="41" name="Blood_cap"/>
            <p:cNvSpPr/>
            <p:nvPr/>
          </p:nvSpPr>
          <p:spPr>
            <a:xfrm>
              <a:off x="749808" y="1399032"/>
              <a:ext cx="647852" cy="328909"/>
            </a:xfrm>
            <a:prstGeom prst="roundRect">
              <a:avLst/>
            </a:prstGeom>
            <a:solidFill>
              <a:srgbClr val="16324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42" name="Blood_ridge1"/>
            <p:cNvCxnSpPr/>
            <p:nvPr/>
          </p:nvCxnSpPr>
          <p:spPr>
            <a:xfrm>
              <a:off x="827550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3" name="Blood_ridge2"/>
            <p:cNvCxnSpPr/>
            <p:nvPr/>
          </p:nvCxnSpPr>
          <p:spPr>
            <a:xfrm>
              <a:off x="905292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4" name="Blood_ridge3"/>
            <p:cNvCxnSpPr/>
            <p:nvPr/>
          </p:nvCxnSpPr>
          <p:spPr>
            <a:xfrm>
              <a:off x="98303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5" name="Blood_ridge4"/>
            <p:cNvCxnSpPr/>
            <p:nvPr/>
          </p:nvCxnSpPr>
          <p:spPr>
            <a:xfrm>
              <a:off x="1060777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6" name="Blood_ridge5"/>
            <p:cNvCxnSpPr/>
            <p:nvPr/>
          </p:nvCxnSpPr>
          <p:spPr>
            <a:xfrm>
              <a:off x="1138519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7" name="Blood_ridge6"/>
            <p:cNvCxnSpPr/>
            <p:nvPr/>
          </p:nvCxnSpPr>
          <p:spPr>
            <a:xfrm>
              <a:off x="1216261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8" name="Blood_ridge7"/>
            <p:cNvCxnSpPr/>
            <p:nvPr/>
          </p:nvCxnSpPr>
          <p:spPr>
            <a:xfrm>
              <a:off x="1294004" y="1478767"/>
              <a:ext cx="0" cy="199339"/>
            </a:xfrm>
            <a:prstGeom prst="line">
              <a:avLst/>
            </a:prstGeom>
            <a:ln w="6985">
              <a:solidFill>
                <a:srgbClr val="647D93"/>
              </a:solidFill>
            </a:ln>
            <a:effectLst/>
          </p:spPr>
        </p:cxnSp>
        <p:cxnSp>
          <p:nvCxnSpPr>
            <p:cNvPr id="49" name="Blood_shine"/>
            <p:cNvCxnSpPr/>
            <p:nvPr/>
          </p:nvCxnSpPr>
          <p:spPr>
            <a:xfrm>
              <a:off x="949147" y="1757842"/>
              <a:ext cx="0" cy="159471"/>
            </a:xfrm>
            <a:prstGeom prst="line">
              <a:avLst/>
            </a:prstGeom>
            <a:ln w="19050">
              <a:solidFill>
                <a:srgbClr val="FFFFFF"/>
              </a:solidFill>
            </a:ln>
            <a:effectLst/>
          </p:spPr>
        </p:cxnSp>
      </p:grpSp>
      <p:grpSp>
        <p:nvGrpSpPr>
          <p:cNvPr id="50" name="Urine_illustration_editable"/>
          <p:cNvGrpSpPr/>
          <p:nvPr/>
        </p:nvGrpSpPr>
        <p:grpSpPr>
          <a:xfrm>
            <a:off x="10490200" y="2108200"/>
            <a:ext cx="1432452" cy="1066800"/>
            <a:chOff x="548640" y="4507992"/>
            <a:chExt cx="1737360" cy="1293876"/>
          </a:xfrm>
        </p:grpSpPr>
        <p:sp>
          <p:nvSpPr>
            <p:cNvPr id="51" name="Urine_cup"/>
            <p:cNvSpPr/>
            <p:nvPr/>
          </p:nvSpPr>
          <p:spPr>
            <a:xfrm>
              <a:off x="598018" y="4734763"/>
              <a:ext cx="918058" cy="1067105"/>
            </a:xfrm>
            <a:custGeom>
              <a:avLst/>
              <a:gdLst/>
              <a:ahLst/>
              <a:cxnLst/>
              <a:rect l="l" t="t" r="r" b="b"/>
              <a:pathLst>
                <a:path w="1004" h="1167">
                  <a:moveTo>
                    <a:pt x="0" y="0"/>
                  </a:moveTo>
                  <a:lnTo>
                    <a:pt x="1004" y="0"/>
                  </a:lnTo>
                  <a:lnTo>
                    <a:pt x="875" y="1167"/>
                  </a:lnTo>
                  <a:lnTo>
                    <a:pt x="130" y="1167"/>
                  </a:lnTo>
                  <a:close/>
                </a:path>
              </a:pathLst>
            </a:custGeom>
            <a:solidFill>
              <a:srgbClr val="EEF5F8"/>
            </a:solidFill>
            <a:ln w="12700">
              <a:solidFill>
                <a:srgbClr val="9BADB9"/>
              </a:solidFill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2" name="Urine_urine"/>
            <p:cNvSpPr/>
            <p:nvPr/>
          </p:nvSpPr>
          <p:spPr>
            <a:xfrm>
              <a:off x="667512" y="5189220"/>
              <a:ext cx="779983" cy="533095"/>
            </a:xfrm>
            <a:custGeom>
              <a:avLst/>
              <a:gdLst/>
              <a:ahLst/>
              <a:cxnLst/>
              <a:rect l="l" t="t" r="r" b="b"/>
              <a:pathLst>
                <a:path w="853" h="583">
                  <a:moveTo>
                    <a:pt x="0" y="0"/>
                  </a:moveTo>
                  <a:lnTo>
                    <a:pt x="853" y="0"/>
                  </a:lnTo>
                  <a:lnTo>
                    <a:pt x="788" y="583"/>
                  </a:lnTo>
                  <a:lnTo>
                    <a:pt x="64" y="583"/>
                  </a:lnTo>
                  <a:close/>
                </a:path>
              </a:pathLst>
            </a:custGeom>
            <a:solidFill>
              <a:srgbClr val="FFF2C2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3" name="Urine_surface"/>
            <p:cNvSpPr/>
            <p:nvPr/>
          </p:nvSpPr>
          <p:spPr>
            <a:xfrm>
              <a:off x="667146" y="5149900"/>
              <a:ext cx="780166" cy="128381"/>
            </a:xfrm>
            <a:prstGeom prst="ellipse">
              <a:avLst/>
            </a:prstGeom>
            <a:solidFill>
              <a:srgbClr val="EBC965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sp>
          <p:nvSpPr>
            <p:cNvPr id="54" name="Urine_lid"/>
            <p:cNvSpPr/>
            <p:nvPr/>
          </p:nvSpPr>
          <p:spPr>
            <a:xfrm>
              <a:off x="548640" y="4507992"/>
              <a:ext cx="1017178" cy="296265"/>
            </a:xfrm>
            <a:prstGeom prst="roundRect">
              <a:avLst/>
            </a:prstGeom>
            <a:solidFill>
              <a:srgbClr val="C8104E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55" name="Urine_ridge1"/>
            <p:cNvCxnSpPr/>
            <p:nvPr/>
          </p:nvCxnSpPr>
          <p:spPr>
            <a:xfrm>
              <a:off x="62863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6" name="Urine_ridge2"/>
            <p:cNvCxnSpPr/>
            <p:nvPr/>
          </p:nvCxnSpPr>
          <p:spPr>
            <a:xfrm>
              <a:off x="70862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7" name="Urine_ridge3"/>
            <p:cNvCxnSpPr/>
            <p:nvPr/>
          </p:nvCxnSpPr>
          <p:spPr>
            <a:xfrm>
              <a:off x="78861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8" name="Urine_ridge4"/>
            <p:cNvCxnSpPr/>
            <p:nvPr/>
          </p:nvCxnSpPr>
          <p:spPr>
            <a:xfrm>
              <a:off x="868606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59" name="Urine_ridge5"/>
            <p:cNvCxnSpPr/>
            <p:nvPr/>
          </p:nvCxnSpPr>
          <p:spPr>
            <a:xfrm>
              <a:off x="94859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0" name="Urine_ridge6"/>
            <p:cNvCxnSpPr/>
            <p:nvPr/>
          </p:nvCxnSpPr>
          <p:spPr>
            <a:xfrm>
              <a:off x="1028590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1" name="Urine_ridge7"/>
            <p:cNvCxnSpPr/>
            <p:nvPr/>
          </p:nvCxnSpPr>
          <p:spPr>
            <a:xfrm>
              <a:off x="1108581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2" name="Urine_ridge8"/>
            <p:cNvCxnSpPr/>
            <p:nvPr/>
          </p:nvCxnSpPr>
          <p:spPr>
            <a:xfrm>
              <a:off x="1188573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3" name="Urine_ridge9"/>
            <p:cNvCxnSpPr/>
            <p:nvPr/>
          </p:nvCxnSpPr>
          <p:spPr>
            <a:xfrm>
              <a:off x="1268565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4" name="Urine_ridge10"/>
            <p:cNvCxnSpPr/>
            <p:nvPr/>
          </p:nvCxnSpPr>
          <p:spPr>
            <a:xfrm>
              <a:off x="1348557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cxnSp>
          <p:nvCxnSpPr>
            <p:cNvPr id="65" name="Urine_ridge11"/>
            <p:cNvCxnSpPr/>
            <p:nvPr/>
          </p:nvCxnSpPr>
          <p:spPr>
            <a:xfrm>
              <a:off x="1428548" y="4557369"/>
              <a:ext cx="0" cy="197510"/>
            </a:xfrm>
            <a:prstGeom prst="line">
              <a:avLst/>
            </a:prstGeom>
            <a:ln w="8890">
              <a:solidFill>
                <a:srgbClr val="D95A83"/>
              </a:solidFill>
            </a:ln>
            <a:effectLst/>
          </p:spPr>
        </p:cxnSp>
        <p:sp>
          <p:nvSpPr>
            <p:cNvPr id="66" name="Urine_label"/>
            <p:cNvSpPr/>
            <p:nvPr/>
          </p:nvSpPr>
          <p:spPr>
            <a:xfrm>
              <a:off x="775776" y="4991892"/>
              <a:ext cx="562904" cy="36539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rtlCol="0" anchor="ctr"/>
            <a:lstStyle/>
            <a:p>
              <a:pPr algn="ctr">
                <a:lnSpc>
                  <a:spcPct val="90000"/>
                </a:lnSpc>
              </a:pPr>
              <a:endParaRPr/>
            </a:p>
          </p:txBody>
        </p:sp>
        <p:cxnSp>
          <p:nvCxnSpPr>
            <p:cNvPr id="67" name="Urine_barcode0"/>
            <p:cNvCxnSpPr/>
            <p:nvPr/>
          </p:nvCxnSpPr>
          <p:spPr>
            <a:xfrm>
              <a:off x="864656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68" name="Urine_barcode1"/>
            <p:cNvCxnSpPr/>
            <p:nvPr/>
          </p:nvCxnSpPr>
          <p:spPr>
            <a:xfrm>
              <a:off x="917984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69" name="Urine_barcode2"/>
            <p:cNvCxnSpPr/>
            <p:nvPr/>
          </p:nvCxnSpPr>
          <p:spPr>
            <a:xfrm>
              <a:off x="971312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0" name="Urine_barcode3"/>
            <p:cNvCxnSpPr/>
            <p:nvPr/>
          </p:nvCxnSpPr>
          <p:spPr>
            <a:xfrm>
              <a:off x="1024640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1" name="Urine_barcode4"/>
            <p:cNvCxnSpPr/>
            <p:nvPr/>
          </p:nvCxnSpPr>
          <p:spPr>
            <a:xfrm>
              <a:off x="1077967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2" name="Urine_barcode5"/>
            <p:cNvCxnSpPr/>
            <p:nvPr/>
          </p:nvCxnSpPr>
          <p:spPr>
            <a:xfrm>
              <a:off x="1131295" y="5070896"/>
              <a:ext cx="0" cy="177760"/>
            </a:xfrm>
            <a:prstGeom prst="line">
              <a:avLst/>
            </a:prstGeom>
            <a:ln w="8890">
              <a:solidFill>
                <a:srgbClr val="9BADB9"/>
              </a:solidFill>
            </a:ln>
            <a:effectLst/>
          </p:spPr>
        </p:cxnSp>
        <p:cxnSp>
          <p:nvCxnSpPr>
            <p:cNvPr id="73" name="Urine_measure0"/>
            <p:cNvCxnSpPr/>
            <p:nvPr/>
          </p:nvCxnSpPr>
          <p:spPr>
            <a:xfrm>
              <a:off x="677021" y="4942514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4" name="Urine_measure1"/>
            <p:cNvCxnSpPr/>
            <p:nvPr/>
          </p:nvCxnSpPr>
          <p:spPr>
            <a:xfrm>
              <a:off x="677021" y="5110398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5" name="Urine_measure2"/>
            <p:cNvCxnSpPr/>
            <p:nvPr/>
          </p:nvCxnSpPr>
          <p:spPr>
            <a:xfrm>
              <a:off x="677021" y="5278282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  <p:cxnSp>
          <p:nvCxnSpPr>
            <p:cNvPr id="76" name="Urine_measure3"/>
            <p:cNvCxnSpPr/>
            <p:nvPr/>
          </p:nvCxnSpPr>
          <p:spPr>
            <a:xfrm>
              <a:off x="677021" y="5446166"/>
              <a:ext cx="69129" cy="0"/>
            </a:xfrm>
            <a:prstGeom prst="line">
              <a:avLst/>
            </a:prstGeom>
            <a:ln w="7620">
              <a:solidFill>
                <a:srgbClr val="9BADB9"/>
              </a:solidFill>
            </a:ln>
            <a:effectLst/>
          </p:spPr>
        </p:cxnSp>
      </p:grpSp>
      <p:sp>
        <p:nvSpPr>
          <p:cNvPr id="77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мочи.</a:t>
            </a:r>
            <a:endParaRPr lang="ru-RU" sz="1000" b="0" dirty="0"/>
          </a:p>
        </p:txBody>
      </p:sp>
    </p:spTree>
    <p:extLst>
      <p:ext uri="{BB962C8B-B14F-4D97-AF65-F5344CB8AC3E}">
        <p14:creationId xmlns:p14="http://schemas.microsoft.com/office/powerpoint/2010/main" val="1882790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Карточка_пример"/>
          <p:cNvSpPr/>
          <p:nvPr/>
        </p:nvSpPr>
        <p:spPr>
          <a:xfrm>
            <a:off x="457200" y="2298700"/>
            <a:ext cx="2387600" cy="2616200"/>
          </a:xfrm>
          <a:prstGeom prst="roundRect">
            <a:avLst>
              <a:gd name="adj" fmla="val 579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5" name="Шапка_рСКФ"/>
          <p:cNvSpPr/>
          <p:nvPr/>
        </p:nvSpPr>
        <p:spPr>
          <a:xfrm>
            <a:off x="2946400" y="1346200"/>
            <a:ext cx="15240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6" name="Шапка_A1"/>
          <p:cNvSpPr/>
          <p:nvPr/>
        </p:nvSpPr>
        <p:spPr>
          <a:xfrm>
            <a:off x="4521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7" name="Шапка_A2"/>
          <p:cNvSpPr/>
          <p:nvPr/>
        </p:nvSpPr>
        <p:spPr>
          <a:xfrm>
            <a:off x="6934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8" name="Шапка_A3"/>
          <p:cNvSpPr/>
          <p:nvPr/>
        </p:nvSpPr>
        <p:spPr>
          <a:xfrm>
            <a:off x="9347200" y="1346200"/>
            <a:ext cx="2387600" cy="711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59" name="Шапка_G1"/>
          <p:cNvSpPr/>
          <p:nvPr/>
        </p:nvSpPr>
        <p:spPr>
          <a:xfrm>
            <a:off x="2946400" y="210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0" name="Шапка_G2"/>
          <p:cNvSpPr/>
          <p:nvPr/>
        </p:nvSpPr>
        <p:spPr>
          <a:xfrm>
            <a:off x="2946400" y="274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1" name="Шапка_G3"/>
          <p:cNvSpPr/>
          <p:nvPr/>
        </p:nvSpPr>
        <p:spPr>
          <a:xfrm>
            <a:off x="2946400" y="337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2" name="Шапка_G4"/>
          <p:cNvSpPr/>
          <p:nvPr/>
        </p:nvSpPr>
        <p:spPr>
          <a:xfrm>
            <a:off x="2946400" y="401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3" name="Шапка_G5"/>
          <p:cNvSpPr/>
          <p:nvPr/>
        </p:nvSpPr>
        <p:spPr>
          <a:xfrm>
            <a:off x="2946400" y="4648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4" name="Шапка_G6"/>
          <p:cNvSpPr/>
          <p:nvPr/>
        </p:nvSpPr>
        <p:spPr>
          <a:xfrm>
            <a:off x="2946400" y="5283200"/>
            <a:ext cx="1524000" cy="584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Альбуминурия повышает риск и при сохранной рСКФ: при рСКФ 65 и АКО 350 мг/г риск высокий</a:t>
            </a:r>
            <a:endParaRPr lang="ru-RU" sz="2000" b="0" u="none" dirty="0"/>
          </a:p>
        </p:txBody>
      </p:sp>
      <p:sp>
        <p:nvSpPr>
          <p:cNvPr id="5" name="Text_4"/>
          <p:cNvSpPr txBox="1"/>
          <p:nvPr/>
        </p:nvSpPr>
        <p:spPr>
          <a:xfrm>
            <a:off x="2946400" y="1346200"/>
            <a:ext cx="1524000" cy="711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70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рСКФ (G)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70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мл/мин/1,73 м²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4521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&lt;30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A1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6934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30–300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A2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9347200" y="1346200"/>
            <a:ext cx="2387600" cy="711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АКО &gt;300 мг/г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A3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2946400" y="210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G1 ≥90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1200" y="2108200"/>
            <a:ext cx="2387600" cy="584200"/>
          </a:xfrm>
          <a:prstGeom prst="rect">
            <a:avLst/>
          </a:prstGeom>
          <a:solidFill>
            <a:srgbClr val="8C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Text_10"/>
          <p:cNvSpPr txBox="1"/>
          <p:nvPr/>
        </p:nvSpPr>
        <p:spPr>
          <a:xfrm>
            <a:off x="4521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Низкий*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34200" y="2108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Text_12"/>
          <p:cNvSpPr txBox="1"/>
          <p:nvPr/>
        </p:nvSpPr>
        <p:spPr>
          <a:xfrm>
            <a:off x="6934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47200" y="2108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5" name="Text_14"/>
          <p:cNvSpPr txBox="1"/>
          <p:nvPr/>
        </p:nvSpPr>
        <p:spPr>
          <a:xfrm>
            <a:off x="9347200" y="210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2946400" y="274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G2 60–89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21200" y="2743200"/>
            <a:ext cx="2387600" cy="584200"/>
          </a:xfrm>
          <a:prstGeom prst="rect">
            <a:avLst/>
          </a:prstGeom>
          <a:solidFill>
            <a:srgbClr val="8CC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8" name="Text_17"/>
          <p:cNvSpPr txBox="1"/>
          <p:nvPr/>
        </p:nvSpPr>
        <p:spPr>
          <a:xfrm>
            <a:off x="4521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Низкий*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34200" y="2743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0" name="Text_19"/>
          <p:cNvSpPr txBox="1"/>
          <p:nvPr/>
        </p:nvSpPr>
        <p:spPr>
          <a:xfrm>
            <a:off x="6934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47200" y="2743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2" name="Text_21"/>
          <p:cNvSpPr txBox="1"/>
          <p:nvPr/>
        </p:nvSpPr>
        <p:spPr>
          <a:xfrm>
            <a:off x="9347200" y="274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23" name="Text_22"/>
          <p:cNvSpPr txBox="1"/>
          <p:nvPr/>
        </p:nvSpPr>
        <p:spPr>
          <a:xfrm>
            <a:off x="2946400" y="337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G3a 45–59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1200" y="3378200"/>
            <a:ext cx="2387600" cy="584200"/>
          </a:xfrm>
          <a:prstGeom prst="rect">
            <a:avLst/>
          </a:prstGeom>
          <a:solidFill>
            <a:srgbClr val="FFE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" name="Text_24"/>
          <p:cNvSpPr txBox="1"/>
          <p:nvPr/>
        </p:nvSpPr>
        <p:spPr>
          <a:xfrm>
            <a:off x="4521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42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Умеренно повышенный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34200" y="3378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" name="Text_26"/>
          <p:cNvSpPr txBox="1"/>
          <p:nvPr/>
        </p:nvSpPr>
        <p:spPr>
          <a:xfrm>
            <a:off x="6934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47200" y="337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" name="Text_28"/>
          <p:cNvSpPr txBox="1"/>
          <p:nvPr/>
        </p:nvSpPr>
        <p:spPr>
          <a:xfrm>
            <a:off x="9347200" y="337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0" name="Text_29"/>
          <p:cNvSpPr txBox="1"/>
          <p:nvPr/>
        </p:nvSpPr>
        <p:spPr>
          <a:xfrm>
            <a:off x="2946400" y="401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G3b 30–44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21200" y="4013200"/>
            <a:ext cx="2387600" cy="584200"/>
          </a:xfrm>
          <a:prstGeom prst="rect">
            <a:avLst/>
          </a:prstGeom>
          <a:solidFill>
            <a:srgbClr val="F7A8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" name="Text_31"/>
          <p:cNvSpPr txBox="1"/>
          <p:nvPr/>
        </p:nvSpPr>
        <p:spPr>
          <a:xfrm>
            <a:off x="4521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Высокий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34200" y="401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4" name="Text_33"/>
          <p:cNvSpPr txBox="1"/>
          <p:nvPr/>
        </p:nvSpPr>
        <p:spPr>
          <a:xfrm>
            <a:off x="6934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47200" y="401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6" name="Text_35"/>
          <p:cNvSpPr txBox="1"/>
          <p:nvPr/>
        </p:nvSpPr>
        <p:spPr>
          <a:xfrm>
            <a:off x="9347200" y="401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37" name="Text_36"/>
          <p:cNvSpPr txBox="1"/>
          <p:nvPr/>
        </p:nvSpPr>
        <p:spPr>
          <a:xfrm>
            <a:off x="2946400" y="4648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G4 15–29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21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9" name="Text_38"/>
          <p:cNvSpPr txBox="1"/>
          <p:nvPr/>
        </p:nvSpPr>
        <p:spPr>
          <a:xfrm>
            <a:off x="4521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34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1" name="Text_40"/>
          <p:cNvSpPr txBox="1"/>
          <p:nvPr/>
        </p:nvSpPr>
        <p:spPr>
          <a:xfrm>
            <a:off x="6934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47200" y="4648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3" name="Text_42"/>
          <p:cNvSpPr txBox="1"/>
          <p:nvPr/>
        </p:nvSpPr>
        <p:spPr>
          <a:xfrm>
            <a:off x="9347200" y="4648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4" name="Text_43"/>
          <p:cNvSpPr txBox="1"/>
          <p:nvPr/>
        </p:nvSpPr>
        <p:spPr>
          <a:xfrm>
            <a:off x="2946400" y="5283200"/>
            <a:ext cx="1524000" cy="584200"/>
          </a:xfrm>
          <a:prstGeom prst="rect">
            <a:avLst/>
          </a:prstGeom>
          <a:noFill/>
        </p:spPr>
        <p:txBody>
          <a:bodyPr wrap="square" lIns="101600" tIns="0" rIns="0" bIns="0" anchor="ctr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00" b="1" u="none">
                <a:solidFill>
                  <a:srgbClr val="000000"/>
                </a:solidFill>
                <a:latin typeface="Arial"/>
              </a:defRPr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G5 &lt;15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1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6" name="Text_45"/>
          <p:cNvSpPr txBox="1"/>
          <p:nvPr/>
        </p:nvSpPr>
        <p:spPr>
          <a:xfrm>
            <a:off x="4521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934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8" name="Text_47"/>
          <p:cNvSpPr txBox="1"/>
          <p:nvPr/>
        </p:nvSpPr>
        <p:spPr>
          <a:xfrm>
            <a:off x="6934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347200" y="5283200"/>
            <a:ext cx="2387600" cy="584200"/>
          </a:xfrm>
          <a:prstGeom prst="rect">
            <a:avLst/>
          </a:prstGeom>
          <a:solidFill>
            <a:srgbClr val="EF7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0" name="Text_49"/>
          <p:cNvSpPr txBox="1"/>
          <p:nvPr/>
        </p:nvSpPr>
        <p:spPr>
          <a:xfrm>
            <a:off x="9347200" y="5283200"/>
            <a:ext cx="2387600" cy="584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6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Очень высокий</a:t>
            </a:r>
          </a:p>
        </p:txBody>
      </p:sp>
      <p:sp>
        <p:nvSpPr>
          <p:cNvPr id="51" name="Text_50"/>
          <p:cNvSpPr txBox="1"/>
          <p:nvPr/>
        </p:nvSpPr>
        <p:spPr>
          <a:xfrm>
            <a:off x="558800" y="2400300"/>
            <a:ext cx="2184400" cy="2413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defRPr sz="1800" b="0" u="none">
                <a:solidFill>
                  <a:srgbClr val="000000"/>
                </a:solidFill>
                <a:latin typeface="Arial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Цвет клетки: риск прогрессирования ХБП и осложнений в группе пациентов.</a:t>
            </a:r>
          </a:p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Пример: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рСКФ 65 (G2).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АКО 15 мг/г (A1): риск низкий*.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АКО 350 мг/г (A3): риск высокий.</a:t>
            </a:r>
          </a:p>
        </p:txBody>
      </p:sp>
      <p:sp>
        <p:nvSpPr>
          <p:cNvPr id="5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105(4S):S117–S314.</a:t>
            </a:r>
            <a:endParaRPr lang="ru-RU" sz="800" b="0" dirty="0"/>
          </a:p>
        </p:txBody>
      </p:sp>
      <p:pic>
        <p:nvPicPr>
          <p:cNvPr id="5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5" name="Рамка_пример_A1"/>
          <p:cNvSpPr/>
          <p:nvPr/>
        </p:nvSpPr>
        <p:spPr>
          <a:xfrm>
            <a:off x="4495800" y="2717800"/>
            <a:ext cx="2438400" cy="63500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6" name="Рамка_пример_A3"/>
          <p:cNvSpPr/>
          <p:nvPr/>
        </p:nvSpPr>
        <p:spPr>
          <a:xfrm>
            <a:off x="9321800" y="2717800"/>
            <a:ext cx="2438400" cy="635000"/>
          </a:xfrm>
          <a:prstGeom prst="rect">
            <a:avLst/>
          </a:prstGeom>
          <a:noFill/>
          <a:ln w="28575">
            <a:solidFill>
              <a:srgbClr val="000000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8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АКО: отношение альбумина к креатинину мочи; G: категории рСКФ; A: категории АКО. АКО в мг/ммоль: A1 &lt;3, A2 3–30, A3 &gt;30.</a:t>
            </a:r>
            <a:endParaRPr lang="ru-RU" sz="1000" b="0" dirty="0"/>
          </a:p>
        </p:txBody>
      </p:sp>
      <p:sp>
        <p:nvSpPr>
          <p:cNvPr id="69" name="Подпись_скобки"/>
          <p:cNvSpPr txBox="1"/>
          <p:nvPr/>
        </p:nvSpPr>
        <p:spPr>
          <a:xfrm>
            <a:off x="6934200" y="990600"/>
            <a:ext cx="48006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Участники FIDELIO-DKD и FIGARO-DKD: АКО от 30 мг/г</a:t>
            </a:r>
          </a:p>
        </p:txBody>
      </p:sp>
      <p:cxnSp>
        <p:nvCxnSpPr>
          <p:cNvPr id="70" name="Скобка_A2_A3"/>
          <p:cNvCxnSpPr/>
          <p:nvPr/>
        </p:nvCxnSpPr>
        <p:spPr>
          <a:xfrm>
            <a:off x="6959600" y="1282700"/>
            <a:ext cx="4749800" cy="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cxnSp>
        <p:nvCxnSpPr>
          <p:cNvPr id="71" name="Скобка_A2_A3_левый_край"/>
          <p:cNvCxnSpPr/>
          <p:nvPr/>
        </p:nvCxnSpPr>
        <p:spPr>
          <a:xfrm>
            <a:off x="6959600" y="1282700"/>
            <a:ext cx="0" cy="5080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cxnSp>
        <p:nvCxnSpPr>
          <p:cNvPr id="72" name="Скобка_A2_A3_правый_край"/>
          <p:cNvCxnSpPr/>
          <p:nvPr/>
        </p:nvCxnSpPr>
        <p:spPr>
          <a:xfrm>
            <a:off x="11709400" y="1282700"/>
            <a:ext cx="0" cy="50800"/>
          </a:xfrm>
          <a:prstGeom prst="line">
            <a:avLst/>
          </a:prstGeom>
          <a:ln w="19050">
            <a:solidFill>
              <a:srgbClr val="2C71A4"/>
            </a:solidFill>
          </a:ln>
        </p:spPr>
      </p:cxnSp>
      <p:sp>
        <p:nvSpPr>
          <p:cNvPr id="73" name="Сноска"/>
          <p:cNvSpPr txBox="1"/>
          <p:nvPr/>
        </p:nvSpPr>
        <p:spPr>
          <a:xfrm>
            <a:off x="457200" y="6347459"/>
            <a:ext cx="10795000" cy="1346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* При G1–G2 без альбуминурии и других признаков повреждения диагноз болезни почек не устанавливают.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Рамка_группа_4"/>
          <p:cNvSpPr/>
          <p:nvPr/>
        </p:nvSpPr>
        <p:spPr>
          <a:xfrm>
            <a:off x="3098800" y="49276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8" name="Рамка_группа_3"/>
          <p:cNvSpPr/>
          <p:nvPr/>
        </p:nvSpPr>
        <p:spPr>
          <a:xfrm>
            <a:off x="3098800" y="36449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9050">
            <a:solidFill>
              <a:srgbClr val="7030A0"/>
            </a:solidFill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7" name="Рамка_группа_2"/>
          <p:cNvSpPr/>
          <p:nvPr/>
        </p:nvSpPr>
        <p:spPr>
          <a:xfrm>
            <a:off x="3098800" y="23622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6" name="Рамка_группа_1"/>
          <p:cNvSpPr/>
          <p:nvPr/>
        </p:nvSpPr>
        <p:spPr>
          <a:xfrm>
            <a:off x="3098800" y="1079500"/>
            <a:ext cx="8636000" cy="914400"/>
          </a:xfrm>
          <a:prstGeom prst="roundRect">
            <a:avLst>
              <a:gd name="adj" fmla="val 6185"/>
            </a:avLst>
          </a:prstGeom>
          <a:solidFill>
            <a:srgbClr val="F2F2F2"/>
          </a:solidFill>
          <a:ln w="15875"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4" name="Google Shape;54;p13">
            <a:extLst>
              <a:ext uri="{FF2B5EF4-FFF2-40B4-BE49-F238E27FC236}">
                <a16:creationId xmlns:a16="http://schemas.microsoft.com/office/drawing/2014/main" id="{0CB4D451-7524-4710-B3DE-ED06FD965172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Четыре группы препаратов защищают почки разными путями: у финеренона своя мишень, МКР</a:t>
            </a:r>
            <a:endParaRPr lang="ru-RU" sz="2000" b="0" dirty="0"/>
          </a:p>
        </p:txBody>
      </p:sp>
      <p:pic>
        <p:nvPicPr>
          <p:cNvPr id="203" name="Google Shape;56;p13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700" y="1050827"/>
            <a:ext cx="1727200" cy="2165859"/>
          </a:xfrm>
          <a:prstGeom prst="rect">
            <a:avLst/>
          </a:prstGeom>
          <a:ln>
            <a:noFill/>
          </a:ln>
        </p:spPr>
      </p:pic>
      <p:sp>
        <p:nvSpPr>
          <p:cNvPr id="57" name="Google Shape;57;p13">
            <a:extLst>
              <a:ext uri="{FF2B5EF4-FFF2-40B4-BE49-F238E27FC236}">
                <a16:creationId xmlns:a16="http://schemas.microsoft.com/office/drawing/2014/main" id="{5F94F6DE-0B0A-4553-9020-63F9DBF134DA}"/>
              </a:ext>
            </a:extLst>
          </p:cNvPr>
          <p:cNvSpPr>
            <a:spLocks noGrp="1"/>
          </p:cNvSpPr>
          <p:nvPr/>
        </p:nvSpPr>
        <p:spPr>
          <a:xfrm>
            <a:off x="355600" y="1066800"/>
            <a:ext cx="279400" cy="279400"/>
          </a:xfrm>
          <a:prstGeom prst="ellipse">
            <a:avLst/>
          </a:prstGeom>
          <a:solidFill>
            <a:srgbClr val="156082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>
            <a:extLst>
              <a:ext uri="{FF2B5EF4-FFF2-40B4-BE49-F238E27FC236}">
                <a16:creationId xmlns:a16="http://schemas.microsoft.com/office/drawing/2014/main" id="{90C7A43A-5FB0-4C0D-82FC-77FE4A76A007}"/>
              </a:ext>
            </a:extLst>
          </p:cNvPr>
          <p:cNvSpPr>
            <a:spLocks noGrp="1"/>
          </p:cNvSpPr>
          <p:nvPr/>
        </p:nvSpPr>
        <p:spPr>
          <a:xfrm>
            <a:off x="355600" y="10668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1</a:t>
            </a:r>
          </a:p>
        </p:txBody>
      </p:sp>
      <p:sp>
        <p:nvSpPr>
          <p:cNvPr id="59" name="Google Shape;59;p13">
            <a:extLst>
              <a:ext uri="{FF2B5EF4-FFF2-40B4-BE49-F238E27FC236}">
                <a16:creationId xmlns:a16="http://schemas.microsoft.com/office/drawing/2014/main" id="{A7505E28-9968-4F5A-B1D5-C94387882A53}"/>
              </a:ext>
            </a:extLst>
          </p:cNvPr>
          <p:cNvSpPr>
            <a:spLocks noGrp="1"/>
          </p:cNvSpPr>
          <p:nvPr/>
        </p:nvSpPr>
        <p:spPr>
          <a:xfrm>
            <a:off x="1295400" y="889000"/>
            <a:ext cx="279400" cy="279400"/>
          </a:xfrm>
          <a:prstGeom prst="ellipse">
            <a:avLst/>
          </a:prstGeom>
          <a:solidFill>
            <a:srgbClr val="196B24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>
            <a:extLst>
              <a:ext uri="{FF2B5EF4-FFF2-40B4-BE49-F238E27FC236}">
                <a16:creationId xmlns:a16="http://schemas.microsoft.com/office/drawing/2014/main" id="{555B19CF-E884-4D12-9B46-0C98D8472172}"/>
              </a:ext>
            </a:extLst>
          </p:cNvPr>
          <p:cNvSpPr>
            <a:spLocks noGrp="1"/>
          </p:cNvSpPr>
          <p:nvPr/>
        </p:nvSpPr>
        <p:spPr>
          <a:xfrm>
            <a:off x="1295400" y="8890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2</a:t>
            </a:r>
          </a:p>
        </p:txBody>
      </p:sp>
      <p:sp>
        <p:nvSpPr>
          <p:cNvPr id="65" name="Google Shape;65;p13">
            <a:extLst>
              <a:ext uri="{FF2B5EF4-FFF2-40B4-BE49-F238E27FC236}">
                <a16:creationId xmlns:a16="http://schemas.microsoft.com/office/drawing/2014/main" id="{E49D762A-721D-4307-A2A9-036FDEAEFC80}"/>
              </a:ext>
            </a:extLst>
          </p:cNvPr>
          <p:cNvSpPr>
            <a:spLocks noGrp="1"/>
          </p:cNvSpPr>
          <p:nvPr/>
        </p:nvSpPr>
        <p:spPr>
          <a:xfrm>
            <a:off x="3098800" y="7493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156082"/>
                </a:solidFill>
                <a:latin typeface="Calibri"/>
                <a:ea typeface="Calibri"/>
                <a:cs typeface="Calibri"/>
              </a:defRPr>
            </a:pPr>
            <a:r>
              <a:rPr sz="1600" b="1" u="none" dirty="0" err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Ингибиторы АПФ или блокаторы рецепторов ангиотензина II (БРА)</a:t>
            </a:r>
          </a:p>
        </p:txBody>
      </p:sp>
      <p:sp>
        <p:nvSpPr>
          <p:cNvPr id="63" name="Google Shape;63;p13">
            <a:extLst>
              <a:ext uri="{FF2B5EF4-FFF2-40B4-BE49-F238E27FC236}">
                <a16:creationId xmlns:a16="http://schemas.microsoft.com/office/drawing/2014/main" id="{48B118A2-6E27-4A18-9D0F-71CF70700A04}"/>
              </a:ext>
            </a:extLst>
          </p:cNvPr>
          <p:cNvSpPr>
            <a:spLocks noGrp="1"/>
          </p:cNvSpPr>
          <p:nvPr/>
        </p:nvSpPr>
        <p:spPr>
          <a:xfrm>
            <a:off x="3149600" y="7620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3">
            <a:extLst>
              <a:ext uri="{FF2B5EF4-FFF2-40B4-BE49-F238E27FC236}">
                <a16:creationId xmlns:a16="http://schemas.microsoft.com/office/drawing/2014/main" id="{436DB741-8FE6-4709-B128-B3BEB7477209}"/>
              </a:ext>
            </a:extLst>
          </p:cNvPr>
          <p:cNvSpPr>
            <a:spLocks noGrp="1"/>
          </p:cNvSpPr>
          <p:nvPr/>
        </p:nvSpPr>
        <p:spPr>
          <a:xfrm>
            <a:off x="3149600" y="7620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156082"/>
                </a:solidFill>
                <a:latin typeface="Arial Narrow"/>
                <a:ea typeface="Calibri"/>
                <a:cs typeface="Arial Narrow"/>
              </a:rPr>
              <a:t>1</a:t>
            </a:r>
          </a:p>
        </p:txBody>
      </p:sp>
      <p:sp>
        <p:nvSpPr>
          <p:cNvPr id="66" name="Google Shape;66;p13">
            <a:extLst>
              <a:ext uri="{FF2B5EF4-FFF2-40B4-BE49-F238E27FC236}">
                <a16:creationId xmlns:a16="http://schemas.microsoft.com/office/drawing/2014/main" id="{633BED7F-4D84-4F26-A4AC-0EE858E07F58}"/>
              </a:ext>
            </a:extLst>
          </p:cNvPr>
          <p:cNvSpPr>
            <a:spLocks noGrp="1"/>
          </p:cNvSpPr>
          <p:nvPr/>
        </p:nvSpPr>
        <p:spPr>
          <a:xfrm>
            <a:off x="3225800" y="11303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АПФ или рецептор ангиотензина II.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расширяют выносящую артериолу; снижают давление в клубочке.</a:t>
            </a:r>
            <a:endParaRPr lang="ru-RU" sz="1400"/>
          </a:p>
        </p:txBody>
      </p:sp>
      <p:sp>
        <p:nvSpPr>
          <p:cNvPr id="67" name="Google Shape;67;p13">
            <a:extLst>
              <a:ext uri="{FF2B5EF4-FFF2-40B4-BE49-F238E27FC236}">
                <a16:creationId xmlns:a16="http://schemas.microsoft.com/office/drawing/2014/main" id="{07DFDA66-B455-49FE-AED7-4FD6F0B0BDEC}"/>
              </a:ext>
            </a:extLst>
          </p:cNvPr>
          <p:cNvSpPr>
            <a:spLocks noGrp="1"/>
          </p:cNvSpPr>
          <p:nvPr/>
        </p:nvSpPr>
        <p:spPr>
          <a:xfrm>
            <a:off x="7162800" y="11303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ниже риск прогрессирования ХБП при альбуминурии.</a:t>
            </a:r>
            <a:endParaRPr lang="ru-RU" sz="1400"/>
          </a:p>
        </p:txBody>
      </p:sp>
      <p:sp>
        <p:nvSpPr>
          <p:cNvPr id="68" name="Google Shape;68;p13">
            <a:extLst>
              <a:ext uri="{FF2B5EF4-FFF2-40B4-BE49-F238E27FC236}">
                <a16:creationId xmlns:a16="http://schemas.microsoft.com/office/drawing/2014/main" id="{E5CFBEB2-08A4-472C-AB0D-836CDF18BAD7}"/>
              </a:ext>
            </a:extLst>
          </p:cNvPr>
          <p:cNvSpPr>
            <a:spLocks noGrp="1"/>
          </p:cNvSpPr>
          <p:nvPr/>
        </p:nvSpPr>
        <p:spPr>
          <a:xfrm>
            <a:off x="3111500" y="1684122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73" name="Google Shape;73;p13">
            <a:extLst>
              <a:ext uri="{FF2B5EF4-FFF2-40B4-BE49-F238E27FC236}">
                <a16:creationId xmlns:a16="http://schemas.microsoft.com/office/drawing/2014/main" id="{34D0F8E5-B506-4BC4-880C-9CB16B5FA7B1}"/>
              </a:ext>
            </a:extLst>
          </p:cNvPr>
          <p:cNvSpPr>
            <a:spLocks noGrp="1"/>
          </p:cNvSpPr>
          <p:nvPr/>
        </p:nvSpPr>
        <p:spPr>
          <a:xfrm>
            <a:off x="3098800" y="20320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196B24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buNone/>
              <a:defRPr sz="1867" b="1">
                <a:solidFill>
                  <a:srgbClr val="196B24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Ингибиторы натрий-глюкозного котранспортёра 2 типа (НГЛТ2)</a:t>
            </a:r>
            <a:endParaRPr lang="ru-RU" sz="1600"/>
          </a:p>
        </p:txBody>
      </p:sp>
      <p:sp>
        <p:nvSpPr>
          <p:cNvPr id="71" name="Google Shape;71;p13">
            <a:extLst>
              <a:ext uri="{FF2B5EF4-FFF2-40B4-BE49-F238E27FC236}">
                <a16:creationId xmlns:a16="http://schemas.microsoft.com/office/drawing/2014/main" id="{064E96DE-BE6A-4D81-A8F2-6742D305A038}"/>
              </a:ext>
            </a:extLst>
          </p:cNvPr>
          <p:cNvSpPr>
            <a:spLocks noGrp="1"/>
          </p:cNvSpPr>
          <p:nvPr/>
        </p:nvSpPr>
        <p:spPr>
          <a:xfrm>
            <a:off x="3149600" y="20447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3">
            <a:extLst>
              <a:ext uri="{FF2B5EF4-FFF2-40B4-BE49-F238E27FC236}">
                <a16:creationId xmlns:a16="http://schemas.microsoft.com/office/drawing/2014/main" id="{EEE930DA-BC3E-407A-972F-EC5C3EE383B6}"/>
              </a:ext>
            </a:extLst>
          </p:cNvPr>
          <p:cNvSpPr>
            <a:spLocks noGrp="1"/>
          </p:cNvSpPr>
          <p:nvPr/>
        </p:nvSpPr>
        <p:spPr>
          <a:xfrm>
            <a:off x="3149600" y="20447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196B24"/>
                </a:solidFill>
                <a:latin typeface="Arial Narrow"/>
                <a:ea typeface="Calibri"/>
                <a:cs typeface="Arial Narrow"/>
              </a:rPr>
              <a:t>2</a:t>
            </a:r>
          </a:p>
        </p:txBody>
      </p:sp>
      <p:sp>
        <p:nvSpPr>
          <p:cNvPr id="74" name="Google Shape;74;p13">
            <a:extLst>
              <a:ext uri="{FF2B5EF4-FFF2-40B4-BE49-F238E27FC236}">
                <a16:creationId xmlns:a16="http://schemas.microsoft.com/office/drawing/2014/main" id="{1D117A58-9EA5-4BDB-B625-678F9E6324A7}"/>
              </a:ext>
            </a:extLst>
          </p:cNvPr>
          <p:cNvSpPr>
            <a:spLocks noGrp="1"/>
          </p:cNvSpPr>
          <p:nvPr/>
        </p:nvSpPr>
        <p:spPr>
          <a:xfrm>
            <a:off x="3225800" y="24130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НГЛТ2 в проксимальном канальце.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уменьшают возврат натрия и глюкозы в кровь.</a:t>
            </a:r>
            <a:endParaRPr lang="ru-RU" sz="1400"/>
          </a:p>
        </p:txBody>
      </p:sp>
      <p:sp>
        <p:nvSpPr>
          <p:cNvPr id="75" name="Google Shape;75;p13">
            <a:extLst>
              <a:ext uri="{FF2B5EF4-FFF2-40B4-BE49-F238E27FC236}">
                <a16:creationId xmlns:a16="http://schemas.microsoft.com/office/drawing/2014/main" id="{2A418DAE-824D-483E-895F-22EEA8FD1484}"/>
              </a:ext>
            </a:extLst>
          </p:cNvPr>
          <p:cNvSpPr>
            <a:spLocks noGrp="1"/>
          </p:cNvSpPr>
          <p:nvPr/>
        </p:nvSpPr>
        <p:spPr>
          <a:xfrm>
            <a:off x="7162800" y="24130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ниже риск прогрессирования ХБП и госпитализации из-за сердечной недостаточности.</a:t>
            </a:r>
            <a:endParaRPr lang="ru-RU" sz="1400"/>
          </a:p>
        </p:txBody>
      </p:sp>
      <p:sp>
        <p:nvSpPr>
          <p:cNvPr id="76" name="Google Shape;76;p13">
            <a:extLst>
              <a:ext uri="{FF2B5EF4-FFF2-40B4-BE49-F238E27FC236}">
                <a16:creationId xmlns:a16="http://schemas.microsoft.com/office/drawing/2014/main" id="{9FF320DD-6697-4C5E-8220-4D067E877FC5}"/>
              </a:ext>
            </a:extLst>
          </p:cNvPr>
          <p:cNvSpPr>
            <a:spLocks noGrp="1"/>
          </p:cNvSpPr>
          <p:nvPr/>
        </p:nvSpPr>
        <p:spPr>
          <a:xfrm>
            <a:off x="3111500" y="2966822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81" name="Google Shape;81;p13">
            <a:extLst>
              <a:ext uri="{FF2B5EF4-FFF2-40B4-BE49-F238E27FC236}">
                <a16:creationId xmlns:a16="http://schemas.microsoft.com/office/drawing/2014/main" id="{85EB4729-A953-4574-BFC6-4572A71D3E23}"/>
              </a:ext>
            </a:extLst>
          </p:cNvPr>
          <p:cNvSpPr>
            <a:spLocks noGrp="1"/>
          </p:cNvSpPr>
          <p:nvPr/>
        </p:nvSpPr>
        <p:spPr>
          <a:xfrm>
            <a:off x="3098800" y="33147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Нестероидный антагонист минералокортикоидного рецептора (МКР): финеренон</a:t>
            </a:r>
          </a:p>
        </p:txBody>
      </p:sp>
      <p:sp>
        <p:nvSpPr>
          <p:cNvPr id="79" name="Google Shape;79;p13">
            <a:extLst>
              <a:ext uri="{FF2B5EF4-FFF2-40B4-BE49-F238E27FC236}">
                <a16:creationId xmlns:a16="http://schemas.microsoft.com/office/drawing/2014/main" id="{BB6CCBF0-3FA0-4E58-82A1-28F9B0AFE994}"/>
              </a:ext>
            </a:extLst>
          </p:cNvPr>
          <p:cNvSpPr>
            <a:spLocks noGrp="1"/>
          </p:cNvSpPr>
          <p:nvPr/>
        </p:nvSpPr>
        <p:spPr>
          <a:xfrm>
            <a:off x="3149600" y="33274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3">
            <a:extLst>
              <a:ext uri="{FF2B5EF4-FFF2-40B4-BE49-F238E27FC236}">
                <a16:creationId xmlns:a16="http://schemas.microsoft.com/office/drawing/2014/main" id="{C11F9E02-FA20-4C3D-B4D4-50F310694B04}"/>
              </a:ext>
            </a:extLst>
          </p:cNvPr>
          <p:cNvSpPr>
            <a:spLocks noGrp="1"/>
          </p:cNvSpPr>
          <p:nvPr/>
        </p:nvSpPr>
        <p:spPr>
          <a:xfrm>
            <a:off x="3149600" y="33274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sp>
        <p:nvSpPr>
          <p:cNvPr id="82" name="Google Shape;82;p13">
            <a:extLst>
              <a:ext uri="{FF2B5EF4-FFF2-40B4-BE49-F238E27FC236}">
                <a16:creationId xmlns:a16="http://schemas.microsoft.com/office/drawing/2014/main" id="{A8A784EF-644A-437F-B455-E5A441B9B7AF}"/>
              </a:ext>
            </a:extLst>
          </p:cNvPr>
          <p:cNvSpPr>
            <a:spLocks noGrp="1"/>
          </p:cNvSpPr>
          <p:nvPr/>
        </p:nvSpPr>
        <p:spPr>
          <a:xfrm>
            <a:off x="3225800" y="36957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МКР в почках, сердце и сосудах.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блокирует МКР, препятствуя включению генов воспаления и фиброза.</a:t>
            </a:r>
            <a:endParaRPr lang="ru-RU" sz="1400"/>
          </a:p>
        </p:txBody>
      </p:sp>
      <p:sp>
        <p:nvSpPr>
          <p:cNvPr id="83" name="Google Shape;83;p13">
            <a:extLst>
              <a:ext uri="{FF2B5EF4-FFF2-40B4-BE49-F238E27FC236}">
                <a16:creationId xmlns:a16="http://schemas.microsoft.com/office/drawing/2014/main" id="{7B776FCD-639F-4A1F-8C30-210E91079B42}"/>
              </a:ext>
            </a:extLst>
          </p:cNvPr>
          <p:cNvSpPr>
            <a:spLocks noGrp="1"/>
          </p:cNvSpPr>
          <p:nvPr/>
        </p:nvSpPr>
        <p:spPr>
          <a:xfrm>
            <a:off x="7162800" y="36957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ниже риск прогрессирования ХБП и сердечно-сосудистых событий у взрослых с ХБП и диабетом 2 типа (FIDELIO-DKD, FIGARO-DKD, FIDELITY).</a:t>
            </a:r>
            <a:endParaRPr lang="ru-RU" sz="1400"/>
          </a:p>
        </p:txBody>
      </p:sp>
      <p:sp>
        <p:nvSpPr>
          <p:cNvPr id="84" name="Google Shape;84;p13">
            <a:extLst>
              <a:ext uri="{FF2B5EF4-FFF2-40B4-BE49-F238E27FC236}">
                <a16:creationId xmlns:a16="http://schemas.microsoft.com/office/drawing/2014/main" id="{047F5A5E-96BA-4AB2-B358-49195BF47111}"/>
              </a:ext>
            </a:extLst>
          </p:cNvPr>
          <p:cNvSpPr>
            <a:spLocks noGrp="1"/>
          </p:cNvSpPr>
          <p:nvPr/>
        </p:nvSpPr>
        <p:spPr>
          <a:xfrm>
            <a:off x="3111500" y="4249521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89" name="Google Shape;89;p13">
            <a:extLst>
              <a:ext uri="{FF2B5EF4-FFF2-40B4-BE49-F238E27FC236}">
                <a16:creationId xmlns:a16="http://schemas.microsoft.com/office/drawing/2014/main" id="{5191A00A-0F6D-4AF7-A740-07E221D3032E}"/>
              </a:ext>
            </a:extLst>
          </p:cNvPr>
          <p:cNvSpPr>
            <a:spLocks noGrp="1"/>
          </p:cNvSpPr>
          <p:nvPr/>
        </p:nvSpPr>
        <p:spPr>
          <a:xfrm>
            <a:off x="3098800" y="4597400"/>
            <a:ext cx="86360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</p:spPr>
        <p:txBody>
          <a:bodyPr spcFirstLastPara="1" wrap="square" lIns="431800" tIns="0" rIns="101600" bIns="0" anchor="ctr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0F9ED5"/>
                </a:solidFill>
                <a:latin typeface="Calibri"/>
                <a:ea typeface="Calibri"/>
                <a:cs typeface="Calibri"/>
              </a:defRPr>
            </a:pPr>
            <a:r>
              <a:rPr sz="16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Агонисты рецептора глюкагоноподобного пептида-1 (ГПП-1)</a:t>
            </a:r>
          </a:p>
        </p:txBody>
      </p:sp>
      <p:sp>
        <p:nvSpPr>
          <p:cNvPr id="87" name="Google Shape;87;p13">
            <a:extLst>
              <a:ext uri="{FF2B5EF4-FFF2-40B4-BE49-F238E27FC236}">
                <a16:creationId xmlns:a16="http://schemas.microsoft.com/office/drawing/2014/main" id="{79FE8ACE-FA3F-458D-B39B-C1A2ACC299AE}"/>
              </a:ext>
            </a:extLst>
          </p:cNvPr>
          <p:cNvSpPr>
            <a:spLocks noGrp="1"/>
          </p:cNvSpPr>
          <p:nvPr/>
        </p:nvSpPr>
        <p:spPr>
          <a:xfrm>
            <a:off x="3149600" y="4610100"/>
            <a:ext cx="279400" cy="279400"/>
          </a:xfrm>
          <a:prstGeom prst="ellipse">
            <a:avLst/>
          </a:prstGeom>
          <a:solidFill>
            <a:srgbClr val="FFFFFF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3">
            <a:extLst>
              <a:ext uri="{FF2B5EF4-FFF2-40B4-BE49-F238E27FC236}">
                <a16:creationId xmlns:a16="http://schemas.microsoft.com/office/drawing/2014/main" id="{CDE0B969-DC73-40A7-A026-B1BBADED4097}"/>
              </a:ext>
            </a:extLst>
          </p:cNvPr>
          <p:cNvSpPr>
            <a:spLocks noGrp="1"/>
          </p:cNvSpPr>
          <p:nvPr/>
        </p:nvSpPr>
        <p:spPr>
          <a:xfrm>
            <a:off x="3149600" y="4610100"/>
            <a:ext cx="279400" cy="2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u="none">
                <a:solidFill>
                  <a:srgbClr val="E97132"/>
                </a:solidFill>
                <a:latin typeface="Arial Narrow"/>
                <a:ea typeface="Calibri"/>
                <a:cs typeface="Arial Narrow"/>
              </a:rPr>
              <a:t>4</a:t>
            </a:r>
          </a:p>
        </p:txBody>
      </p:sp>
      <p:sp>
        <p:nvSpPr>
          <p:cNvPr id="90" name="Google Shape;90;p13">
            <a:extLst>
              <a:ext uri="{FF2B5EF4-FFF2-40B4-BE49-F238E27FC236}">
                <a16:creationId xmlns:a16="http://schemas.microsoft.com/office/drawing/2014/main" id="{B5658C51-E9CC-4AF0-ACC4-65C7186A2E86}"/>
              </a:ext>
            </a:extLst>
          </p:cNvPr>
          <p:cNvSpPr>
            <a:spLocks noGrp="1"/>
          </p:cNvSpPr>
          <p:nvPr/>
        </p:nvSpPr>
        <p:spPr>
          <a:xfrm>
            <a:off x="3225800" y="4978400"/>
            <a:ext cx="3708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Мишень: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рецептор ГПП-1.</a:t>
            </a:r>
            <a:endParaRPr lang="ru-RU" sz="1400"/>
          </a:p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Действие: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улучшают контроль глюкозы, снижают массу тела.</a:t>
            </a:r>
            <a:endParaRPr lang="ru-RU" sz="1400"/>
          </a:p>
        </p:txBody>
      </p:sp>
      <p:sp>
        <p:nvSpPr>
          <p:cNvPr id="91" name="Google Shape;91;p13">
            <a:extLst>
              <a:ext uri="{FF2B5EF4-FFF2-40B4-BE49-F238E27FC236}">
                <a16:creationId xmlns:a16="http://schemas.microsoft.com/office/drawing/2014/main" id="{1880318D-134E-4942-9155-7D7F9CD58B69}"/>
              </a:ext>
            </a:extLst>
          </p:cNvPr>
          <p:cNvSpPr>
            <a:spLocks noGrp="1"/>
          </p:cNvSpPr>
          <p:nvPr/>
        </p:nvSpPr>
        <p:spPr>
          <a:xfrm>
            <a:off x="7162800" y="4978400"/>
            <a:ext cx="4470400" cy="8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Польза¹: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ниже риск тяжёлых почечных событий и смерти от почечных или сердечно-сосудистых причин.</a:t>
            </a:r>
            <a:endParaRPr lang="ru-RU" sz="1400"/>
          </a:p>
        </p:txBody>
      </p:sp>
      <p:sp>
        <p:nvSpPr>
          <p:cNvPr id="92" name="Google Shape;92;p13">
            <a:extLst>
              <a:ext uri="{FF2B5EF4-FFF2-40B4-BE49-F238E27FC236}">
                <a16:creationId xmlns:a16="http://schemas.microsoft.com/office/drawing/2014/main" id="{FE5125EB-C9C0-4AD3-8124-B97CD8E92656}"/>
              </a:ext>
            </a:extLst>
          </p:cNvPr>
          <p:cNvSpPr>
            <a:spLocks noGrp="1"/>
          </p:cNvSpPr>
          <p:nvPr/>
        </p:nvSpPr>
        <p:spPr>
          <a:xfrm>
            <a:off x="3111500" y="5532221"/>
            <a:ext cx="86233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0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ru-RU" sz="1400"/>
          </a:p>
        </p:txBody>
      </p:sp>
      <p:sp>
        <p:nvSpPr>
          <p:cNvPr id="93" name="Google Shape;93;p13">
            <a:extLst>
              <a:ext uri="{FF2B5EF4-FFF2-40B4-BE49-F238E27FC236}">
                <a16:creationId xmlns:a16="http://schemas.microsoft.com/office/drawing/2014/main" id="{8A89B3A7-E84D-4E29-801A-3EC33203A6BB}"/>
              </a:ext>
            </a:extLst>
          </p:cNvPr>
          <p:cNvSpPr>
            <a:spLocks noGrp="1"/>
          </p:cNvSpPr>
          <p:nvPr/>
        </p:nvSpPr>
        <p:spPr>
          <a:xfrm>
            <a:off x="431800" y="3340100"/>
            <a:ext cx="2565400" cy="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1" dirty="0" err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Где находится мишень</a:t>
            </a:r>
            <a:endParaRPr sz="1800" b="1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5" name="Google Shape;95;p13">
            <a:extLst>
              <a:ext uri="{FF2B5EF4-FFF2-40B4-BE49-F238E27FC236}">
                <a16:creationId xmlns:a16="http://schemas.microsoft.com/office/drawing/2014/main" id="{1EDCD5E3-ACB9-4F6B-846D-CD60E5C16130}"/>
              </a:ext>
            </a:extLst>
          </p:cNvPr>
          <p:cNvSpPr>
            <a:spLocks noGrp="1"/>
          </p:cNvSpPr>
          <p:nvPr/>
        </p:nvSpPr>
        <p:spPr>
          <a:xfrm>
            <a:off x="457200" y="5867400"/>
            <a:ext cx="11277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добавляют к ингибитору АПФ или БРА. Набор препаратов врач подбирает по рСКФ, АКО и калию.</a:t>
            </a:r>
            <a:endParaRPr lang="ru-RU" sz="1600"/>
          </a:p>
        </p:txBody>
      </p:sp>
      <p:pic>
        <p:nvPicPr>
          <p:cNvPr id="246" name="Рисунок 2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1000" y="3898927"/>
            <a:ext cx="1435100" cy="1065984"/>
          </a:xfrm>
          <a:prstGeom prst="rect">
            <a:avLst/>
          </a:prstGeom>
        </p:spPr>
      </p:pic>
      <p:pic>
        <p:nvPicPr>
          <p:cNvPr id="247" name="Рисунок 2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9600" y="4394200"/>
            <a:ext cx="381000" cy="381000"/>
          </a:xfrm>
          <a:prstGeom prst="rect">
            <a:avLst/>
          </a:prstGeom>
        </p:spPr>
      </p:pic>
      <p:sp>
        <p:nvSpPr>
          <p:cNvPr id="102" name="intracellular_target_3_disc">
            <a:extLst>
              <a:ext uri="{FF2B5EF4-FFF2-40B4-BE49-F238E27FC236}">
                <a16:creationId xmlns:a16="http://schemas.microsoft.com/office/drawing/2014/main" id="{E1715120-7CF2-4036-AA86-7895591B4458}"/>
              </a:ext>
            </a:extLst>
          </p:cNvPr>
          <p:cNvSpPr>
            <a:spLocks noGrp="1"/>
          </p:cNvSpPr>
          <p:nvPr/>
        </p:nvSpPr>
        <p:spPr>
          <a:xfrm>
            <a:off x="1257300" y="4102100"/>
            <a:ext cx="279400" cy="279400"/>
          </a:xfrm>
          <a:prstGeom prst="ellipse">
            <a:avLst/>
          </a:prstGeom>
          <a:solidFill>
            <a:srgbClr val="7030A0"/>
          </a:solidFill>
          <a:ln w="15240">
            <a:solidFill>
              <a:srgbClr val="FFFFFF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3" name="intracellular_target_3_number">
            <a:extLst>
              <a:ext uri="{FF2B5EF4-FFF2-40B4-BE49-F238E27FC236}">
                <a16:creationId xmlns:a16="http://schemas.microsoft.com/office/drawing/2014/main" id="{CB27F05D-DC83-4644-AF8C-B696AAD7A15E}"/>
              </a:ext>
            </a:extLst>
          </p:cNvPr>
          <p:cNvSpPr>
            <a:spLocks noGrp="1"/>
          </p:cNvSpPr>
          <p:nvPr/>
        </p:nvSpPr>
        <p:spPr>
          <a:xfrm>
            <a:off x="1257300" y="4102100"/>
            <a:ext cx="2794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sp>
        <p:nvSpPr>
          <p:cNvPr id="104" name="intracellular_receptor_name">
            <a:extLst>
              <a:ext uri="{FF2B5EF4-FFF2-40B4-BE49-F238E27FC236}">
                <a16:creationId xmlns:a16="http://schemas.microsoft.com/office/drawing/2014/main" id="{A5813D6F-9D51-4527-A820-564515E32795}"/>
              </a:ext>
            </a:extLst>
          </p:cNvPr>
          <p:cNvSpPr>
            <a:spLocks noGrp="1"/>
          </p:cNvSpPr>
          <p:nvPr/>
        </p:nvSpPr>
        <p:spPr>
          <a:xfrm>
            <a:off x="1143000" y="4394200"/>
            <a:ext cx="622300" cy="292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МКР</a:t>
            </a:r>
          </a:p>
        </p:txBody>
      </p:sp>
      <p:sp>
        <p:nvSpPr>
          <p:cNvPr id="105" name="inside_cell_label">
            <a:extLst>
              <a:ext uri="{FF2B5EF4-FFF2-40B4-BE49-F238E27FC236}">
                <a16:creationId xmlns:a16="http://schemas.microsoft.com/office/drawing/2014/main" id="{5386A5A6-A753-4E86-A28C-5BCF93AA7883}"/>
              </a:ext>
            </a:extLst>
          </p:cNvPr>
          <p:cNvSpPr>
            <a:spLocks noGrp="1"/>
          </p:cNvSpPr>
          <p:nvPr/>
        </p:nvSpPr>
        <p:spPr>
          <a:xfrm>
            <a:off x="1917700" y="4102100"/>
            <a:ext cx="1066800" cy="596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Внутри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клетки</a:t>
            </a:r>
          </a:p>
        </p:txBody>
      </p:sp>
      <p:sp>
        <p:nvSpPr>
          <p:cNvPr id="106" name="upper_lipid_head_0">
            <a:extLst>
              <a:ext uri="{FF2B5EF4-FFF2-40B4-BE49-F238E27FC236}">
                <a16:creationId xmlns:a16="http://schemas.microsoft.com/office/drawing/2014/main" id="{532450E2-07D3-4C14-9FE8-3F0CA2938695}"/>
              </a:ext>
            </a:extLst>
          </p:cNvPr>
          <p:cNvSpPr>
            <a:spLocks noGrp="1"/>
          </p:cNvSpPr>
          <p:nvPr/>
        </p:nvSpPr>
        <p:spPr>
          <a:xfrm>
            <a:off x="43180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7" name="upper_lipid_tail_a_0">
            <a:extLst>
              <a:ext uri="{FF2B5EF4-FFF2-40B4-BE49-F238E27FC236}">
                <a16:creationId xmlns:a16="http://schemas.microsoft.com/office/drawing/2014/main" id="{BAB820F5-BB77-4CA0-9A3C-0FC08B81190B}"/>
              </a:ext>
            </a:extLst>
          </p:cNvPr>
          <p:cNvSpPr>
            <a:spLocks noGrp="1"/>
          </p:cNvSpPr>
          <p:nvPr/>
        </p:nvSpPr>
        <p:spPr>
          <a:xfrm>
            <a:off x="45465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8" name="upper_lipid_tail_b_0">
            <a:extLst>
              <a:ext uri="{FF2B5EF4-FFF2-40B4-BE49-F238E27FC236}">
                <a16:creationId xmlns:a16="http://schemas.microsoft.com/office/drawing/2014/main" id="{77D2615A-3B44-458F-846C-CDDFF38DD401}"/>
              </a:ext>
            </a:extLst>
          </p:cNvPr>
          <p:cNvSpPr>
            <a:spLocks noGrp="1"/>
          </p:cNvSpPr>
          <p:nvPr/>
        </p:nvSpPr>
        <p:spPr>
          <a:xfrm>
            <a:off x="48005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9" name="lower_lipid_head_0">
            <a:extLst>
              <a:ext uri="{FF2B5EF4-FFF2-40B4-BE49-F238E27FC236}">
                <a16:creationId xmlns:a16="http://schemas.microsoft.com/office/drawing/2014/main" id="{1D0AA1AE-FD79-4993-87B2-C09708BDF15A}"/>
              </a:ext>
            </a:extLst>
          </p:cNvPr>
          <p:cNvSpPr>
            <a:spLocks noGrp="1"/>
          </p:cNvSpPr>
          <p:nvPr/>
        </p:nvSpPr>
        <p:spPr>
          <a:xfrm>
            <a:off x="43180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0" name="lower_lipid_tail_a_0">
            <a:extLst>
              <a:ext uri="{FF2B5EF4-FFF2-40B4-BE49-F238E27FC236}">
                <a16:creationId xmlns:a16="http://schemas.microsoft.com/office/drawing/2014/main" id="{7F2A8D2B-1D45-482B-9A56-76573FF2853A}"/>
              </a:ext>
            </a:extLst>
          </p:cNvPr>
          <p:cNvSpPr>
            <a:spLocks noGrp="1"/>
          </p:cNvSpPr>
          <p:nvPr/>
        </p:nvSpPr>
        <p:spPr>
          <a:xfrm>
            <a:off x="45465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1" name="lower_lipid_tail_b_0">
            <a:extLst>
              <a:ext uri="{FF2B5EF4-FFF2-40B4-BE49-F238E27FC236}">
                <a16:creationId xmlns:a16="http://schemas.microsoft.com/office/drawing/2014/main" id="{E9A53FAD-6400-4A1A-ABE7-EC29DC149860}"/>
              </a:ext>
            </a:extLst>
          </p:cNvPr>
          <p:cNvSpPr>
            <a:spLocks noGrp="1"/>
          </p:cNvSpPr>
          <p:nvPr/>
        </p:nvSpPr>
        <p:spPr>
          <a:xfrm>
            <a:off x="48005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2" name="upper_lipid_head_1">
            <a:extLst>
              <a:ext uri="{FF2B5EF4-FFF2-40B4-BE49-F238E27FC236}">
                <a16:creationId xmlns:a16="http://schemas.microsoft.com/office/drawing/2014/main" id="{D141E650-EB4E-486C-B7C1-991A9495BF1C}"/>
              </a:ext>
            </a:extLst>
          </p:cNvPr>
          <p:cNvSpPr>
            <a:spLocks noGrp="1"/>
          </p:cNvSpPr>
          <p:nvPr/>
        </p:nvSpPr>
        <p:spPr>
          <a:xfrm>
            <a:off x="52260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3" name="upper_lipid_tail_a_1">
            <a:extLst>
              <a:ext uri="{FF2B5EF4-FFF2-40B4-BE49-F238E27FC236}">
                <a16:creationId xmlns:a16="http://schemas.microsoft.com/office/drawing/2014/main" id="{0A1ECB42-D459-461B-B976-588D589A4055}"/>
              </a:ext>
            </a:extLst>
          </p:cNvPr>
          <p:cNvSpPr>
            <a:spLocks noGrp="1"/>
          </p:cNvSpPr>
          <p:nvPr/>
        </p:nvSpPr>
        <p:spPr>
          <a:xfrm>
            <a:off x="54546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4" name="upper_lipid_tail_b_1">
            <a:extLst>
              <a:ext uri="{FF2B5EF4-FFF2-40B4-BE49-F238E27FC236}">
                <a16:creationId xmlns:a16="http://schemas.microsoft.com/office/drawing/2014/main" id="{4D18D536-B081-40E5-9465-FD835CDB4F2B}"/>
              </a:ext>
            </a:extLst>
          </p:cNvPr>
          <p:cNvSpPr>
            <a:spLocks noGrp="1"/>
          </p:cNvSpPr>
          <p:nvPr/>
        </p:nvSpPr>
        <p:spPr>
          <a:xfrm>
            <a:off x="57086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5" name="lower_lipid_head_1">
            <a:extLst>
              <a:ext uri="{FF2B5EF4-FFF2-40B4-BE49-F238E27FC236}">
                <a16:creationId xmlns:a16="http://schemas.microsoft.com/office/drawing/2014/main" id="{AC788CEB-02BF-419A-A496-14E544896F21}"/>
              </a:ext>
            </a:extLst>
          </p:cNvPr>
          <p:cNvSpPr>
            <a:spLocks noGrp="1"/>
          </p:cNvSpPr>
          <p:nvPr/>
        </p:nvSpPr>
        <p:spPr>
          <a:xfrm>
            <a:off x="52260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6" name="lower_lipid_tail_a_1">
            <a:extLst>
              <a:ext uri="{FF2B5EF4-FFF2-40B4-BE49-F238E27FC236}">
                <a16:creationId xmlns:a16="http://schemas.microsoft.com/office/drawing/2014/main" id="{AEA31704-8F7F-4652-AA81-07AF855A0C01}"/>
              </a:ext>
            </a:extLst>
          </p:cNvPr>
          <p:cNvSpPr>
            <a:spLocks noGrp="1"/>
          </p:cNvSpPr>
          <p:nvPr/>
        </p:nvSpPr>
        <p:spPr>
          <a:xfrm>
            <a:off x="54546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7" name="lower_lipid_tail_b_1">
            <a:extLst>
              <a:ext uri="{FF2B5EF4-FFF2-40B4-BE49-F238E27FC236}">
                <a16:creationId xmlns:a16="http://schemas.microsoft.com/office/drawing/2014/main" id="{58168C5C-51CF-4B44-8C0C-D15123EFB4EB}"/>
              </a:ext>
            </a:extLst>
          </p:cNvPr>
          <p:cNvSpPr>
            <a:spLocks noGrp="1"/>
          </p:cNvSpPr>
          <p:nvPr/>
        </p:nvSpPr>
        <p:spPr>
          <a:xfrm>
            <a:off x="57086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8" name="upper_lipid_head_2">
            <a:extLst>
              <a:ext uri="{FF2B5EF4-FFF2-40B4-BE49-F238E27FC236}">
                <a16:creationId xmlns:a16="http://schemas.microsoft.com/office/drawing/2014/main" id="{094F1738-40B4-4CB9-B74E-07D414274984}"/>
              </a:ext>
            </a:extLst>
          </p:cNvPr>
          <p:cNvSpPr>
            <a:spLocks noGrp="1"/>
          </p:cNvSpPr>
          <p:nvPr/>
        </p:nvSpPr>
        <p:spPr>
          <a:xfrm>
            <a:off x="61341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9" name="upper_lipid_tail_a_2">
            <a:extLst>
              <a:ext uri="{FF2B5EF4-FFF2-40B4-BE49-F238E27FC236}">
                <a16:creationId xmlns:a16="http://schemas.microsoft.com/office/drawing/2014/main" id="{E38E5C69-D5B9-4F85-8D41-A94DF93ACDC0}"/>
              </a:ext>
            </a:extLst>
          </p:cNvPr>
          <p:cNvSpPr>
            <a:spLocks noGrp="1"/>
          </p:cNvSpPr>
          <p:nvPr/>
        </p:nvSpPr>
        <p:spPr>
          <a:xfrm>
            <a:off x="63626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0" name="upper_lipid_tail_b_2">
            <a:extLst>
              <a:ext uri="{FF2B5EF4-FFF2-40B4-BE49-F238E27FC236}">
                <a16:creationId xmlns:a16="http://schemas.microsoft.com/office/drawing/2014/main" id="{77C76985-F416-443B-8911-C53105BC86B1}"/>
              </a:ext>
            </a:extLst>
          </p:cNvPr>
          <p:cNvSpPr>
            <a:spLocks noGrp="1"/>
          </p:cNvSpPr>
          <p:nvPr/>
        </p:nvSpPr>
        <p:spPr>
          <a:xfrm>
            <a:off x="661669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1" name="lower_lipid_head_2">
            <a:extLst>
              <a:ext uri="{FF2B5EF4-FFF2-40B4-BE49-F238E27FC236}">
                <a16:creationId xmlns:a16="http://schemas.microsoft.com/office/drawing/2014/main" id="{1DA36FBA-1ABA-4B11-9BA8-40FD4BE88E46}"/>
              </a:ext>
            </a:extLst>
          </p:cNvPr>
          <p:cNvSpPr>
            <a:spLocks noGrp="1"/>
          </p:cNvSpPr>
          <p:nvPr/>
        </p:nvSpPr>
        <p:spPr>
          <a:xfrm>
            <a:off x="61341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2" name="lower_lipid_tail_a_2">
            <a:extLst>
              <a:ext uri="{FF2B5EF4-FFF2-40B4-BE49-F238E27FC236}">
                <a16:creationId xmlns:a16="http://schemas.microsoft.com/office/drawing/2014/main" id="{7A8B8932-419F-4F58-8A2B-DB7425F6F9B0}"/>
              </a:ext>
            </a:extLst>
          </p:cNvPr>
          <p:cNvSpPr>
            <a:spLocks noGrp="1"/>
          </p:cNvSpPr>
          <p:nvPr/>
        </p:nvSpPr>
        <p:spPr>
          <a:xfrm>
            <a:off x="63626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3" name="lower_lipid_tail_b_2">
            <a:extLst>
              <a:ext uri="{FF2B5EF4-FFF2-40B4-BE49-F238E27FC236}">
                <a16:creationId xmlns:a16="http://schemas.microsoft.com/office/drawing/2014/main" id="{9E8984E9-62F9-420A-A6BB-ECF426D92FEC}"/>
              </a:ext>
            </a:extLst>
          </p:cNvPr>
          <p:cNvSpPr>
            <a:spLocks noGrp="1"/>
          </p:cNvSpPr>
          <p:nvPr/>
        </p:nvSpPr>
        <p:spPr>
          <a:xfrm>
            <a:off x="661669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4" name="upper_lipid_head_3">
            <a:extLst>
              <a:ext uri="{FF2B5EF4-FFF2-40B4-BE49-F238E27FC236}">
                <a16:creationId xmlns:a16="http://schemas.microsoft.com/office/drawing/2014/main" id="{654329E0-0396-46FE-8291-804D326EED5C}"/>
              </a:ext>
            </a:extLst>
          </p:cNvPr>
          <p:cNvSpPr>
            <a:spLocks noGrp="1"/>
          </p:cNvSpPr>
          <p:nvPr/>
        </p:nvSpPr>
        <p:spPr>
          <a:xfrm>
            <a:off x="70421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5" name="upper_lipid_tail_a_3">
            <a:extLst>
              <a:ext uri="{FF2B5EF4-FFF2-40B4-BE49-F238E27FC236}">
                <a16:creationId xmlns:a16="http://schemas.microsoft.com/office/drawing/2014/main" id="{5D6EA50E-F83E-48DC-9AFB-2AAFA5B663EE}"/>
              </a:ext>
            </a:extLst>
          </p:cNvPr>
          <p:cNvSpPr>
            <a:spLocks noGrp="1"/>
          </p:cNvSpPr>
          <p:nvPr/>
        </p:nvSpPr>
        <p:spPr>
          <a:xfrm>
            <a:off x="72707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6" name="upper_lipid_tail_b_3">
            <a:extLst>
              <a:ext uri="{FF2B5EF4-FFF2-40B4-BE49-F238E27FC236}">
                <a16:creationId xmlns:a16="http://schemas.microsoft.com/office/drawing/2014/main" id="{B17FA22A-14F2-45CB-9A1D-BF06699E1A00}"/>
              </a:ext>
            </a:extLst>
          </p:cNvPr>
          <p:cNvSpPr>
            <a:spLocks noGrp="1"/>
          </p:cNvSpPr>
          <p:nvPr/>
        </p:nvSpPr>
        <p:spPr>
          <a:xfrm>
            <a:off x="75247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7" name="lower_lipid_head_3">
            <a:extLst>
              <a:ext uri="{FF2B5EF4-FFF2-40B4-BE49-F238E27FC236}">
                <a16:creationId xmlns:a16="http://schemas.microsoft.com/office/drawing/2014/main" id="{1F33624A-8DEC-437D-8B81-B38B7271705B}"/>
              </a:ext>
            </a:extLst>
          </p:cNvPr>
          <p:cNvSpPr>
            <a:spLocks noGrp="1"/>
          </p:cNvSpPr>
          <p:nvPr/>
        </p:nvSpPr>
        <p:spPr>
          <a:xfrm>
            <a:off x="70421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8" name="lower_lipid_tail_a_3">
            <a:extLst>
              <a:ext uri="{FF2B5EF4-FFF2-40B4-BE49-F238E27FC236}">
                <a16:creationId xmlns:a16="http://schemas.microsoft.com/office/drawing/2014/main" id="{4A057826-0F5A-4D35-9702-208332AD3B85}"/>
              </a:ext>
            </a:extLst>
          </p:cNvPr>
          <p:cNvSpPr>
            <a:spLocks noGrp="1"/>
          </p:cNvSpPr>
          <p:nvPr/>
        </p:nvSpPr>
        <p:spPr>
          <a:xfrm>
            <a:off x="72707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9" name="lower_lipid_tail_b_3">
            <a:extLst>
              <a:ext uri="{FF2B5EF4-FFF2-40B4-BE49-F238E27FC236}">
                <a16:creationId xmlns:a16="http://schemas.microsoft.com/office/drawing/2014/main" id="{65A4338C-19D1-4555-9AC6-D17F819BD9FF}"/>
              </a:ext>
            </a:extLst>
          </p:cNvPr>
          <p:cNvSpPr>
            <a:spLocks noGrp="1"/>
          </p:cNvSpPr>
          <p:nvPr/>
        </p:nvSpPr>
        <p:spPr>
          <a:xfrm>
            <a:off x="75247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0" name="upper_lipid_head_4">
            <a:extLst>
              <a:ext uri="{FF2B5EF4-FFF2-40B4-BE49-F238E27FC236}">
                <a16:creationId xmlns:a16="http://schemas.microsoft.com/office/drawing/2014/main" id="{52CE773D-AD43-466D-8864-1B4652074BE2}"/>
              </a:ext>
            </a:extLst>
          </p:cNvPr>
          <p:cNvSpPr>
            <a:spLocks noGrp="1"/>
          </p:cNvSpPr>
          <p:nvPr/>
        </p:nvSpPr>
        <p:spPr>
          <a:xfrm>
            <a:off x="79502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1" name="upper_lipid_tail_a_4">
            <a:extLst>
              <a:ext uri="{FF2B5EF4-FFF2-40B4-BE49-F238E27FC236}">
                <a16:creationId xmlns:a16="http://schemas.microsoft.com/office/drawing/2014/main" id="{CA971FBD-9D42-41C6-906D-2A750612E927}"/>
              </a:ext>
            </a:extLst>
          </p:cNvPr>
          <p:cNvSpPr>
            <a:spLocks noGrp="1"/>
          </p:cNvSpPr>
          <p:nvPr/>
        </p:nvSpPr>
        <p:spPr>
          <a:xfrm>
            <a:off x="81788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2" name="upper_lipid_tail_b_4">
            <a:extLst>
              <a:ext uri="{FF2B5EF4-FFF2-40B4-BE49-F238E27FC236}">
                <a16:creationId xmlns:a16="http://schemas.microsoft.com/office/drawing/2014/main" id="{700D6434-DBB2-4C8C-AC97-8C361AC0CD5E}"/>
              </a:ext>
            </a:extLst>
          </p:cNvPr>
          <p:cNvSpPr>
            <a:spLocks noGrp="1"/>
          </p:cNvSpPr>
          <p:nvPr/>
        </p:nvSpPr>
        <p:spPr>
          <a:xfrm>
            <a:off x="84328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3" name="lower_lipid_head_4">
            <a:extLst>
              <a:ext uri="{FF2B5EF4-FFF2-40B4-BE49-F238E27FC236}">
                <a16:creationId xmlns:a16="http://schemas.microsoft.com/office/drawing/2014/main" id="{0C89C24E-0146-4169-BD92-A722DD4BDBCD}"/>
              </a:ext>
            </a:extLst>
          </p:cNvPr>
          <p:cNvSpPr>
            <a:spLocks noGrp="1"/>
          </p:cNvSpPr>
          <p:nvPr/>
        </p:nvSpPr>
        <p:spPr>
          <a:xfrm>
            <a:off x="79502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4" name="lower_lipid_tail_a_4">
            <a:extLst>
              <a:ext uri="{FF2B5EF4-FFF2-40B4-BE49-F238E27FC236}">
                <a16:creationId xmlns:a16="http://schemas.microsoft.com/office/drawing/2014/main" id="{53C76F2C-352B-49CC-A927-56DFF6CA8F7D}"/>
              </a:ext>
            </a:extLst>
          </p:cNvPr>
          <p:cNvSpPr>
            <a:spLocks noGrp="1"/>
          </p:cNvSpPr>
          <p:nvPr/>
        </p:nvSpPr>
        <p:spPr>
          <a:xfrm>
            <a:off x="81788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5" name="lower_lipid_tail_b_4">
            <a:extLst>
              <a:ext uri="{FF2B5EF4-FFF2-40B4-BE49-F238E27FC236}">
                <a16:creationId xmlns:a16="http://schemas.microsoft.com/office/drawing/2014/main" id="{0E128382-7D69-4D92-8BD7-7F4AD8FB6689}"/>
              </a:ext>
            </a:extLst>
          </p:cNvPr>
          <p:cNvSpPr>
            <a:spLocks noGrp="1"/>
          </p:cNvSpPr>
          <p:nvPr/>
        </p:nvSpPr>
        <p:spPr>
          <a:xfrm>
            <a:off x="84328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6" name="upper_lipid_head_5">
            <a:extLst>
              <a:ext uri="{FF2B5EF4-FFF2-40B4-BE49-F238E27FC236}">
                <a16:creationId xmlns:a16="http://schemas.microsoft.com/office/drawing/2014/main" id="{B7E80144-5774-442B-93B7-FFAC6F5D9C02}"/>
              </a:ext>
            </a:extLst>
          </p:cNvPr>
          <p:cNvSpPr>
            <a:spLocks noGrp="1"/>
          </p:cNvSpPr>
          <p:nvPr/>
        </p:nvSpPr>
        <p:spPr>
          <a:xfrm>
            <a:off x="88582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7" name="upper_lipid_tail_a_5">
            <a:extLst>
              <a:ext uri="{FF2B5EF4-FFF2-40B4-BE49-F238E27FC236}">
                <a16:creationId xmlns:a16="http://schemas.microsoft.com/office/drawing/2014/main" id="{A4B2EF8D-48BC-4743-871F-1E3984467AEB}"/>
              </a:ext>
            </a:extLst>
          </p:cNvPr>
          <p:cNvSpPr>
            <a:spLocks noGrp="1"/>
          </p:cNvSpPr>
          <p:nvPr/>
        </p:nvSpPr>
        <p:spPr>
          <a:xfrm>
            <a:off x="90868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8" name="upper_lipid_tail_b_5">
            <a:extLst>
              <a:ext uri="{FF2B5EF4-FFF2-40B4-BE49-F238E27FC236}">
                <a16:creationId xmlns:a16="http://schemas.microsoft.com/office/drawing/2014/main" id="{85C7B43B-6F62-420D-BC8C-9873D830D3DF}"/>
              </a:ext>
            </a:extLst>
          </p:cNvPr>
          <p:cNvSpPr>
            <a:spLocks noGrp="1"/>
          </p:cNvSpPr>
          <p:nvPr/>
        </p:nvSpPr>
        <p:spPr>
          <a:xfrm>
            <a:off x="93408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9" name="lower_lipid_head_5">
            <a:extLst>
              <a:ext uri="{FF2B5EF4-FFF2-40B4-BE49-F238E27FC236}">
                <a16:creationId xmlns:a16="http://schemas.microsoft.com/office/drawing/2014/main" id="{4ADB2517-85D5-4589-9328-0C7AFFF788F8}"/>
              </a:ext>
            </a:extLst>
          </p:cNvPr>
          <p:cNvSpPr>
            <a:spLocks noGrp="1"/>
          </p:cNvSpPr>
          <p:nvPr/>
        </p:nvSpPr>
        <p:spPr>
          <a:xfrm>
            <a:off x="88582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0" name="lower_lipid_tail_a_5">
            <a:extLst>
              <a:ext uri="{FF2B5EF4-FFF2-40B4-BE49-F238E27FC236}">
                <a16:creationId xmlns:a16="http://schemas.microsoft.com/office/drawing/2014/main" id="{98D9FBB3-83E4-4F05-865A-DB251AA0B642}"/>
              </a:ext>
            </a:extLst>
          </p:cNvPr>
          <p:cNvSpPr>
            <a:spLocks noGrp="1"/>
          </p:cNvSpPr>
          <p:nvPr/>
        </p:nvSpPr>
        <p:spPr>
          <a:xfrm>
            <a:off x="90868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1" name="lower_lipid_tail_b_5">
            <a:extLst>
              <a:ext uri="{FF2B5EF4-FFF2-40B4-BE49-F238E27FC236}">
                <a16:creationId xmlns:a16="http://schemas.microsoft.com/office/drawing/2014/main" id="{19F910C9-3978-42F9-BD2C-2CA9AF360A6D}"/>
              </a:ext>
            </a:extLst>
          </p:cNvPr>
          <p:cNvSpPr>
            <a:spLocks noGrp="1"/>
          </p:cNvSpPr>
          <p:nvPr/>
        </p:nvSpPr>
        <p:spPr>
          <a:xfrm>
            <a:off x="93408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2" name="upper_lipid_head_6">
            <a:extLst>
              <a:ext uri="{FF2B5EF4-FFF2-40B4-BE49-F238E27FC236}">
                <a16:creationId xmlns:a16="http://schemas.microsoft.com/office/drawing/2014/main" id="{5D7C9679-0573-4367-A137-68BBD487DC35}"/>
              </a:ext>
            </a:extLst>
          </p:cNvPr>
          <p:cNvSpPr>
            <a:spLocks noGrp="1"/>
          </p:cNvSpPr>
          <p:nvPr/>
        </p:nvSpPr>
        <p:spPr>
          <a:xfrm>
            <a:off x="97663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3" name="upper_lipid_tail_a_6">
            <a:extLst>
              <a:ext uri="{FF2B5EF4-FFF2-40B4-BE49-F238E27FC236}">
                <a16:creationId xmlns:a16="http://schemas.microsoft.com/office/drawing/2014/main" id="{8F9C78DD-9E34-4F81-B62F-61EC0561865F}"/>
              </a:ext>
            </a:extLst>
          </p:cNvPr>
          <p:cNvSpPr>
            <a:spLocks noGrp="1"/>
          </p:cNvSpPr>
          <p:nvPr/>
        </p:nvSpPr>
        <p:spPr>
          <a:xfrm>
            <a:off x="99949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4" name="upper_lipid_tail_b_6">
            <a:extLst>
              <a:ext uri="{FF2B5EF4-FFF2-40B4-BE49-F238E27FC236}">
                <a16:creationId xmlns:a16="http://schemas.microsoft.com/office/drawing/2014/main" id="{A7864112-5DEE-439F-9195-8C42275FFDD3}"/>
              </a:ext>
            </a:extLst>
          </p:cNvPr>
          <p:cNvSpPr>
            <a:spLocks noGrp="1"/>
          </p:cNvSpPr>
          <p:nvPr/>
        </p:nvSpPr>
        <p:spPr>
          <a:xfrm>
            <a:off x="102489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5" name="lower_lipid_head_6">
            <a:extLst>
              <a:ext uri="{FF2B5EF4-FFF2-40B4-BE49-F238E27FC236}">
                <a16:creationId xmlns:a16="http://schemas.microsoft.com/office/drawing/2014/main" id="{8683DEC8-DBF7-4DCA-8A81-04BE11AE4060}"/>
              </a:ext>
            </a:extLst>
          </p:cNvPr>
          <p:cNvSpPr>
            <a:spLocks noGrp="1"/>
          </p:cNvSpPr>
          <p:nvPr/>
        </p:nvSpPr>
        <p:spPr>
          <a:xfrm>
            <a:off x="97663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6" name="lower_lipid_tail_a_6">
            <a:extLst>
              <a:ext uri="{FF2B5EF4-FFF2-40B4-BE49-F238E27FC236}">
                <a16:creationId xmlns:a16="http://schemas.microsoft.com/office/drawing/2014/main" id="{6352FF88-DA90-4AC8-90B6-19619B72005C}"/>
              </a:ext>
            </a:extLst>
          </p:cNvPr>
          <p:cNvSpPr>
            <a:spLocks noGrp="1"/>
          </p:cNvSpPr>
          <p:nvPr/>
        </p:nvSpPr>
        <p:spPr>
          <a:xfrm>
            <a:off x="99949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7" name="lower_lipid_tail_b_6">
            <a:extLst>
              <a:ext uri="{FF2B5EF4-FFF2-40B4-BE49-F238E27FC236}">
                <a16:creationId xmlns:a16="http://schemas.microsoft.com/office/drawing/2014/main" id="{7C14BC75-D791-45D8-9105-7B38146A0065}"/>
              </a:ext>
            </a:extLst>
          </p:cNvPr>
          <p:cNvSpPr>
            <a:spLocks noGrp="1"/>
          </p:cNvSpPr>
          <p:nvPr/>
        </p:nvSpPr>
        <p:spPr>
          <a:xfrm>
            <a:off x="102489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8" name="upper_lipid_head_7">
            <a:extLst>
              <a:ext uri="{FF2B5EF4-FFF2-40B4-BE49-F238E27FC236}">
                <a16:creationId xmlns:a16="http://schemas.microsoft.com/office/drawing/2014/main" id="{E69C2C6F-17BB-4CE6-B3FD-F9EC03CAD93B}"/>
              </a:ext>
            </a:extLst>
          </p:cNvPr>
          <p:cNvSpPr>
            <a:spLocks noGrp="1"/>
          </p:cNvSpPr>
          <p:nvPr/>
        </p:nvSpPr>
        <p:spPr>
          <a:xfrm>
            <a:off x="106743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9" name="upper_lipid_tail_a_7">
            <a:extLst>
              <a:ext uri="{FF2B5EF4-FFF2-40B4-BE49-F238E27FC236}">
                <a16:creationId xmlns:a16="http://schemas.microsoft.com/office/drawing/2014/main" id="{6FD06E90-EC8F-466D-A307-BD261DE74AB2}"/>
              </a:ext>
            </a:extLst>
          </p:cNvPr>
          <p:cNvSpPr>
            <a:spLocks noGrp="1"/>
          </p:cNvSpPr>
          <p:nvPr/>
        </p:nvSpPr>
        <p:spPr>
          <a:xfrm>
            <a:off x="109029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0" name="upper_lipid_tail_b_7">
            <a:extLst>
              <a:ext uri="{FF2B5EF4-FFF2-40B4-BE49-F238E27FC236}">
                <a16:creationId xmlns:a16="http://schemas.microsoft.com/office/drawing/2014/main" id="{A1DBCBB3-2A9C-4211-A793-4C812BDC7688}"/>
              </a:ext>
            </a:extLst>
          </p:cNvPr>
          <p:cNvSpPr>
            <a:spLocks noGrp="1"/>
          </p:cNvSpPr>
          <p:nvPr/>
        </p:nvSpPr>
        <p:spPr>
          <a:xfrm>
            <a:off x="111569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1" name="lower_lipid_head_7">
            <a:extLst>
              <a:ext uri="{FF2B5EF4-FFF2-40B4-BE49-F238E27FC236}">
                <a16:creationId xmlns:a16="http://schemas.microsoft.com/office/drawing/2014/main" id="{8A9D5F91-2464-47B0-801E-990B7F3523DD}"/>
              </a:ext>
            </a:extLst>
          </p:cNvPr>
          <p:cNvSpPr>
            <a:spLocks noGrp="1"/>
          </p:cNvSpPr>
          <p:nvPr/>
        </p:nvSpPr>
        <p:spPr>
          <a:xfrm>
            <a:off x="106743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2" name="lower_lipid_tail_a_7">
            <a:extLst>
              <a:ext uri="{FF2B5EF4-FFF2-40B4-BE49-F238E27FC236}">
                <a16:creationId xmlns:a16="http://schemas.microsoft.com/office/drawing/2014/main" id="{75F7C860-2994-41FD-AF6F-E004A026E1C8}"/>
              </a:ext>
            </a:extLst>
          </p:cNvPr>
          <p:cNvSpPr>
            <a:spLocks noGrp="1"/>
          </p:cNvSpPr>
          <p:nvPr/>
        </p:nvSpPr>
        <p:spPr>
          <a:xfrm>
            <a:off x="109029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3" name="lower_lipid_tail_b_7">
            <a:extLst>
              <a:ext uri="{FF2B5EF4-FFF2-40B4-BE49-F238E27FC236}">
                <a16:creationId xmlns:a16="http://schemas.microsoft.com/office/drawing/2014/main" id="{EEF812CB-C7F7-4D93-9AEC-003D8BA304E1}"/>
              </a:ext>
            </a:extLst>
          </p:cNvPr>
          <p:cNvSpPr>
            <a:spLocks noGrp="1"/>
          </p:cNvSpPr>
          <p:nvPr/>
        </p:nvSpPr>
        <p:spPr>
          <a:xfrm>
            <a:off x="111569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4" name="upper_lipid_head_8">
            <a:extLst>
              <a:ext uri="{FF2B5EF4-FFF2-40B4-BE49-F238E27FC236}">
                <a16:creationId xmlns:a16="http://schemas.microsoft.com/office/drawing/2014/main" id="{CB01D5C9-7400-4933-AAAB-68F1A545C123}"/>
              </a:ext>
            </a:extLst>
          </p:cNvPr>
          <p:cNvSpPr>
            <a:spLocks noGrp="1"/>
          </p:cNvSpPr>
          <p:nvPr/>
        </p:nvSpPr>
        <p:spPr>
          <a:xfrm>
            <a:off x="115824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5" name="upper_lipid_tail_a_8">
            <a:extLst>
              <a:ext uri="{FF2B5EF4-FFF2-40B4-BE49-F238E27FC236}">
                <a16:creationId xmlns:a16="http://schemas.microsoft.com/office/drawing/2014/main" id="{984349C8-D27C-4251-9905-93E27D3EA51E}"/>
              </a:ext>
            </a:extLst>
          </p:cNvPr>
          <p:cNvSpPr>
            <a:spLocks noGrp="1"/>
          </p:cNvSpPr>
          <p:nvPr/>
        </p:nvSpPr>
        <p:spPr>
          <a:xfrm>
            <a:off x="118110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6" name="upper_lipid_tail_b_8">
            <a:extLst>
              <a:ext uri="{FF2B5EF4-FFF2-40B4-BE49-F238E27FC236}">
                <a16:creationId xmlns:a16="http://schemas.microsoft.com/office/drawing/2014/main" id="{1D36BC1F-BF13-408F-9217-4A8539DF762C}"/>
              </a:ext>
            </a:extLst>
          </p:cNvPr>
          <p:cNvSpPr>
            <a:spLocks noGrp="1"/>
          </p:cNvSpPr>
          <p:nvPr/>
        </p:nvSpPr>
        <p:spPr>
          <a:xfrm>
            <a:off x="120650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7" name="lower_lipid_head_8">
            <a:extLst>
              <a:ext uri="{FF2B5EF4-FFF2-40B4-BE49-F238E27FC236}">
                <a16:creationId xmlns:a16="http://schemas.microsoft.com/office/drawing/2014/main" id="{0DA8D23F-C8A3-45FD-9BE8-7EBB312811EF}"/>
              </a:ext>
            </a:extLst>
          </p:cNvPr>
          <p:cNvSpPr>
            <a:spLocks noGrp="1"/>
          </p:cNvSpPr>
          <p:nvPr/>
        </p:nvSpPr>
        <p:spPr>
          <a:xfrm>
            <a:off x="115824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8" name="lower_lipid_tail_a_8">
            <a:extLst>
              <a:ext uri="{FF2B5EF4-FFF2-40B4-BE49-F238E27FC236}">
                <a16:creationId xmlns:a16="http://schemas.microsoft.com/office/drawing/2014/main" id="{91ECF192-EB2E-410C-8459-55D7B9AD3338}"/>
              </a:ext>
            </a:extLst>
          </p:cNvPr>
          <p:cNvSpPr>
            <a:spLocks noGrp="1"/>
          </p:cNvSpPr>
          <p:nvPr/>
        </p:nvSpPr>
        <p:spPr>
          <a:xfrm>
            <a:off x="118110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9" name="lower_lipid_tail_b_8">
            <a:extLst>
              <a:ext uri="{FF2B5EF4-FFF2-40B4-BE49-F238E27FC236}">
                <a16:creationId xmlns:a16="http://schemas.microsoft.com/office/drawing/2014/main" id="{9AAB397B-B121-4B62-A0C5-142C53129D9E}"/>
              </a:ext>
            </a:extLst>
          </p:cNvPr>
          <p:cNvSpPr>
            <a:spLocks noGrp="1"/>
          </p:cNvSpPr>
          <p:nvPr/>
        </p:nvSpPr>
        <p:spPr>
          <a:xfrm>
            <a:off x="120650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0" name="upper_lipid_head_9">
            <a:extLst>
              <a:ext uri="{FF2B5EF4-FFF2-40B4-BE49-F238E27FC236}">
                <a16:creationId xmlns:a16="http://schemas.microsoft.com/office/drawing/2014/main" id="{AAD8EB59-65B1-4A82-BBF2-4B62E4AC6F88}"/>
              </a:ext>
            </a:extLst>
          </p:cNvPr>
          <p:cNvSpPr>
            <a:spLocks noGrp="1"/>
          </p:cNvSpPr>
          <p:nvPr/>
        </p:nvSpPr>
        <p:spPr>
          <a:xfrm>
            <a:off x="124904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1" name="upper_lipid_tail_a_9">
            <a:extLst>
              <a:ext uri="{FF2B5EF4-FFF2-40B4-BE49-F238E27FC236}">
                <a16:creationId xmlns:a16="http://schemas.microsoft.com/office/drawing/2014/main" id="{F6AEEE6E-70E8-470D-8D27-472FF898526B}"/>
              </a:ext>
            </a:extLst>
          </p:cNvPr>
          <p:cNvSpPr>
            <a:spLocks noGrp="1"/>
          </p:cNvSpPr>
          <p:nvPr/>
        </p:nvSpPr>
        <p:spPr>
          <a:xfrm>
            <a:off x="127190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2" name="upper_lipid_tail_b_9">
            <a:extLst>
              <a:ext uri="{FF2B5EF4-FFF2-40B4-BE49-F238E27FC236}">
                <a16:creationId xmlns:a16="http://schemas.microsoft.com/office/drawing/2014/main" id="{9DF152E8-CB44-4A45-8BC6-62A4D294B641}"/>
              </a:ext>
            </a:extLst>
          </p:cNvPr>
          <p:cNvSpPr>
            <a:spLocks noGrp="1"/>
          </p:cNvSpPr>
          <p:nvPr/>
        </p:nvSpPr>
        <p:spPr>
          <a:xfrm>
            <a:off x="129730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3" name="lower_lipid_head_9">
            <a:extLst>
              <a:ext uri="{FF2B5EF4-FFF2-40B4-BE49-F238E27FC236}">
                <a16:creationId xmlns:a16="http://schemas.microsoft.com/office/drawing/2014/main" id="{C101D504-DF8B-42BA-9D6E-134A9278E2F9}"/>
              </a:ext>
            </a:extLst>
          </p:cNvPr>
          <p:cNvSpPr>
            <a:spLocks noGrp="1"/>
          </p:cNvSpPr>
          <p:nvPr/>
        </p:nvSpPr>
        <p:spPr>
          <a:xfrm>
            <a:off x="124904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4" name="lower_lipid_tail_a_9">
            <a:extLst>
              <a:ext uri="{FF2B5EF4-FFF2-40B4-BE49-F238E27FC236}">
                <a16:creationId xmlns:a16="http://schemas.microsoft.com/office/drawing/2014/main" id="{F73A59CB-837E-47BA-B5F6-39B25D869F5E}"/>
              </a:ext>
            </a:extLst>
          </p:cNvPr>
          <p:cNvSpPr>
            <a:spLocks noGrp="1"/>
          </p:cNvSpPr>
          <p:nvPr/>
        </p:nvSpPr>
        <p:spPr>
          <a:xfrm>
            <a:off x="127190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5" name="lower_lipid_tail_b_9">
            <a:extLst>
              <a:ext uri="{FF2B5EF4-FFF2-40B4-BE49-F238E27FC236}">
                <a16:creationId xmlns:a16="http://schemas.microsoft.com/office/drawing/2014/main" id="{0D12A4D4-B0F4-45A0-814F-BBE193645B84}"/>
              </a:ext>
            </a:extLst>
          </p:cNvPr>
          <p:cNvSpPr>
            <a:spLocks noGrp="1"/>
          </p:cNvSpPr>
          <p:nvPr/>
        </p:nvSpPr>
        <p:spPr>
          <a:xfrm>
            <a:off x="129730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6" name="upper_lipid_head_10">
            <a:extLst>
              <a:ext uri="{FF2B5EF4-FFF2-40B4-BE49-F238E27FC236}">
                <a16:creationId xmlns:a16="http://schemas.microsoft.com/office/drawing/2014/main" id="{4463E676-09BF-47E2-A609-D096F7E5BE54}"/>
              </a:ext>
            </a:extLst>
          </p:cNvPr>
          <p:cNvSpPr>
            <a:spLocks noGrp="1"/>
          </p:cNvSpPr>
          <p:nvPr/>
        </p:nvSpPr>
        <p:spPr>
          <a:xfrm>
            <a:off x="133985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7" name="upper_lipid_tail_a_10">
            <a:extLst>
              <a:ext uri="{FF2B5EF4-FFF2-40B4-BE49-F238E27FC236}">
                <a16:creationId xmlns:a16="http://schemas.microsoft.com/office/drawing/2014/main" id="{98D3B263-2F8B-4758-8CFF-5A1DC7702F7A}"/>
              </a:ext>
            </a:extLst>
          </p:cNvPr>
          <p:cNvSpPr>
            <a:spLocks noGrp="1"/>
          </p:cNvSpPr>
          <p:nvPr/>
        </p:nvSpPr>
        <p:spPr>
          <a:xfrm>
            <a:off x="136271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8" name="upper_lipid_tail_b_10">
            <a:extLst>
              <a:ext uri="{FF2B5EF4-FFF2-40B4-BE49-F238E27FC236}">
                <a16:creationId xmlns:a16="http://schemas.microsoft.com/office/drawing/2014/main" id="{BC1A1F26-ABD4-47F3-BC2B-182E69161CFC}"/>
              </a:ext>
            </a:extLst>
          </p:cNvPr>
          <p:cNvSpPr>
            <a:spLocks noGrp="1"/>
          </p:cNvSpPr>
          <p:nvPr/>
        </p:nvSpPr>
        <p:spPr>
          <a:xfrm>
            <a:off x="138811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69" name="lower_lipid_head_10">
            <a:extLst>
              <a:ext uri="{FF2B5EF4-FFF2-40B4-BE49-F238E27FC236}">
                <a16:creationId xmlns:a16="http://schemas.microsoft.com/office/drawing/2014/main" id="{4EF1A60D-9101-4581-AD6C-0EC5E68A5971}"/>
              </a:ext>
            </a:extLst>
          </p:cNvPr>
          <p:cNvSpPr>
            <a:spLocks noGrp="1"/>
          </p:cNvSpPr>
          <p:nvPr/>
        </p:nvSpPr>
        <p:spPr>
          <a:xfrm>
            <a:off x="133985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0" name="lower_lipid_tail_a_10">
            <a:extLst>
              <a:ext uri="{FF2B5EF4-FFF2-40B4-BE49-F238E27FC236}">
                <a16:creationId xmlns:a16="http://schemas.microsoft.com/office/drawing/2014/main" id="{649414B7-D32A-4ACE-92EC-9B08943C3E22}"/>
              </a:ext>
            </a:extLst>
          </p:cNvPr>
          <p:cNvSpPr>
            <a:spLocks noGrp="1"/>
          </p:cNvSpPr>
          <p:nvPr/>
        </p:nvSpPr>
        <p:spPr>
          <a:xfrm>
            <a:off x="136271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1" name="lower_lipid_tail_b_10">
            <a:extLst>
              <a:ext uri="{FF2B5EF4-FFF2-40B4-BE49-F238E27FC236}">
                <a16:creationId xmlns:a16="http://schemas.microsoft.com/office/drawing/2014/main" id="{5D9BDE94-526C-471D-851C-B7B5DAAABE4F}"/>
              </a:ext>
            </a:extLst>
          </p:cNvPr>
          <p:cNvSpPr>
            <a:spLocks noGrp="1"/>
          </p:cNvSpPr>
          <p:nvPr/>
        </p:nvSpPr>
        <p:spPr>
          <a:xfrm>
            <a:off x="138811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2" name="upper_lipid_head_11">
            <a:extLst>
              <a:ext uri="{FF2B5EF4-FFF2-40B4-BE49-F238E27FC236}">
                <a16:creationId xmlns:a16="http://schemas.microsoft.com/office/drawing/2014/main" id="{A24A85C6-DCAD-4859-83EE-EB43984F9B34}"/>
              </a:ext>
            </a:extLst>
          </p:cNvPr>
          <p:cNvSpPr>
            <a:spLocks noGrp="1"/>
          </p:cNvSpPr>
          <p:nvPr/>
        </p:nvSpPr>
        <p:spPr>
          <a:xfrm>
            <a:off x="143065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3" name="upper_lipid_tail_a_11">
            <a:extLst>
              <a:ext uri="{FF2B5EF4-FFF2-40B4-BE49-F238E27FC236}">
                <a16:creationId xmlns:a16="http://schemas.microsoft.com/office/drawing/2014/main" id="{E5B0AF55-AF6F-49C8-913E-88F8347F64E6}"/>
              </a:ext>
            </a:extLst>
          </p:cNvPr>
          <p:cNvSpPr>
            <a:spLocks noGrp="1"/>
          </p:cNvSpPr>
          <p:nvPr/>
        </p:nvSpPr>
        <p:spPr>
          <a:xfrm>
            <a:off x="145351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4" name="upper_lipid_tail_b_11">
            <a:extLst>
              <a:ext uri="{FF2B5EF4-FFF2-40B4-BE49-F238E27FC236}">
                <a16:creationId xmlns:a16="http://schemas.microsoft.com/office/drawing/2014/main" id="{5D01AC01-19F3-4C6F-8418-CB7398B741B7}"/>
              </a:ext>
            </a:extLst>
          </p:cNvPr>
          <p:cNvSpPr>
            <a:spLocks noGrp="1"/>
          </p:cNvSpPr>
          <p:nvPr/>
        </p:nvSpPr>
        <p:spPr>
          <a:xfrm>
            <a:off x="147891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5" name="lower_lipid_head_11">
            <a:extLst>
              <a:ext uri="{FF2B5EF4-FFF2-40B4-BE49-F238E27FC236}">
                <a16:creationId xmlns:a16="http://schemas.microsoft.com/office/drawing/2014/main" id="{C2AD4509-2069-4BC6-9EE1-539C7D79C92B}"/>
              </a:ext>
            </a:extLst>
          </p:cNvPr>
          <p:cNvSpPr>
            <a:spLocks noGrp="1"/>
          </p:cNvSpPr>
          <p:nvPr/>
        </p:nvSpPr>
        <p:spPr>
          <a:xfrm>
            <a:off x="143065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6" name="lower_lipid_tail_a_11">
            <a:extLst>
              <a:ext uri="{FF2B5EF4-FFF2-40B4-BE49-F238E27FC236}">
                <a16:creationId xmlns:a16="http://schemas.microsoft.com/office/drawing/2014/main" id="{EAE9AC04-C8AF-45C3-B38B-34FA3DDFF07C}"/>
              </a:ext>
            </a:extLst>
          </p:cNvPr>
          <p:cNvSpPr>
            <a:spLocks noGrp="1"/>
          </p:cNvSpPr>
          <p:nvPr/>
        </p:nvSpPr>
        <p:spPr>
          <a:xfrm>
            <a:off x="145351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7" name="lower_lipid_tail_b_11">
            <a:extLst>
              <a:ext uri="{FF2B5EF4-FFF2-40B4-BE49-F238E27FC236}">
                <a16:creationId xmlns:a16="http://schemas.microsoft.com/office/drawing/2014/main" id="{6E6E4BD1-B423-4FAD-BE36-9B6A27322335}"/>
              </a:ext>
            </a:extLst>
          </p:cNvPr>
          <p:cNvSpPr>
            <a:spLocks noGrp="1"/>
          </p:cNvSpPr>
          <p:nvPr/>
        </p:nvSpPr>
        <p:spPr>
          <a:xfrm>
            <a:off x="147891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8" name="upper_lipid_head_12">
            <a:extLst>
              <a:ext uri="{FF2B5EF4-FFF2-40B4-BE49-F238E27FC236}">
                <a16:creationId xmlns:a16="http://schemas.microsoft.com/office/drawing/2014/main" id="{C7F751B6-C174-4E9A-BFFC-4ABD5BA6FE1E}"/>
              </a:ext>
            </a:extLst>
          </p:cNvPr>
          <p:cNvSpPr>
            <a:spLocks noGrp="1"/>
          </p:cNvSpPr>
          <p:nvPr/>
        </p:nvSpPr>
        <p:spPr>
          <a:xfrm>
            <a:off x="1521460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9" name="upper_lipid_tail_a_12">
            <a:extLst>
              <a:ext uri="{FF2B5EF4-FFF2-40B4-BE49-F238E27FC236}">
                <a16:creationId xmlns:a16="http://schemas.microsoft.com/office/drawing/2014/main" id="{3C698DFF-30DF-43CA-8639-F5B11F9B8C5B}"/>
              </a:ext>
            </a:extLst>
          </p:cNvPr>
          <p:cNvSpPr>
            <a:spLocks noGrp="1"/>
          </p:cNvSpPr>
          <p:nvPr/>
        </p:nvSpPr>
        <p:spPr>
          <a:xfrm>
            <a:off x="154432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0" name="upper_lipid_tail_b_12">
            <a:extLst>
              <a:ext uri="{FF2B5EF4-FFF2-40B4-BE49-F238E27FC236}">
                <a16:creationId xmlns:a16="http://schemas.microsoft.com/office/drawing/2014/main" id="{65F8674E-BA19-412E-B444-475223C632DD}"/>
              </a:ext>
            </a:extLst>
          </p:cNvPr>
          <p:cNvSpPr>
            <a:spLocks noGrp="1"/>
          </p:cNvSpPr>
          <p:nvPr/>
        </p:nvSpPr>
        <p:spPr>
          <a:xfrm>
            <a:off x="1569720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1" name="lower_lipid_head_12">
            <a:extLst>
              <a:ext uri="{FF2B5EF4-FFF2-40B4-BE49-F238E27FC236}">
                <a16:creationId xmlns:a16="http://schemas.microsoft.com/office/drawing/2014/main" id="{32C60C6D-295A-4779-98EC-F0A4D6E4C079}"/>
              </a:ext>
            </a:extLst>
          </p:cNvPr>
          <p:cNvSpPr>
            <a:spLocks noGrp="1"/>
          </p:cNvSpPr>
          <p:nvPr/>
        </p:nvSpPr>
        <p:spPr>
          <a:xfrm>
            <a:off x="1521460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2" name="lower_lipid_tail_a_12">
            <a:extLst>
              <a:ext uri="{FF2B5EF4-FFF2-40B4-BE49-F238E27FC236}">
                <a16:creationId xmlns:a16="http://schemas.microsoft.com/office/drawing/2014/main" id="{01F23075-64B1-4D0C-A5BE-B1200A5D4427}"/>
              </a:ext>
            </a:extLst>
          </p:cNvPr>
          <p:cNvSpPr>
            <a:spLocks noGrp="1"/>
          </p:cNvSpPr>
          <p:nvPr/>
        </p:nvSpPr>
        <p:spPr>
          <a:xfrm>
            <a:off x="154432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3" name="lower_lipid_tail_b_12">
            <a:extLst>
              <a:ext uri="{FF2B5EF4-FFF2-40B4-BE49-F238E27FC236}">
                <a16:creationId xmlns:a16="http://schemas.microsoft.com/office/drawing/2014/main" id="{6E8E92AE-C90C-4BAC-A7C2-62925A4C1492}"/>
              </a:ext>
            </a:extLst>
          </p:cNvPr>
          <p:cNvSpPr>
            <a:spLocks noGrp="1"/>
          </p:cNvSpPr>
          <p:nvPr/>
        </p:nvSpPr>
        <p:spPr>
          <a:xfrm>
            <a:off x="1569720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4" name="upper_lipid_head_13">
            <a:extLst>
              <a:ext uri="{FF2B5EF4-FFF2-40B4-BE49-F238E27FC236}">
                <a16:creationId xmlns:a16="http://schemas.microsoft.com/office/drawing/2014/main" id="{0CB36531-66A7-411E-8AD7-1DD46B79B85D}"/>
              </a:ext>
            </a:extLst>
          </p:cNvPr>
          <p:cNvSpPr>
            <a:spLocks noGrp="1"/>
          </p:cNvSpPr>
          <p:nvPr/>
        </p:nvSpPr>
        <p:spPr>
          <a:xfrm>
            <a:off x="1612265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5" name="upper_lipid_tail_a_13">
            <a:extLst>
              <a:ext uri="{FF2B5EF4-FFF2-40B4-BE49-F238E27FC236}">
                <a16:creationId xmlns:a16="http://schemas.microsoft.com/office/drawing/2014/main" id="{21712251-9310-44A7-B0E3-27A52486FD6D}"/>
              </a:ext>
            </a:extLst>
          </p:cNvPr>
          <p:cNvSpPr>
            <a:spLocks noGrp="1"/>
          </p:cNvSpPr>
          <p:nvPr/>
        </p:nvSpPr>
        <p:spPr>
          <a:xfrm>
            <a:off x="163512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6" name="upper_lipid_tail_b_13">
            <a:extLst>
              <a:ext uri="{FF2B5EF4-FFF2-40B4-BE49-F238E27FC236}">
                <a16:creationId xmlns:a16="http://schemas.microsoft.com/office/drawing/2014/main" id="{D7C9EA55-C109-4491-960E-089BCE18F64B}"/>
              </a:ext>
            </a:extLst>
          </p:cNvPr>
          <p:cNvSpPr>
            <a:spLocks noGrp="1"/>
          </p:cNvSpPr>
          <p:nvPr/>
        </p:nvSpPr>
        <p:spPr>
          <a:xfrm>
            <a:off x="1660525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7" name="lower_lipid_head_13">
            <a:extLst>
              <a:ext uri="{FF2B5EF4-FFF2-40B4-BE49-F238E27FC236}">
                <a16:creationId xmlns:a16="http://schemas.microsoft.com/office/drawing/2014/main" id="{C8FDA06B-5608-4822-8A57-69BED392A92D}"/>
              </a:ext>
            </a:extLst>
          </p:cNvPr>
          <p:cNvSpPr>
            <a:spLocks noGrp="1"/>
          </p:cNvSpPr>
          <p:nvPr/>
        </p:nvSpPr>
        <p:spPr>
          <a:xfrm>
            <a:off x="1612265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8" name="lower_lipid_tail_a_13">
            <a:extLst>
              <a:ext uri="{FF2B5EF4-FFF2-40B4-BE49-F238E27FC236}">
                <a16:creationId xmlns:a16="http://schemas.microsoft.com/office/drawing/2014/main" id="{6DC03A7A-E19E-41E4-8B6B-1D4D3DC8F25B}"/>
              </a:ext>
            </a:extLst>
          </p:cNvPr>
          <p:cNvSpPr>
            <a:spLocks noGrp="1"/>
          </p:cNvSpPr>
          <p:nvPr/>
        </p:nvSpPr>
        <p:spPr>
          <a:xfrm>
            <a:off x="163512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9" name="lower_lipid_tail_b_13">
            <a:extLst>
              <a:ext uri="{FF2B5EF4-FFF2-40B4-BE49-F238E27FC236}">
                <a16:creationId xmlns:a16="http://schemas.microsoft.com/office/drawing/2014/main" id="{DF939080-2A50-4EB9-8360-D84760C77957}"/>
              </a:ext>
            </a:extLst>
          </p:cNvPr>
          <p:cNvSpPr>
            <a:spLocks noGrp="1"/>
          </p:cNvSpPr>
          <p:nvPr/>
        </p:nvSpPr>
        <p:spPr>
          <a:xfrm>
            <a:off x="1660525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0" name="upper_lipid_head_14">
            <a:extLst>
              <a:ext uri="{FF2B5EF4-FFF2-40B4-BE49-F238E27FC236}">
                <a16:creationId xmlns:a16="http://schemas.microsoft.com/office/drawing/2014/main" id="{75AC811E-5AFC-453E-9B08-7586687AA3A6}"/>
              </a:ext>
            </a:extLst>
          </p:cNvPr>
          <p:cNvSpPr>
            <a:spLocks noGrp="1"/>
          </p:cNvSpPr>
          <p:nvPr/>
        </p:nvSpPr>
        <p:spPr>
          <a:xfrm>
            <a:off x="1703071" y="52705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1" name="upper_lipid_tail_a_14">
            <a:extLst>
              <a:ext uri="{FF2B5EF4-FFF2-40B4-BE49-F238E27FC236}">
                <a16:creationId xmlns:a16="http://schemas.microsoft.com/office/drawing/2014/main" id="{3F6D77BB-9488-4760-9A0E-1C10C0E78862}"/>
              </a:ext>
            </a:extLst>
          </p:cNvPr>
          <p:cNvSpPr>
            <a:spLocks noGrp="1"/>
          </p:cNvSpPr>
          <p:nvPr/>
        </p:nvSpPr>
        <p:spPr>
          <a:xfrm>
            <a:off x="172593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2" name="upper_lipid_tail_b_14">
            <a:extLst>
              <a:ext uri="{FF2B5EF4-FFF2-40B4-BE49-F238E27FC236}">
                <a16:creationId xmlns:a16="http://schemas.microsoft.com/office/drawing/2014/main" id="{F5076BA8-6C0F-4BC9-98AD-AB6904BD239A}"/>
              </a:ext>
            </a:extLst>
          </p:cNvPr>
          <p:cNvSpPr>
            <a:spLocks noGrp="1"/>
          </p:cNvSpPr>
          <p:nvPr/>
        </p:nvSpPr>
        <p:spPr>
          <a:xfrm>
            <a:off x="1751331" y="53340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3" name="lower_lipid_head_14">
            <a:extLst>
              <a:ext uri="{FF2B5EF4-FFF2-40B4-BE49-F238E27FC236}">
                <a16:creationId xmlns:a16="http://schemas.microsoft.com/office/drawing/2014/main" id="{A1DE6E1E-4655-428A-8EA3-80E8299CA1FC}"/>
              </a:ext>
            </a:extLst>
          </p:cNvPr>
          <p:cNvSpPr>
            <a:spLocks noGrp="1"/>
          </p:cNvSpPr>
          <p:nvPr/>
        </p:nvSpPr>
        <p:spPr>
          <a:xfrm>
            <a:off x="1703071" y="5549900"/>
            <a:ext cx="69851" cy="69851"/>
          </a:xfrm>
          <a:prstGeom prst="ellipse">
            <a:avLst/>
          </a:prstGeom>
          <a:solidFill>
            <a:srgbClr val="F3DF91"/>
          </a:solidFill>
          <a:ln w="6985">
            <a:solidFill>
              <a:srgbClr val="A99558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4" name="lower_lipid_tail_a_14">
            <a:extLst>
              <a:ext uri="{FF2B5EF4-FFF2-40B4-BE49-F238E27FC236}">
                <a16:creationId xmlns:a16="http://schemas.microsoft.com/office/drawing/2014/main" id="{5818D189-C2A9-4FA3-A3E3-722CF9260985}"/>
              </a:ext>
            </a:extLst>
          </p:cNvPr>
          <p:cNvSpPr>
            <a:spLocks noGrp="1"/>
          </p:cNvSpPr>
          <p:nvPr/>
        </p:nvSpPr>
        <p:spPr>
          <a:xfrm>
            <a:off x="172593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5" name="lower_lipid_tail_b_14">
            <a:extLst>
              <a:ext uri="{FF2B5EF4-FFF2-40B4-BE49-F238E27FC236}">
                <a16:creationId xmlns:a16="http://schemas.microsoft.com/office/drawing/2014/main" id="{B9955CBC-058C-4A99-BE17-2BC757BD58CC}"/>
              </a:ext>
            </a:extLst>
          </p:cNvPr>
          <p:cNvSpPr>
            <a:spLocks noGrp="1"/>
          </p:cNvSpPr>
          <p:nvPr/>
        </p:nvSpPr>
        <p:spPr>
          <a:xfrm>
            <a:off x="1751331" y="5448300"/>
            <a:ext cx="127" cy="107951"/>
          </a:xfrm>
          <a:prstGeom prst="line">
            <a:avLst/>
          </a:prstGeom>
          <a:noFill/>
          <a:ln w="10160">
            <a:solidFill>
              <a:srgbClr val="BAAD74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pic>
        <p:nvPicPr>
          <p:cNvPr id="342" name="Рисунок 34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21746" y="5003800"/>
            <a:ext cx="845705" cy="876300"/>
          </a:xfrm>
          <a:prstGeom prst="rect">
            <a:avLst/>
          </a:prstGeom>
        </p:spPr>
      </p:pic>
      <p:sp>
        <p:nvSpPr>
          <p:cNvPr id="197" name="membrane_target_4_disc">
            <a:extLst>
              <a:ext uri="{FF2B5EF4-FFF2-40B4-BE49-F238E27FC236}">
                <a16:creationId xmlns:a16="http://schemas.microsoft.com/office/drawing/2014/main" id="{81AA453B-725D-480B-8861-156899A7B5B9}"/>
              </a:ext>
            </a:extLst>
          </p:cNvPr>
          <p:cNvSpPr>
            <a:spLocks noGrp="1"/>
          </p:cNvSpPr>
          <p:nvPr/>
        </p:nvSpPr>
        <p:spPr>
          <a:xfrm>
            <a:off x="406400" y="4991100"/>
            <a:ext cx="279400" cy="279400"/>
          </a:xfrm>
          <a:prstGeom prst="ellipse">
            <a:avLst/>
          </a:prstGeom>
          <a:solidFill>
            <a:srgbClr val="E97132"/>
          </a:solidFill>
          <a:ln w="15240">
            <a:solidFill>
              <a:srgbClr val="FFFFFF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8" name="membrane_target_4_number">
            <a:extLst>
              <a:ext uri="{FF2B5EF4-FFF2-40B4-BE49-F238E27FC236}">
                <a16:creationId xmlns:a16="http://schemas.microsoft.com/office/drawing/2014/main" id="{7B584AA8-460B-4E1A-BF09-854F09C34BD1}"/>
              </a:ext>
            </a:extLst>
          </p:cNvPr>
          <p:cNvSpPr>
            <a:spLocks noGrp="1"/>
          </p:cNvSpPr>
          <p:nvPr/>
        </p:nvSpPr>
        <p:spPr>
          <a:xfrm>
            <a:off x="406400" y="4991100"/>
            <a:ext cx="2794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4</a:t>
            </a:r>
          </a:p>
        </p:txBody>
      </p:sp>
      <p:sp>
        <p:nvSpPr>
          <p:cNvPr id="199" name="membrane_target_pointer">
            <a:extLst>
              <a:ext uri="{FF2B5EF4-FFF2-40B4-BE49-F238E27FC236}">
                <a16:creationId xmlns:a16="http://schemas.microsoft.com/office/drawing/2014/main" id="{EADA3EAE-CDFD-458C-A04F-1C7B00FED826}"/>
              </a:ext>
            </a:extLst>
          </p:cNvPr>
          <p:cNvSpPr>
            <a:spLocks noGrp="1"/>
          </p:cNvSpPr>
          <p:nvPr/>
        </p:nvSpPr>
        <p:spPr>
          <a:xfrm>
            <a:off x="647700" y="5232400"/>
            <a:ext cx="203200" cy="114300"/>
          </a:xfrm>
          <a:prstGeom prst="line">
            <a:avLst/>
          </a:prstGeom>
          <a:noFill/>
          <a:ln w="16511">
            <a:solidFill>
              <a:srgbClr val="0F9ED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0" name="membrane_label">
            <a:extLst>
              <a:ext uri="{FF2B5EF4-FFF2-40B4-BE49-F238E27FC236}">
                <a16:creationId xmlns:a16="http://schemas.microsoft.com/office/drawing/2014/main" id="{B205D50C-7494-46D1-9D32-786A1C9314D1}"/>
              </a:ext>
            </a:extLst>
          </p:cNvPr>
          <p:cNvSpPr>
            <a:spLocks noGrp="1"/>
          </p:cNvSpPr>
          <p:nvPr/>
        </p:nvSpPr>
        <p:spPr>
          <a:xfrm>
            <a:off x="1854200" y="5143500"/>
            <a:ext cx="1143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мембране</a:t>
            </a:r>
          </a:p>
        </p:txBody>
      </p:sp>
      <p:cxnSp>
        <p:nvCxnSpPr>
          <p:cNvPr id="350" name="Указатель_маркер_1"/>
          <p:cNvCxnSpPr/>
          <p:nvPr/>
        </p:nvCxnSpPr>
        <p:spPr>
          <a:xfrm flipV="1">
            <a:off x="635000" y="1155700"/>
            <a:ext cx="203200" cy="50800"/>
          </a:xfrm>
          <a:prstGeom prst="line">
            <a:avLst/>
          </a:prstGeom>
          <a:ln w="15875">
            <a:solidFill>
              <a:srgbClr val="156082"/>
            </a:solidFill>
          </a:ln>
        </p:spPr>
      </p:cxnSp>
      <p:sp>
        <p:nvSpPr>
          <p:cNvPr id="2" name="Маркер_3_собирательная;79;p13">
            <a:extLst>
              <a:ext uri="{FF2B5EF4-FFF2-40B4-BE49-F238E27FC236}">
                <a16:creationId xmlns:a16="http://schemas.microsoft.com/office/drawing/2014/main" id="{BB6CCBF0-3FA0-4E58-82A1-28F9B0AFE994}"/>
              </a:ext>
            </a:extLst>
          </p:cNvPr>
          <p:cNvSpPr>
            <a:spLocks noGrp="1"/>
          </p:cNvSpPr>
          <p:nvPr/>
        </p:nvSpPr>
        <p:spPr>
          <a:xfrm>
            <a:off x="2540000" y="2336800"/>
            <a:ext cx="228600" cy="228600"/>
          </a:xfrm>
          <a:prstGeom prst="ellipse">
            <a:avLst/>
          </a:prstGeom>
          <a:solidFill>
            <a:srgbClr val="7030A0"/>
          </a:solidFill>
          <a:ln w="12700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Маркер_3_собирательная;80;p13">
            <a:extLst>
              <a:ext uri="{FF2B5EF4-FFF2-40B4-BE49-F238E27FC236}">
                <a16:creationId xmlns:a16="http://schemas.microsoft.com/office/drawing/2014/main" id="{C11F9E02-FA20-4C3D-B4D4-50F310694B04}"/>
              </a:ext>
            </a:extLst>
          </p:cNvPr>
          <p:cNvSpPr>
            <a:spLocks noGrp="1"/>
          </p:cNvSpPr>
          <p:nvPr/>
        </p:nvSpPr>
        <p:spPr>
          <a:xfrm>
            <a:off x="2540000" y="233680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67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800" b="1" u="none">
                <a:solidFill>
                  <a:srgbClr val="FFFFFF"/>
                </a:solidFill>
                <a:latin typeface="Arial Narrow"/>
                <a:ea typeface="Calibri"/>
                <a:cs typeface="Arial Narrow"/>
              </a:rPr>
              <a:t>3</a:t>
            </a:r>
          </a:p>
        </p:txBody>
      </p:sp>
      <p:cxnSp>
        <p:nvCxnSpPr>
          <p:cNvPr id="351" name="Указатель_маркер_3"/>
          <p:cNvCxnSpPr/>
          <p:nvPr/>
        </p:nvCxnSpPr>
        <p:spPr>
          <a:xfrm flipH="1">
            <a:off x="2438400" y="2489200"/>
            <a:ext cx="101600" cy="50800"/>
          </a:xfrm>
          <a:prstGeom prst="line">
            <a:avLst/>
          </a:prstGeom>
          <a:ln w="15875">
            <a:solidFill>
              <a:srgbClr val="7030A0"/>
            </a:solidFill>
          </a:ln>
        </p:spPr>
      </p:cxnSp>
      <p:sp>
        <p:nvSpPr>
          <p:cNvPr id="352" name="Источники"/>
          <p:cNvSpPr txBox="1"/>
          <p:nvPr/>
        </p:nvSpPr>
        <p:spPr>
          <a:xfrm>
            <a:off x="457200" y="6525259"/>
            <a:ext cx="10795000" cy="25654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0000"/>
              </a:lnSpc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Семаглутид, исследование FLOW: Perkovic V, et al. N Engl J Med. 2024;391:109–121. KDIGO 2024. Kidney Int. 105(4S):S117–S314. Финеренон-Орвилле. Инструкция по медицинскому применению. Bakris GL, et al. N Engl J Med. 2020;383:2219–2229. Pitt B, et al. N Engl J Med. 2021;385:2252–2263. Адаптировано по: Servier Medical Art (CC BY 4.0).</a:t>
            </a:r>
            <a:endParaRPr lang="ru-RU" sz="800" b="0" dirty="0"/>
          </a:p>
        </p:txBody>
      </p:sp>
      <p:pic>
        <p:nvPicPr>
          <p:cNvPr id="353" name="Логотип Орвилле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54" name="Сокращения"/>
          <p:cNvSpPr txBox="1"/>
          <p:nvPr/>
        </p:nvSpPr>
        <p:spPr>
          <a:xfrm>
            <a:off x="457200" y="6207759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lnSpc>
                <a:spcPct val="100000"/>
              </a:lnSpc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МКР: минералокортикоидный рецептор; ГПП-1: глюкагоноподобный пептид-1.</a:t>
            </a:r>
            <a:endParaRPr lang="ru-RU" sz="1000" b="0" dirty="0"/>
          </a:p>
        </p:txBody>
      </p:sp>
    </p:spTree>
    <p:extLst>
      <p:ext uri="{BB962C8B-B14F-4D97-AF65-F5344CB8AC3E}">
        <p14:creationId xmlns:p14="http://schemas.microsoft.com/office/powerpoint/2010/main" val="2050947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Отношение рисков 0,82 означает риск ниже на 18% по сравнению с плацебо</a:t>
            </a:r>
            <a:endParaRPr lang="ru-RU" sz="2000"/>
          </a:p>
        </p:txBody>
      </p:sp>
      <p:sp>
        <p:nvSpPr>
          <p:cNvPr id="63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 et al. N Engl J Med. 2020;383:2219–2229.</a:t>
            </a:r>
            <a:endParaRPr lang="ru-RU" sz="800" b="0" dirty="0"/>
          </a:p>
        </p:txBody>
      </p:sp>
      <p:pic>
        <p:nvPicPr>
          <p:cNvPr id="6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5" name="Пример исследования"/>
          <p:cNvSpPr txBox="1"/>
          <p:nvPr/>
        </p:nvSpPr>
        <p:spPr>
          <a:xfrm>
            <a:off x="457200" y="1066800"/>
            <a:ext cx="112776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FIDELIO-DKD: взрослые с ХБП и диабетом 2 типа, финеренон или плацебо на фоне ингибитора АПФ или БРА</a:t>
            </a:r>
            <a:endParaRPr lang="ru-RU" sz="2400"/>
          </a:p>
        </p:txBody>
      </p:sp>
      <p:sp>
        <p:nvSpPr>
          <p:cNvPr id="75" name="Карточка_1"/>
          <p:cNvSpPr/>
          <p:nvPr/>
        </p:nvSpPr>
        <p:spPr>
          <a:xfrm>
            <a:off x="457200" y="16256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6" name="Карточка_2"/>
          <p:cNvSpPr/>
          <p:nvPr/>
        </p:nvSpPr>
        <p:spPr>
          <a:xfrm>
            <a:off x="457200" y="24130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7" name="Карточка_3"/>
          <p:cNvSpPr/>
          <p:nvPr/>
        </p:nvSpPr>
        <p:spPr>
          <a:xfrm>
            <a:off x="457200" y="32004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8" name="Карточка_4"/>
          <p:cNvSpPr/>
          <p:nvPr/>
        </p:nvSpPr>
        <p:spPr>
          <a:xfrm>
            <a:off x="457200" y="3987800"/>
            <a:ext cx="11277600" cy="711200"/>
          </a:xfrm>
          <a:prstGeom prst="roundRect">
            <a:avLst>
              <a:gd name="adj" fmla="val 1428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7" name="Первичный исход"/>
          <p:cNvSpPr txBox="1"/>
          <p:nvPr/>
        </p:nvSpPr>
        <p:spPr>
          <a:xfrm>
            <a:off x="609600" y="16256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оценивали</a:t>
            </a:r>
            <a:endParaRPr lang="ru-RU" sz="1800"/>
          </a:p>
        </p:txBody>
      </p:sp>
      <p:sp>
        <p:nvSpPr>
          <p:cNvPr id="68" name="Состав исхода"/>
          <p:cNvSpPr txBox="1"/>
          <p:nvPr/>
        </p:nvSpPr>
        <p:spPr>
          <a:xfrm>
            <a:off x="3708400" y="16256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Почечная недостаточность, устойчивое снижение рСКФ на ≥40% или смерть от почечных причин.</a:t>
            </a:r>
            <a:endParaRPr lang="ru-RU" sz="1800"/>
          </a:p>
        </p:txBody>
      </p:sp>
      <p:sp>
        <p:nvSpPr>
          <p:cNvPr id="69" name="Отношение рисков"/>
          <p:cNvSpPr txBox="1"/>
          <p:nvPr/>
        </p:nvSpPr>
        <p:spPr>
          <a:xfrm>
            <a:off x="609600" y="24130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Отношение рисков</a:t>
            </a:r>
            <a:endParaRPr lang="ru-RU" sz="1800"/>
          </a:p>
        </p:txBody>
      </p:sp>
      <p:sp>
        <p:nvSpPr>
          <p:cNvPr id="70" name="Эффект"/>
          <p:cNvSpPr txBox="1"/>
          <p:nvPr/>
        </p:nvSpPr>
        <p:spPr>
          <a:xfrm>
            <a:off x="3708400" y="24130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0,82</a:t>
            </a: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: риск ниже на 18% по сравнению с плацебо</a:t>
            </a:r>
            <a:endParaRPr lang="ru-RU" sz="2400"/>
          </a:p>
        </p:txBody>
      </p:sp>
      <p:sp>
        <p:nvSpPr>
          <p:cNvPr id="71" name="Доверительный интервал"/>
          <p:cNvSpPr txBox="1"/>
          <p:nvPr/>
        </p:nvSpPr>
        <p:spPr>
          <a:xfrm>
            <a:off x="609600" y="3200400"/>
            <a:ext cx="29972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95% доверительный интервал</a:t>
            </a:r>
            <a:endParaRPr lang="ru-RU" sz="1800"/>
          </a:p>
        </p:txBody>
      </p:sp>
      <p:sp>
        <p:nvSpPr>
          <p:cNvPr id="72" name="Неопределённость"/>
          <p:cNvSpPr txBox="1"/>
          <p:nvPr/>
        </p:nvSpPr>
        <p:spPr>
          <a:xfrm>
            <a:off x="3708400" y="3200400"/>
            <a:ext cx="787400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0,73–0,93. Весь интервал ниже 1: результат статистически значим.</a:t>
            </a:r>
            <a:endParaRPr lang="ru-RU" sz="1800"/>
          </a:p>
        </p:txBody>
      </p:sp>
      <p:sp>
        <p:nvSpPr>
          <p:cNvPr id="73" name="Условия интерпретации"/>
          <p:cNvSpPr txBox="1"/>
          <p:nvPr/>
        </p:nvSpPr>
        <p:spPr>
          <a:xfrm>
            <a:off x="457200" y="4978400"/>
            <a:ext cx="11277600" cy="6096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</p:spPr>
        <p:txBody>
          <a:bodyPr wrap="square" lIns="152400" tIns="0" rIns="1524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Результат относится к комбинированному исходу у взрослых с ХБП и диабетом 2 типа на фоне ингибитора АПФ или БРА.</a:t>
            </a:r>
            <a:endParaRPr lang="ru-RU" sz="1700"/>
          </a:p>
        </p:txBody>
      </p:sp>
      <p:sp>
        <p:nvSpPr>
          <p:cNvPr id="74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АПФ: ангиотензинпревращающий фермент; БРА: блокатор рецепторов ангиотензина II; ОР: отношение рисков; ЧБНЛ: число больных, которых необходимо лечить.</a:t>
            </a:r>
            <a:endParaRPr lang="ru-RU" sz="1000" b="0" dirty="0"/>
          </a:p>
        </p:txBody>
      </p:sp>
      <p:sp>
        <p:nvSpPr>
          <p:cNvPr id="79" name="Метка_в_процентах_и_ЧБНЛ"/>
          <p:cNvSpPr txBox="1"/>
          <p:nvPr/>
        </p:nvSpPr>
        <p:spPr>
          <a:xfrm>
            <a:off x="609600" y="3987800"/>
            <a:ext cx="2997200" cy="711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 процентах и ЧБНЛ</a:t>
            </a:r>
          </a:p>
        </p:txBody>
      </p:sp>
      <p:sp>
        <p:nvSpPr>
          <p:cNvPr id="80" name="Значение_в_процентах_и_ЧБНЛ"/>
          <p:cNvSpPr txBox="1"/>
          <p:nvPr/>
        </p:nvSpPr>
        <p:spPr>
          <a:xfrm>
            <a:off x="3708400" y="3987800"/>
            <a:ext cx="7874000" cy="711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17,8% на финереноне и 21,1% на плацебо за медиану 2,6 года</a:t>
            </a:r>
          </a:p>
          <a:p>
            <a:pPr algn="l"/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ЧБНЛ 29 за 3 года: столько пациентов нужно лечить, чтобы предотвратить одно событие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Карточка_результат"/>
          <p:cNvSpPr/>
          <p:nvPr/>
        </p:nvSpPr>
        <p:spPr>
          <a:xfrm>
            <a:off x="7658100" y="2641600"/>
            <a:ext cx="3886200" cy="284480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" name="Заголовок">
            <a:extLst>
              <a:ext uri="{FF2B5EF4-FFF2-40B4-BE49-F238E27FC236}">
                <a16:creationId xmlns:a16="http://schemas.microsoft.com/office/drawing/2014/main" id="{E7B3D3F4-2311-40C8-BA10-4868E4C6C4C4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Остаточный риск сохраняется даже на ингибиторе АПФ или БРА с канаглифлозином: первичный исход у 11,1% за 2,6 года</a:t>
            </a:r>
          </a:p>
        </p:txBody>
      </p:sp>
      <p:sp>
        <p:nvSpPr>
          <p:cNvPr id="21" name="Карточка_исследование"/>
          <p:cNvSpPr/>
          <p:nvPr/>
        </p:nvSpPr>
        <p:spPr>
          <a:xfrm>
            <a:off x="457200" y="965200"/>
            <a:ext cx="11277600" cy="1600200"/>
          </a:xfrm>
          <a:prstGeom prst="roundRect">
            <a:avLst>
              <a:gd name="adj" fmla="val 634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Определение">
            <a:extLst>
              <a:ext uri="{FF2B5EF4-FFF2-40B4-BE49-F238E27FC236}">
                <a16:creationId xmlns:a16="http://schemas.microsoft.com/office/drawing/2014/main" id="{D009CD3A-0AC7-4C2B-ACF5-18012292CCF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Остаточный риск: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риск осложнений, который сохраняется на фоне лечения.</a:t>
            </a:r>
          </a:p>
        </p:txBody>
      </p:sp>
      <p:sp>
        <p:nvSpPr>
          <p:cNvPr id="4" name="Исследование">
            <a:extLst>
              <a:ext uri="{FF2B5EF4-FFF2-40B4-BE49-F238E27FC236}">
                <a16:creationId xmlns:a16="http://schemas.microsoft.com/office/drawing/2014/main" id="{5677DEAE-B9DF-4406-A15A-B30E25558B6D}"/>
              </a:ext>
            </a:extLst>
          </p:cNvPr>
          <p:cNvSpPr>
            <a:spLocks noGrp="1"/>
          </p:cNvSpPr>
          <p:nvPr/>
        </p:nvSpPr>
        <p:spPr>
          <a:xfrm>
            <a:off x="609600" y="1422400"/>
            <a:ext cx="10972800" cy="1092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Кто участвовал: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4401 пациент с диабетом 2 типа, хронической болезнью почек и АКО выше 300 мг/г.</a:t>
            </a:r>
            <a:endParaRPr lang="ru-RU" sz="1600"/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сравнивали: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канаглифлозин (ингибитор НГЛТ2) или плацебо; все получали ингибитор АПФ или БРА.</a:t>
            </a:r>
            <a:endParaRPr lang="ru-RU" sz="1600"/>
          </a:p>
          <a:p>
            <a:pPr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терминальная почечная недостаточность, удвоение уровня креатинина или смерть от почечных или сердечно-сосудистых причин.</a:t>
            </a:r>
            <a:endParaRPr lang="ru-RU" sz="1600"/>
          </a:p>
        </p:txBody>
      </p:sp>
      <p:graphicFrame>
        <p:nvGraphicFramePr>
          <p:cNvPr id="16" name="Chart"/>
          <p:cNvGraphicFramePr/>
          <p:nvPr/>
        </p:nvGraphicFramePr>
        <p:xfrm>
          <a:off x="457200" y="2641600"/>
          <a:ext cx="6896100" cy="284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Отношение рисков">
            <a:extLst>
              <a:ext uri="{FF2B5EF4-FFF2-40B4-BE49-F238E27FC236}">
                <a16:creationId xmlns:a16="http://schemas.microsoft.com/office/drawing/2014/main" id="{D24E95BD-A951-4365-9D15-7EEE297D4383}"/>
              </a:ext>
            </a:extLst>
          </p:cNvPr>
          <p:cNvSpPr>
            <a:spLocks noGrp="1"/>
          </p:cNvSpPr>
          <p:nvPr/>
        </p:nvSpPr>
        <p:spPr>
          <a:xfrm>
            <a:off x="7848600" y="2743200"/>
            <a:ext cx="35052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Отношение рисков 0,70 (95% ДИ 0,59–0,82)</a:t>
            </a:r>
            <a:endParaRPr lang="ru-RU" sz="1800"/>
          </a:p>
        </p:txBody>
      </p:sp>
      <p:sp>
        <p:nvSpPr>
          <p:cNvPr id="7" name="Доверительный интервал">
            <a:extLst>
              <a:ext uri="{FF2B5EF4-FFF2-40B4-BE49-F238E27FC236}">
                <a16:creationId xmlns:a16="http://schemas.microsoft.com/office/drawing/2014/main" id="{33AC9ACA-C7B9-444D-A2B2-25A63E287975}"/>
              </a:ext>
            </a:extLst>
          </p:cNvPr>
          <p:cNvSpPr>
            <a:spLocks noGrp="1"/>
          </p:cNvSpPr>
          <p:nvPr/>
        </p:nvSpPr>
        <p:spPr>
          <a:xfrm>
            <a:off x="7848600" y="2997200"/>
            <a:ext cx="35052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Риск ниже на 30% по сравнению с плацебо (относительное снижение).</a:t>
            </a:r>
          </a:p>
        </p:txBody>
      </p:sp>
      <p:sp>
        <p:nvSpPr>
          <p:cNvPr id="8" name="Наблюдение">
            <a:extLst>
              <a:ext uri="{FF2B5EF4-FFF2-40B4-BE49-F238E27FC236}">
                <a16:creationId xmlns:a16="http://schemas.microsoft.com/office/drawing/2014/main" id="{77C009BD-CD07-4884-96BB-6B8215BB0F3E}"/>
              </a:ext>
            </a:extLst>
          </p:cNvPr>
          <p:cNvSpPr>
            <a:spLocks noGrp="1"/>
          </p:cNvSpPr>
          <p:nvPr/>
        </p:nvSpPr>
        <p:spPr>
          <a:xfrm>
            <a:off x="7848600" y="3657600"/>
            <a:ext cx="35052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Наблюдение: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медиана 2,6 года. На графике доля пациентов с событием за всё исследование.</a:t>
            </a:r>
          </a:p>
        </p:txBody>
      </p:sp>
      <p:sp>
        <p:nvSpPr>
          <p:cNvPr id="9" name="Граница доказательств">
            <a:extLst>
              <a:ext uri="{FF2B5EF4-FFF2-40B4-BE49-F238E27FC236}">
                <a16:creationId xmlns:a16="http://schemas.microsoft.com/office/drawing/2014/main" id="{DCCD233B-59E0-434F-85B7-0533B4B98E6B}"/>
              </a:ext>
            </a:extLst>
          </p:cNvPr>
          <p:cNvSpPr>
            <a:spLocks noGrp="1"/>
          </p:cNvSpPr>
          <p:nvPr/>
        </p:nvSpPr>
        <p:spPr>
          <a:xfrm>
            <a:off x="7848600" y="4546600"/>
            <a:ext cx="3505200" cy="889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algn="l"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Остаточный риск: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на канаглифлозине и ингибиторе АПФ или БРА первичный исход возник у </a:t>
            </a:r>
            <a:r>
              <a:rPr sz="2400" b="1">
                <a:solidFill>
                  <a:srgbClr val="000000"/>
                </a:solidFill>
                <a:latin typeface="Arial Narrow"/>
                <a:cs typeface="Arial Narrow"/>
              </a:rPr>
              <a:t>11,1%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пациентов.</a:t>
            </a:r>
          </a:p>
        </p:txBody>
      </p:sp>
      <p:sp>
        <p:nvSpPr>
          <p:cNvPr id="10" name="Состав исхода">
            <a:extLst>
              <a:ext uri="{FF2B5EF4-FFF2-40B4-BE49-F238E27FC236}">
                <a16:creationId xmlns:a16="http://schemas.microsoft.com/office/drawing/2014/main" id="{9B481421-4880-411C-86C7-C6283A1FE97F}"/>
              </a:ext>
            </a:extLst>
          </p:cNvPr>
          <p:cNvSpPr>
            <a:spLocks noGrp="1"/>
          </p:cNvSpPr>
          <p:nvPr/>
        </p:nvSpPr>
        <p:spPr>
          <a:xfrm>
            <a:off x="457200" y="5588000"/>
            <a:ext cx="11277600" cy="381000"/>
          </a:xfrm>
          <a:prstGeom prst="roundRect">
            <a:avLst>
              <a:gd name="adj" fmla="val 26666"/>
            </a:avLst>
          </a:prstGeom>
          <a:solidFill>
            <a:srgbClr val="7030A0"/>
          </a:solidFill>
          <a:ln w="0">
            <a:noFill/>
          </a:ln>
        </p:spPr>
        <p:txBody>
          <a:bodyPr wrap="square" lIns="152400" tIns="0" rIns="10160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Остаточный риск остаётся даже на ингибиторе АПФ или БРА с ингибитором НГЛТ2. У финеренона другая мишень: МКР.</a:t>
            </a:r>
            <a:endParaRPr lang="ru-RU" sz="1600"/>
          </a:p>
        </p:txBody>
      </p:sp>
      <p:sp>
        <p:nvSpPr>
          <p:cNvPr id="18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Perkovic V, et al. N Engl J Med. 2019;380:2295–2306.</a:t>
            </a:r>
            <a:endParaRPr lang="ru-RU" sz="800" b="0" dirty="0"/>
          </a:p>
        </p:txBody>
      </p:sp>
      <p:pic>
        <p:nvPicPr>
          <p:cNvPr id="19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0" name="Сокращения"/>
          <p:cNvSpPr txBox="1"/>
          <p:nvPr/>
        </p:nvSpPr>
        <p:spPr>
          <a:xfrm>
            <a:off x="457200" y="6329680"/>
            <a:ext cx="10795000" cy="3175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АПФ: ангиотензинпревращающий фермент; БРА: блокатор рецепторов ангиотензина II; НГЛТ2: натрий-глюкозный котранспортёр 2 типа; ДИ: доверительный интервал; АКО: отношение альбумина к креатинину мочи; МКР: минералокортикоидный рецептор.</a:t>
            </a:r>
            <a:endParaRPr lang="ru-RU" sz="1000" b="0" dirty="0"/>
          </a:p>
        </p:txBody>
      </p:sp>
      <p:sp>
        <p:nvSpPr>
          <p:cNvPr id="22" name="Сноска"/>
          <p:cNvSpPr txBox="1"/>
          <p:nvPr/>
        </p:nvSpPr>
        <p:spPr>
          <a:xfrm>
            <a:off x="457200" y="6195059"/>
            <a:ext cx="10795000" cy="13462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/>
            <a:r>
              <a:rPr sz="800" b="0">
                <a:solidFill>
                  <a:srgbClr val="000000"/>
                </a:solidFill>
                <a:latin typeface="Arial Narrow"/>
                <a:cs typeface="Arial Narrow"/>
              </a:rPr>
              <a:t>* Финеренон в исследовании CREDENCE не применяли; результаты разных исследований напрямую не сравнивают.</a:t>
            </a:r>
          </a:p>
        </p:txBody>
      </p:sp>
    </p:spTree>
    <p:extLst>
      <p:ext uri="{BB962C8B-B14F-4D97-AF65-F5344CB8AC3E}">
        <p14:creationId xmlns:p14="http://schemas.microsoft.com/office/powerpoint/2010/main" val="393691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marL="0" marR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Альдостерон через МКР задерживает натрий и выводит калий</a:t>
            </a:r>
            <a:endParaRPr lang="ru-RU" sz="2000" b="0" dirty="0"/>
          </a:p>
        </p:txBody>
      </p:sp>
      <p:sp>
        <p:nvSpPr>
          <p:cNvPr id="3" name="Просвет трубочки"/>
          <p:cNvSpPr/>
          <p:nvPr/>
        </p:nvSpPr>
        <p:spPr>
          <a:xfrm>
            <a:off x="438912" y="1655064"/>
            <a:ext cx="1828800" cy="4370832"/>
          </a:xfrm>
          <a:prstGeom prst="rect">
            <a:avLst/>
          </a:prstGeom>
          <a:solidFill>
            <a:srgbClr val="C1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" name="Интерстиций со стороны крови"/>
          <p:cNvSpPr/>
          <p:nvPr/>
        </p:nvSpPr>
        <p:spPr>
          <a:xfrm>
            <a:off x="9326880" y="1655064"/>
            <a:ext cx="2414016" cy="4370832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" name="Текст: Просвет трубочки"/>
          <p:cNvSpPr txBox="1"/>
          <p:nvPr/>
        </p:nvSpPr>
        <p:spPr>
          <a:xfrm>
            <a:off x="521207" y="1252728"/>
            <a:ext cx="1682496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трубочки</a:t>
            </a:r>
          </a:p>
        </p:txBody>
      </p:sp>
      <p:sp>
        <p:nvSpPr>
          <p:cNvPr id="6" name="Текст: Главная клетка собирательной трубочки"/>
          <p:cNvSpPr txBox="1"/>
          <p:nvPr/>
        </p:nvSpPr>
        <p:spPr>
          <a:xfrm>
            <a:off x="2724912" y="1261872"/>
            <a:ext cx="6309360" cy="36576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Главная клетка собирательной трубочки</a:t>
            </a:r>
          </a:p>
        </p:txBody>
      </p:sp>
      <p:sp>
        <p:nvSpPr>
          <p:cNvPr id="7" name="Текст: Межклеточная жидкость со стороны крови"/>
          <p:cNvSpPr txBox="1"/>
          <p:nvPr/>
        </p:nvSpPr>
        <p:spPr>
          <a:xfrm>
            <a:off x="9372600" y="1252728"/>
            <a:ext cx="2578608" cy="5029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Межклеточная жидкость</a:t>
            </a:r>
          </a:p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со стороны крови</a:t>
            </a:r>
          </a:p>
        </p:txBody>
      </p:sp>
      <p:sp>
        <p:nvSpPr>
          <p:cNvPr id="8" name="Главная клетка: наружная мембрана"/>
          <p:cNvSpPr/>
          <p:nvPr/>
        </p:nvSpPr>
        <p:spPr>
          <a:xfrm>
            <a:off x="2221992" y="1664208"/>
            <a:ext cx="7168896" cy="44348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solidFill>
            <a:srgbClr val="F2F2F2"/>
          </a:solidFill>
          <a:ln w="26670">
            <a:solidFill>
              <a:srgbClr val="AEA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Внутренняя граница мембраны"/>
          <p:cNvSpPr/>
          <p:nvPr/>
        </p:nvSpPr>
        <p:spPr>
          <a:xfrm>
            <a:off x="2295144" y="1719072"/>
            <a:ext cx="7022592" cy="43068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noFill/>
          <a:ln w="14604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Митохондрия: контекст клетки"/>
          <p:cNvSpPr/>
          <p:nvPr/>
        </p:nvSpPr>
        <p:spPr>
          <a:xfrm>
            <a:off x="2752344" y="2039112"/>
            <a:ext cx="914400" cy="43891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solidFill>
            <a:srgbClr val="D9D9D9"/>
          </a:solidFill>
          <a:ln w="1079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Кристы митохондрии"/>
          <p:cNvSpPr/>
          <p:nvPr/>
        </p:nvSpPr>
        <p:spPr>
          <a:xfrm>
            <a:off x="2752344" y="2039112"/>
            <a:ext cx="914400" cy="438912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Митохондрия: контекст клетки"/>
          <p:cNvSpPr/>
          <p:nvPr/>
        </p:nvSpPr>
        <p:spPr>
          <a:xfrm>
            <a:off x="2871216" y="3346704"/>
            <a:ext cx="813816" cy="4206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solidFill>
            <a:srgbClr val="D9D9D9"/>
          </a:solidFill>
          <a:ln w="1079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Кристы митохондрии"/>
          <p:cNvSpPr/>
          <p:nvPr/>
        </p:nvSpPr>
        <p:spPr>
          <a:xfrm>
            <a:off x="2871216" y="3346704"/>
            <a:ext cx="813816" cy="42062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7" name="Ядро"/>
          <p:cNvSpPr/>
          <p:nvPr/>
        </p:nvSpPr>
        <p:spPr>
          <a:xfrm>
            <a:off x="4087368" y="1947672"/>
            <a:ext cx="2295144" cy="1508760"/>
          </a:xfrm>
          <a:prstGeom prst="ellipse">
            <a:avLst/>
          </a:prstGeom>
          <a:solidFill>
            <a:srgbClr val="F2F2F2"/>
          </a:solidFill>
          <a:ln w="1841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8" name="Ядерная оболочка"/>
          <p:cNvSpPr/>
          <p:nvPr/>
        </p:nvSpPr>
        <p:spPr>
          <a:xfrm>
            <a:off x="4142232" y="1993392"/>
            <a:ext cx="2185416" cy="1399032"/>
          </a:xfrm>
          <a:prstGeom prst="ellipse">
            <a:avLst/>
          </a:prstGeom>
          <a:noFill/>
          <a:ln w="9525">
            <a:solidFill>
              <a:srgbClr val="AEAE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9" name="Текст: Ядро"/>
          <p:cNvSpPr txBox="1"/>
          <p:nvPr/>
        </p:nvSpPr>
        <p:spPr>
          <a:xfrm>
            <a:off x="4361688" y="2093976"/>
            <a:ext cx="1719072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cxnSp>
        <p:nvCxnSpPr>
          <p:cNvPr id="20" name="Цепь ДНК"/>
          <p:cNvCxnSpPr/>
          <p:nvPr/>
        </p:nvCxnSpPr>
        <p:spPr>
          <a:xfrm>
            <a:off x="4453128" y="2679192"/>
            <a:ext cx="15544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Цепь ДНК"/>
          <p:cNvCxnSpPr/>
          <p:nvPr/>
        </p:nvCxnSpPr>
        <p:spPr>
          <a:xfrm>
            <a:off x="4468672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Цепь ДНК"/>
          <p:cNvCxnSpPr/>
          <p:nvPr/>
        </p:nvCxnSpPr>
        <p:spPr>
          <a:xfrm>
            <a:off x="4484217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Цепь ДНК"/>
          <p:cNvCxnSpPr/>
          <p:nvPr/>
        </p:nvCxnSpPr>
        <p:spPr>
          <a:xfrm>
            <a:off x="4499762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Цепь ДНК"/>
          <p:cNvCxnSpPr/>
          <p:nvPr/>
        </p:nvCxnSpPr>
        <p:spPr>
          <a:xfrm>
            <a:off x="4515307" y="2760565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Цепь ДНК"/>
          <p:cNvCxnSpPr/>
          <p:nvPr/>
        </p:nvCxnSpPr>
        <p:spPr>
          <a:xfrm>
            <a:off x="4530852" y="2775361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Цепь ДНК"/>
          <p:cNvCxnSpPr/>
          <p:nvPr/>
        </p:nvCxnSpPr>
        <p:spPr>
          <a:xfrm>
            <a:off x="4546396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Цепь ДНК"/>
          <p:cNvCxnSpPr/>
          <p:nvPr/>
        </p:nvCxnSpPr>
        <p:spPr>
          <a:xfrm>
            <a:off x="4561941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Цепь ДНК"/>
          <p:cNvCxnSpPr/>
          <p:nvPr/>
        </p:nvCxnSpPr>
        <p:spPr>
          <a:xfrm flipV="1">
            <a:off x="4577486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Цепь ДНК"/>
          <p:cNvCxnSpPr/>
          <p:nvPr/>
        </p:nvCxnSpPr>
        <p:spPr>
          <a:xfrm flipV="1">
            <a:off x="4593031" y="2792245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Цепь ДНК"/>
          <p:cNvCxnSpPr/>
          <p:nvPr/>
        </p:nvCxnSpPr>
        <p:spPr>
          <a:xfrm flipV="1">
            <a:off x="4608576" y="2783360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Цепь ДНК"/>
          <p:cNvCxnSpPr/>
          <p:nvPr/>
        </p:nvCxnSpPr>
        <p:spPr>
          <a:xfrm flipV="1">
            <a:off x="462412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Цепь ДНК"/>
          <p:cNvCxnSpPr/>
          <p:nvPr/>
        </p:nvCxnSpPr>
        <p:spPr>
          <a:xfrm flipV="1">
            <a:off x="463966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Цепь ДНК"/>
          <p:cNvCxnSpPr/>
          <p:nvPr/>
        </p:nvCxnSpPr>
        <p:spPr>
          <a:xfrm flipV="1">
            <a:off x="465521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Цепь ДНК"/>
          <p:cNvCxnSpPr/>
          <p:nvPr/>
        </p:nvCxnSpPr>
        <p:spPr>
          <a:xfrm flipV="1">
            <a:off x="4670755" y="2715925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Цепь ДНК"/>
          <p:cNvCxnSpPr/>
          <p:nvPr/>
        </p:nvCxnSpPr>
        <p:spPr>
          <a:xfrm flipV="1">
            <a:off x="4686300" y="2694090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Цепь ДНК"/>
          <p:cNvCxnSpPr/>
          <p:nvPr/>
        </p:nvCxnSpPr>
        <p:spPr>
          <a:xfrm flipV="1">
            <a:off x="4701844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Цепь ДНК"/>
          <p:cNvCxnSpPr/>
          <p:nvPr/>
        </p:nvCxnSpPr>
        <p:spPr>
          <a:xfrm flipV="1">
            <a:off x="4717389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Цепь ДНК"/>
          <p:cNvCxnSpPr/>
          <p:nvPr/>
        </p:nvCxnSpPr>
        <p:spPr>
          <a:xfrm flipV="1">
            <a:off x="4732934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Цепь ДНК"/>
          <p:cNvCxnSpPr/>
          <p:nvPr/>
        </p:nvCxnSpPr>
        <p:spPr>
          <a:xfrm flipV="1">
            <a:off x="4748479" y="2609320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Цепь ДНК"/>
          <p:cNvCxnSpPr/>
          <p:nvPr/>
        </p:nvCxnSpPr>
        <p:spPr>
          <a:xfrm flipV="1">
            <a:off x="4764024" y="2592538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Цепь ДНК"/>
          <p:cNvCxnSpPr/>
          <p:nvPr/>
        </p:nvCxnSpPr>
        <p:spPr>
          <a:xfrm flipV="1">
            <a:off x="4779568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Цепь ДНК"/>
          <p:cNvCxnSpPr/>
          <p:nvPr/>
        </p:nvCxnSpPr>
        <p:spPr>
          <a:xfrm flipV="1">
            <a:off x="4795113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Цепь ДНК"/>
          <p:cNvCxnSpPr/>
          <p:nvPr/>
        </p:nvCxnSpPr>
        <p:spPr>
          <a:xfrm flipV="1">
            <a:off x="4810658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Цепь ДНК"/>
          <p:cNvCxnSpPr/>
          <p:nvPr/>
        </p:nvCxnSpPr>
        <p:spPr>
          <a:xfrm flipV="1">
            <a:off x="4826203" y="2560320"/>
            <a:ext cx="15545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Цепь ДНК"/>
          <p:cNvCxnSpPr/>
          <p:nvPr/>
        </p:nvCxnSpPr>
        <p:spPr>
          <a:xfrm>
            <a:off x="4841748" y="2560320"/>
            <a:ext cx="15544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Цепь ДНК"/>
          <p:cNvCxnSpPr/>
          <p:nvPr/>
        </p:nvCxnSpPr>
        <p:spPr>
          <a:xfrm>
            <a:off x="4857292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Цепь ДНК"/>
          <p:cNvCxnSpPr/>
          <p:nvPr/>
        </p:nvCxnSpPr>
        <p:spPr>
          <a:xfrm>
            <a:off x="4872837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Цепь ДНК"/>
          <p:cNvCxnSpPr/>
          <p:nvPr/>
        </p:nvCxnSpPr>
        <p:spPr>
          <a:xfrm>
            <a:off x="4888382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Цепь ДНК"/>
          <p:cNvCxnSpPr/>
          <p:nvPr/>
        </p:nvCxnSpPr>
        <p:spPr>
          <a:xfrm>
            <a:off x="4903927" y="2592538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Цепь ДНК"/>
          <p:cNvCxnSpPr/>
          <p:nvPr/>
        </p:nvCxnSpPr>
        <p:spPr>
          <a:xfrm>
            <a:off x="4919472" y="2609320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Цепь ДНК"/>
          <p:cNvCxnSpPr/>
          <p:nvPr/>
        </p:nvCxnSpPr>
        <p:spPr>
          <a:xfrm>
            <a:off x="4935016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Цепь ДНК"/>
          <p:cNvCxnSpPr/>
          <p:nvPr/>
        </p:nvCxnSpPr>
        <p:spPr>
          <a:xfrm>
            <a:off x="4950561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Цепь ДНК"/>
          <p:cNvCxnSpPr/>
          <p:nvPr/>
        </p:nvCxnSpPr>
        <p:spPr>
          <a:xfrm>
            <a:off x="4966106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Цепь ДНК"/>
          <p:cNvCxnSpPr/>
          <p:nvPr/>
        </p:nvCxnSpPr>
        <p:spPr>
          <a:xfrm>
            <a:off x="4981651" y="2694090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Цепь ДНК"/>
          <p:cNvCxnSpPr/>
          <p:nvPr/>
        </p:nvCxnSpPr>
        <p:spPr>
          <a:xfrm>
            <a:off x="4997196" y="2715925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Цепь ДНК"/>
          <p:cNvCxnSpPr/>
          <p:nvPr/>
        </p:nvCxnSpPr>
        <p:spPr>
          <a:xfrm>
            <a:off x="501274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Цепь ДНК"/>
          <p:cNvCxnSpPr/>
          <p:nvPr/>
        </p:nvCxnSpPr>
        <p:spPr>
          <a:xfrm>
            <a:off x="502828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Цепь ДНК"/>
          <p:cNvCxnSpPr/>
          <p:nvPr/>
        </p:nvCxnSpPr>
        <p:spPr>
          <a:xfrm>
            <a:off x="504383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Цепь ДНК"/>
          <p:cNvCxnSpPr/>
          <p:nvPr/>
        </p:nvCxnSpPr>
        <p:spPr>
          <a:xfrm>
            <a:off x="5059375" y="2783360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Цепь ДНК"/>
          <p:cNvCxnSpPr/>
          <p:nvPr/>
        </p:nvCxnSpPr>
        <p:spPr>
          <a:xfrm>
            <a:off x="5074920" y="2792245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Цепь ДНК"/>
          <p:cNvCxnSpPr/>
          <p:nvPr/>
        </p:nvCxnSpPr>
        <p:spPr>
          <a:xfrm>
            <a:off x="5090464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Цепь ДНК"/>
          <p:cNvCxnSpPr/>
          <p:nvPr/>
        </p:nvCxnSpPr>
        <p:spPr>
          <a:xfrm flipV="1">
            <a:off x="5106009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Цепь ДНК"/>
          <p:cNvCxnSpPr/>
          <p:nvPr/>
        </p:nvCxnSpPr>
        <p:spPr>
          <a:xfrm flipV="1">
            <a:off x="5121554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Цепь ДНК"/>
          <p:cNvCxnSpPr/>
          <p:nvPr/>
        </p:nvCxnSpPr>
        <p:spPr>
          <a:xfrm flipV="1">
            <a:off x="5137099" y="2775361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Цепь ДНК"/>
          <p:cNvCxnSpPr/>
          <p:nvPr/>
        </p:nvCxnSpPr>
        <p:spPr>
          <a:xfrm flipV="1">
            <a:off x="5152644" y="2760565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Цепь ДНК"/>
          <p:cNvCxnSpPr/>
          <p:nvPr/>
        </p:nvCxnSpPr>
        <p:spPr>
          <a:xfrm flipV="1">
            <a:off x="5168188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Цепь ДНК"/>
          <p:cNvCxnSpPr/>
          <p:nvPr/>
        </p:nvCxnSpPr>
        <p:spPr>
          <a:xfrm flipV="1">
            <a:off x="5183733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Цепь ДНК"/>
          <p:cNvCxnSpPr/>
          <p:nvPr/>
        </p:nvCxnSpPr>
        <p:spPr>
          <a:xfrm flipV="1">
            <a:off x="5199278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Цепь ДНК"/>
          <p:cNvCxnSpPr/>
          <p:nvPr/>
        </p:nvCxnSpPr>
        <p:spPr>
          <a:xfrm flipV="1">
            <a:off x="5214823" y="2679192"/>
            <a:ext cx="15545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Цепь ДНК"/>
          <p:cNvCxnSpPr/>
          <p:nvPr/>
        </p:nvCxnSpPr>
        <p:spPr>
          <a:xfrm flipV="1">
            <a:off x="5230368" y="2656917"/>
            <a:ext cx="15544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Цепь ДНК"/>
          <p:cNvCxnSpPr/>
          <p:nvPr/>
        </p:nvCxnSpPr>
        <p:spPr>
          <a:xfrm flipV="1">
            <a:off x="5245912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Цепь ДНК"/>
          <p:cNvCxnSpPr/>
          <p:nvPr/>
        </p:nvCxnSpPr>
        <p:spPr>
          <a:xfrm flipV="1">
            <a:off x="5261457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Цепь ДНК"/>
          <p:cNvCxnSpPr/>
          <p:nvPr/>
        </p:nvCxnSpPr>
        <p:spPr>
          <a:xfrm flipV="1">
            <a:off x="5277002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Цепь ДНК"/>
          <p:cNvCxnSpPr/>
          <p:nvPr/>
        </p:nvCxnSpPr>
        <p:spPr>
          <a:xfrm flipV="1">
            <a:off x="5292547" y="2583022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Цепь ДНК"/>
          <p:cNvCxnSpPr/>
          <p:nvPr/>
        </p:nvCxnSpPr>
        <p:spPr>
          <a:xfrm flipV="1">
            <a:off x="5308092" y="2571633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Цепь ДНК"/>
          <p:cNvCxnSpPr/>
          <p:nvPr/>
        </p:nvCxnSpPr>
        <p:spPr>
          <a:xfrm flipV="1">
            <a:off x="5323636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Цепь ДНК"/>
          <p:cNvCxnSpPr/>
          <p:nvPr/>
        </p:nvCxnSpPr>
        <p:spPr>
          <a:xfrm flipV="1">
            <a:off x="5339181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Цепь ДНК"/>
          <p:cNvCxnSpPr/>
          <p:nvPr/>
        </p:nvCxnSpPr>
        <p:spPr>
          <a:xfrm>
            <a:off x="5354726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Цепь ДНК"/>
          <p:cNvCxnSpPr/>
          <p:nvPr/>
        </p:nvCxnSpPr>
        <p:spPr>
          <a:xfrm>
            <a:off x="5370271" y="2561257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Цепь ДНК"/>
          <p:cNvCxnSpPr/>
          <p:nvPr/>
        </p:nvCxnSpPr>
        <p:spPr>
          <a:xfrm>
            <a:off x="5385816" y="2566138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Цепь ДНК"/>
          <p:cNvCxnSpPr/>
          <p:nvPr/>
        </p:nvCxnSpPr>
        <p:spPr>
          <a:xfrm>
            <a:off x="540136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Цепь ДНК"/>
          <p:cNvCxnSpPr/>
          <p:nvPr/>
        </p:nvCxnSpPr>
        <p:spPr>
          <a:xfrm>
            <a:off x="541690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Цепь ДНК"/>
          <p:cNvCxnSpPr/>
          <p:nvPr/>
        </p:nvCxnSpPr>
        <p:spPr>
          <a:xfrm>
            <a:off x="543245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Цепь ДНК"/>
          <p:cNvCxnSpPr/>
          <p:nvPr/>
        </p:nvCxnSpPr>
        <p:spPr>
          <a:xfrm>
            <a:off x="5447995" y="2621924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Цепь ДНК"/>
          <p:cNvCxnSpPr/>
          <p:nvPr/>
        </p:nvCxnSpPr>
        <p:spPr>
          <a:xfrm>
            <a:off x="5463540" y="2642458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Цепь ДНК"/>
          <p:cNvCxnSpPr/>
          <p:nvPr/>
        </p:nvCxnSpPr>
        <p:spPr>
          <a:xfrm>
            <a:off x="5479084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Цепь ДНК"/>
          <p:cNvCxnSpPr/>
          <p:nvPr/>
        </p:nvCxnSpPr>
        <p:spPr>
          <a:xfrm>
            <a:off x="5494629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Цепь ДНК"/>
          <p:cNvCxnSpPr/>
          <p:nvPr/>
        </p:nvCxnSpPr>
        <p:spPr>
          <a:xfrm>
            <a:off x="5510174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Цепь ДНК"/>
          <p:cNvCxnSpPr/>
          <p:nvPr/>
        </p:nvCxnSpPr>
        <p:spPr>
          <a:xfrm>
            <a:off x="5525719" y="2729805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Цепь ДНК"/>
          <p:cNvCxnSpPr/>
          <p:nvPr/>
        </p:nvCxnSpPr>
        <p:spPr>
          <a:xfrm>
            <a:off x="5541264" y="2749063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Цепь ДНК"/>
          <p:cNvCxnSpPr/>
          <p:nvPr/>
        </p:nvCxnSpPr>
        <p:spPr>
          <a:xfrm>
            <a:off x="5556808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Цепь ДНК"/>
          <p:cNvCxnSpPr/>
          <p:nvPr/>
        </p:nvCxnSpPr>
        <p:spPr>
          <a:xfrm>
            <a:off x="5572353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Цепь ДНК"/>
          <p:cNvCxnSpPr/>
          <p:nvPr/>
        </p:nvCxnSpPr>
        <p:spPr>
          <a:xfrm>
            <a:off x="5587898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Цепь ДНК"/>
          <p:cNvCxnSpPr/>
          <p:nvPr/>
        </p:nvCxnSpPr>
        <p:spPr>
          <a:xfrm>
            <a:off x="5603443" y="2795958"/>
            <a:ext cx="15545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Цепь ДНК"/>
          <p:cNvCxnSpPr/>
          <p:nvPr/>
        </p:nvCxnSpPr>
        <p:spPr>
          <a:xfrm flipV="1">
            <a:off x="5618988" y="2795958"/>
            <a:ext cx="15544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Цепь ДНК"/>
          <p:cNvCxnSpPr/>
          <p:nvPr/>
        </p:nvCxnSpPr>
        <p:spPr>
          <a:xfrm flipV="1">
            <a:off x="5634532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Цепь ДНК"/>
          <p:cNvCxnSpPr/>
          <p:nvPr/>
        </p:nvCxnSpPr>
        <p:spPr>
          <a:xfrm flipV="1">
            <a:off x="5650077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Цепь ДНК"/>
          <p:cNvCxnSpPr/>
          <p:nvPr/>
        </p:nvCxnSpPr>
        <p:spPr>
          <a:xfrm flipV="1">
            <a:off x="5665622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Цепь ДНК"/>
          <p:cNvCxnSpPr/>
          <p:nvPr/>
        </p:nvCxnSpPr>
        <p:spPr>
          <a:xfrm flipV="1">
            <a:off x="5681167" y="2749063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Цепь ДНК"/>
          <p:cNvCxnSpPr/>
          <p:nvPr/>
        </p:nvCxnSpPr>
        <p:spPr>
          <a:xfrm flipV="1">
            <a:off x="5696712" y="2729805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Цепь ДНК"/>
          <p:cNvCxnSpPr/>
          <p:nvPr/>
        </p:nvCxnSpPr>
        <p:spPr>
          <a:xfrm flipV="1">
            <a:off x="5712256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Цепь ДНК"/>
          <p:cNvCxnSpPr/>
          <p:nvPr/>
        </p:nvCxnSpPr>
        <p:spPr>
          <a:xfrm flipV="1">
            <a:off x="5727801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Цепь ДНК"/>
          <p:cNvCxnSpPr/>
          <p:nvPr/>
        </p:nvCxnSpPr>
        <p:spPr>
          <a:xfrm flipV="1">
            <a:off x="5743346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Цепь ДНК"/>
          <p:cNvCxnSpPr/>
          <p:nvPr/>
        </p:nvCxnSpPr>
        <p:spPr>
          <a:xfrm flipV="1">
            <a:off x="5758891" y="2642458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Цепь ДНК"/>
          <p:cNvCxnSpPr/>
          <p:nvPr/>
        </p:nvCxnSpPr>
        <p:spPr>
          <a:xfrm flipV="1">
            <a:off x="5774436" y="2621924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Цепь ДНК"/>
          <p:cNvCxnSpPr/>
          <p:nvPr/>
        </p:nvCxnSpPr>
        <p:spPr>
          <a:xfrm flipV="1">
            <a:off x="578998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Цепь ДНК"/>
          <p:cNvCxnSpPr/>
          <p:nvPr/>
        </p:nvCxnSpPr>
        <p:spPr>
          <a:xfrm flipV="1">
            <a:off x="580552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Цепь ДНК"/>
          <p:cNvCxnSpPr/>
          <p:nvPr/>
        </p:nvCxnSpPr>
        <p:spPr>
          <a:xfrm flipV="1">
            <a:off x="582107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Цепь ДНК"/>
          <p:cNvCxnSpPr/>
          <p:nvPr/>
        </p:nvCxnSpPr>
        <p:spPr>
          <a:xfrm flipV="1">
            <a:off x="5836615" y="2566138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Цепь ДНК"/>
          <p:cNvCxnSpPr/>
          <p:nvPr/>
        </p:nvCxnSpPr>
        <p:spPr>
          <a:xfrm flipV="1">
            <a:off x="5852160" y="2561257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Цепь ДНК"/>
          <p:cNvCxnSpPr/>
          <p:nvPr/>
        </p:nvCxnSpPr>
        <p:spPr>
          <a:xfrm flipV="1">
            <a:off x="5867704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Цепь ДНК"/>
          <p:cNvCxnSpPr/>
          <p:nvPr/>
        </p:nvCxnSpPr>
        <p:spPr>
          <a:xfrm>
            <a:off x="5883249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Цепь ДНК"/>
          <p:cNvCxnSpPr/>
          <p:nvPr/>
        </p:nvCxnSpPr>
        <p:spPr>
          <a:xfrm>
            <a:off x="5898794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Цепь ДНК"/>
          <p:cNvCxnSpPr/>
          <p:nvPr/>
        </p:nvCxnSpPr>
        <p:spPr>
          <a:xfrm>
            <a:off x="5914339" y="2571633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Цепь ДНК"/>
          <p:cNvCxnSpPr/>
          <p:nvPr/>
        </p:nvCxnSpPr>
        <p:spPr>
          <a:xfrm>
            <a:off x="5929884" y="2583022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Цепь ДНК"/>
          <p:cNvCxnSpPr/>
          <p:nvPr/>
        </p:nvCxnSpPr>
        <p:spPr>
          <a:xfrm>
            <a:off x="5945428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Цепь ДНК"/>
          <p:cNvCxnSpPr/>
          <p:nvPr/>
        </p:nvCxnSpPr>
        <p:spPr>
          <a:xfrm>
            <a:off x="5960973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Цепь ДНК"/>
          <p:cNvCxnSpPr/>
          <p:nvPr/>
        </p:nvCxnSpPr>
        <p:spPr>
          <a:xfrm>
            <a:off x="5976518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Цепь ДНК"/>
          <p:cNvCxnSpPr/>
          <p:nvPr/>
        </p:nvCxnSpPr>
        <p:spPr>
          <a:xfrm>
            <a:off x="5992063" y="2656917"/>
            <a:ext cx="15545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Цепь ДНК"/>
          <p:cNvCxnSpPr/>
          <p:nvPr/>
        </p:nvCxnSpPr>
        <p:spPr>
          <a:xfrm flipV="1">
            <a:off x="4453128" y="2656917"/>
            <a:ext cx="15544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Цепь ДНК"/>
          <p:cNvCxnSpPr/>
          <p:nvPr/>
        </p:nvCxnSpPr>
        <p:spPr>
          <a:xfrm flipV="1">
            <a:off x="4468672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Цепь ДНК"/>
          <p:cNvCxnSpPr/>
          <p:nvPr/>
        </p:nvCxnSpPr>
        <p:spPr>
          <a:xfrm flipV="1">
            <a:off x="4484217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Цепь ДНК"/>
          <p:cNvCxnSpPr/>
          <p:nvPr/>
        </p:nvCxnSpPr>
        <p:spPr>
          <a:xfrm flipV="1">
            <a:off x="4499762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Цепь ДНК"/>
          <p:cNvCxnSpPr/>
          <p:nvPr/>
        </p:nvCxnSpPr>
        <p:spPr>
          <a:xfrm flipV="1">
            <a:off x="4515307" y="2583022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Цепь ДНК"/>
          <p:cNvCxnSpPr/>
          <p:nvPr/>
        </p:nvCxnSpPr>
        <p:spPr>
          <a:xfrm flipV="1">
            <a:off x="4530852" y="2571633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Цепь ДНК"/>
          <p:cNvCxnSpPr/>
          <p:nvPr/>
        </p:nvCxnSpPr>
        <p:spPr>
          <a:xfrm flipV="1">
            <a:off x="4546396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Цепь ДНК"/>
          <p:cNvCxnSpPr/>
          <p:nvPr/>
        </p:nvCxnSpPr>
        <p:spPr>
          <a:xfrm flipV="1">
            <a:off x="4561941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Цепь ДНК"/>
          <p:cNvCxnSpPr/>
          <p:nvPr/>
        </p:nvCxnSpPr>
        <p:spPr>
          <a:xfrm>
            <a:off x="4577486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Цепь ДНК"/>
          <p:cNvCxnSpPr/>
          <p:nvPr/>
        </p:nvCxnSpPr>
        <p:spPr>
          <a:xfrm>
            <a:off x="4593031" y="2561257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Цепь ДНК"/>
          <p:cNvCxnSpPr/>
          <p:nvPr/>
        </p:nvCxnSpPr>
        <p:spPr>
          <a:xfrm>
            <a:off x="4608576" y="2566138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Цепь ДНК"/>
          <p:cNvCxnSpPr/>
          <p:nvPr/>
        </p:nvCxnSpPr>
        <p:spPr>
          <a:xfrm>
            <a:off x="462412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Цепь ДНК"/>
          <p:cNvCxnSpPr/>
          <p:nvPr/>
        </p:nvCxnSpPr>
        <p:spPr>
          <a:xfrm>
            <a:off x="463966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Цепь ДНК"/>
          <p:cNvCxnSpPr/>
          <p:nvPr/>
        </p:nvCxnSpPr>
        <p:spPr>
          <a:xfrm>
            <a:off x="465521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Цепь ДНК"/>
          <p:cNvCxnSpPr/>
          <p:nvPr/>
        </p:nvCxnSpPr>
        <p:spPr>
          <a:xfrm>
            <a:off x="4670755" y="2621924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Цепь ДНК"/>
          <p:cNvCxnSpPr/>
          <p:nvPr/>
        </p:nvCxnSpPr>
        <p:spPr>
          <a:xfrm>
            <a:off x="4686300" y="2642458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Цепь ДНК"/>
          <p:cNvCxnSpPr/>
          <p:nvPr/>
        </p:nvCxnSpPr>
        <p:spPr>
          <a:xfrm>
            <a:off x="4701844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Цепь ДНК"/>
          <p:cNvCxnSpPr/>
          <p:nvPr/>
        </p:nvCxnSpPr>
        <p:spPr>
          <a:xfrm>
            <a:off x="4717389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Цепь ДНК"/>
          <p:cNvCxnSpPr/>
          <p:nvPr/>
        </p:nvCxnSpPr>
        <p:spPr>
          <a:xfrm>
            <a:off x="4732934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Цепь ДНК"/>
          <p:cNvCxnSpPr/>
          <p:nvPr/>
        </p:nvCxnSpPr>
        <p:spPr>
          <a:xfrm>
            <a:off x="4748479" y="2729805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Цепь ДНК"/>
          <p:cNvCxnSpPr/>
          <p:nvPr/>
        </p:nvCxnSpPr>
        <p:spPr>
          <a:xfrm>
            <a:off x="4764024" y="2749063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Цепь ДНК"/>
          <p:cNvCxnSpPr/>
          <p:nvPr/>
        </p:nvCxnSpPr>
        <p:spPr>
          <a:xfrm>
            <a:off x="4779568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Цепь ДНК"/>
          <p:cNvCxnSpPr/>
          <p:nvPr/>
        </p:nvCxnSpPr>
        <p:spPr>
          <a:xfrm>
            <a:off x="4795113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Цепь ДНК"/>
          <p:cNvCxnSpPr/>
          <p:nvPr/>
        </p:nvCxnSpPr>
        <p:spPr>
          <a:xfrm>
            <a:off x="4810658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Цепь ДНК"/>
          <p:cNvCxnSpPr/>
          <p:nvPr/>
        </p:nvCxnSpPr>
        <p:spPr>
          <a:xfrm>
            <a:off x="4826203" y="2795958"/>
            <a:ext cx="15545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Цепь ДНК"/>
          <p:cNvCxnSpPr/>
          <p:nvPr/>
        </p:nvCxnSpPr>
        <p:spPr>
          <a:xfrm flipV="1">
            <a:off x="4841748" y="2795958"/>
            <a:ext cx="15544" cy="210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Цепь ДНК"/>
          <p:cNvCxnSpPr/>
          <p:nvPr/>
        </p:nvCxnSpPr>
        <p:spPr>
          <a:xfrm flipV="1">
            <a:off x="4857292" y="2789716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Цепь ДНК"/>
          <p:cNvCxnSpPr/>
          <p:nvPr/>
        </p:nvCxnSpPr>
        <p:spPr>
          <a:xfrm flipV="1">
            <a:off x="4872837" y="2779558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Цепь ДНК"/>
          <p:cNvCxnSpPr/>
          <p:nvPr/>
        </p:nvCxnSpPr>
        <p:spPr>
          <a:xfrm flipV="1">
            <a:off x="4888382" y="276584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Цепь ДНК"/>
          <p:cNvCxnSpPr/>
          <p:nvPr/>
        </p:nvCxnSpPr>
        <p:spPr>
          <a:xfrm flipV="1">
            <a:off x="4903927" y="2749063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Цепь ДНК"/>
          <p:cNvCxnSpPr/>
          <p:nvPr/>
        </p:nvCxnSpPr>
        <p:spPr>
          <a:xfrm flipV="1">
            <a:off x="4919472" y="2729805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Цепь ДНК"/>
          <p:cNvCxnSpPr/>
          <p:nvPr/>
        </p:nvCxnSpPr>
        <p:spPr>
          <a:xfrm flipV="1">
            <a:off x="4935016" y="2708754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Цепь ДНК"/>
          <p:cNvCxnSpPr/>
          <p:nvPr/>
        </p:nvCxnSpPr>
        <p:spPr>
          <a:xfrm flipV="1">
            <a:off x="4950561" y="2686656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Цепь ДНК"/>
          <p:cNvCxnSpPr/>
          <p:nvPr/>
        </p:nvCxnSpPr>
        <p:spPr>
          <a:xfrm flipV="1">
            <a:off x="4966106" y="2664293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Цепь ДНК"/>
          <p:cNvCxnSpPr/>
          <p:nvPr/>
        </p:nvCxnSpPr>
        <p:spPr>
          <a:xfrm flipV="1">
            <a:off x="4981651" y="2642458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Цепь ДНК"/>
          <p:cNvCxnSpPr/>
          <p:nvPr/>
        </p:nvCxnSpPr>
        <p:spPr>
          <a:xfrm flipV="1">
            <a:off x="4997196" y="2621924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Цепь ДНК"/>
          <p:cNvCxnSpPr/>
          <p:nvPr/>
        </p:nvCxnSpPr>
        <p:spPr>
          <a:xfrm flipV="1">
            <a:off x="5012740" y="2603420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Цепь ДНК"/>
          <p:cNvCxnSpPr/>
          <p:nvPr/>
        </p:nvCxnSpPr>
        <p:spPr>
          <a:xfrm flipV="1">
            <a:off x="5028285" y="2587599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Цепь ДНК"/>
          <p:cNvCxnSpPr/>
          <p:nvPr/>
        </p:nvCxnSpPr>
        <p:spPr>
          <a:xfrm flipV="1">
            <a:off x="5043830" y="2575023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Цепь ДНК"/>
          <p:cNvCxnSpPr/>
          <p:nvPr/>
        </p:nvCxnSpPr>
        <p:spPr>
          <a:xfrm flipV="1">
            <a:off x="5059375" y="2566138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Цепь ДНК"/>
          <p:cNvCxnSpPr/>
          <p:nvPr/>
        </p:nvCxnSpPr>
        <p:spPr>
          <a:xfrm flipV="1">
            <a:off x="5074920" y="2561257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Цепь ДНК"/>
          <p:cNvCxnSpPr/>
          <p:nvPr/>
        </p:nvCxnSpPr>
        <p:spPr>
          <a:xfrm flipV="1">
            <a:off x="5090464" y="2560554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Цепь ДНК"/>
          <p:cNvCxnSpPr/>
          <p:nvPr/>
        </p:nvCxnSpPr>
        <p:spPr>
          <a:xfrm>
            <a:off x="5106009" y="2560554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Цепь ДНК"/>
          <p:cNvCxnSpPr/>
          <p:nvPr/>
        </p:nvCxnSpPr>
        <p:spPr>
          <a:xfrm>
            <a:off x="5121554" y="2564054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Цепь ДНК"/>
          <p:cNvCxnSpPr/>
          <p:nvPr/>
        </p:nvCxnSpPr>
        <p:spPr>
          <a:xfrm>
            <a:off x="5137099" y="2571633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Цепь ДНК"/>
          <p:cNvCxnSpPr/>
          <p:nvPr/>
        </p:nvCxnSpPr>
        <p:spPr>
          <a:xfrm>
            <a:off x="5152644" y="2583022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Цепь ДНК"/>
          <p:cNvCxnSpPr/>
          <p:nvPr/>
        </p:nvCxnSpPr>
        <p:spPr>
          <a:xfrm>
            <a:off x="5168188" y="2597818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Цепь ДНК"/>
          <p:cNvCxnSpPr/>
          <p:nvPr/>
        </p:nvCxnSpPr>
        <p:spPr>
          <a:xfrm>
            <a:off x="5183733" y="2615497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Цепь ДНК"/>
          <p:cNvCxnSpPr/>
          <p:nvPr/>
        </p:nvCxnSpPr>
        <p:spPr>
          <a:xfrm>
            <a:off x="5199278" y="2635432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Цепь ДНК"/>
          <p:cNvCxnSpPr/>
          <p:nvPr/>
        </p:nvCxnSpPr>
        <p:spPr>
          <a:xfrm>
            <a:off x="5214823" y="2656917"/>
            <a:ext cx="15545" cy="2227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Цепь ДНК"/>
          <p:cNvCxnSpPr/>
          <p:nvPr/>
        </p:nvCxnSpPr>
        <p:spPr>
          <a:xfrm>
            <a:off x="5230368" y="2679192"/>
            <a:ext cx="15544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Цепь ДНК"/>
          <p:cNvCxnSpPr/>
          <p:nvPr/>
        </p:nvCxnSpPr>
        <p:spPr>
          <a:xfrm>
            <a:off x="5245912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Цепь ДНК"/>
          <p:cNvCxnSpPr/>
          <p:nvPr/>
        </p:nvCxnSpPr>
        <p:spPr>
          <a:xfrm>
            <a:off x="5261457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Цепь ДНК"/>
          <p:cNvCxnSpPr/>
          <p:nvPr/>
        </p:nvCxnSpPr>
        <p:spPr>
          <a:xfrm>
            <a:off x="5277002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Цепь ДНК"/>
          <p:cNvCxnSpPr/>
          <p:nvPr/>
        </p:nvCxnSpPr>
        <p:spPr>
          <a:xfrm>
            <a:off x="5292547" y="2760565"/>
            <a:ext cx="15545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Цепь ДНК"/>
          <p:cNvCxnSpPr/>
          <p:nvPr/>
        </p:nvCxnSpPr>
        <p:spPr>
          <a:xfrm>
            <a:off x="5308092" y="2775361"/>
            <a:ext cx="15544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Цепь ДНК"/>
          <p:cNvCxnSpPr/>
          <p:nvPr/>
        </p:nvCxnSpPr>
        <p:spPr>
          <a:xfrm>
            <a:off x="5323636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Цепь ДНК"/>
          <p:cNvCxnSpPr/>
          <p:nvPr/>
        </p:nvCxnSpPr>
        <p:spPr>
          <a:xfrm>
            <a:off x="5339181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Цепь ДНК"/>
          <p:cNvCxnSpPr/>
          <p:nvPr/>
        </p:nvCxnSpPr>
        <p:spPr>
          <a:xfrm flipV="1">
            <a:off x="5354726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Цепь ДНК"/>
          <p:cNvCxnSpPr/>
          <p:nvPr/>
        </p:nvCxnSpPr>
        <p:spPr>
          <a:xfrm flipV="1">
            <a:off x="5370271" y="2792245"/>
            <a:ext cx="15545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Цепь ДНК"/>
          <p:cNvCxnSpPr/>
          <p:nvPr/>
        </p:nvCxnSpPr>
        <p:spPr>
          <a:xfrm flipV="1">
            <a:off x="5385816" y="2783360"/>
            <a:ext cx="15544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Цепь ДНК"/>
          <p:cNvCxnSpPr/>
          <p:nvPr/>
        </p:nvCxnSpPr>
        <p:spPr>
          <a:xfrm flipV="1">
            <a:off x="540136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Цепь ДНК"/>
          <p:cNvCxnSpPr/>
          <p:nvPr/>
        </p:nvCxnSpPr>
        <p:spPr>
          <a:xfrm flipV="1">
            <a:off x="541690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Цепь ДНК"/>
          <p:cNvCxnSpPr/>
          <p:nvPr/>
        </p:nvCxnSpPr>
        <p:spPr>
          <a:xfrm flipV="1">
            <a:off x="543245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Цепь ДНК"/>
          <p:cNvCxnSpPr/>
          <p:nvPr/>
        </p:nvCxnSpPr>
        <p:spPr>
          <a:xfrm flipV="1">
            <a:off x="5447995" y="2715925"/>
            <a:ext cx="15545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Цепь ДНК"/>
          <p:cNvCxnSpPr/>
          <p:nvPr/>
        </p:nvCxnSpPr>
        <p:spPr>
          <a:xfrm flipV="1">
            <a:off x="5463540" y="2694090"/>
            <a:ext cx="15544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Цепь ДНК"/>
          <p:cNvCxnSpPr/>
          <p:nvPr/>
        </p:nvCxnSpPr>
        <p:spPr>
          <a:xfrm flipV="1">
            <a:off x="5479084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Цепь ДНК"/>
          <p:cNvCxnSpPr/>
          <p:nvPr/>
        </p:nvCxnSpPr>
        <p:spPr>
          <a:xfrm flipV="1">
            <a:off x="5494629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Цепь ДНК"/>
          <p:cNvCxnSpPr/>
          <p:nvPr/>
        </p:nvCxnSpPr>
        <p:spPr>
          <a:xfrm flipV="1">
            <a:off x="5510174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Цепь ДНК"/>
          <p:cNvCxnSpPr/>
          <p:nvPr/>
        </p:nvCxnSpPr>
        <p:spPr>
          <a:xfrm flipV="1">
            <a:off x="5525719" y="2609320"/>
            <a:ext cx="15545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Цепь ДНК"/>
          <p:cNvCxnSpPr/>
          <p:nvPr/>
        </p:nvCxnSpPr>
        <p:spPr>
          <a:xfrm flipV="1">
            <a:off x="5541264" y="2592538"/>
            <a:ext cx="15544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Цепь ДНК"/>
          <p:cNvCxnSpPr/>
          <p:nvPr/>
        </p:nvCxnSpPr>
        <p:spPr>
          <a:xfrm flipV="1">
            <a:off x="5556808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Цепь ДНК"/>
          <p:cNvCxnSpPr/>
          <p:nvPr/>
        </p:nvCxnSpPr>
        <p:spPr>
          <a:xfrm flipV="1">
            <a:off x="5572353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Цепь ДНК"/>
          <p:cNvCxnSpPr/>
          <p:nvPr/>
        </p:nvCxnSpPr>
        <p:spPr>
          <a:xfrm flipV="1">
            <a:off x="5587898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Цепь ДНК"/>
          <p:cNvCxnSpPr/>
          <p:nvPr/>
        </p:nvCxnSpPr>
        <p:spPr>
          <a:xfrm flipV="1">
            <a:off x="5603443" y="2560320"/>
            <a:ext cx="15545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Цепь ДНК"/>
          <p:cNvCxnSpPr/>
          <p:nvPr/>
        </p:nvCxnSpPr>
        <p:spPr>
          <a:xfrm>
            <a:off x="5618988" y="2560320"/>
            <a:ext cx="15544" cy="210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Цепь ДНК"/>
          <p:cNvCxnSpPr/>
          <p:nvPr/>
        </p:nvCxnSpPr>
        <p:spPr>
          <a:xfrm>
            <a:off x="5634532" y="2562425"/>
            <a:ext cx="15545" cy="624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Цепь ДНК"/>
          <p:cNvCxnSpPr/>
          <p:nvPr/>
        </p:nvCxnSpPr>
        <p:spPr>
          <a:xfrm>
            <a:off x="5650077" y="2568667"/>
            <a:ext cx="15545" cy="101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Цепь ДНК"/>
          <p:cNvCxnSpPr/>
          <p:nvPr/>
        </p:nvCxnSpPr>
        <p:spPr>
          <a:xfrm>
            <a:off x="5665622" y="2578825"/>
            <a:ext cx="15545" cy="1371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Цепь ДНК"/>
          <p:cNvCxnSpPr/>
          <p:nvPr/>
        </p:nvCxnSpPr>
        <p:spPr>
          <a:xfrm>
            <a:off x="5681167" y="2592538"/>
            <a:ext cx="15545" cy="16782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Цепь ДНК"/>
          <p:cNvCxnSpPr/>
          <p:nvPr/>
        </p:nvCxnSpPr>
        <p:spPr>
          <a:xfrm>
            <a:off x="5696712" y="2609320"/>
            <a:ext cx="15544" cy="1925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Цепь ДНК"/>
          <p:cNvCxnSpPr/>
          <p:nvPr/>
        </p:nvCxnSpPr>
        <p:spPr>
          <a:xfrm>
            <a:off x="5712256" y="2628578"/>
            <a:ext cx="15545" cy="2105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Цепь ДНК"/>
          <p:cNvCxnSpPr/>
          <p:nvPr/>
        </p:nvCxnSpPr>
        <p:spPr>
          <a:xfrm>
            <a:off x="5727801" y="2649629"/>
            <a:ext cx="15545" cy="22098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Цепь ДНК"/>
          <p:cNvCxnSpPr/>
          <p:nvPr/>
        </p:nvCxnSpPr>
        <p:spPr>
          <a:xfrm>
            <a:off x="5743346" y="2671727"/>
            <a:ext cx="15545" cy="2236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Цепь ДНК"/>
          <p:cNvCxnSpPr/>
          <p:nvPr/>
        </p:nvCxnSpPr>
        <p:spPr>
          <a:xfrm>
            <a:off x="5758891" y="2694090"/>
            <a:ext cx="15545" cy="218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Цепь ДНК"/>
          <p:cNvCxnSpPr/>
          <p:nvPr/>
        </p:nvCxnSpPr>
        <p:spPr>
          <a:xfrm>
            <a:off x="5774436" y="2715925"/>
            <a:ext cx="15544" cy="2053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Цепь ДНК"/>
          <p:cNvCxnSpPr/>
          <p:nvPr/>
        </p:nvCxnSpPr>
        <p:spPr>
          <a:xfrm>
            <a:off x="5789980" y="2736459"/>
            <a:ext cx="15545" cy="1850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Цепь ДНК"/>
          <p:cNvCxnSpPr/>
          <p:nvPr/>
        </p:nvCxnSpPr>
        <p:spPr>
          <a:xfrm>
            <a:off x="5805525" y="2754963"/>
            <a:ext cx="15545" cy="1582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Цепь ДНК"/>
          <p:cNvCxnSpPr/>
          <p:nvPr/>
        </p:nvCxnSpPr>
        <p:spPr>
          <a:xfrm>
            <a:off x="5821070" y="2770784"/>
            <a:ext cx="15545" cy="1257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Цепь ДНК"/>
          <p:cNvCxnSpPr/>
          <p:nvPr/>
        </p:nvCxnSpPr>
        <p:spPr>
          <a:xfrm>
            <a:off x="5836615" y="2783360"/>
            <a:ext cx="15545" cy="88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Цепь ДНК"/>
          <p:cNvCxnSpPr/>
          <p:nvPr/>
        </p:nvCxnSpPr>
        <p:spPr>
          <a:xfrm>
            <a:off x="5852160" y="2792245"/>
            <a:ext cx="15544" cy="4881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Цепь ДНК"/>
          <p:cNvCxnSpPr/>
          <p:nvPr/>
        </p:nvCxnSpPr>
        <p:spPr>
          <a:xfrm>
            <a:off x="5867704" y="2797126"/>
            <a:ext cx="15545" cy="703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Цепь ДНК"/>
          <p:cNvCxnSpPr/>
          <p:nvPr/>
        </p:nvCxnSpPr>
        <p:spPr>
          <a:xfrm flipV="1">
            <a:off x="5883249" y="2794329"/>
            <a:ext cx="15545" cy="3500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Цепь ДНК"/>
          <p:cNvCxnSpPr/>
          <p:nvPr/>
        </p:nvCxnSpPr>
        <p:spPr>
          <a:xfrm flipV="1">
            <a:off x="5898794" y="2786750"/>
            <a:ext cx="15545" cy="75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Цепь ДНК"/>
          <p:cNvCxnSpPr/>
          <p:nvPr/>
        </p:nvCxnSpPr>
        <p:spPr>
          <a:xfrm flipV="1">
            <a:off x="5914339" y="2775361"/>
            <a:ext cx="15545" cy="1138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Цепь ДНК"/>
          <p:cNvCxnSpPr/>
          <p:nvPr/>
        </p:nvCxnSpPr>
        <p:spPr>
          <a:xfrm flipV="1">
            <a:off x="5929884" y="2760565"/>
            <a:ext cx="15544" cy="14796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Цепь ДНК"/>
          <p:cNvCxnSpPr/>
          <p:nvPr/>
        </p:nvCxnSpPr>
        <p:spPr>
          <a:xfrm flipV="1">
            <a:off x="5945428" y="2742886"/>
            <a:ext cx="15545" cy="17679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Цепь ДНК"/>
          <p:cNvCxnSpPr/>
          <p:nvPr/>
        </p:nvCxnSpPr>
        <p:spPr>
          <a:xfrm flipV="1">
            <a:off x="5960973" y="2722951"/>
            <a:ext cx="15545" cy="1993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Цепь ДНК"/>
          <p:cNvCxnSpPr/>
          <p:nvPr/>
        </p:nvCxnSpPr>
        <p:spPr>
          <a:xfrm flipV="1">
            <a:off x="5976518" y="2701466"/>
            <a:ext cx="15545" cy="21485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Цепь ДНК"/>
          <p:cNvCxnSpPr/>
          <p:nvPr/>
        </p:nvCxnSpPr>
        <p:spPr>
          <a:xfrm flipV="1">
            <a:off x="5992063" y="2679192"/>
            <a:ext cx="15545" cy="22274"/>
          </a:xfrm>
          <a:prstGeom prst="line">
            <a:avLst/>
          </a:prstGeom>
          <a:ln w="19685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ары оснований ДНК"/>
          <p:cNvCxnSpPr/>
          <p:nvPr/>
        </p:nvCxnSpPr>
        <p:spPr>
          <a:xfrm>
            <a:off x="445312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ары оснований ДНК"/>
          <p:cNvCxnSpPr/>
          <p:nvPr/>
        </p:nvCxnSpPr>
        <p:spPr>
          <a:xfrm flipV="1">
            <a:off x="455028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ары оснований ДНК"/>
          <p:cNvCxnSpPr/>
          <p:nvPr/>
        </p:nvCxnSpPr>
        <p:spPr>
          <a:xfrm flipV="1">
            <a:off x="464743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Пары оснований ДНК"/>
          <p:cNvCxnSpPr/>
          <p:nvPr/>
        </p:nvCxnSpPr>
        <p:spPr>
          <a:xfrm>
            <a:off x="474459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ары оснований ДНК"/>
          <p:cNvCxnSpPr/>
          <p:nvPr/>
        </p:nvCxnSpPr>
        <p:spPr>
          <a:xfrm>
            <a:off x="4841748" y="2560320"/>
            <a:ext cx="0" cy="237744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Пары оснований ДНК"/>
          <p:cNvCxnSpPr/>
          <p:nvPr/>
        </p:nvCxnSpPr>
        <p:spPr>
          <a:xfrm>
            <a:off x="493890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Пары оснований ДНК"/>
          <p:cNvCxnSpPr/>
          <p:nvPr/>
        </p:nvCxnSpPr>
        <p:spPr>
          <a:xfrm flipV="1">
            <a:off x="503605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Пары оснований ДНК"/>
          <p:cNvCxnSpPr/>
          <p:nvPr/>
        </p:nvCxnSpPr>
        <p:spPr>
          <a:xfrm flipV="1">
            <a:off x="513321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ары оснований ДНК"/>
          <p:cNvCxnSpPr/>
          <p:nvPr/>
        </p:nvCxnSpPr>
        <p:spPr>
          <a:xfrm>
            <a:off x="523036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ары оснований ДНК"/>
          <p:cNvCxnSpPr/>
          <p:nvPr/>
        </p:nvCxnSpPr>
        <p:spPr>
          <a:xfrm>
            <a:off x="532752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ары оснований ДНК"/>
          <p:cNvCxnSpPr/>
          <p:nvPr/>
        </p:nvCxnSpPr>
        <p:spPr>
          <a:xfrm>
            <a:off x="542467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ары оснований ДНК"/>
          <p:cNvCxnSpPr/>
          <p:nvPr/>
        </p:nvCxnSpPr>
        <p:spPr>
          <a:xfrm flipV="1">
            <a:off x="552183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Пары оснований ДНК"/>
          <p:cNvCxnSpPr/>
          <p:nvPr/>
        </p:nvCxnSpPr>
        <p:spPr>
          <a:xfrm flipV="1">
            <a:off x="5618988" y="2560320"/>
            <a:ext cx="0" cy="237744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Пары оснований ДНК"/>
          <p:cNvCxnSpPr/>
          <p:nvPr/>
        </p:nvCxnSpPr>
        <p:spPr>
          <a:xfrm flipV="1">
            <a:off x="5716143" y="2633701"/>
            <a:ext cx="0" cy="9098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Пары оснований ДНК"/>
          <p:cNvCxnSpPr/>
          <p:nvPr/>
        </p:nvCxnSpPr>
        <p:spPr>
          <a:xfrm>
            <a:off x="5813298" y="2595136"/>
            <a:ext cx="0" cy="168111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Пары оснований ДНК"/>
          <p:cNvCxnSpPr/>
          <p:nvPr/>
        </p:nvCxnSpPr>
        <p:spPr>
          <a:xfrm>
            <a:off x="5910453" y="2569368"/>
            <a:ext cx="0" cy="219647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Пары оснований ДНК"/>
          <p:cNvCxnSpPr/>
          <p:nvPr/>
        </p:nvCxnSpPr>
        <p:spPr>
          <a:xfrm>
            <a:off x="6007608" y="2679192"/>
            <a:ext cx="0" cy="0"/>
          </a:xfrm>
          <a:prstGeom prst="line">
            <a:avLst/>
          </a:prstGeom>
          <a:ln w="11430">
            <a:solidFill>
              <a:srgbClr val="7F7F7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Текст: Регуляция генов"/>
          <p:cNvSpPr txBox="1"/>
          <p:nvPr/>
        </p:nvSpPr>
        <p:spPr>
          <a:xfrm>
            <a:off x="4251960" y="2926080"/>
            <a:ext cx="1947672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 dirty="0">
                <a:solidFill>
                  <a:srgbClr val="000000"/>
                </a:solidFill>
                <a:latin typeface="Arial Narrow"/>
                <a:cs typeface="Arial Narrow"/>
              </a:rPr>
              <a:t>Регуляция генов</a:t>
            </a:r>
          </a:p>
        </p:txBody>
      </p:sp>
      <p:sp>
        <p:nvSpPr>
          <p:cNvPr id="238" name="Текст: Альдостерон"/>
          <p:cNvSpPr txBox="1"/>
          <p:nvPr/>
        </p:nvSpPr>
        <p:spPr>
          <a:xfrm>
            <a:off x="9601200" y="1892807"/>
            <a:ext cx="1993392" cy="31089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96B24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sp>
        <p:nvSpPr>
          <p:cNvPr id="239" name="Текст: Гормон надпочечников"/>
          <p:cNvSpPr txBox="1"/>
          <p:nvPr/>
        </p:nvSpPr>
        <p:spPr>
          <a:xfrm>
            <a:off x="9592056" y="2221992"/>
            <a:ext cx="2103120" cy="393192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Гормон коры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cs typeface="Arial Narrow"/>
              </a:rPr>
              <a:t>надпочечников</a:t>
            </a:r>
          </a:p>
        </p:txBody>
      </p:sp>
      <p:cxnSp>
        <p:nvCxnSpPr>
          <p:cNvPr id="240" name="Альдостерон проходит через мембрану"/>
          <p:cNvCxnSpPr/>
          <p:nvPr/>
        </p:nvCxnSpPr>
        <p:spPr>
          <a:xfrm flipH="1">
            <a:off x="7854696" y="2734056"/>
            <a:ext cx="2980944" cy="0"/>
          </a:xfrm>
          <a:prstGeom prst="line">
            <a:avLst/>
          </a:prstGeom>
          <a:ln w="33020">
            <a:solidFill>
              <a:srgbClr val="196B24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Условное обозначение альдостерона"/>
          <p:cNvSpPr/>
          <p:nvPr/>
        </p:nvSpPr>
        <p:spPr>
          <a:xfrm>
            <a:off x="10945368" y="2638044"/>
            <a:ext cx="182880" cy="182880"/>
          </a:xfrm>
          <a:prstGeom prst="ellipse">
            <a:avLst/>
          </a:prstGeom>
          <a:solidFill>
            <a:srgbClr val="E8AE39"/>
          </a:solidFill>
          <a:ln w="7620">
            <a:solidFill>
              <a:srgbClr val="BF8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2" name="Минералокортикоидный рецептор"/>
          <p:cNvSpPr/>
          <p:nvPr/>
        </p:nvSpPr>
        <p:spPr>
          <a:xfrm>
            <a:off x="7205472" y="2386584"/>
            <a:ext cx="676656" cy="72237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70" y="500"/>
                </a:moveTo>
                <a:lnTo>
                  <a:pt x="962" y="524"/>
                </a:lnTo>
                <a:lnTo>
                  <a:pt x="951" y="547"/>
                </a:lnTo>
                <a:lnTo>
                  <a:pt x="937" y="569"/>
                </a:lnTo>
                <a:lnTo>
                  <a:pt x="922" y="590"/>
                </a:lnTo>
                <a:lnTo>
                  <a:pt x="906" y="609"/>
                </a:lnTo>
                <a:lnTo>
                  <a:pt x="891" y="627"/>
                </a:lnTo>
                <a:lnTo>
                  <a:pt x="877" y="645"/>
                </a:lnTo>
                <a:lnTo>
                  <a:pt x="864" y="662"/>
                </a:lnTo>
                <a:lnTo>
                  <a:pt x="853" y="680"/>
                </a:lnTo>
                <a:lnTo>
                  <a:pt x="844" y="698"/>
                </a:lnTo>
                <a:lnTo>
                  <a:pt x="836" y="718"/>
                </a:lnTo>
                <a:lnTo>
                  <a:pt x="830" y="739"/>
                </a:lnTo>
                <a:lnTo>
                  <a:pt x="824" y="762"/>
                </a:lnTo>
                <a:lnTo>
                  <a:pt x="817" y="786"/>
                </a:lnTo>
                <a:lnTo>
                  <a:pt x="810" y="810"/>
                </a:lnTo>
                <a:lnTo>
                  <a:pt x="801" y="834"/>
                </a:lnTo>
                <a:lnTo>
                  <a:pt x="790" y="858"/>
                </a:lnTo>
                <a:lnTo>
                  <a:pt x="776" y="879"/>
                </a:lnTo>
                <a:lnTo>
                  <a:pt x="759" y="899"/>
                </a:lnTo>
                <a:lnTo>
                  <a:pt x="739" y="915"/>
                </a:lnTo>
                <a:lnTo>
                  <a:pt x="717" y="927"/>
                </a:lnTo>
                <a:lnTo>
                  <a:pt x="693" y="935"/>
                </a:lnTo>
                <a:lnTo>
                  <a:pt x="668" y="938"/>
                </a:lnTo>
                <a:lnTo>
                  <a:pt x="642" y="937"/>
                </a:lnTo>
                <a:lnTo>
                  <a:pt x="616" y="932"/>
                </a:lnTo>
                <a:lnTo>
                  <a:pt x="590" y="924"/>
                </a:lnTo>
                <a:lnTo>
                  <a:pt x="565" y="913"/>
                </a:lnTo>
                <a:lnTo>
                  <a:pt x="542" y="902"/>
                </a:lnTo>
                <a:lnTo>
                  <a:pt x="520" y="890"/>
                </a:lnTo>
                <a:lnTo>
                  <a:pt x="500" y="879"/>
                </a:lnTo>
                <a:lnTo>
                  <a:pt x="481" y="869"/>
                </a:lnTo>
                <a:lnTo>
                  <a:pt x="462" y="862"/>
                </a:lnTo>
                <a:lnTo>
                  <a:pt x="443" y="858"/>
                </a:lnTo>
                <a:lnTo>
                  <a:pt x="424" y="856"/>
                </a:lnTo>
                <a:lnTo>
                  <a:pt x="404" y="858"/>
                </a:lnTo>
                <a:lnTo>
                  <a:pt x="383" y="861"/>
                </a:lnTo>
                <a:lnTo>
                  <a:pt x="359" y="866"/>
                </a:lnTo>
                <a:lnTo>
                  <a:pt x="335" y="872"/>
                </a:lnTo>
                <a:lnTo>
                  <a:pt x="308" y="877"/>
                </a:lnTo>
                <a:lnTo>
                  <a:pt x="280" y="880"/>
                </a:lnTo>
                <a:lnTo>
                  <a:pt x="252" y="881"/>
                </a:lnTo>
                <a:lnTo>
                  <a:pt x="224" y="879"/>
                </a:lnTo>
                <a:lnTo>
                  <a:pt x="197" y="874"/>
                </a:lnTo>
                <a:lnTo>
                  <a:pt x="172" y="864"/>
                </a:lnTo>
                <a:lnTo>
                  <a:pt x="150" y="850"/>
                </a:lnTo>
                <a:lnTo>
                  <a:pt x="132" y="832"/>
                </a:lnTo>
                <a:lnTo>
                  <a:pt x="117" y="810"/>
                </a:lnTo>
                <a:lnTo>
                  <a:pt x="106" y="786"/>
                </a:lnTo>
                <a:lnTo>
                  <a:pt x="100" y="760"/>
                </a:lnTo>
                <a:lnTo>
                  <a:pt x="97" y="733"/>
                </a:lnTo>
                <a:lnTo>
                  <a:pt x="97" y="705"/>
                </a:lnTo>
                <a:lnTo>
                  <a:pt x="100" y="678"/>
                </a:lnTo>
                <a:lnTo>
                  <a:pt x="104" y="652"/>
                </a:lnTo>
                <a:lnTo>
                  <a:pt x="109" y="627"/>
                </a:lnTo>
                <a:lnTo>
                  <a:pt x="114" y="604"/>
                </a:lnTo>
                <a:lnTo>
                  <a:pt x="117" y="581"/>
                </a:lnTo>
                <a:lnTo>
                  <a:pt x="118" y="560"/>
                </a:lnTo>
                <a:lnTo>
                  <a:pt x="118" y="540"/>
                </a:lnTo>
                <a:lnTo>
                  <a:pt x="115" y="520"/>
                </a:lnTo>
                <a:lnTo>
                  <a:pt x="110" y="500"/>
                </a:lnTo>
                <a:lnTo>
                  <a:pt x="103" y="479"/>
                </a:lnTo>
                <a:lnTo>
                  <a:pt x="95" y="457"/>
                </a:lnTo>
                <a:lnTo>
                  <a:pt x="88" y="435"/>
                </a:lnTo>
                <a:lnTo>
                  <a:pt x="81" y="411"/>
                </a:lnTo>
                <a:lnTo>
                  <a:pt x="76" y="386"/>
                </a:lnTo>
                <a:lnTo>
                  <a:pt x="73" y="361"/>
                </a:lnTo>
                <a:lnTo>
                  <a:pt x="74" y="336"/>
                </a:lnTo>
                <a:lnTo>
                  <a:pt x="78" y="312"/>
                </a:lnTo>
                <a:lnTo>
                  <a:pt x="87" y="289"/>
                </a:lnTo>
                <a:lnTo>
                  <a:pt x="99" y="268"/>
                </a:lnTo>
                <a:lnTo>
                  <a:pt x="115" y="250"/>
                </a:lnTo>
                <a:lnTo>
                  <a:pt x="134" y="234"/>
                </a:lnTo>
                <a:lnTo>
                  <a:pt x="155" y="221"/>
                </a:lnTo>
                <a:lnTo>
                  <a:pt x="178" y="210"/>
                </a:lnTo>
                <a:lnTo>
                  <a:pt x="202" y="202"/>
                </a:lnTo>
                <a:lnTo>
                  <a:pt x="225" y="195"/>
                </a:lnTo>
                <a:lnTo>
                  <a:pt x="248" y="189"/>
                </a:lnTo>
                <a:lnTo>
                  <a:pt x="270" y="184"/>
                </a:lnTo>
                <a:lnTo>
                  <a:pt x="291" y="178"/>
                </a:lnTo>
                <a:lnTo>
                  <a:pt x="309" y="170"/>
                </a:lnTo>
                <a:lnTo>
                  <a:pt x="327" y="161"/>
                </a:lnTo>
                <a:lnTo>
                  <a:pt x="344" y="149"/>
                </a:lnTo>
                <a:lnTo>
                  <a:pt x="360" y="135"/>
                </a:lnTo>
                <a:lnTo>
                  <a:pt x="376" y="119"/>
                </a:lnTo>
                <a:lnTo>
                  <a:pt x="393" y="101"/>
                </a:lnTo>
                <a:lnTo>
                  <a:pt x="411" y="82"/>
                </a:lnTo>
                <a:lnTo>
                  <a:pt x="431" y="64"/>
                </a:lnTo>
                <a:lnTo>
                  <a:pt x="452" y="46"/>
                </a:lnTo>
                <a:lnTo>
                  <a:pt x="475" y="31"/>
                </a:lnTo>
                <a:lnTo>
                  <a:pt x="500" y="19"/>
                </a:lnTo>
                <a:lnTo>
                  <a:pt x="526" y="10"/>
                </a:lnTo>
                <a:lnTo>
                  <a:pt x="552" y="7"/>
                </a:lnTo>
                <a:lnTo>
                  <a:pt x="578" y="8"/>
                </a:lnTo>
                <a:lnTo>
                  <a:pt x="603" y="15"/>
                </a:lnTo>
                <a:lnTo>
                  <a:pt x="627" y="27"/>
                </a:lnTo>
                <a:lnTo>
                  <a:pt x="648" y="43"/>
                </a:lnTo>
                <a:lnTo>
                  <a:pt x="668" y="63"/>
                </a:lnTo>
                <a:lnTo>
                  <a:pt x="684" y="86"/>
                </a:lnTo>
                <a:lnTo>
                  <a:pt x="699" y="110"/>
                </a:lnTo>
                <a:lnTo>
                  <a:pt x="710" y="136"/>
                </a:lnTo>
                <a:lnTo>
                  <a:pt x="721" y="160"/>
                </a:lnTo>
                <a:lnTo>
                  <a:pt x="730" y="184"/>
                </a:lnTo>
                <a:lnTo>
                  <a:pt x="739" y="205"/>
                </a:lnTo>
                <a:lnTo>
                  <a:pt x="748" y="225"/>
                </a:lnTo>
                <a:lnTo>
                  <a:pt x="758" y="242"/>
                </a:lnTo>
                <a:lnTo>
                  <a:pt x="771" y="256"/>
                </a:lnTo>
                <a:lnTo>
                  <a:pt x="785" y="269"/>
                </a:lnTo>
                <a:lnTo>
                  <a:pt x="802" y="281"/>
                </a:lnTo>
                <a:lnTo>
                  <a:pt x="821" y="292"/>
                </a:lnTo>
                <a:lnTo>
                  <a:pt x="841" y="303"/>
                </a:lnTo>
                <a:lnTo>
                  <a:pt x="863" y="315"/>
                </a:lnTo>
                <a:lnTo>
                  <a:pt x="886" y="328"/>
                </a:lnTo>
                <a:lnTo>
                  <a:pt x="907" y="344"/>
                </a:lnTo>
                <a:lnTo>
                  <a:pt x="927" y="361"/>
                </a:lnTo>
                <a:lnTo>
                  <a:pt x="944" y="381"/>
                </a:lnTo>
                <a:lnTo>
                  <a:pt x="958" y="403"/>
                </a:lnTo>
                <a:lnTo>
                  <a:pt x="968" y="426"/>
                </a:lnTo>
                <a:lnTo>
                  <a:pt x="973" y="450"/>
                </a:lnTo>
                <a:lnTo>
                  <a:pt x="974" y="475"/>
                </a:lnTo>
                <a:lnTo>
                  <a:pt x="970" y="500"/>
                </a:lnTo>
                <a:close/>
              </a:path>
            </a:pathLst>
          </a:custGeom>
          <a:solidFill>
            <a:srgbClr val="7F7F7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3" name="Альдостерон связан с рецептором"/>
          <p:cNvSpPr/>
          <p:nvPr/>
        </p:nvSpPr>
        <p:spPr>
          <a:xfrm>
            <a:off x="7630668" y="2585008"/>
            <a:ext cx="155448" cy="155448"/>
          </a:xfrm>
          <a:prstGeom prst="ellipse">
            <a:avLst/>
          </a:prstGeom>
          <a:solidFill>
            <a:srgbClr val="E8AE39"/>
          </a:solidFill>
          <a:ln w="7620">
            <a:solidFill>
              <a:srgbClr val="BF8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4" name="Текст: Внутриклеточный рецептор"/>
          <p:cNvSpPr txBox="1"/>
          <p:nvPr/>
        </p:nvSpPr>
        <p:spPr>
          <a:xfrm>
            <a:off x="6858000" y="3182112"/>
            <a:ext cx="2387600" cy="48463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0000"/>
                </a:solidFill>
                <a:latin typeface="Arial Narrow"/>
                <a:cs typeface="Arial Narrow"/>
              </a:rPr>
              <a:t>Минералокортикоидный</a:t>
            </a:r>
            <a:endParaRPr sz="1600" b="1" dirty="0">
              <a:solidFill>
                <a:srgbClr val="000000"/>
              </a:solidFill>
              <a:latin typeface="Arial"/>
            </a:endParaRPr>
          </a:p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dirty="0" err="1">
                <a:solidFill>
                  <a:srgbClr val="000000"/>
                </a:solidFill>
                <a:latin typeface="Arial Narrow"/>
                <a:cs typeface="Arial Narrow"/>
              </a:rPr>
              <a:t>рецептор (МКР)</a:t>
            </a:r>
            <a:endParaRPr sz="16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Текст: Комплекс переходит в ядро"/>
          <p:cNvSpPr txBox="1"/>
          <p:nvPr/>
        </p:nvSpPr>
        <p:spPr>
          <a:xfrm>
            <a:off x="6336792" y="1874519"/>
            <a:ext cx="2084831" cy="44805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Комплекс переходит</a:t>
            </a:r>
          </a:p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ядро</a:t>
            </a:r>
          </a:p>
        </p:txBody>
      </p:sp>
      <p:cxnSp>
        <p:nvCxnSpPr>
          <p:cNvPr id="246" name="Комплекс гормона и рецептора направляется в ядро"/>
          <p:cNvCxnSpPr/>
          <p:nvPr/>
        </p:nvCxnSpPr>
        <p:spPr>
          <a:xfrm flipH="1">
            <a:off x="6190488" y="2734056"/>
            <a:ext cx="1014984" cy="0"/>
          </a:xfrm>
          <a:prstGeom prst="line">
            <a:avLst/>
          </a:prstGeom>
          <a:ln w="30480">
            <a:solidFill>
              <a:srgbClr val="7F7F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Регуляция генов влияет на белки переноса"/>
          <p:cNvCxnSpPr/>
          <p:nvPr/>
        </p:nvCxnSpPr>
        <p:spPr>
          <a:xfrm>
            <a:off x="5212080" y="3474720"/>
            <a:ext cx="0" cy="256032"/>
          </a:xfrm>
          <a:prstGeom prst="line">
            <a:avLst/>
          </a:prstGeom>
          <a:ln w="25400">
            <a:solidFill>
              <a:srgbClr val="7F7F7F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8" name="Текст: Меняются синтез белков и работа натриевого канал"/>
          <p:cNvSpPr txBox="1"/>
          <p:nvPr/>
        </p:nvSpPr>
        <p:spPr>
          <a:xfrm>
            <a:off x="3538728" y="3749039"/>
            <a:ext cx="5285232" cy="603504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Меняются синтез белков, число и активность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натриевых каналов и натрий-калиевых насосов</a:t>
            </a:r>
          </a:p>
        </p:txBody>
      </p:sp>
      <p:sp>
        <p:nvSpPr>
          <p:cNvPr id="251" name="Полярная головка липида"/>
          <p:cNvSpPr/>
          <p:nvPr/>
        </p:nvSpPr>
        <p:spPr>
          <a:xfrm>
            <a:off x="2251252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2" name="Полярная головка липида"/>
          <p:cNvSpPr/>
          <p:nvPr/>
        </p:nvSpPr>
        <p:spPr>
          <a:xfrm>
            <a:off x="2317089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3" name="Липидный бислой"/>
          <p:cNvCxnSpPr/>
          <p:nvPr/>
        </p:nvCxnSpPr>
        <p:spPr>
          <a:xfrm>
            <a:off x="2291486" y="201168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Полярная головка липида"/>
          <p:cNvSpPr/>
          <p:nvPr/>
        </p:nvSpPr>
        <p:spPr>
          <a:xfrm>
            <a:off x="2251252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5" name="Полярная головка липида"/>
          <p:cNvSpPr/>
          <p:nvPr/>
        </p:nvSpPr>
        <p:spPr>
          <a:xfrm>
            <a:off x="2317089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6" name="Липидный бислой"/>
          <p:cNvCxnSpPr/>
          <p:nvPr/>
        </p:nvCxnSpPr>
        <p:spPr>
          <a:xfrm>
            <a:off x="2291486" y="214884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Полярная головка липида"/>
          <p:cNvSpPr/>
          <p:nvPr/>
        </p:nvSpPr>
        <p:spPr>
          <a:xfrm>
            <a:off x="2251252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58" name="Полярная головка липида"/>
          <p:cNvSpPr/>
          <p:nvPr/>
        </p:nvSpPr>
        <p:spPr>
          <a:xfrm>
            <a:off x="2317089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59" name="Липидный бислой"/>
          <p:cNvCxnSpPr/>
          <p:nvPr/>
        </p:nvCxnSpPr>
        <p:spPr>
          <a:xfrm>
            <a:off x="2291486" y="22860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0" name="Полярная головка липида"/>
          <p:cNvSpPr/>
          <p:nvPr/>
        </p:nvSpPr>
        <p:spPr>
          <a:xfrm>
            <a:off x="2251252" y="24021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1" name="Полярная головка липида"/>
          <p:cNvSpPr/>
          <p:nvPr/>
        </p:nvSpPr>
        <p:spPr>
          <a:xfrm>
            <a:off x="2317089" y="24021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2" name="Липидный бислой"/>
          <p:cNvCxnSpPr/>
          <p:nvPr/>
        </p:nvCxnSpPr>
        <p:spPr>
          <a:xfrm>
            <a:off x="2291486" y="24231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Полярная головка липида"/>
          <p:cNvSpPr/>
          <p:nvPr/>
        </p:nvSpPr>
        <p:spPr>
          <a:xfrm>
            <a:off x="2251252" y="302392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4" name="Полярная головка липида"/>
          <p:cNvSpPr/>
          <p:nvPr/>
        </p:nvSpPr>
        <p:spPr>
          <a:xfrm>
            <a:off x="2317089" y="302392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5" name="Липидный бислой"/>
          <p:cNvCxnSpPr/>
          <p:nvPr/>
        </p:nvCxnSpPr>
        <p:spPr>
          <a:xfrm>
            <a:off x="2291486" y="304495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Полярная головка липида"/>
          <p:cNvSpPr/>
          <p:nvPr/>
        </p:nvSpPr>
        <p:spPr>
          <a:xfrm>
            <a:off x="2251252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7" name="Полярная головка липида"/>
          <p:cNvSpPr/>
          <p:nvPr/>
        </p:nvSpPr>
        <p:spPr>
          <a:xfrm>
            <a:off x="2317089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68" name="Липидный бислой"/>
          <p:cNvCxnSpPr/>
          <p:nvPr/>
        </p:nvCxnSpPr>
        <p:spPr>
          <a:xfrm>
            <a:off x="2291486" y="319125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9" name="Полярная головка липида"/>
          <p:cNvSpPr/>
          <p:nvPr/>
        </p:nvSpPr>
        <p:spPr>
          <a:xfrm>
            <a:off x="2251252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0" name="Полярная головка липида"/>
          <p:cNvSpPr/>
          <p:nvPr/>
        </p:nvSpPr>
        <p:spPr>
          <a:xfrm>
            <a:off x="2317089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1" name="Липидный бислой"/>
          <p:cNvCxnSpPr/>
          <p:nvPr/>
        </p:nvCxnSpPr>
        <p:spPr>
          <a:xfrm>
            <a:off x="2291486" y="33375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Полярная головка липида"/>
          <p:cNvSpPr/>
          <p:nvPr/>
        </p:nvSpPr>
        <p:spPr>
          <a:xfrm>
            <a:off x="2251252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3" name="Полярная головка липида"/>
          <p:cNvSpPr/>
          <p:nvPr/>
        </p:nvSpPr>
        <p:spPr>
          <a:xfrm>
            <a:off x="2317089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4" name="Липидный бислой"/>
          <p:cNvCxnSpPr/>
          <p:nvPr/>
        </p:nvCxnSpPr>
        <p:spPr>
          <a:xfrm>
            <a:off x="2291486" y="349300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Полярная головка липида"/>
          <p:cNvSpPr/>
          <p:nvPr/>
        </p:nvSpPr>
        <p:spPr>
          <a:xfrm>
            <a:off x="2251252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6" name="Полярная головка липида"/>
          <p:cNvSpPr/>
          <p:nvPr/>
        </p:nvSpPr>
        <p:spPr>
          <a:xfrm>
            <a:off x="2317089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77" name="Липидный бислой"/>
          <p:cNvCxnSpPr/>
          <p:nvPr/>
        </p:nvCxnSpPr>
        <p:spPr>
          <a:xfrm>
            <a:off x="2291486" y="36576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Полярная головка липида"/>
          <p:cNvSpPr/>
          <p:nvPr/>
        </p:nvSpPr>
        <p:spPr>
          <a:xfrm>
            <a:off x="2251252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79" name="Полярная головка липида"/>
          <p:cNvSpPr/>
          <p:nvPr/>
        </p:nvSpPr>
        <p:spPr>
          <a:xfrm>
            <a:off x="2317089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0" name="Липидный бислой"/>
          <p:cNvCxnSpPr/>
          <p:nvPr/>
        </p:nvCxnSpPr>
        <p:spPr>
          <a:xfrm>
            <a:off x="2291486" y="381304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Полярная головка липида"/>
          <p:cNvSpPr/>
          <p:nvPr/>
        </p:nvSpPr>
        <p:spPr>
          <a:xfrm>
            <a:off x="2251252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2" name="Полярная головка липида"/>
          <p:cNvSpPr/>
          <p:nvPr/>
        </p:nvSpPr>
        <p:spPr>
          <a:xfrm>
            <a:off x="2317089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3" name="Липидный бислой"/>
          <p:cNvCxnSpPr/>
          <p:nvPr/>
        </p:nvCxnSpPr>
        <p:spPr>
          <a:xfrm>
            <a:off x="2291486" y="396849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4" name="Полярная головка липида"/>
          <p:cNvSpPr/>
          <p:nvPr/>
        </p:nvSpPr>
        <p:spPr>
          <a:xfrm>
            <a:off x="2251252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5" name="Полярная головка липида"/>
          <p:cNvSpPr/>
          <p:nvPr/>
        </p:nvSpPr>
        <p:spPr>
          <a:xfrm>
            <a:off x="2317089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6" name="Липидный бислой"/>
          <p:cNvCxnSpPr/>
          <p:nvPr/>
        </p:nvCxnSpPr>
        <p:spPr>
          <a:xfrm>
            <a:off x="2291486" y="4123944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Полярная головка липида"/>
          <p:cNvSpPr/>
          <p:nvPr/>
        </p:nvSpPr>
        <p:spPr>
          <a:xfrm>
            <a:off x="2251252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8" name="Полярная головка липида"/>
          <p:cNvSpPr/>
          <p:nvPr/>
        </p:nvSpPr>
        <p:spPr>
          <a:xfrm>
            <a:off x="2317089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89" name="Липидный бислой"/>
          <p:cNvCxnSpPr/>
          <p:nvPr/>
        </p:nvCxnSpPr>
        <p:spPr>
          <a:xfrm>
            <a:off x="2291486" y="427939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Полярная головка липида"/>
          <p:cNvSpPr/>
          <p:nvPr/>
        </p:nvSpPr>
        <p:spPr>
          <a:xfrm>
            <a:off x="9264700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1" name="Полярная головка липида"/>
          <p:cNvSpPr/>
          <p:nvPr/>
        </p:nvSpPr>
        <p:spPr>
          <a:xfrm>
            <a:off x="9330537" y="199064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2" name="Липидный бислой"/>
          <p:cNvCxnSpPr/>
          <p:nvPr/>
        </p:nvCxnSpPr>
        <p:spPr>
          <a:xfrm>
            <a:off x="9304934" y="201168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3" name="Полярная головка липида"/>
          <p:cNvSpPr/>
          <p:nvPr/>
        </p:nvSpPr>
        <p:spPr>
          <a:xfrm>
            <a:off x="9264700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4" name="Полярная головка липида"/>
          <p:cNvSpPr/>
          <p:nvPr/>
        </p:nvSpPr>
        <p:spPr>
          <a:xfrm>
            <a:off x="9330537" y="212780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5" name="Липидный бислой"/>
          <p:cNvCxnSpPr/>
          <p:nvPr/>
        </p:nvCxnSpPr>
        <p:spPr>
          <a:xfrm>
            <a:off x="9304934" y="214884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Полярная головка липида"/>
          <p:cNvSpPr/>
          <p:nvPr/>
        </p:nvSpPr>
        <p:spPr>
          <a:xfrm>
            <a:off x="9264700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7" name="Полярная головка липида"/>
          <p:cNvSpPr/>
          <p:nvPr/>
        </p:nvSpPr>
        <p:spPr>
          <a:xfrm>
            <a:off x="9330537" y="22649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298" name="Липидный бислой"/>
          <p:cNvCxnSpPr/>
          <p:nvPr/>
        </p:nvCxnSpPr>
        <p:spPr>
          <a:xfrm>
            <a:off x="9304934" y="22860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9" name="Полярная головка липида"/>
          <p:cNvSpPr/>
          <p:nvPr/>
        </p:nvSpPr>
        <p:spPr>
          <a:xfrm>
            <a:off x="9264700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0" name="Полярная головка липида"/>
          <p:cNvSpPr/>
          <p:nvPr/>
        </p:nvSpPr>
        <p:spPr>
          <a:xfrm>
            <a:off x="9330537" y="317022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1" name="Липидный бислой"/>
          <p:cNvCxnSpPr/>
          <p:nvPr/>
        </p:nvCxnSpPr>
        <p:spPr>
          <a:xfrm>
            <a:off x="9304934" y="319125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Полярная головка липида"/>
          <p:cNvSpPr/>
          <p:nvPr/>
        </p:nvSpPr>
        <p:spPr>
          <a:xfrm>
            <a:off x="9264700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3" name="Полярная головка липида"/>
          <p:cNvSpPr/>
          <p:nvPr/>
        </p:nvSpPr>
        <p:spPr>
          <a:xfrm>
            <a:off x="9330537" y="331652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4" name="Липидный бислой"/>
          <p:cNvCxnSpPr/>
          <p:nvPr/>
        </p:nvCxnSpPr>
        <p:spPr>
          <a:xfrm>
            <a:off x="9304934" y="333756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5" name="Полярная головка липида"/>
          <p:cNvSpPr/>
          <p:nvPr/>
        </p:nvSpPr>
        <p:spPr>
          <a:xfrm>
            <a:off x="9264700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6" name="Полярная головка липида"/>
          <p:cNvSpPr/>
          <p:nvPr/>
        </p:nvSpPr>
        <p:spPr>
          <a:xfrm>
            <a:off x="9330537" y="347197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07" name="Липидный бислой"/>
          <p:cNvCxnSpPr/>
          <p:nvPr/>
        </p:nvCxnSpPr>
        <p:spPr>
          <a:xfrm>
            <a:off x="9304934" y="349300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Полярная головка липида"/>
          <p:cNvSpPr/>
          <p:nvPr/>
        </p:nvSpPr>
        <p:spPr>
          <a:xfrm>
            <a:off x="9264700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9" name="Полярная головка липида"/>
          <p:cNvSpPr/>
          <p:nvPr/>
        </p:nvSpPr>
        <p:spPr>
          <a:xfrm>
            <a:off x="9330537" y="3636568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0" name="Липидный бислой"/>
          <p:cNvCxnSpPr/>
          <p:nvPr/>
        </p:nvCxnSpPr>
        <p:spPr>
          <a:xfrm>
            <a:off x="9304934" y="3657600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Полярная головка липида"/>
          <p:cNvSpPr/>
          <p:nvPr/>
        </p:nvSpPr>
        <p:spPr>
          <a:xfrm>
            <a:off x="9264700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2" name="Полярная головка липида"/>
          <p:cNvSpPr/>
          <p:nvPr/>
        </p:nvSpPr>
        <p:spPr>
          <a:xfrm>
            <a:off x="9330537" y="3792016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3" name="Липидный бислой"/>
          <p:cNvCxnSpPr/>
          <p:nvPr/>
        </p:nvCxnSpPr>
        <p:spPr>
          <a:xfrm>
            <a:off x="9304934" y="3813048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Полярная головка липида"/>
          <p:cNvSpPr/>
          <p:nvPr/>
        </p:nvSpPr>
        <p:spPr>
          <a:xfrm>
            <a:off x="9264700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5" name="Полярная головка липида"/>
          <p:cNvSpPr/>
          <p:nvPr/>
        </p:nvSpPr>
        <p:spPr>
          <a:xfrm>
            <a:off x="9330537" y="3947464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6" name="Липидный бислой"/>
          <p:cNvCxnSpPr/>
          <p:nvPr/>
        </p:nvCxnSpPr>
        <p:spPr>
          <a:xfrm>
            <a:off x="9304934" y="3968496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7" name="Полярная головка липида"/>
          <p:cNvSpPr/>
          <p:nvPr/>
        </p:nvSpPr>
        <p:spPr>
          <a:xfrm>
            <a:off x="9264700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8" name="Полярная головка липида"/>
          <p:cNvSpPr/>
          <p:nvPr/>
        </p:nvSpPr>
        <p:spPr>
          <a:xfrm>
            <a:off x="9330537" y="4102912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19" name="Липидный бислой"/>
          <p:cNvCxnSpPr/>
          <p:nvPr/>
        </p:nvCxnSpPr>
        <p:spPr>
          <a:xfrm>
            <a:off x="9304934" y="4123944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Полярная головка липида"/>
          <p:cNvSpPr/>
          <p:nvPr/>
        </p:nvSpPr>
        <p:spPr>
          <a:xfrm>
            <a:off x="9264700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1" name="Полярная головка липида"/>
          <p:cNvSpPr/>
          <p:nvPr/>
        </p:nvSpPr>
        <p:spPr>
          <a:xfrm>
            <a:off x="9330537" y="4258360"/>
            <a:ext cx="40233" cy="40233"/>
          </a:xfrm>
          <a:prstGeom prst="ellipse">
            <a:avLst/>
          </a:prstGeom>
          <a:solidFill>
            <a:srgbClr val="AEAE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322" name="Липидный бислой"/>
          <p:cNvCxnSpPr/>
          <p:nvPr/>
        </p:nvCxnSpPr>
        <p:spPr>
          <a:xfrm>
            <a:off x="9304934" y="4279392"/>
            <a:ext cx="25603" cy="0"/>
          </a:xfrm>
          <a:prstGeom prst="line">
            <a:avLst/>
          </a:prstGeom>
          <a:ln w="1079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3" name="Натриевый канал апикальной мембраны: верхняя стенка"/>
          <p:cNvSpPr/>
          <p:nvPr/>
        </p:nvSpPr>
        <p:spPr>
          <a:xfrm>
            <a:off x="2075687" y="4544568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4" name="Натриевый канал апикальной мембраны: нижняя стенка"/>
          <p:cNvSpPr/>
          <p:nvPr/>
        </p:nvSpPr>
        <p:spPr>
          <a:xfrm rot="10800000">
            <a:off x="2075687" y="4910327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5" name="Калиевый канал апикальной мембраны: верхняя стенка"/>
          <p:cNvSpPr/>
          <p:nvPr/>
        </p:nvSpPr>
        <p:spPr>
          <a:xfrm>
            <a:off x="2075687" y="5294376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6" name="Калиевый канал апикальной мембраны: нижняя стенка"/>
          <p:cNvSpPr/>
          <p:nvPr/>
        </p:nvSpPr>
        <p:spPr>
          <a:xfrm rot="10800000">
            <a:off x="2075687" y="5660136"/>
            <a:ext cx="521207" cy="25603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7" name="Один натрий-калиевый насос в базолатеральной мембране"/>
          <p:cNvSpPr/>
          <p:nvPr/>
        </p:nvSpPr>
        <p:spPr>
          <a:xfrm>
            <a:off x="9006840" y="4562856"/>
            <a:ext cx="704088" cy="135331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10" y="0"/>
                </a:moveTo>
                <a:cubicBezTo>
                  <a:pt x="770" y="-8"/>
                  <a:pt x="910" y="95"/>
                  <a:pt x="850" y="228"/>
                </a:cubicBezTo>
                <a:cubicBezTo>
                  <a:pt x="785" y="356"/>
                  <a:pt x="967" y="384"/>
                  <a:pt x="965" y="515"/>
                </a:cubicBezTo>
                <a:cubicBezTo>
                  <a:pt x="970" y="677"/>
                  <a:pt x="800" y="733"/>
                  <a:pt x="797" y="900"/>
                </a:cubicBezTo>
                <a:cubicBezTo>
                  <a:pt x="735" y="1020"/>
                  <a:pt x="448" y="1030"/>
                  <a:pt x="312" y="937"/>
                </a:cubicBezTo>
                <a:cubicBezTo>
                  <a:pt x="174" y="845"/>
                  <a:pt x="280" y="722"/>
                  <a:pt x="223" y="647"/>
                </a:cubicBezTo>
                <a:cubicBezTo>
                  <a:pt x="9" y="571"/>
                  <a:pt x="-15" y="405"/>
                  <a:pt x="169" y="306"/>
                </a:cubicBezTo>
                <a:cubicBezTo>
                  <a:pt x="298" y="230"/>
                  <a:pt x="202" y="111"/>
                  <a:pt x="410" y="0"/>
                </a:cubicBezTo>
                <a:close/>
              </a:path>
            </a:pathLst>
          </a:custGeom>
          <a:solidFill>
            <a:srgbClr val="D9D9D9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8" name="Текст: Натрий-калиевый насос"/>
          <p:cNvSpPr txBox="1"/>
          <p:nvPr/>
        </p:nvSpPr>
        <p:spPr>
          <a:xfrm>
            <a:off x="9509760" y="3694176"/>
            <a:ext cx="2121408" cy="56692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Натрий-калиевый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насос</a:t>
            </a:r>
          </a:p>
        </p:txBody>
      </p:sp>
      <p:sp>
        <p:nvSpPr>
          <p:cNvPr id="329" name="Текст: Натриевый канал"/>
          <p:cNvSpPr txBox="1"/>
          <p:nvPr/>
        </p:nvSpPr>
        <p:spPr>
          <a:xfrm>
            <a:off x="2679700" y="4457700"/>
            <a:ext cx="33020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Натриевый канал</a:t>
            </a:r>
          </a:p>
        </p:txBody>
      </p:sp>
      <p:sp>
        <p:nvSpPr>
          <p:cNvPr id="330" name="Текст: Калиевый канал"/>
          <p:cNvSpPr txBox="1"/>
          <p:nvPr/>
        </p:nvSpPr>
        <p:spPr>
          <a:xfrm>
            <a:off x="2679700" y="5184648"/>
            <a:ext cx="3302000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E97132"/>
                </a:solidFill>
                <a:latin typeface="Arial Narrow"/>
                <a:cs typeface="Arial Narrow"/>
              </a:rPr>
              <a:t>Калиевый канал</a:t>
            </a:r>
          </a:p>
        </p:txBody>
      </p:sp>
      <p:sp>
        <p:nvSpPr>
          <p:cNvPr id="337" name="Текст: Натрий"/>
          <p:cNvSpPr txBox="1"/>
          <p:nvPr/>
        </p:nvSpPr>
        <p:spPr>
          <a:xfrm>
            <a:off x="585216" y="4407408"/>
            <a:ext cx="132588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6082"/>
                </a:solidFill>
                <a:latin typeface="Arial Narrow"/>
                <a:cs typeface="Arial Narrow"/>
              </a:rPr>
              <a:t>Натрий</a:t>
            </a:r>
          </a:p>
        </p:txBody>
      </p:sp>
      <p:sp>
        <p:nvSpPr>
          <p:cNvPr id="338" name="Текст: В кровь"/>
          <p:cNvSpPr txBox="1"/>
          <p:nvPr/>
        </p:nvSpPr>
        <p:spPr>
          <a:xfrm>
            <a:off x="10259568" y="4267200"/>
            <a:ext cx="1271016" cy="50596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Далее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56082"/>
                </a:solidFill>
                <a:latin typeface="Arial Narrow"/>
                <a:cs typeface="Arial Narrow"/>
              </a:rPr>
              <a:t>в кровь</a:t>
            </a:r>
          </a:p>
        </p:txBody>
      </p:sp>
      <p:sp>
        <p:nvSpPr>
          <p:cNvPr id="339" name="Текст: В мочу"/>
          <p:cNvSpPr txBox="1"/>
          <p:nvPr/>
        </p:nvSpPr>
        <p:spPr>
          <a:xfrm>
            <a:off x="585216" y="5202936"/>
            <a:ext cx="145389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E97132"/>
                </a:solidFill>
                <a:latin typeface="Arial Narrow"/>
                <a:cs typeface="Arial Narrow"/>
              </a:rPr>
              <a:t>В просвет</a:t>
            </a:r>
          </a:p>
        </p:txBody>
      </p:sp>
      <p:sp>
        <p:nvSpPr>
          <p:cNvPr id="340" name="Текст: Калий"/>
          <p:cNvSpPr txBox="1"/>
          <p:nvPr/>
        </p:nvSpPr>
        <p:spPr>
          <a:xfrm>
            <a:off x="10222992" y="5202936"/>
            <a:ext cx="128016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mar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E97132"/>
                </a:solidFill>
                <a:latin typeface="Arial Narrow"/>
                <a:cs typeface="Arial Narrow"/>
              </a:rPr>
              <a:t>Калий</a:t>
            </a:r>
          </a:p>
        </p:txBody>
      </p:sp>
      <p:cxnSp>
        <p:nvCxnSpPr>
          <p:cNvPr id="344" name="Натрий: из просвета через апикальный канал к насосу"/>
          <p:cNvCxnSpPr/>
          <p:nvPr/>
        </p:nvCxnSpPr>
        <p:spPr>
          <a:xfrm>
            <a:off x="1143000" y="4855464"/>
            <a:ext cx="7863840" cy="0"/>
          </a:xfrm>
          <a:prstGeom prst="line">
            <a:avLst/>
          </a:prstGeom>
          <a:ln w="381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Натрий: выход из насоса в межклеточную жидкость"/>
          <p:cNvCxnSpPr/>
          <p:nvPr/>
        </p:nvCxnSpPr>
        <p:spPr>
          <a:xfrm>
            <a:off x="9573768" y="4855464"/>
            <a:ext cx="1280160" cy="0"/>
          </a:xfrm>
          <a:prstGeom prst="line">
            <a:avLst/>
          </a:prstGeom>
          <a:ln w="38100">
            <a:solidFill>
              <a:srgbClr val="15608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Калий: из межклеточной жидкости в насос"/>
          <p:cNvCxnSpPr/>
          <p:nvPr/>
        </p:nvCxnSpPr>
        <p:spPr>
          <a:xfrm flipH="1">
            <a:off x="9610344" y="5605272"/>
            <a:ext cx="1252728" cy="0"/>
          </a:xfrm>
          <a:prstGeom prst="line">
            <a:avLst/>
          </a:prstGeom>
          <a:ln w="381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Калий: из клетки через апикальный канал в просвет"/>
          <p:cNvCxnSpPr/>
          <p:nvPr/>
        </p:nvCxnSpPr>
        <p:spPr>
          <a:xfrm flipH="1">
            <a:off x="1143000" y="5605272"/>
            <a:ext cx="7946136" cy="0"/>
          </a:xfrm>
          <a:prstGeom prst="line">
            <a:avLst/>
          </a:prstGeom>
          <a:ln w="38100">
            <a:solidFill>
              <a:srgbClr val="E97132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Регуляция числа и активности натриевых каналов"/>
          <p:cNvCxnSpPr/>
          <p:nvPr/>
        </p:nvCxnSpPr>
        <p:spPr>
          <a:xfrm flipH="1">
            <a:off x="2451100" y="4059936"/>
            <a:ext cx="1169924" cy="372364"/>
          </a:xfrm>
          <a:prstGeom prst="line">
            <a:avLst/>
          </a:prstGeom>
          <a:ln w="14604">
            <a:solidFill>
              <a:srgbClr val="7F7F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Регуляция натрий-калиевых насосов"/>
          <p:cNvCxnSpPr/>
          <p:nvPr/>
        </p:nvCxnSpPr>
        <p:spPr>
          <a:xfrm>
            <a:off x="8586216" y="4389120"/>
            <a:ext cx="544068" cy="233172"/>
          </a:xfrm>
          <a:prstGeom prst="line">
            <a:avLst/>
          </a:prstGeom>
          <a:ln w="14604">
            <a:solidFill>
              <a:srgbClr val="7F7F7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Указатель_ENaC"/>
          <p:cNvCxnSpPr/>
          <p:nvPr/>
        </p:nvCxnSpPr>
        <p:spPr>
          <a:xfrm flipH="1">
            <a:off x="2413000" y="4584700"/>
            <a:ext cx="254000" cy="50800"/>
          </a:xfrm>
          <a:prstGeom prst="line">
            <a:avLst/>
          </a:prstGeom>
          <a:ln w="15875">
            <a:solidFill>
              <a:srgbClr val="156082"/>
            </a:solidFill>
          </a:ln>
        </p:spPr>
      </p:cxnSp>
      <p:cxnSp>
        <p:nvCxnSpPr>
          <p:cNvPr id="352" name="Указатель_ROMK"/>
          <p:cNvCxnSpPr/>
          <p:nvPr/>
        </p:nvCxnSpPr>
        <p:spPr>
          <a:xfrm flipH="1">
            <a:off x="2413000" y="5321300"/>
            <a:ext cx="254000" cy="63500"/>
          </a:xfrm>
          <a:prstGeom prst="line">
            <a:avLst/>
          </a:prstGeom>
          <a:ln w="15875">
            <a:solidFill>
              <a:srgbClr val="E97132"/>
            </a:solidFill>
          </a:ln>
        </p:spPr>
      </p:cxnSp>
      <p:cxnSp>
        <p:nvCxnSpPr>
          <p:cNvPr id="353" name="Указатель_насос"/>
          <p:cNvCxnSpPr/>
          <p:nvPr/>
        </p:nvCxnSpPr>
        <p:spPr>
          <a:xfrm flipH="1">
            <a:off x="9499600" y="4267200"/>
            <a:ext cx="279400" cy="304800"/>
          </a:xfrm>
          <a:prstGeom prst="line">
            <a:avLst/>
          </a:prstGeom>
          <a:ln w="15875">
            <a:solidFill>
              <a:srgbClr val="404040"/>
            </a:solidFill>
          </a:ln>
        </p:spPr>
      </p:cxnSp>
      <p:sp>
        <p:nvSpPr>
          <p:cNvPr id="354" name="Источники"/>
          <p:cNvSpPr txBox="1"/>
          <p:nvPr/>
        </p:nvSpPr>
        <p:spPr>
          <a:xfrm>
            <a:off x="457200" y="6647180"/>
            <a:ext cx="10795000" cy="1346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Amazit L, et al. J Biol Chem. 2015;290:21876–21889. Czogalla J, et al. Pflügers Arch. 2016;468:849–858. Loffing J, et al. Am J Physiol Renal Physiol. 2001;280:F675–F682. Sørensen MV, et al. JCI Insight. 2019;4:e126910. Kanai R, et al. Nature. 2013;502:201–206.</a:t>
            </a:r>
            <a:endParaRPr lang="ru-RU" sz="800" b="0" dirty="0"/>
          </a:p>
        </p:txBody>
      </p:sp>
      <p:pic>
        <p:nvPicPr>
          <p:cNvPr id="35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56" name="Сокращения"/>
          <p:cNvSpPr txBox="1"/>
          <p:nvPr/>
        </p:nvSpPr>
        <p:spPr>
          <a:xfrm>
            <a:off x="457200" y="6482080"/>
            <a:ext cx="10795000" cy="1651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рецептор.</a:t>
            </a:r>
            <a:endParaRPr lang="ru-RU" sz="1000" b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Избыточная активация МКР поддерживает воспаление и фиброз в почке и сердце</a:t>
            </a:r>
            <a:endParaRPr sz="2000" b="0" dirty="0"/>
          </a:p>
        </p:txBody>
      </p:sp>
      <p:pic>
        <p:nvPicPr>
          <p:cNvPr id="4" name="Мембрана и цитоплазма: исходный рисунок" descr="cell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11580"/>
            <a:ext cx="5221224" cy="3878292"/>
          </a:xfrm>
          <a:prstGeom prst="rect">
            <a:avLst/>
          </a:prstGeom>
          <a:effectLst/>
        </p:spPr>
      </p:pic>
      <p:pic>
        <p:nvPicPr>
          <p:cNvPr id="5" name="Ядро: исходный рисунок" descr="nucle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473452"/>
            <a:ext cx="1435608" cy="1435607"/>
          </a:xfrm>
          <a:prstGeom prst="rect">
            <a:avLst/>
          </a:prstGeom>
          <a:effectLst/>
        </p:spPr>
      </p:pic>
      <p:sp>
        <p:nvSpPr>
          <p:cNvPr id="6" name="Внутри клетки"/>
          <p:cNvSpPr txBox="1"/>
          <p:nvPr/>
        </p:nvSpPr>
        <p:spPr>
          <a:xfrm>
            <a:off x="1947672" y="1604772"/>
            <a:ext cx="2450592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Внутри клетки</a:t>
            </a:r>
          </a:p>
        </p:txBody>
      </p:sp>
      <p:sp>
        <p:nvSpPr>
          <p:cNvPr id="7" name="Контур условного символа рецептора"/>
          <p:cNvSpPr/>
          <p:nvPr/>
        </p:nvSpPr>
        <p:spPr>
          <a:xfrm>
            <a:off x="1433962" y="2831896"/>
            <a:ext cx="465978" cy="3584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8" name="Контур условного символа рецептора"/>
          <p:cNvSpPr/>
          <p:nvPr/>
        </p:nvSpPr>
        <p:spPr>
          <a:xfrm>
            <a:off x="1691914" y="2692908"/>
            <a:ext cx="441015" cy="438912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Контур условного символа рецептора"/>
          <p:cNvSpPr/>
          <p:nvPr/>
        </p:nvSpPr>
        <p:spPr>
          <a:xfrm>
            <a:off x="1783445" y="3000146"/>
            <a:ext cx="482620" cy="336499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Контур условного символа рецептора"/>
          <p:cNvSpPr/>
          <p:nvPr/>
        </p:nvSpPr>
        <p:spPr>
          <a:xfrm>
            <a:off x="1567098" y="2853842"/>
            <a:ext cx="507583" cy="40233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Блик условного символа рецептора"/>
          <p:cNvSpPr/>
          <p:nvPr/>
        </p:nvSpPr>
        <p:spPr>
          <a:xfrm>
            <a:off x="1583740" y="2875787"/>
            <a:ext cx="191383" cy="73152"/>
          </a:xfrm>
          <a:prstGeom prst="ellipse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 txBox="1"/>
          <p:nvPr/>
        </p:nvSpPr>
        <p:spPr>
          <a:xfrm>
            <a:off x="3538728" y="2153412"/>
            <a:ext cx="1005840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sp>
        <p:nvSpPr>
          <p:cNvPr id="13" name="Регуляция работы генов"/>
          <p:cNvSpPr txBox="1"/>
          <p:nvPr/>
        </p:nvSpPr>
        <p:spPr>
          <a:xfrm>
            <a:off x="3319272" y="2654300"/>
            <a:ext cx="1179576" cy="64922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Регуляция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генов</a:t>
            </a:r>
          </a:p>
        </p:txBody>
      </p:sp>
      <p:sp>
        <p:nvSpPr>
          <p:cNvPr id="14" name="Рецептор"/>
          <p:cNvSpPr txBox="1"/>
          <p:nvPr/>
        </p:nvSpPr>
        <p:spPr>
          <a:xfrm>
            <a:off x="1060704" y="3543300"/>
            <a:ext cx="186537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5" name="Альдостерон"/>
          <p:cNvSpPr txBox="1"/>
          <p:nvPr/>
        </p:nvSpPr>
        <p:spPr>
          <a:xfrm>
            <a:off x="1244600" y="2116836"/>
            <a:ext cx="2084831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56082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sp>
        <p:nvSpPr>
          <p:cNvPr id="16" name="Условный символ альдостерона у рецептора"/>
          <p:cNvSpPr/>
          <p:nvPr/>
        </p:nvSpPr>
        <p:spPr>
          <a:xfrm>
            <a:off x="2084831" y="2793492"/>
            <a:ext cx="164592" cy="164592"/>
          </a:xfrm>
          <a:prstGeom prst="ellipse">
            <a:avLst/>
          </a:prstGeom>
          <a:solidFill>
            <a:srgbClr val="E2B45F"/>
          </a:solidFill>
          <a:ln w="5080">
            <a:solidFill>
              <a:srgbClr val="A577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cxnSp>
        <p:nvCxnSpPr>
          <p:cNvPr id="17" name="Подпись к альдостерону"/>
          <p:cNvCxnSpPr/>
          <p:nvPr/>
        </p:nvCxnSpPr>
        <p:spPr>
          <a:xfrm>
            <a:off x="1929384" y="2464308"/>
            <a:ext cx="219456" cy="301752"/>
          </a:xfrm>
          <a:prstGeom prst="line">
            <a:avLst/>
          </a:prstGeom>
          <a:ln w="13970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Активация рецептора связана с регуляцией генов"/>
          <p:cNvCxnSpPr/>
          <p:nvPr/>
        </p:nvCxnSpPr>
        <p:spPr>
          <a:xfrm>
            <a:off x="2404872" y="3022092"/>
            <a:ext cx="640080" cy="0"/>
          </a:xfrm>
          <a:prstGeom prst="line">
            <a:avLst/>
          </a:prstGeom>
          <a:ln w="23495">
            <a:solidFill>
              <a:srgbClr val="00000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Интерстиций вне эпителиальных клеток"/>
          <p:cNvSpPr/>
          <p:nvPr/>
        </p:nvSpPr>
        <p:spPr>
          <a:xfrm>
            <a:off x="6455664" y="2391156"/>
            <a:ext cx="5248656" cy="1545336"/>
          </a:xfrm>
          <a:prstGeom prst="rect">
            <a:avLst/>
          </a:prstGeom>
          <a:solidFill>
            <a:srgbClr val="FA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pic>
        <p:nvPicPr>
          <p:cNvPr id="20" name="Эпителий канальца: исходная иллюстрация" descr="epitheliu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1805940"/>
            <a:ext cx="5248656" cy="665020"/>
          </a:xfrm>
          <a:prstGeom prst="rect">
            <a:avLst/>
          </a:prstGeom>
          <a:effectLst/>
        </p:spPr>
      </p:pic>
      <p:sp>
        <p:nvSpPr>
          <p:cNvPr id="21" name="Фрагмент ткани почки"/>
          <p:cNvSpPr txBox="1"/>
          <p:nvPr/>
        </p:nvSpPr>
        <p:spPr>
          <a:xfrm>
            <a:off x="6455664" y="1284732"/>
            <a:ext cx="524865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Фрагмент ткани почки</a:t>
            </a:r>
          </a:p>
        </p:txBody>
      </p:sp>
      <p:sp>
        <p:nvSpPr>
          <p:cNvPr id="22" name="Эпителий канальца"/>
          <p:cNvSpPr txBox="1"/>
          <p:nvPr/>
        </p:nvSpPr>
        <p:spPr>
          <a:xfrm>
            <a:off x="6473951" y="1577340"/>
            <a:ext cx="286207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Эпителий канальца</a:t>
            </a:r>
          </a:p>
        </p:txBody>
      </p:sp>
      <p:pic>
        <p:nvPicPr>
          <p:cNvPr id="23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2894076"/>
            <a:ext cx="393192" cy="430307"/>
          </a:xfrm>
          <a:prstGeom prst="rect">
            <a:avLst/>
          </a:prstGeom>
          <a:effectLst/>
        </p:spPr>
      </p:pic>
      <p:pic>
        <p:nvPicPr>
          <p:cNvPr id="24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3186684"/>
            <a:ext cx="365760" cy="400286"/>
          </a:xfrm>
          <a:prstGeom prst="rect">
            <a:avLst/>
          </a:prstGeom>
          <a:effectLst/>
        </p:spPr>
      </p:pic>
      <p:pic>
        <p:nvPicPr>
          <p:cNvPr id="25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2857500"/>
            <a:ext cx="402336" cy="440314"/>
          </a:xfrm>
          <a:prstGeom prst="rect">
            <a:avLst/>
          </a:prstGeom>
          <a:effectLst/>
        </p:spPr>
      </p:pic>
      <p:pic>
        <p:nvPicPr>
          <p:cNvPr id="26" name="Условное изображение воспалительной клетки" descr="immune_ce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3424428"/>
            <a:ext cx="365760" cy="400286"/>
          </a:xfrm>
          <a:prstGeom prst="rect">
            <a:avLst/>
          </a:prstGeom>
          <a:effectLst/>
        </p:spPr>
      </p:pic>
      <p:sp>
        <p:nvSpPr>
          <p:cNvPr id="27" name="Волокно межклеточного матрикса"/>
          <p:cNvSpPr/>
          <p:nvPr/>
        </p:nvSpPr>
        <p:spPr>
          <a:xfrm>
            <a:off x="9989820" y="3411626"/>
            <a:ext cx="502920" cy="59436"/>
          </a:xfrm>
          <a:custGeom>
            <a:avLst/>
            <a:gdLst/>
            <a:ahLst/>
            <a:cxnLst/>
            <a:rect l="l" t="t" r="r" b="b"/>
            <a:pathLst>
              <a:path w="550" h="65">
                <a:moveTo>
                  <a:pt x="0" y="33"/>
                </a:moveTo>
                <a:lnTo>
                  <a:pt x="45" y="59"/>
                </a:lnTo>
                <a:lnTo>
                  <a:pt x="91" y="65"/>
                </a:lnTo>
                <a:lnTo>
                  <a:pt x="137" y="45"/>
                </a:lnTo>
                <a:lnTo>
                  <a:pt x="183" y="16"/>
                </a:lnTo>
                <a:lnTo>
                  <a:pt x="229" y="0"/>
                </a:lnTo>
                <a:lnTo>
                  <a:pt x="275" y="10"/>
                </a:lnTo>
                <a:lnTo>
                  <a:pt x="321" y="38"/>
                </a:lnTo>
                <a:lnTo>
                  <a:pt x="367" y="62"/>
                </a:lnTo>
                <a:lnTo>
                  <a:pt x="413" y="63"/>
                </a:lnTo>
                <a:lnTo>
                  <a:pt x="459" y="40"/>
                </a:lnTo>
                <a:lnTo>
                  <a:pt x="504" y="12"/>
                </a:lnTo>
                <a:lnTo>
                  <a:pt x="550" y="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8" name="Волокно межклеточного матрикса"/>
          <p:cNvSpPr/>
          <p:nvPr/>
        </p:nvSpPr>
        <p:spPr>
          <a:xfrm>
            <a:off x="10414102" y="3606394"/>
            <a:ext cx="544982" cy="58522"/>
          </a:xfrm>
          <a:custGeom>
            <a:avLst/>
            <a:gdLst/>
            <a:ahLst/>
            <a:cxnLst/>
            <a:rect l="l" t="t" r="r" b="b"/>
            <a:pathLst>
              <a:path w="596" h="64">
                <a:moveTo>
                  <a:pt x="0" y="60"/>
                </a:moveTo>
                <a:lnTo>
                  <a:pt x="50" y="64"/>
                </a:lnTo>
                <a:lnTo>
                  <a:pt x="100" y="42"/>
                </a:lnTo>
                <a:lnTo>
                  <a:pt x="149" y="13"/>
                </a:lnTo>
                <a:lnTo>
                  <a:pt x="199" y="0"/>
                </a:lnTo>
                <a:lnTo>
                  <a:pt x="248" y="12"/>
                </a:lnTo>
                <a:lnTo>
                  <a:pt x="298" y="40"/>
                </a:lnTo>
                <a:lnTo>
                  <a:pt x="348" y="63"/>
                </a:lnTo>
                <a:lnTo>
                  <a:pt x="397" y="61"/>
                </a:lnTo>
                <a:lnTo>
                  <a:pt x="447" y="37"/>
                </a:lnTo>
                <a:lnTo>
                  <a:pt x="497" y="9"/>
                </a:lnTo>
                <a:lnTo>
                  <a:pt x="546" y="0"/>
                </a:lnTo>
                <a:lnTo>
                  <a:pt x="596" y="16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9" name="Волокно межклеточного матрикса"/>
          <p:cNvSpPr/>
          <p:nvPr/>
        </p:nvSpPr>
        <p:spPr>
          <a:xfrm>
            <a:off x="9368942" y="3044952"/>
            <a:ext cx="451714" cy="59436"/>
          </a:xfrm>
          <a:custGeom>
            <a:avLst/>
            <a:gdLst/>
            <a:ahLst/>
            <a:cxnLst/>
            <a:rect l="l" t="t" r="r" b="b"/>
            <a:pathLst>
              <a:path w="494" h="65">
                <a:moveTo>
                  <a:pt x="0" y="63"/>
                </a:moveTo>
                <a:lnTo>
                  <a:pt x="41" y="41"/>
                </a:lnTo>
                <a:lnTo>
                  <a:pt x="82" y="12"/>
                </a:lnTo>
                <a:lnTo>
                  <a:pt x="123" y="0"/>
                </a:lnTo>
                <a:lnTo>
                  <a:pt x="165" y="15"/>
                </a:lnTo>
                <a:lnTo>
                  <a:pt x="206" y="44"/>
                </a:lnTo>
                <a:lnTo>
                  <a:pt x="247" y="65"/>
                </a:lnTo>
                <a:lnTo>
                  <a:pt x="288" y="61"/>
                </a:lnTo>
                <a:lnTo>
                  <a:pt x="330" y="35"/>
                </a:lnTo>
                <a:lnTo>
                  <a:pt x="371" y="8"/>
                </a:lnTo>
                <a:lnTo>
                  <a:pt x="412" y="1"/>
                </a:lnTo>
                <a:lnTo>
                  <a:pt x="453" y="19"/>
                </a:lnTo>
                <a:lnTo>
                  <a:pt x="494" y="48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0" name="Волокно межклеточного матрикса"/>
          <p:cNvSpPr/>
          <p:nvPr/>
        </p:nvSpPr>
        <p:spPr>
          <a:xfrm>
            <a:off x="9811512" y="3655771"/>
            <a:ext cx="537667" cy="60350"/>
          </a:xfrm>
          <a:custGeom>
            <a:avLst/>
            <a:gdLst/>
            <a:ahLst/>
            <a:cxnLst/>
            <a:rect l="l" t="t" r="r" b="b"/>
            <a:pathLst>
              <a:path w="588" h="66">
                <a:moveTo>
                  <a:pt x="0" y="38"/>
                </a:moveTo>
                <a:lnTo>
                  <a:pt x="49" y="10"/>
                </a:lnTo>
                <a:lnTo>
                  <a:pt x="98" y="0"/>
                </a:lnTo>
                <a:lnTo>
                  <a:pt x="147" y="17"/>
                </a:lnTo>
                <a:lnTo>
                  <a:pt x="196" y="46"/>
                </a:lnTo>
                <a:lnTo>
                  <a:pt x="245" y="65"/>
                </a:lnTo>
                <a:lnTo>
                  <a:pt x="294" y="59"/>
                </a:lnTo>
                <a:lnTo>
                  <a:pt x="343" y="33"/>
                </a:lnTo>
                <a:lnTo>
                  <a:pt x="392" y="7"/>
                </a:lnTo>
                <a:lnTo>
                  <a:pt x="441" y="1"/>
                </a:lnTo>
                <a:lnTo>
                  <a:pt x="490" y="21"/>
                </a:lnTo>
                <a:lnTo>
                  <a:pt x="539" y="51"/>
                </a:lnTo>
                <a:lnTo>
                  <a:pt x="588" y="66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1" name="Волокно межклеточного матрикса"/>
          <p:cNvSpPr/>
          <p:nvPr/>
        </p:nvSpPr>
        <p:spPr>
          <a:xfrm>
            <a:off x="9964217" y="3153766"/>
            <a:ext cx="381305" cy="59436"/>
          </a:xfrm>
          <a:custGeom>
            <a:avLst/>
            <a:gdLst/>
            <a:ahLst/>
            <a:cxnLst/>
            <a:rect l="l" t="t" r="r" b="b"/>
            <a:pathLst>
              <a:path w="417" h="65">
                <a:moveTo>
                  <a:pt x="0" y="7"/>
                </a:moveTo>
                <a:lnTo>
                  <a:pt x="35" y="0"/>
                </a:lnTo>
                <a:lnTo>
                  <a:pt x="70" y="18"/>
                </a:lnTo>
                <a:lnTo>
                  <a:pt x="104" y="47"/>
                </a:lnTo>
                <a:lnTo>
                  <a:pt x="139" y="64"/>
                </a:lnTo>
                <a:lnTo>
                  <a:pt x="174" y="56"/>
                </a:lnTo>
                <a:lnTo>
                  <a:pt x="209" y="29"/>
                </a:lnTo>
                <a:lnTo>
                  <a:pt x="244" y="4"/>
                </a:lnTo>
                <a:lnTo>
                  <a:pt x="278" y="1"/>
                </a:lnTo>
                <a:lnTo>
                  <a:pt x="313" y="23"/>
                </a:lnTo>
                <a:lnTo>
                  <a:pt x="348" y="51"/>
                </a:lnTo>
                <a:lnTo>
                  <a:pt x="383" y="65"/>
                </a:lnTo>
                <a:lnTo>
                  <a:pt x="417" y="52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2" name="Волокно межклеточного матрикса"/>
          <p:cNvSpPr/>
          <p:nvPr/>
        </p:nvSpPr>
        <p:spPr>
          <a:xfrm>
            <a:off x="10225735" y="3624682"/>
            <a:ext cx="363017" cy="59436"/>
          </a:xfrm>
          <a:custGeom>
            <a:avLst/>
            <a:gdLst/>
            <a:ahLst/>
            <a:cxnLst/>
            <a:rect l="l" t="t" r="r" b="b"/>
            <a:pathLst>
              <a:path w="397" h="65">
                <a:moveTo>
                  <a:pt x="0" y="0"/>
                </a:moveTo>
                <a:lnTo>
                  <a:pt x="34" y="20"/>
                </a:lnTo>
                <a:lnTo>
                  <a:pt x="67" y="49"/>
                </a:lnTo>
                <a:lnTo>
                  <a:pt x="100" y="65"/>
                </a:lnTo>
                <a:lnTo>
                  <a:pt x="133" y="54"/>
                </a:lnTo>
                <a:lnTo>
                  <a:pt x="166" y="26"/>
                </a:lnTo>
                <a:lnTo>
                  <a:pt x="199" y="3"/>
                </a:lnTo>
                <a:lnTo>
                  <a:pt x="232" y="2"/>
                </a:lnTo>
                <a:lnTo>
                  <a:pt x="265" y="25"/>
                </a:lnTo>
                <a:lnTo>
                  <a:pt x="298" y="54"/>
                </a:lnTo>
                <a:lnTo>
                  <a:pt x="331" y="65"/>
                </a:lnTo>
                <a:lnTo>
                  <a:pt x="364" y="50"/>
                </a:lnTo>
                <a:lnTo>
                  <a:pt x="397" y="2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3" name="Волокно межклеточного матрикса"/>
          <p:cNvSpPr/>
          <p:nvPr/>
        </p:nvSpPr>
        <p:spPr>
          <a:xfrm>
            <a:off x="9933127" y="3148279"/>
            <a:ext cx="500177" cy="59436"/>
          </a:xfrm>
          <a:custGeom>
            <a:avLst/>
            <a:gdLst/>
            <a:ahLst/>
            <a:cxnLst/>
            <a:rect l="l" t="t" r="r" b="b"/>
            <a:pathLst>
              <a:path w="547" h="65">
                <a:moveTo>
                  <a:pt x="0" y="23"/>
                </a:moveTo>
                <a:lnTo>
                  <a:pt x="45" y="51"/>
                </a:lnTo>
                <a:lnTo>
                  <a:pt x="91" y="65"/>
                </a:lnTo>
                <a:lnTo>
                  <a:pt x="137" y="52"/>
                </a:lnTo>
                <a:lnTo>
                  <a:pt x="182" y="23"/>
                </a:lnTo>
                <a:lnTo>
                  <a:pt x="228" y="1"/>
                </a:lnTo>
                <a:lnTo>
                  <a:pt x="273" y="3"/>
                </a:lnTo>
                <a:lnTo>
                  <a:pt x="319" y="28"/>
                </a:lnTo>
                <a:lnTo>
                  <a:pt x="365" y="55"/>
                </a:lnTo>
                <a:lnTo>
                  <a:pt x="410" y="64"/>
                </a:lnTo>
                <a:lnTo>
                  <a:pt x="456" y="48"/>
                </a:lnTo>
                <a:lnTo>
                  <a:pt x="501" y="19"/>
                </a:lnTo>
                <a:lnTo>
                  <a:pt x="547" y="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4" name="Волокно межклеточного матрикса"/>
          <p:cNvSpPr/>
          <p:nvPr/>
        </p:nvSpPr>
        <p:spPr>
          <a:xfrm>
            <a:off x="9547250" y="2917850"/>
            <a:ext cx="521208" cy="59436"/>
          </a:xfrm>
          <a:custGeom>
            <a:avLst/>
            <a:gdLst/>
            <a:ahLst/>
            <a:cxnLst/>
            <a:rect l="l" t="t" r="r" b="b"/>
            <a:pathLst>
              <a:path w="570" h="65">
                <a:moveTo>
                  <a:pt x="0" y="54"/>
                </a:moveTo>
                <a:lnTo>
                  <a:pt x="47" y="65"/>
                </a:lnTo>
                <a:lnTo>
                  <a:pt x="95" y="50"/>
                </a:lnTo>
                <a:lnTo>
                  <a:pt x="142" y="21"/>
                </a:lnTo>
                <a:lnTo>
                  <a:pt x="190" y="1"/>
                </a:lnTo>
                <a:lnTo>
                  <a:pt x="238" y="5"/>
                </a:lnTo>
                <a:lnTo>
                  <a:pt x="285" y="31"/>
                </a:lnTo>
                <a:lnTo>
                  <a:pt x="333" y="58"/>
                </a:lnTo>
                <a:lnTo>
                  <a:pt x="380" y="64"/>
                </a:lnTo>
                <a:lnTo>
                  <a:pt x="428" y="46"/>
                </a:lnTo>
                <a:lnTo>
                  <a:pt x="475" y="17"/>
                </a:lnTo>
                <a:lnTo>
                  <a:pt x="523" y="0"/>
                </a:lnTo>
                <a:lnTo>
                  <a:pt x="570" y="8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5" name="Волокно межклеточного матрикса"/>
          <p:cNvSpPr/>
          <p:nvPr/>
        </p:nvSpPr>
        <p:spPr>
          <a:xfrm>
            <a:off x="9649663" y="3396082"/>
            <a:ext cx="593446" cy="60350"/>
          </a:xfrm>
          <a:custGeom>
            <a:avLst/>
            <a:gdLst/>
            <a:ahLst/>
            <a:cxnLst/>
            <a:rect l="l" t="t" r="r" b="b"/>
            <a:pathLst>
              <a:path w="649" h="66">
                <a:moveTo>
                  <a:pt x="0" y="66"/>
                </a:moveTo>
                <a:lnTo>
                  <a:pt x="54" y="49"/>
                </a:lnTo>
                <a:lnTo>
                  <a:pt x="108" y="20"/>
                </a:lnTo>
                <a:lnTo>
                  <a:pt x="162" y="1"/>
                </a:lnTo>
                <a:lnTo>
                  <a:pt x="217" y="7"/>
                </a:lnTo>
                <a:lnTo>
                  <a:pt x="271" y="34"/>
                </a:lnTo>
                <a:lnTo>
                  <a:pt x="325" y="60"/>
                </a:lnTo>
                <a:lnTo>
                  <a:pt x="379" y="64"/>
                </a:lnTo>
                <a:lnTo>
                  <a:pt x="433" y="44"/>
                </a:lnTo>
                <a:lnTo>
                  <a:pt x="487" y="15"/>
                </a:lnTo>
                <a:lnTo>
                  <a:pt x="541" y="0"/>
                </a:lnTo>
                <a:lnTo>
                  <a:pt x="595" y="11"/>
                </a:lnTo>
                <a:lnTo>
                  <a:pt x="649" y="39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6" name="Волокно межклеточного матрикса"/>
          <p:cNvSpPr/>
          <p:nvPr/>
        </p:nvSpPr>
        <p:spPr>
          <a:xfrm>
            <a:off x="10185502" y="3614623"/>
            <a:ext cx="560527" cy="57607"/>
          </a:xfrm>
          <a:custGeom>
            <a:avLst/>
            <a:gdLst/>
            <a:ahLst/>
            <a:cxnLst/>
            <a:rect l="l" t="t" r="r" b="b"/>
            <a:pathLst>
              <a:path w="613" h="63">
                <a:moveTo>
                  <a:pt x="0" y="46"/>
                </a:moveTo>
                <a:lnTo>
                  <a:pt x="51" y="17"/>
                </a:lnTo>
                <a:lnTo>
                  <a:pt x="102" y="0"/>
                </a:lnTo>
                <a:lnTo>
                  <a:pt x="153" y="9"/>
                </a:lnTo>
                <a:lnTo>
                  <a:pt x="204" y="36"/>
                </a:lnTo>
                <a:lnTo>
                  <a:pt x="255" y="61"/>
                </a:lnTo>
                <a:lnTo>
                  <a:pt x="306" y="63"/>
                </a:lnTo>
                <a:lnTo>
                  <a:pt x="357" y="41"/>
                </a:lnTo>
                <a:lnTo>
                  <a:pt x="408" y="13"/>
                </a:lnTo>
                <a:lnTo>
                  <a:pt x="460" y="0"/>
                </a:lnTo>
                <a:lnTo>
                  <a:pt x="511" y="13"/>
                </a:lnTo>
                <a:lnTo>
                  <a:pt x="562" y="41"/>
                </a:lnTo>
                <a:lnTo>
                  <a:pt x="613" y="63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7" name="Волокно межклеточного матрикса"/>
          <p:cNvSpPr/>
          <p:nvPr/>
        </p:nvSpPr>
        <p:spPr>
          <a:xfrm>
            <a:off x="9175090" y="3065069"/>
            <a:ext cx="516636" cy="59436"/>
          </a:xfrm>
          <a:custGeom>
            <a:avLst/>
            <a:gdLst/>
            <a:ahLst/>
            <a:cxnLst/>
            <a:rect l="l" t="t" r="r" b="b"/>
            <a:pathLst>
              <a:path w="565" h="65">
                <a:moveTo>
                  <a:pt x="0" y="15"/>
                </a:moveTo>
                <a:lnTo>
                  <a:pt x="47" y="0"/>
                </a:lnTo>
                <a:lnTo>
                  <a:pt x="94" y="11"/>
                </a:lnTo>
                <a:lnTo>
                  <a:pt x="142" y="40"/>
                </a:lnTo>
                <a:lnTo>
                  <a:pt x="189" y="63"/>
                </a:lnTo>
                <a:lnTo>
                  <a:pt x="236" y="63"/>
                </a:lnTo>
                <a:lnTo>
                  <a:pt x="283" y="39"/>
                </a:lnTo>
                <a:lnTo>
                  <a:pt x="330" y="11"/>
                </a:lnTo>
                <a:lnTo>
                  <a:pt x="377" y="0"/>
                </a:lnTo>
                <a:lnTo>
                  <a:pt x="424" y="16"/>
                </a:lnTo>
                <a:lnTo>
                  <a:pt x="471" y="45"/>
                </a:lnTo>
                <a:lnTo>
                  <a:pt x="518" y="65"/>
                </a:lnTo>
                <a:lnTo>
                  <a:pt x="565" y="6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8" name="Волокно межклеточного матрикса"/>
          <p:cNvSpPr/>
          <p:nvPr/>
        </p:nvSpPr>
        <p:spPr>
          <a:xfrm>
            <a:off x="9983419" y="2867558"/>
            <a:ext cx="566928" cy="59436"/>
          </a:xfrm>
          <a:custGeom>
            <a:avLst/>
            <a:gdLst/>
            <a:ahLst/>
            <a:cxnLst/>
            <a:rect l="l" t="t" r="r" b="b"/>
            <a:pathLst>
              <a:path w="620" h="65">
                <a:moveTo>
                  <a:pt x="0" y="0"/>
                </a:moveTo>
                <a:lnTo>
                  <a:pt x="52" y="13"/>
                </a:lnTo>
                <a:lnTo>
                  <a:pt x="104" y="42"/>
                </a:lnTo>
                <a:lnTo>
                  <a:pt x="155" y="63"/>
                </a:lnTo>
                <a:lnTo>
                  <a:pt x="207" y="61"/>
                </a:lnTo>
                <a:lnTo>
                  <a:pt x="258" y="36"/>
                </a:lnTo>
                <a:lnTo>
                  <a:pt x="310" y="9"/>
                </a:lnTo>
                <a:lnTo>
                  <a:pt x="362" y="0"/>
                </a:lnTo>
                <a:lnTo>
                  <a:pt x="413" y="17"/>
                </a:lnTo>
                <a:lnTo>
                  <a:pt x="465" y="47"/>
                </a:lnTo>
                <a:lnTo>
                  <a:pt x="516" y="65"/>
                </a:lnTo>
                <a:lnTo>
                  <a:pt x="568" y="58"/>
                </a:lnTo>
                <a:lnTo>
                  <a:pt x="620" y="3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39" name="Волокно межклеточного матрикса"/>
          <p:cNvSpPr/>
          <p:nvPr/>
        </p:nvSpPr>
        <p:spPr>
          <a:xfrm>
            <a:off x="10318090" y="3222346"/>
            <a:ext cx="472745" cy="58522"/>
          </a:xfrm>
          <a:custGeom>
            <a:avLst/>
            <a:gdLst/>
            <a:ahLst/>
            <a:cxnLst/>
            <a:rect l="l" t="t" r="r" b="b"/>
            <a:pathLst>
              <a:path w="517" h="64">
                <a:moveTo>
                  <a:pt x="0" y="14"/>
                </a:moveTo>
                <a:lnTo>
                  <a:pt x="43" y="43"/>
                </a:lnTo>
                <a:lnTo>
                  <a:pt x="86" y="63"/>
                </a:lnTo>
                <a:lnTo>
                  <a:pt x="129" y="58"/>
                </a:lnTo>
                <a:lnTo>
                  <a:pt x="172" y="33"/>
                </a:lnTo>
                <a:lnTo>
                  <a:pt x="215" y="6"/>
                </a:lnTo>
                <a:lnTo>
                  <a:pt x="258" y="0"/>
                </a:lnTo>
                <a:lnTo>
                  <a:pt x="302" y="19"/>
                </a:lnTo>
                <a:lnTo>
                  <a:pt x="345" y="48"/>
                </a:lnTo>
                <a:lnTo>
                  <a:pt x="388" y="64"/>
                </a:lnTo>
                <a:lnTo>
                  <a:pt x="431" y="55"/>
                </a:lnTo>
                <a:lnTo>
                  <a:pt x="474" y="27"/>
                </a:lnTo>
                <a:lnTo>
                  <a:pt x="517" y="3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0" name="Волокно межклеточного матрикса"/>
          <p:cNvSpPr/>
          <p:nvPr/>
        </p:nvSpPr>
        <p:spPr>
          <a:xfrm>
            <a:off x="9384487" y="3317443"/>
            <a:ext cx="355702" cy="58522"/>
          </a:xfrm>
          <a:custGeom>
            <a:avLst/>
            <a:gdLst/>
            <a:ahLst/>
            <a:cxnLst/>
            <a:rect l="l" t="t" r="r" b="b"/>
            <a:pathLst>
              <a:path w="389" h="64">
                <a:moveTo>
                  <a:pt x="0" y="45"/>
                </a:moveTo>
                <a:lnTo>
                  <a:pt x="33" y="64"/>
                </a:lnTo>
                <a:lnTo>
                  <a:pt x="65" y="57"/>
                </a:lnTo>
                <a:lnTo>
                  <a:pt x="97" y="30"/>
                </a:lnTo>
                <a:lnTo>
                  <a:pt x="130" y="4"/>
                </a:lnTo>
                <a:lnTo>
                  <a:pt x="162" y="0"/>
                </a:lnTo>
                <a:lnTo>
                  <a:pt x="195" y="21"/>
                </a:lnTo>
                <a:lnTo>
                  <a:pt x="227" y="50"/>
                </a:lnTo>
                <a:lnTo>
                  <a:pt x="259" y="64"/>
                </a:lnTo>
                <a:lnTo>
                  <a:pt x="292" y="53"/>
                </a:lnTo>
                <a:lnTo>
                  <a:pt x="324" y="25"/>
                </a:lnTo>
                <a:lnTo>
                  <a:pt x="356" y="2"/>
                </a:lnTo>
                <a:lnTo>
                  <a:pt x="389" y="2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1" name="Волокно межклеточного матрикса"/>
          <p:cNvSpPr/>
          <p:nvPr/>
        </p:nvSpPr>
        <p:spPr>
          <a:xfrm>
            <a:off x="10345522" y="3640226"/>
            <a:ext cx="377647" cy="58522"/>
          </a:xfrm>
          <a:custGeom>
            <a:avLst/>
            <a:gdLst/>
            <a:ahLst/>
            <a:cxnLst/>
            <a:rect l="l" t="t" r="r" b="b"/>
            <a:pathLst>
              <a:path w="413" h="64">
                <a:moveTo>
                  <a:pt x="0" y="64"/>
                </a:moveTo>
                <a:lnTo>
                  <a:pt x="34" y="55"/>
                </a:lnTo>
                <a:lnTo>
                  <a:pt x="69" y="27"/>
                </a:lnTo>
                <a:lnTo>
                  <a:pt x="103" y="2"/>
                </a:lnTo>
                <a:lnTo>
                  <a:pt x="138" y="1"/>
                </a:lnTo>
                <a:lnTo>
                  <a:pt x="172" y="23"/>
                </a:lnTo>
                <a:lnTo>
                  <a:pt x="207" y="52"/>
                </a:lnTo>
                <a:lnTo>
                  <a:pt x="241" y="64"/>
                </a:lnTo>
                <a:lnTo>
                  <a:pt x="276" y="51"/>
                </a:lnTo>
                <a:lnTo>
                  <a:pt x="310" y="22"/>
                </a:lnTo>
                <a:lnTo>
                  <a:pt x="344" y="0"/>
                </a:lnTo>
                <a:lnTo>
                  <a:pt x="379" y="3"/>
                </a:lnTo>
                <a:lnTo>
                  <a:pt x="413" y="28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2" name="Волокно межклеточного матрикса"/>
          <p:cNvSpPr/>
          <p:nvPr/>
        </p:nvSpPr>
        <p:spPr>
          <a:xfrm>
            <a:off x="9568282" y="3338474"/>
            <a:ext cx="583387" cy="58522"/>
          </a:xfrm>
          <a:custGeom>
            <a:avLst/>
            <a:gdLst/>
            <a:ahLst/>
            <a:cxnLst/>
            <a:rect l="l" t="t" r="r" b="b"/>
            <a:pathLst>
              <a:path w="638" h="64">
                <a:moveTo>
                  <a:pt x="0" y="53"/>
                </a:moveTo>
                <a:lnTo>
                  <a:pt x="54" y="25"/>
                </a:lnTo>
                <a:lnTo>
                  <a:pt x="107" y="2"/>
                </a:lnTo>
                <a:lnTo>
                  <a:pt x="160" y="2"/>
                </a:lnTo>
                <a:lnTo>
                  <a:pt x="213" y="26"/>
                </a:lnTo>
                <a:lnTo>
                  <a:pt x="266" y="54"/>
                </a:lnTo>
                <a:lnTo>
                  <a:pt x="319" y="64"/>
                </a:lnTo>
                <a:lnTo>
                  <a:pt x="373" y="49"/>
                </a:lnTo>
                <a:lnTo>
                  <a:pt x="426" y="20"/>
                </a:lnTo>
                <a:lnTo>
                  <a:pt x="479" y="0"/>
                </a:lnTo>
                <a:lnTo>
                  <a:pt x="532" y="5"/>
                </a:lnTo>
                <a:lnTo>
                  <a:pt x="585" y="31"/>
                </a:lnTo>
                <a:lnTo>
                  <a:pt x="638" y="58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3" name="Волокно межклеточного матрикса"/>
          <p:cNvSpPr/>
          <p:nvPr/>
        </p:nvSpPr>
        <p:spPr>
          <a:xfrm>
            <a:off x="9381744" y="3185770"/>
            <a:ext cx="498348" cy="59436"/>
          </a:xfrm>
          <a:custGeom>
            <a:avLst/>
            <a:gdLst/>
            <a:ahLst/>
            <a:cxnLst/>
            <a:rect l="l" t="t" r="r" b="b"/>
            <a:pathLst>
              <a:path w="545" h="65">
                <a:moveTo>
                  <a:pt x="0" y="23"/>
                </a:moveTo>
                <a:lnTo>
                  <a:pt x="45" y="2"/>
                </a:lnTo>
                <a:lnTo>
                  <a:pt x="91" y="5"/>
                </a:lnTo>
                <a:lnTo>
                  <a:pt x="136" y="30"/>
                </a:lnTo>
                <a:lnTo>
                  <a:pt x="182" y="57"/>
                </a:lnTo>
                <a:lnTo>
                  <a:pt x="227" y="65"/>
                </a:lnTo>
                <a:lnTo>
                  <a:pt x="273" y="48"/>
                </a:lnTo>
                <a:lnTo>
                  <a:pt x="318" y="18"/>
                </a:lnTo>
                <a:lnTo>
                  <a:pt x="364" y="0"/>
                </a:lnTo>
                <a:lnTo>
                  <a:pt x="409" y="8"/>
                </a:lnTo>
                <a:lnTo>
                  <a:pt x="454" y="35"/>
                </a:lnTo>
                <a:lnTo>
                  <a:pt x="500" y="60"/>
                </a:lnTo>
                <a:lnTo>
                  <a:pt x="545" y="64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4" name="Волокно межклеточного матрикса"/>
          <p:cNvSpPr/>
          <p:nvPr/>
        </p:nvSpPr>
        <p:spPr>
          <a:xfrm>
            <a:off x="9372600" y="2920594"/>
            <a:ext cx="543154" cy="59436"/>
          </a:xfrm>
          <a:custGeom>
            <a:avLst/>
            <a:gdLst/>
            <a:ahLst/>
            <a:cxnLst/>
            <a:rect l="l" t="t" r="r" b="b"/>
            <a:pathLst>
              <a:path w="594" h="65">
                <a:moveTo>
                  <a:pt x="0" y="1"/>
                </a:moveTo>
                <a:lnTo>
                  <a:pt x="49" y="6"/>
                </a:lnTo>
                <a:lnTo>
                  <a:pt x="99" y="32"/>
                </a:lnTo>
                <a:lnTo>
                  <a:pt x="149" y="59"/>
                </a:lnTo>
                <a:lnTo>
                  <a:pt x="198" y="65"/>
                </a:lnTo>
                <a:lnTo>
                  <a:pt x="248" y="45"/>
                </a:lnTo>
                <a:lnTo>
                  <a:pt x="297" y="16"/>
                </a:lnTo>
                <a:lnTo>
                  <a:pt x="347" y="0"/>
                </a:lnTo>
                <a:lnTo>
                  <a:pt x="396" y="10"/>
                </a:lnTo>
                <a:lnTo>
                  <a:pt x="446" y="38"/>
                </a:lnTo>
                <a:lnTo>
                  <a:pt x="495" y="62"/>
                </a:lnTo>
                <a:lnTo>
                  <a:pt x="545" y="63"/>
                </a:lnTo>
                <a:lnTo>
                  <a:pt x="594" y="40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5" name="Волокно межклеточного матрикса"/>
          <p:cNvSpPr/>
          <p:nvPr/>
        </p:nvSpPr>
        <p:spPr>
          <a:xfrm>
            <a:off x="10264140" y="3341218"/>
            <a:ext cx="480060" cy="58522"/>
          </a:xfrm>
          <a:custGeom>
            <a:avLst/>
            <a:gdLst/>
            <a:ahLst/>
            <a:cxnLst/>
            <a:rect l="l" t="t" r="r" b="b"/>
            <a:pathLst>
              <a:path w="525" h="64">
                <a:moveTo>
                  <a:pt x="0" y="8"/>
                </a:moveTo>
                <a:lnTo>
                  <a:pt x="44" y="35"/>
                </a:lnTo>
                <a:lnTo>
                  <a:pt x="87" y="60"/>
                </a:lnTo>
                <a:lnTo>
                  <a:pt x="131" y="64"/>
                </a:lnTo>
                <a:lnTo>
                  <a:pt x="175" y="43"/>
                </a:lnTo>
                <a:lnTo>
                  <a:pt x="219" y="14"/>
                </a:lnTo>
                <a:lnTo>
                  <a:pt x="263" y="0"/>
                </a:lnTo>
                <a:lnTo>
                  <a:pt x="306" y="12"/>
                </a:lnTo>
                <a:lnTo>
                  <a:pt x="350" y="40"/>
                </a:lnTo>
                <a:lnTo>
                  <a:pt x="394" y="63"/>
                </a:lnTo>
                <a:lnTo>
                  <a:pt x="438" y="62"/>
                </a:lnTo>
                <a:lnTo>
                  <a:pt x="482" y="38"/>
                </a:lnTo>
                <a:lnTo>
                  <a:pt x="525" y="1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6" name="Волокно межклеточного матрикса"/>
          <p:cNvSpPr/>
          <p:nvPr/>
        </p:nvSpPr>
        <p:spPr>
          <a:xfrm>
            <a:off x="9252814" y="3258922"/>
            <a:ext cx="461772" cy="58522"/>
          </a:xfrm>
          <a:custGeom>
            <a:avLst/>
            <a:gdLst/>
            <a:ahLst/>
            <a:cxnLst/>
            <a:rect l="l" t="t" r="r" b="b"/>
            <a:pathLst>
              <a:path w="505" h="64">
                <a:moveTo>
                  <a:pt x="0" y="38"/>
                </a:moveTo>
                <a:lnTo>
                  <a:pt x="42" y="62"/>
                </a:lnTo>
                <a:lnTo>
                  <a:pt x="84" y="63"/>
                </a:lnTo>
                <a:lnTo>
                  <a:pt x="126" y="41"/>
                </a:lnTo>
                <a:lnTo>
                  <a:pt x="168" y="12"/>
                </a:lnTo>
                <a:lnTo>
                  <a:pt x="210" y="0"/>
                </a:lnTo>
                <a:lnTo>
                  <a:pt x="252" y="14"/>
                </a:lnTo>
                <a:lnTo>
                  <a:pt x="295" y="43"/>
                </a:lnTo>
                <a:lnTo>
                  <a:pt x="337" y="64"/>
                </a:lnTo>
                <a:lnTo>
                  <a:pt x="379" y="61"/>
                </a:lnTo>
                <a:lnTo>
                  <a:pt x="421" y="35"/>
                </a:lnTo>
                <a:lnTo>
                  <a:pt x="463" y="8"/>
                </a:lnTo>
                <a:lnTo>
                  <a:pt x="505" y="1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7" name="Волокно межклеточного матрикса"/>
          <p:cNvSpPr/>
          <p:nvPr/>
        </p:nvSpPr>
        <p:spPr>
          <a:xfrm>
            <a:off x="10054742" y="2998318"/>
            <a:ext cx="331927" cy="58522"/>
          </a:xfrm>
          <a:custGeom>
            <a:avLst/>
            <a:gdLst/>
            <a:ahLst/>
            <a:cxnLst/>
            <a:rect l="l" t="t" r="r" b="b"/>
            <a:pathLst>
              <a:path w="363" h="64">
                <a:moveTo>
                  <a:pt x="0" y="62"/>
                </a:moveTo>
                <a:lnTo>
                  <a:pt x="30" y="61"/>
                </a:lnTo>
                <a:lnTo>
                  <a:pt x="60" y="37"/>
                </a:lnTo>
                <a:lnTo>
                  <a:pt x="90" y="9"/>
                </a:lnTo>
                <a:lnTo>
                  <a:pt x="121" y="0"/>
                </a:lnTo>
                <a:lnTo>
                  <a:pt x="151" y="16"/>
                </a:lnTo>
                <a:lnTo>
                  <a:pt x="181" y="45"/>
                </a:lnTo>
                <a:lnTo>
                  <a:pt x="211" y="64"/>
                </a:lnTo>
                <a:lnTo>
                  <a:pt x="242" y="58"/>
                </a:lnTo>
                <a:lnTo>
                  <a:pt x="272" y="32"/>
                </a:lnTo>
                <a:lnTo>
                  <a:pt x="302" y="6"/>
                </a:lnTo>
                <a:lnTo>
                  <a:pt x="332" y="1"/>
                </a:lnTo>
                <a:lnTo>
                  <a:pt x="363" y="20"/>
                </a:lnTo>
              </a:path>
            </a:pathLst>
          </a:custGeom>
          <a:noFill/>
          <a:ln w="12065">
            <a:solidFill>
              <a:srgbClr val="D1B7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8" name="Волокно межклеточного матрикса"/>
          <p:cNvSpPr/>
          <p:nvPr/>
        </p:nvSpPr>
        <p:spPr>
          <a:xfrm>
            <a:off x="10057486" y="3436315"/>
            <a:ext cx="518465" cy="59436"/>
          </a:xfrm>
          <a:custGeom>
            <a:avLst/>
            <a:gdLst/>
            <a:ahLst/>
            <a:cxnLst/>
            <a:rect l="l" t="t" r="r" b="b"/>
            <a:pathLst>
              <a:path w="567" h="65">
                <a:moveTo>
                  <a:pt x="0" y="60"/>
                </a:moveTo>
                <a:lnTo>
                  <a:pt x="47" y="35"/>
                </a:lnTo>
                <a:lnTo>
                  <a:pt x="94" y="8"/>
                </a:lnTo>
                <a:lnTo>
                  <a:pt x="141" y="0"/>
                </a:lnTo>
                <a:lnTo>
                  <a:pt x="189" y="18"/>
                </a:lnTo>
                <a:lnTo>
                  <a:pt x="236" y="48"/>
                </a:lnTo>
                <a:lnTo>
                  <a:pt x="283" y="65"/>
                </a:lnTo>
                <a:lnTo>
                  <a:pt x="330" y="57"/>
                </a:lnTo>
                <a:lnTo>
                  <a:pt x="378" y="30"/>
                </a:lnTo>
                <a:lnTo>
                  <a:pt x="425" y="5"/>
                </a:lnTo>
                <a:lnTo>
                  <a:pt x="472" y="2"/>
                </a:lnTo>
                <a:lnTo>
                  <a:pt x="519" y="23"/>
                </a:lnTo>
                <a:lnTo>
                  <a:pt x="567" y="52"/>
                </a:lnTo>
              </a:path>
            </a:pathLst>
          </a:custGeom>
          <a:noFill/>
          <a:ln w="12065">
            <a:solidFill>
              <a:srgbClr val="BA92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9" name="Условная клетка интерстиция"/>
          <p:cNvSpPr/>
          <p:nvPr/>
        </p:nvSpPr>
        <p:spPr>
          <a:xfrm rot="20760000">
            <a:off x="9363456" y="3214116"/>
            <a:ext cx="438912" cy="109728"/>
          </a:xfrm>
          <a:prstGeom prst="ellipse">
            <a:avLst/>
          </a:prstGeom>
          <a:solidFill>
            <a:srgbClr val="AC9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0" name="Ядро клетки интерстиция"/>
          <p:cNvSpPr/>
          <p:nvPr/>
        </p:nvSpPr>
        <p:spPr>
          <a:xfrm rot="20760000">
            <a:off x="9518904" y="3230575"/>
            <a:ext cx="128016" cy="67665"/>
          </a:xfrm>
          <a:prstGeom prst="ellipse">
            <a:avLst/>
          </a:prstGeom>
          <a:solidFill>
            <a:srgbClr val="775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1" name="Условная клетка интерстиция"/>
          <p:cNvSpPr/>
          <p:nvPr/>
        </p:nvSpPr>
        <p:spPr>
          <a:xfrm rot="900000">
            <a:off x="10607040" y="3424428"/>
            <a:ext cx="438912" cy="109728"/>
          </a:xfrm>
          <a:prstGeom prst="ellipse">
            <a:avLst/>
          </a:prstGeom>
          <a:solidFill>
            <a:srgbClr val="AC92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2" name="Ядро клетки интерстиция"/>
          <p:cNvSpPr/>
          <p:nvPr/>
        </p:nvSpPr>
        <p:spPr>
          <a:xfrm rot="900000">
            <a:off x="10762488" y="3440887"/>
            <a:ext cx="128016" cy="67665"/>
          </a:xfrm>
          <a:prstGeom prst="ellipse">
            <a:avLst/>
          </a:prstGeom>
          <a:solidFill>
            <a:srgbClr val="7759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3" name="Иммунные клетки"/>
          <p:cNvSpPr txBox="1"/>
          <p:nvPr/>
        </p:nvSpPr>
        <p:spPr>
          <a:xfrm>
            <a:off x="6611112" y="2519172"/>
            <a:ext cx="2002536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Иммунные клетки</a:t>
            </a:r>
          </a:p>
        </p:txBody>
      </p:sp>
      <p:sp>
        <p:nvSpPr>
          <p:cNvPr id="54" name="Матрикс"/>
          <p:cNvSpPr txBox="1"/>
          <p:nvPr/>
        </p:nvSpPr>
        <p:spPr>
          <a:xfrm>
            <a:off x="9198864" y="2519172"/>
            <a:ext cx="1920240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Матрикс</a:t>
            </a:r>
          </a:p>
        </p:txBody>
      </p:sp>
      <p:sp>
        <p:nvSpPr>
          <p:cNvPr id="55" name="Капилляр"/>
          <p:cNvSpPr/>
          <p:nvPr/>
        </p:nvSpPr>
        <p:spPr>
          <a:xfrm>
            <a:off x="6455664" y="3963924"/>
            <a:ext cx="5248656" cy="301752"/>
          </a:xfrm>
          <a:prstGeom prst="roundRect">
            <a:avLst/>
          </a:prstGeom>
          <a:solidFill>
            <a:srgbClr val="FBE8E8"/>
          </a:solidFill>
          <a:ln w="8890">
            <a:solidFill>
              <a:srgbClr val="D2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6" name="Эритроцит в просвете капилляра"/>
          <p:cNvSpPr/>
          <p:nvPr/>
        </p:nvSpPr>
        <p:spPr>
          <a:xfrm>
            <a:off x="6702552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7" name="Центральное просветление эритроцита"/>
          <p:cNvSpPr/>
          <p:nvPr/>
        </p:nvSpPr>
        <p:spPr>
          <a:xfrm>
            <a:off x="6754672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8" name="Эритроцит в просвете капилляра"/>
          <p:cNvSpPr/>
          <p:nvPr/>
        </p:nvSpPr>
        <p:spPr>
          <a:xfrm>
            <a:off x="7452360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9" name="Центральное просветление эритроцита"/>
          <p:cNvSpPr/>
          <p:nvPr/>
        </p:nvSpPr>
        <p:spPr>
          <a:xfrm>
            <a:off x="7504480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0" name="Эритроцит в просвете капилляра"/>
          <p:cNvSpPr/>
          <p:nvPr/>
        </p:nvSpPr>
        <p:spPr>
          <a:xfrm>
            <a:off x="8202168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1" name="Центральное просветление эритроцита"/>
          <p:cNvSpPr/>
          <p:nvPr/>
        </p:nvSpPr>
        <p:spPr>
          <a:xfrm>
            <a:off x="8254288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2" name="Эритроцит в просвете капилляра"/>
          <p:cNvSpPr/>
          <p:nvPr/>
        </p:nvSpPr>
        <p:spPr>
          <a:xfrm>
            <a:off x="8951976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3" name="Центральное просветление эритроцита"/>
          <p:cNvSpPr/>
          <p:nvPr/>
        </p:nvSpPr>
        <p:spPr>
          <a:xfrm>
            <a:off x="9004096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4" name="Эритроцит в просвете капилляра"/>
          <p:cNvSpPr/>
          <p:nvPr/>
        </p:nvSpPr>
        <p:spPr>
          <a:xfrm>
            <a:off x="9701784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5" name="Центральное просветление эритроцита"/>
          <p:cNvSpPr/>
          <p:nvPr/>
        </p:nvSpPr>
        <p:spPr>
          <a:xfrm>
            <a:off x="9753904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6" name="Эритроцит в просвете капилляра"/>
          <p:cNvSpPr/>
          <p:nvPr/>
        </p:nvSpPr>
        <p:spPr>
          <a:xfrm>
            <a:off x="10451592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7" name="Центральное просветление эритроцита"/>
          <p:cNvSpPr/>
          <p:nvPr/>
        </p:nvSpPr>
        <p:spPr>
          <a:xfrm>
            <a:off x="10503712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8" name="Эритроцит в просвете капилляра"/>
          <p:cNvSpPr/>
          <p:nvPr/>
        </p:nvSpPr>
        <p:spPr>
          <a:xfrm>
            <a:off x="11201400" y="4025188"/>
            <a:ext cx="219456" cy="137160"/>
          </a:xfrm>
          <a:prstGeom prst="ellipse">
            <a:avLst/>
          </a:prstGeom>
          <a:solidFill>
            <a:srgbClr val="CE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69" name="Центральное просветление эритроцита"/>
          <p:cNvSpPr/>
          <p:nvPr/>
        </p:nvSpPr>
        <p:spPr>
          <a:xfrm>
            <a:off x="11253520" y="4051706"/>
            <a:ext cx="109728" cy="73152"/>
          </a:xfrm>
          <a:prstGeom prst="ellipse">
            <a:avLst/>
          </a:prstGeom>
          <a:solidFill>
            <a:srgbClr val="EBB0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70" name="Капилляр"/>
          <p:cNvSpPr txBox="1"/>
          <p:nvPr/>
        </p:nvSpPr>
        <p:spPr>
          <a:xfrm>
            <a:off x="8513064" y="4302252"/>
            <a:ext cx="1307592" cy="22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Капилляр</a:t>
            </a:r>
          </a:p>
        </p:txBody>
      </p:sp>
      <p:sp>
        <p:nvSpPr>
          <p:cNvPr id="75" name="Усиливаются сигналы воспаления и фиброза"/>
          <p:cNvSpPr txBox="1"/>
          <p:nvPr/>
        </p:nvSpPr>
        <p:spPr>
          <a:xfrm>
            <a:off x="1371600" y="4013454"/>
            <a:ext cx="3611880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Усиливаются сигналы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воспаления и фиброза</a:t>
            </a:r>
          </a:p>
        </p:txBody>
      </p:sp>
      <p:sp>
        <p:nvSpPr>
          <p:cNvPr id="77" name="Тканевой ответ"/>
          <p:cNvSpPr txBox="1"/>
          <p:nvPr/>
        </p:nvSpPr>
        <p:spPr>
          <a:xfrm>
            <a:off x="5588000" y="2298700"/>
            <a:ext cx="863600" cy="431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Тканевой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ответ</a:t>
            </a:r>
          </a:p>
        </p:txBody>
      </p:sp>
      <p:sp>
        <p:nvSpPr>
          <p:cNvPr id="78" name="Пояснение_МКР"/>
          <p:cNvSpPr txBox="1"/>
          <p:nvPr/>
        </p:nvSpPr>
        <p:spPr>
          <a:xfrm>
            <a:off x="508000" y="5232400"/>
            <a:ext cx="5588000" cy="5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диабете и ХБП сигнал МКР может усиливаться: рецептор сильнее включает гены воспаления и фиброза.</a:t>
            </a:r>
          </a:p>
        </p:txBody>
      </p:sp>
      <p:sp>
        <p:nvSpPr>
          <p:cNvPr id="79" name="Метка_фибробласты"/>
          <p:cNvSpPr txBox="1"/>
          <p:nvPr/>
        </p:nvSpPr>
        <p:spPr>
          <a:xfrm>
            <a:off x="10744200" y="2527300"/>
            <a:ext cx="1270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Фибробласты</a:t>
            </a:r>
          </a:p>
        </p:txBody>
      </p:sp>
      <p:cxnSp>
        <p:nvCxnSpPr>
          <p:cNvPr id="80" name="Указатель_фибробласты"/>
          <p:cNvCxnSpPr/>
          <p:nvPr/>
        </p:nvCxnSpPr>
        <p:spPr>
          <a:xfrm flipH="1">
            <a:off x="10820400" y="2781300"/>
            <a:ext cx="254000" cy="596900"/>
          </a:xfrm>
          <a:prstGeom prst="line">
            <a:avLst/>
          </a:prstGeom>
          <a:ln w="12700">
            <a:solidFill>
              <a:srgbClr val="303030"/>
            </a:solidFill>
            <a:tailEnd type="triangle" w="med" len="med"/>
          </a:ln>
        </p:spPr>
      </p:cxnSp>
      <p:sp>
        <p:nvSpPr>
          <p:cNvPr id="81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Обзоры: Agarwal R, et al. Eur Heart J. 2021;42:152–161. Barrera-Chimal J, et al. Kidney Int. 2019;96:302–319. Иллюстрации: Servier Medical Art (CC BY 4.0).</a:t>
            </a:r>
            <a:endParaRPr lang="ru-RU" sz="800" b="0" dirty="0"/>
          </a:p>
        </p:txBody>
      </p:sp>
      <p:pic>
        <p:nvPicPr>
          <p:cNvPr id="82" name="Логотип Орвилле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8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ХБП: хроническая болезнь почек.</a:t>
            </a:r>
            <a:endParaRPr lang="ru-RU" sz="1000" b="0" dirty="0"/>
          </a:p>
        </p:txBody>
      </p:sp>
      <p:sp>
        <p:nvSpPr>
          <p:cNvPr id="85" name="Шеврон_тканевой_ответ"/>
          <p:cNvSpPr/>
          <p:nvPr/>
        </p:nvSpPr>
        <p:spPr>
          <a:xfrm>
            <a:off x="5867400" y="2819400"/>
            <a:ext cx="381000" cy="5842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Полоса_воспаление"/>
          <p:cNvSpPr/>
          <p:nvPr/>
        </p:nvSpPr>
        <p:spPr>
          <a:xfrm>
            <a:off x="6451600" y="4673600"/>
            <a:ext cx="2540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Воспаление</a:t>
            </a:r>
          </a:p>
        </p:txBody>
      </p:sp>
      <p:sp>
        <p:nvSpPr>
          <p:cNvPr id="87" name="Карточка_воспаление"/>
          <p:cNvSpPr/>
          <p:nvPr/>
        </p:nvSpPr>
        <p:spPr>
          <a:xfrm>
            <a:off x="6451600" y="5054600"/>
            <a:ext cx="25400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Текст_воспаление"/>
          <p:cNvSpPr txBox="1"/>
          <p:nvPr/>
        </p:nvSpPr>
        <p:spPr>
          <a:xfrm>
            <a:off x="6578600" y="5130800"/>
            <a:ext cx="2286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Приток и активация иммунных клеток.</a:t>
            </a:r>
          </a:p>
        </p:txBody>
      </p:sp>
      <p:sp>
        <p:nvSpPr>
          <p:cNvPr id="89" name="Полоса_фиброз"/>
          <p:cNvSpPr/>
          <p:nvPr/>
        </p:nvSpPr>
        <p:spPr>
          <a:xfrm>
            <a:off x="9156700" y="4673600"/>
            <a:ext cx="25400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Фиброз</a:t>
            </a:r>
          </a:p>
        </p:txBody>
      </p:sp>
      <p:sp>
        <p:nvSpPr>
          <p:cNvPr id="90" name="Карточка_фиброз"/>
          <p:cNvSpPr/>
          <p:nvPr/>
        </p:nvSpPr>
        <p:spPr>
          <a:xfrm>
            <a:off x="9156700" y="5054600"/>
            <a:ext cx="25400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1" name="Текст_фиброз"/>
          <p:cNvSpPr txBox="1"/>
          <p:nvPr/>
        </p:nvSpPr>
        <p:spPr>
          <a:xfrm>
            <a:off x="9283700" y="5130800"/>
            <a:ext cx="2286000" cy="762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Рубцовая ткань: избыток межклеточного вещества (матрикса).</a:t>
            </a:r>
          </a:p>
        </p:txBody>
      </p:sp>
      <p:pic>
        <p:nvPicPr>
          <p:cNvPr id="92" name="Иконка_почка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71200" y="1193800"/>
            <a:ext cx="381000" cy="584200"/>
          </a:xfrm>
          <a:prstGeom prst="rect">
            <a:avLst/>
          </a:prstGeom>
        </p:spPr>
      </p:pic>
      <p:pic>
        <p:nvPicPr>
          <p:cNvPr id="93" name="Иконка_сердце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3000" y="1193800"/>
            <a:ext cx="431800" cy="584200"/>
          </a:xfrm>
          <a:prstGeom prst="rect">
            <a:avLst/>
          </a:prstGeom>
        </p:spPr>
      </p:pic>
      <p:sp>
        <p:nvSpPr>
          <p:cNvPr id="94" name="Подпись_почка_и_сердце"/>
          <p:cNvSpPr txBox="1"/>
          <p:nvPr/>
        </p:nvSpPr>
        <p:spPr>
          <a:xfrm>
            <a:off x="8890000" y="1346200"/>
            <a:ext cx="18796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Почка и сердце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Карточка_польза"/>
          <p:cNvSpPr/>
          <p:nvPr/>
        </p:nvSpPr>
        <p:spPr>
          <a:xfrm>
            <a:off x="6299200" y="1689100"/>
            <a:ext cx="5422900" cy="1727200"/>
          </a:xfrm>
          <a:prstGeom prst="roundRect">
            <a:avLst>
              <a:gd name="adj" fmla="val 547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Карточка_калий"/>
          <p:cNvSpPr/>
          <p:nvPr/>
        </p:nvSpPr>
        <p:spPr>
          <a:xfrm>
            <a:off x="6299200" y="4025900"/>
            <a:ext cx="5422900" cy="17018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Финеренон избирательно блокирует МКР, и гены воспаления и фиброза включаются слабее</a:t>
            </a:r>
            <a:endParaRPr sz="2000" b="0" dirty="0"/>
          </a:p>
        </p:txBody>
      </p:sp>
      <p:pic>
        <p:nvPicPr>
          <p:cNvPr id="4" name="Мембрана и цитоплазма: исходный рисунок" descr="cell_envel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" y="1211580"/>
            <a:ext cx="5221224" cy="3878292"/>
          </a:xfrm>
          <a:prstGeom prst="rect">
            <a:avLst/>
          </a:prstGeom>
          <a:effectLst/>
        </p:spPr>
      </p:pic>
      <p:pic>
        <p:nvPicPr>
          <p:cNvPr id="5" name="Ядро: исходный рисунок" descr="nucle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1256" y="2473452"/>
            <a:ext cx="1435608" cy="1435607"/>
          </a:xfrm>
          <a:prstGeom prst="rect">
            <a:avLst/>
          </a:prstGeom>
          <a:effectLst/>
        </p:spPr>
      </p:pic>
      <p:sp>
        <p:nvSpPr>
          <p:cNvPr id="6" name="Внутри клетки"/>
          <p:cNvSpPr txBox="1"/>
          <p:nvPr/>
        </p:nvSpPr>
        <p:spPr>
          <a:xfrm>
            <a:off x="1947672" y="1604772"/>
            <a:ext cx="2450592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Внутри клетки</a:t>
            </a:r>
          </a:p>
        </p:txBody>
      </p:sp>
      <p:sp>
        <p:nvSpPr>
          <p:cNvPr id="7" name="Контур условного символа рецептора"/>
          <p:cNvSpPr/>
          <p:nvPr/>
        </p:nvSpPr>
        <p:spPr>
          <a:xfrm>
            <a:off x="1433962" y="2831896"/>
            <a:ext cx="465978" cy="358444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8" name="Контур условного символа рецептора"/>
          <p:cNvSpPr/>
          <p:nvPr/>
        </p:nvSpPr>
        <p:spPr>
          <a:xfrm>
            <a:off x="1691914" y="2692908"/>
            <a:ext cx="441015" cy="438912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Контур условного символа рецептора"/>
          <p:cNvSpPr/>
          <p:nvPr/>
        </p:nvSpPr>
        <p:spPr>
          <a:xfrm>
            <a:off x="1783445" y="3000146"/>
            <a:ext cx="482620" cy="336499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Контур условного символа рецептора"/>
          <p:cNvSpPr/>
          <p:nvPr/>
        </p:nvSpPr>
        <p:spPr>
          <a:xfrm>
            <a:off x="1567098" y="2853842"/>
            <a:ext cx="507583" cy="402336"/>
          </a:xfrm>
          <a:prstGeom prst="ellipse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Блик условного символа рецептора"/>
          <p:cNvSpPr/>
          <p:nvPr/>
        </p:nvSpPr>
        <p:spPr>
          <a:xfrm>
            <a:off x="1583740" y="2875787"/>
            <a:ext cx="191383" cy="73152"/>
          </a:xfrm>
          <a:prstGeom prst="ellipse">
            <a:avLst/>
          </a:prstGeom>
          <a:solidFill>
            <a:srgbClr val="B3B3B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 txBox="1"/>
          <p:nvPr/>
        </p:nvSpPr>
        <p:spPr>
          <a:xfrm>
            <a:off x="3538728" y="2153412"/>
            <a:ext cx="1005840" cy="2834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sp>
        <p:nvSpPr>
          <p:cNvPr id="13" name="Регуляция работы генов"/>
          <p:cNvSpPr txBox="1"/>
          <p:nvPr/>
        </p:nvSpPr>
        <p:spPr>
          <a:xfrm>
            <a:off x="3319272" y="2884932"/>
            <a:ext cx="1179576" cy="64922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Регуляция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генов</a:t>
            </a:r>
          </a:p>
        </p:txBody>
      </p:sp>
      <p:sp>
        <p:nvSpPr>
          <p:cNvPr id="14" name="Рецептор"/>
          <p:cNvSpPr txBox="1"/>
          <p:nvPr/>
        </p:nvSpPr>
        <p:spPr>
          <a:xfrm>
            <a:off x="1060704" y="3543300"/>
            <a:ext cx="1865376" cy="32004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F7F7F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5" name="Финеренон связан с рецептором: условный символ"/>
          <p:cNvSpPr/>
          <p:nvPr/>
        </p:nvSpPr>
        <p:spPr>
          <a:xfrm>
            <a:off x="2084831" y="2793492"/>
            <a:ext cx="192024" cy="192024"/>
          </a:xfrm>
          <a:prstGeom prst="ellipse">
            <a:avLst/>
          </a:prstGeom>
          <a:solidFill>
            <a:srgbClr val="7030A0"/>
          </a:solidFill>
          <a:ln w="508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6" name="Финеренон"/>
          <p:cNvSpPr txBox="1"/>
          <p:nvPr/>
        </p:nvSpPr>
        <p:spPr>
          <a:xfrm>
            <a:off x="1243584" y="2116836"/>
            <a:ext cx="2103120" cy="32918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cxnSp>
        <p:nvCxnSpPr>
          <p:cNvPr id="17" name="Подпись к финеренону, связанному с рецептором"/>
          <p:cNvCxnSpPr/>
          <p:nvPr/>
        </p:nvCxnSpPr>
        <p:spPr>
          <a:xfrm>
            <a:off x="1956816" y="2473452"/>
            <a:ext cx="219456" cy="292608"/>
          </a:xfrm>
          <a:prstGeom prst="line">
            <a:avLst/>
          </a:prstGeom>
          <a:ln w="16510">
            <a:solidFill>
              <a:srgbClr val="7030A0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Ослабление рецептор-зависимого сигнала, не полная остановка транскрипции"/>
          <p:cNvCxnSpPr/>
          <p:nvPr/>
        </p:nvCxnSpPr>
        <p:spPr>
          <a:xfrm>
            <a:off x="2414016" y="3022092"/>
            <a:ext cx="630936" cy="0"/>
          </a:xfrm>
          <a:prstGeom prst="line">
            <a:avLst/>
          </a:prstGeom>
          <a:ln w="18415">
            <a:solidFill>
              <a:srgbClr val="BA9FC9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Торможение рецепторного сигнала"/>
          <p:cNvCxnSpPr/>
          <p:nvPr/>
        </p:nvCxnSpPr>
        <p:spPr>
          <a:xfrm>
            <a:off x="2596896" y="2820924"/>
            <a:ext cx="0" cy="402336"/>
          </a:xfrm>
          <a:prstGeom prst="line">
            <a:avLst/>
          </a:prstGeom>
          <a:ln w="3937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" name="Сигналы воспаления и фиброза ослабляются"/>
          <p:cNvSpPr txBox="1"/>
          <p:nvPr/>
        </p:nvSpPr>
        <p:spPr>
          <a:xfrm>
            <a:off x="1358900" y="4038600"/>
            <a:ext cx="3644900" cy="5080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Слабее включаются гены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воспаления и фиброза</a:t>
            </a:r>
          </a:p>
        </p:txBody>
      </p:sp>
      <p:sp>
        <p:nvSpPr>
          <p:cNvPr id="21" name="Нестероидный селективный антагонист. Связывается с рецептором внутри клетки."/>
          <p:cNvSpPr txBox="1"/>
          <p:nvPr/>
        </p:nvSpPr>
        <p:spPr>
          <a:xfrm>
            <a:off x="508000" y="5156200"/>
            <a:ext cx="5588000" cy="914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избирательный антагонист МКР. Связывается с МКР внутри клетки и блокирует привлечение белков-коактиваторов, которые нужны для включения генов воспаления и фиброза.</a:t>
            </a:r>
          </a:p>
        </p:txBody>
      </p:sp>
      <p:sp>
        <p:nvSpPr>
          <p:cNvPr id="23" name="При хронической болезни почек и диабете 2 типа финеренон снижал риск почечных и сердечно-сосудистых "/>
          <p:cNvSpPr txBox="1"/>
          <p:nvPr/>
        </p:nvSpPr>
        <p:spPr>
          <a:xfrm>
            <a:off x="6477000" y="1790700"/>
            <a:ext cx="5080000" cy="965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dirty="0">
                <a:solidFill>
                  <a:srgbClr val="000000"/>
                </a:solidFill>
                <a:latin typeface="Arial Narrow"/>
                <a:cs typeface="Arial Narrow"/>
              </a:rPr>
              <a:t>Финеренон на фоне ИАПФ или БРА в максимально переносимой дозе снижал по сравнению с плацебо риск почечного исхода (FIDELIO-DKD) и сердечно-сосудистого исхода (FIGARO-DKD).</a:t>
            </a:r>
            <a:endParaRPr sz="1800" b="0" dirty="0"/>
          </a:p>
        </p:txBody>
      </p:sp>
      <p:sp>
        <p:nvSpPr>
          <p:cNvPr id="24" name="FIDELIO-DKD · FIGARO-DKD · FIDELITY"/>
          <p:cNvSpPr txBox="1"/>
          <p:nvPr/>
        </p:nvSpPr>
        <p:spPr>
          <a:xfrm>
            <a:off x="6477000" y="2908300"/>
            <a:ext cx="5080000" cy="406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Исследования: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FIDELIO-DKD, FIGARO-DKD; объединённый анализ FIDELITY</a:t>
            </a:r>
          </a:p>
        </p:txBody>
      </p:sp>
      <p:sp>
        <p:nvSpPr>
          <p:cNvPr id="26" name="Блокада рецептора может уменьшать секрецию калия в почечных канальцах. Калий крови и функцию почек п"/>
          <p:cNvSpPr txBox="1"/>
          <p:nvPr/>
        </p:nvSpPr>
        <p:spPr>
          <a:xfrm>
            <a:off x="6477000" y="4127500"/>
            <a:ext cx="5080000" cy="14986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Блокада МКР в почечных канальцах снижает выведение калия, поэтому его уровень в крови может расти.</a:t>
            </a:r>
            <a:endParaRPr lang="ru-RU" sz="1800"/>
          </a:p>
          <a:p>
            <a:pPr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и рСКФ проверяют до начала лечения, через 4 недели после начала или повышения дозы и далее периодически.</a:t>
            </a:r>
            <a:endParaRPr lang="ru-RU" sz="1800"/>
          </a:p>
        </p:txBody>
      </p:sp>
      <p:sp>
        <p:nvSpPr>
          <p:cNvPr id="27" name="Полоса_польза"/>
          <p:cNvSpPr/>
          <p:nvPr/>
        </p:nvSpPr>
        <p:spPr>
          <a:xfrm>
            <a:off x="6299200" y="1231900"/>
            <a:ext cx="54229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Доказано при ХБП с альбуминурией и диабете 2 типа</a:t>
            </a:r>
          </a:p>
        </p:txBody>
      </p:sp>
      <p:sp>
        <p:nvSpPr>
          <p:cNvPr id="28" name="Полоса_калий"/>
          <p:cNvSpPr/>
          <p:nvPr/>
        </p:nvSpPr>
        <p:spPr>
          <a:xfrm>
            <a:off x="6299200" y="3568700"/>
            <a:ext cx="54229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Калий: правило простое</a:t>
            </a:r>
          </a:p>
        </p:txBody>
      </p:sp>
      <p:sp>
        <p:nvSpPr>
          <p:cNvPr id="31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Bakris GL, et al. N Engl J Med. 2020;383:2219–2229. Pitt B, et al. N Engl J Med. 2021;385:2252–2263. Agarwal R, et al. Eur Heart J. 2022;43:474–484. Механизм и доклинические данные: Amazit L, et al. J Biol Chem. 2015;290:21876–21889; Grune J, et al. Hypertension. 2018;71:599–608; Droebner K, et al. Am J Nephrol. 2021;52:588–601. Иллюстрации: Servier Medical Art (CC BY 4.0).</a:t>
            </a:r>
            <a:endParaRPr lang="ru-RU" sz="800" b="0" dirty="0"/>
          </a:p>
        </p:txBody>
      </p:sp>
      <p:pic>
        <p:nvPicPr>
          <p:cNvPr id="32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3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II.</a:t>
            </a:r>
            <a:endParaRPr lang="ru-RU" sz="1000" b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834FAF44-51D0-401F-BDA5-1854AEE8CF92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Более 13 000 пациентов с ХБП и диабетом 2 типа: FIDELIO-DKD оценивал почечные исходы, FIGARO-DKD сердечно-сосудистые</a:t>
            </a:r>
            <a:endParaRPr sz="2000" b="0" dirty="0"/>
          </a:p>
        </p:txBody>
      </p:sp>
      <p:sp>
        <p:nvSpPr>
          <p:cNvPr id="9" name="fidelio_title">
            <a:extLst>
              <a:ext uri="{FF2B5EF4-FFF2-40B4-BE49-F238E27FC236}">
                <a16:creationId xmlns:a16="http://schemas.microsoft.com/office/drawing/2014/main" id="{DB91DFC9-12DF-4CD8-A1EA-708913BD80FA}"/>
              </a:ext>
            </a:extLst>
          </p:cNvPr>
          <p:cNvSpPr>
            <a:spLocks noGrp="1"/>
          </p:cNvSpPr>
          <p:nvPr/>
        </p:nvSpPr>
        <p:spPr>
          <a:xfrm>
            <a:off x="4267200" y="920750"/>
            <a:ext cx="34766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2C71A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FIDELIO-DKD</a:t>
            </a:r>
          </a:p>
        </p:txBody>
      </p:sp>
      <p:sp>
        <p:nvSpPr>
          <p:cNvPr id="10" name="figaro_title">
            <a:extLst>
              <a:ext uri="{FF2B5EF4-FFF2-40B4-BE49-F238E27FC236}">
                <a16:creationId xmlns:a16="http://schemas.microsoft.com/office/drawing/2014/main" id="{3A8EB585-C23E-400A-AF18-139AB0C07482}"/>
              </a:ext>
            </a:extLst>
          </p:cNvPr>
          <p:cNvSpPr>
            <a:spLocks noGrp="1"/>
          </p:cNvSpPr>
          <p:nvPr/>
        </p:nvSpPr>
        <p:spPr>
          <a:xfrm>
            <a:off x="8229600" y="920750"/>
            <a:ext cx="36195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4EA7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FIGARO-DKD</a:t>
            </a:r>
          </a:p>
        </p:txBody>
      </p:sp>
      <p:sp>
        <p:nvSpPr>
          <p:cNvPr id="11" name="fidelio_n">
            <a:extLst>
              <a:ext uri="{FF2B5EF4-FFF2-40B4-BE49-F238E27FC236}">
                <a16:creationId xmlns:a16="http://schemas.microsoft.com/office/drawing/2014/main" id="{E3FB8C88-D7A5-4B1A-818C-9147E32D6BCA}"/>
              </a:ext>
            </a:extLst>
          </p:cNvPr>
          <p:cNvSpPr>
            <a:spLocks noGrp="1"/>
          </p:cNvSpPr>
          <p:nvPr/>
        </p:nvSpPr>
        <p:spPr>
          <a:xfrm>
            <a:off x="4267200" y="1301750"/>
            <a:ext cx="3619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5734 пациента рандомизированы</a:t>
            </a:r>
          </a:p>
        </p:txBody>
      </p:sp>
      <p:sp>
        <p:nvSpPr>
          <p:cNvPr id="12" name="figaro_n">
            <a:extLst>
              <a:ext uri="{FF2B5EF4-FFF2-40B4-BE49-F238E27FC236}">
                <a16:creationId xmlns:a16="http://schemas.microsoft.com/office/drawing/2014/main" id="{7D189E7B-5736-4859-82D2-B87543408491}"/>
              </a:ext>
            </a:extLst>
          </p:cNvPr>
          <p:cNvSpPr>
            <a:spLocks noGrp="1"/>
          </p:cNvSpPr>
          <p:nvPr/>
        </p:nvSpPr>
        <p:spPr>
          <a:xfrm>
            <a:off x="8229600" y="1301750"/>
            <a:ext cx="36671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7437 пациентов рандомизированы</a:t>
            </a:r>
          </a:p>
        </p:txBody>
      </p:sp>
      <p:sp>
        <p:nvSpPr>
          <p:cNvPr id="13" name="trial_blue_rule">
            <a:extLst>
              <a:ext uri="{FF2B5EF4-FFF2-40B4-BE49-F238E27FC236}">
                <a16:creationId xmlns:a16="http://schemas.microsoft.com/office/drawing/2014/main" id="{CC8E7CDB-2DCE-4FBE-8925-7B258E7DCFE6}"/>
              </a:ext>
            </a:extLst>
          </p:cNvPr>
          <p:cNvSpPr>
            <a:spLocks noGrp="1"/>
          </p:cNvSpPr>
          <p:nvPr/>
        </p:nvSpPr>
        <p:spPr>
          <a:xfrm>
            <a:off x="4267200" y="1616075"/>
            <a:ext cx="3619500" cy="95"/>
          </a:xfrm>
          <a:prstGeom prst="line">
            <a:avLst/>
          </a:prstGeom>
          <a:noFill/>
          <a:ln w="22225">
            <a:solidFill>
              <a:srgbClr val="D9D9D9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" name="trial_green_rule">
            <a:extLst>
              <a:ext uri="{FF2B5EF4-FFF2-40B4-BE49-F238E27FC236}">
                <a16:creationId xmlns:a16="http://schemas.microsoft.com/office/drawing/2014/main" id="{BB2B1A67-36F8-4929-B303-A2579516E52C}"/>
              </a:ext>
            </a:extLst>
          </p:cNvPr>
          <p:cNvSpPr>
            <a:spLocks noGrp="1"/>
          </p:cNvSpPr>
          <p:nvPr/>
        </p:nvSpPr>
        <p:spPr>
          <a:xfrm>
            <a:off x="8229600" y="1616075"/>
            <a:ext cx="3619500" cy="95"/>
          </a:xfrm>
          <a:prstGeom prst="line">
            <a:avLst/>
          </a:prstGeom>
          <a:noFill/>
          <a:ln w="22225">
            <a:solidFill>
              <a:srgbClr val="D9D9D9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pic>
        <p:nvPicPr>
          <p:cNvPr id="45" name="Рисунок 4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457186" y="1797050"/>
            <a:ext cx="626837" cy="952500"/>
          </a:xfrm>
          <a:prstGeom prst="rect">
            <a:avLst/>
          </a:prstGeom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82000" y="1787660"/>
            <a:ext cx="726514" cy="952500"/>
          </a:xfrm>
          <a:prstGeom prst="rect">
            <a:avLst/>
          </a:prstGeom>
        </p:spPr>
      </p:pic>
      <p:sp>
        <p:nvSpPr>
          <p:cNvPr id="17" name="fidelio_primary_label">
            <a:extLst>
              <a:ext uri="{FF2B5EF4-FFF2-40B4-BE49-F238E27FC236}">
                <a16:creationId xmlns:a16="http://schemas.microsoft.com/office/drawing/2014/main" id="{CCAE673E-2305-4C00-B57D-CFBC69AF0E5B}"/>
              </a:ext>
            </a:extLst>
          </p:cNvPr>
          <p:cNvSpPr>
            <a:spLocks noGrp="1"/>
          </p:cNvSpPr>
          <p:nvPr/>
        </p:nvSpPr>
        <p:spPr>
          <a:xfrm>
            <a:off x="5629275" y="2108200"/>
            <a:ext cx="2238375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почечный исход</a:t>
            </a:r>
            <a:endParaRPr lang="ru-RU" sz="1600"/>
          </a:p>
        </p:txBody>
      </p:sp>
      <p:sp>
        <p:nvSpPr>
          <p:cNvPr id="18" name="figaro_primary_label">
            <a:extLst>
              <a:ext uri="{FF2B5EF4-FFF2-40B4-BE49-F238E27FC236}">
                <a16:creationId xmlns:a16="http://schemas.microsoft.com/office/drawing/2014/main" id="{C73C2D0D-8CD9-445C-997F-E441455B6F61}"/>
              </a:ext>
            </a:extLst>
          </p:cNvPr>
          <p:cNvSpPr>
            <a:spLocks noGrp="1"/>
          </p:cNvSpPr>
          <p:nvPr/>
        </p:nvSpPr>
        <p:spPr>
          <a:xfrm>
            <a:off x="9591675" y="2108200"/>
            <a:ext cx="228600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сердечно-сосудистый исход</a:t>
            </a:r>
            <a:endParaRPr lang="ru-RU" sz="1600"/>
          </a:p>
        </p:txBody>
      </p:sp>
      <p:sp>
        <p:nvSpPr>
          <p:cNvPr id="19" name="fidelio_primary_components">
            <a:extLst>
              <a:ext uri="{FF2B5EF4-FFF2-40B4-BE49-F238E27FC236}">
                <a16:creationId xmlns:a16="http://schemas.microsoft.com/office/drawing/2014/main" id="{BEA1218A-2F91-40EC-B255-07CEB1ECFC16}"/>
              </a:ext>
            </a:extLst>
          </p:cNvPr>
          <p:cNvSpPr>
            <a:spLocks noGrp="1"/>
          </p:cNvSpPr>
          <p:nvPr/>
        </p:nvSpPr>
        <p:spPr>
          <a:xfrm>
            <a:off x="4267200" y="2914650"/>
            <a:ext cx="3619500" cy="1009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Почечная недостаточность,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устойчивое снижение рСКФ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 </a:t>
            </a: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≥40%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или смерть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от почечных причин.</a:t>
            </a:r>
          </a:p>
        </p:txBody>
      </p:sp>
      <p:sp>
        <p:nvSpPr>
          <p:cNvPr id="20" name="figaro_primary_components">
            <a:extLst>
              <a:ext uri="{FF2B5EF4-FFF2-40B4-BE49-F238E27FC236}">
                <a16:creationId xmlns:a16="http://schemas.microsoft.com/office/drawing/2014/main" id="{CE942143-4C7E-404B-B9A3-36FBB79D1A65}"/>
              </a:ext>
            </a:extLst>
          </p:cNvPr>
          <p:cNvSpPr>
            <a:spLocks noGrp="1"/>
          </p:cNvSpPr>
          <p:nvPr/>
        </p:nvSpPr>
        <p:spPr>
          <a:xfrm>
            <a:off x="8229600" y="2914650"/>
            <a:ext cx="3657600" cy="1266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Сердечно-сосудистая смерть,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нефатальный инфаркт,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нефатальный инсульт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госпитализация по поводу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сердечной недостаточности.</a:t>
            </a:r>
          </a:p>
        </p:txBody>
      </p:sp>
      <p:sp>
        <p:nvSpPr>
          <p:cNvPr id="21" name="fidelio_secondary">
            <a:extLst>
              <a:ext uri="{FF2B5EF4-FFF2-40B4-BE49-F238E27FC236}">
                <a16:creationId xmlns:a16="http://schemas.microsoft.com/office/drawing/2014/main" id="{AE5808A7-ADFC-45BC-92B0-53F19A8E073C}"/>
              </a:ext>
            </a:extLst>
          </p:cNvPr>
          <p:cNvSpPr>
            <a:spLocks noGrp="1"/>
          </p:cNvSpPr>
          <p:nvPr/>
        </p:nvSpPr>
        <p:spPr>
          <a:xfrm>
            <a:off x="4267200" y="4181475"/>
            <a:ext cx="36195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Вторичный исход: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сердечно-сосудистый</a:t>
            </a:r>
          </a:p>
        </p:txBody>
      </p:sp>
      <p:sp>
        <p:nvSpPr>
          <p:cNvPr id="22" name="figaro_secondary">
            <a:extLst>
              <a:ext uri="{FF2B5EF4-FFF2-40B4-BE49-F238E27FC236}">
                <a16:creationId xmlns:a16="http://schemas.microsoft.com/office/drawing/2014/main" id="{DD4720F7-D30A-4E03-B9EC-7D5EFE3ADD31}"/>
              </a:ext>
            </a:extLst>
          </p:cNvPr>
          <p:cNvSpPr>
            <a:spLocks noGrp="1"/>
          </p:cNvSpPr>
          <p:nvPr/>
        </p:nvSpPr>
        <p:spPr>
          <a:xfrm>
            <a:off x="8229600" y="4181475"/>
            <a:ext cx="37147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Вторичный исход: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почечный, как в FIDELIO-DKD</a:t>
            </a:r>
          </a:p>
        </p:txBody>
      </p:sp>
      <p:sp>
        <p:nvSpPr>
          <p:cNvPr id="23" name="pooled_left_stem">
            <a:extLst>
              <a:ext uri="{FF2B5EF4-FFF2-40B4-BE49-F238E27FC236}">
                <a16:creationId xmlns:a16="http://schemas.microsoft.com/office/drawing/2014/main" id="{9B931FAD-D6A1-4F01-8108-844E58A464AA}"/>
              </a:ext>
            </a:extLst>
          </p:cNvPr>
          <p:cNvSpPr>
            <a:spLocks noGrp="1"/>
          </p:cNvSpPr>
          <p:nvPr/>
        </p:nvSpPr>
        <p:spPr>
          <a:xfrm>
            <a:off x="6076950" y="4591050"/>
            <a:ext cx="95" cy="12382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pooled_right_stem">
            <a:extLst>
              <a:ext uri="{FF2B5EF4-FFF2-40B4-BE49-F238E27FC236}">
                <a16:creationId xmlns:a16="http://schemas.microsoft.com/office/drawing/2014/main" id="{D2091D0E-A493-4B76-9092-3B96CFDB0D0D}"/>
              </a:ext>
            </a:extLst>
          </p:cNvPr>
          <p:cNvSpPr>
            <a:spLocks noGrp="1"/>
          </p:cNvSpPr>
          <p:nvPr/>
        </p:nvSpPr>
        <p:spPr>
          <a:xfrm>
            <a:off x="10039350" y="4591050"/>
            <a:ext cx="95" cy="12382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pooled_merge">
            <a:extLst>
              <a:ext uri="{FF2B5EF4-FFF2-40B4-BE49-F238E27FC236}">
                <a16:creationId xmlns:a16="http://schemas.microsoft.com/office/drawing/2014/main" id="{F49B731D-86BB-45D4-8000-02D3A11EB958}"/>
              </a:ext>
            </a:extLst>
          </p:cNvPr>
          <p:cNvSpPr>
            <a:spLocks noGrp="1"/>
          </p:cNvSpPr>
          <p:nvPr/>
        </p:nvSpPr>
        <p:spPr>
          <a:xfrm>
            <a:off x="6076950" y="4714875"/>
            <a:ext cx="3962400" cy="95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pooled_center">
            <a:extLst>
              <a:ext uri="{FF2B5EF4-FFF2-40B4-BE49-F238E27FC236}">
                <a16:creationId xmlns:a16="http://schemas.microsoft.com/office/drawing/2014/main" id="{67E122B2-0D7E-4FEF-A2D5-24277B1ED792}"/>
              </a:ext>
            </a:extLst>
          </p:cNvPr>
          <p:cNvSpPr>
            <a:spLocks noGrp="1"/>
          </p:cNvSpPr>
          <p:nvPr/>
        </p:nvSpPr>
        <p:spPr>
          <a:xfrm>
            <a:off x="8058150" y="4714875"/>
            <a:ext cx="95" cy="38100"/>
          </a:xfrm>
          <a:prstGeom prst="line">
            <a:avLst/>
          </a:prstGeom>
          <a:noFill/>
          <a:ln w="11430">
            <a:solidFill>
              <a:srgbClr val="8FA5B5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fidelity_title">
            <a:extLst>
              <a:ext uri="{FF2B5EF4-FFF2-40B4-BE49-F238E27FC236}">
                <a16:creationId xmlns:a16="http://schemas.microsoft.com/office/drawing/2014/main" id="{5C3F95B7-3755-4404-A7C8-0F9BC819333C}"/>
              </a:ext>
            </a:extLst>
          </p:cNvPr>
          <p:cNvSpPr>
            <a:spLocks noGrp="1"/>
          </p:cNvSpPr>
          <p:nvPr/>
        </p:nvSpPr>
        <p:spPr>
          <a:xfrm>
            <a:off x="4267200" y="4737100"/>
            <a:ext cx="16383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FIDELITY</a:t>
            </a:r>
          </a:p>
        </p:txBody>
      </p:sp>
      <p:sp>
        <p:nvSpPr>
          <p:cNvPr id="28" name="fidelity_n">
            <a:extLst>
              <a:ext uri="{FF2B5EF4-FFF2-40B4-BE49-F238E27FC236}">
                <a16:creationId xmlns:a16="http://schemas.microsoft.com/office/drawing/2014/main" id="{A104097A-AADE-4078-9C5B-13B22C784A7E}"/>
              </a:ext>
            </a:extLst>
          </p:cNvPr>
          <p:cNvSpPr>
            <a:spLocks noGrp="1"/>
          </p:cNvSpPr>
          <p:nvPr/>
        </p:nvSpPr>
        <p:spPr>
          <a:xfrm>
            <a:off x="5972175" y="4765675"/>
            <a:ext cx="59245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13 026 пациентов в анализе из 13 171 рандомизированного</a:t>
            </a:r>
          </a:p>
        </p:txBody>
      </p:sp>
      <p:sp>
        <p:nvSpPr>
          <p:cNvPr id="29" name="fidelity_description">
            <a:extLst>
              <a:ext uri="{FF2B5EF4-FFF2-40B4-BE49-F238E27FC236}">
                <a16:creationId xmlns:a16="http://schemas.microsoft.com/office/drawing/2014/main" id="{93FE25F2-D832-4776-8A26-4F4BEABAF7D0}"/>
              </a:ext>
            </a:extLst>
          </p:cNvPr>
          <p:cNvSpPr>
            <a:spLocks noGrp="1"/>
          </p:cNvSpPr>
          <p:nvPr/>
        </p:nvSpPr>
        <p:spPr>
          <a:xfrm>
            <a:off x="4267200" y="5060950"/>
            <a:ext cx="7620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Заранее запланированный объединённый анализ данных каждого пациента.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Основные исходы: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сердечно-сосудистый, как в FIGARO-DKD, и почечный, как в FIDELIO-DKD, но с устойчивым снижением рСКФ на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≥57%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.</a:t>
            </a:r>
          </a:p>
        </p:txBody>
      </p:sp>
      <p:sp>
        <p:nvSpPr>
          <p:cNvPr id="4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GL, et al. N Engl J Med. 2020;383:2219–2229. Pitt B, et al. N Engl J Med. 2021;385:2252–2263. Agarwal R, et al. Eur Heart J. 2022;43:474–484. Иллюстрации: Servier Medical Art.</a:t>
            </a:r>
            <a:endParaRPr lang="ru-RU" sz="800" b="0" dirty="0"/>
          </a:p>
        </p:txBody>
      </p:sp>
      <p:pic>
        <p:nvPicPr>
          <p:cNvPr id="48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9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II.</a:t>
            </a:r>
            <a:endParaRPr lang="ru-RU" sz="1000" b="0" dirty="0"/>
          </a:p>
        </p:txBody>
      </p:sp>
      <p:sp>
        <p:nvSpPr>
          <p:cNvPr id="50" name="Полоса_участники"/>
          <p:cNvSpPr/>
          <p:nvPr/>
        </p:nvSpPr>
        <p:spPr>
          <a:xfrm>
            <a:off x="457200" y="1143000"/>
            <a:ext cx="3505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Кто участвовал</a:t>
            </a:r>
          </a:p>
        </p:txBody>
      </p:sp>
      <p:sp>
        <p:nvSpPr>
          <p:cNvPr id="51" name="Карточка_участники"/>
          <p:cNvSpPr/>
          <p:nvPr/>
        </p:nvSpPr>
        <p:spPr>
          <a:xfrm>
            <a:off x="457200" y="1574800"/>
            <a:ext cx="3505200" cy="1143000"/>
          </a:xfrm>
          <a:prstGeom prst="roundRect">
            <a:avLst>
              <a:gd name="adj" fmla="val 888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2" name="Текст_участники"/>
          <p:cNvSpPr txBox="1"/>
          <p:nvPr/>
        </p:nvSpPr>
        <p:spPr>
          <a:xfrm>
            <a:off x="584200" y="1651000"/>
            <a:ext cx="3251200" cy="990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Пациенты с хронической болезнью почек, сахарным диабетом 2 типа и альбуминурией; калий сыворотки при включении ≤4,8 ммоль/л.</a:t>
            </a:r>
          </a:p>
        </p:txBody>
      </p:sp>
      <p:sp>
        <p:nvSpPr>
          <p:cNvPr id="53" name="Полоса_сравнение"/>
          <p:cNvSpPr/>
          <p:nvPr/>
        </p:nvSpPr>
        <p:spPr>
          <a:xfrm>
            <a:off x="457200" y="2895600"/>
            <a:ext cx="3505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Что сравнивали</a:t>
            </a:r>
          </a:p>
        </p:txBody>
      </p:sp>
      <p:sp>
        <p:nvSpPr>
          <p:cNvPr id="54" name="Карточка_сравнение"/>
          <p:cNvSpPr/>
          <p:nvPr/>
        </p:nvSpPr>
        <p:spPr>
          <a:xfrm>
            <a:off x="457200" y="3327400"/>
            <a:ext cx="35052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" name="Текст_сравнение"/>
          <p:cNvSpPr txBox="1"/>
          <p:nvPr/>
        </p:nvSpPr>
        <p:spPr>
          <a:xfrm>
            <a:off x="584200" y="3403600"/>
            <a:ext cx="3251200" cy="812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Финеренон или плацебо на фоне ИАПФ или БРА в максимально переносимой дозе.</a:t>
            </a:r>
          </a:p>
        </p:txBody>
      </p:sp>
    </p:spTree>
    <p:extLst>
      <p:ext uri="{BB962C8B-B14F-4D97-AF65-F5344CB8AC3E}">
        <p14:creationId xmlns:p14="http://schemas.microsoft.com/office/powerpoint/2010/main" val="1416737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E2B7700-F0D4-4F0D-AAEE-ECFEC8487674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FIDELIO-DKD: риск почечного исхода ниже на 18% по сравнению с плацебо</a:t>
            </a:r>
            <a:endParaRPr lang="ru-RU" sz="2000" b="0" dirty="0"/>
          </a:p>
        </p:txBody>
      </p:sp>
      <p:sp>
        <p:nvSpPr>
          <p:cNvPr id="11" name="study_population">
            <a:extLst>
              <a:ext uri="{FF2B5EF4-FFF2-40B4-BE49-F238E27FC236}">
                <a16:creationId xmlns:a16="http://schemas.microsoft.com/office/drawing/2014/main" id="{673D29CD-E6C9-4048-A20F-220EAD7A92F0}"/>
              </a:ext>
            </a:extLst>
          </p:cNvPr>
          <p:cNvSpPr>
            <a:spLocks noGrp="1"/>
          </p:cNvSpPr>
          <p:nvPr/>
        </p:nvSpPr>
        <p:spPr>
          <a:xfrm>
            <a:off x="457200" y="711200"/>
            <a:ext cx="10896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5674 пациента в анализе (5734 рандомизированы): ХБП и диабет 2 типа, преимущественно 3–4-я стадия с выраженной альбуминурией.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финеренон или плацебо на фоне ИАПФ или БРА в максимально переносимой дозе.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2,6 года.</a:t>
            </a:r>
          </a:p>
        </p:txBody>
      </p:sp>
      <p:sp>
        <p:nvSpPr>
          <p:cNvPr id="12" name="primary_endpoint">
            <a:extLst>
              <a:ext uri="{FF2B5EF4-FFF2-40B4-BE49-F238E27FC236}">
                <a16:creationId xmlns:a16="http://schemas.microsoft.com/office/drawing/2014/main" id="{B04B29A6-45E1-41A8-92AD-13C047326A9F}"/>
              </a:ext>
            </a:extLst>
          </p:cNvPr>
          <p:cNvSpPr>
            <a:spLocks noGrp="1"/>
          </p:cNvSpPr>
          <p:nvPr/>
        </p:nvSpPr>
        <p:spPr>
          <a:xfrm>
            <a:off x="457200" y="1552575"/>
            <a:ext cx="10896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почечная недостаточность, снижение рСКФ на ≥40%, сохраняющееся не менее 4 недель,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смерть от почечных причин.</a:t>
            </a:r>
          </a:p>
        </p:txBody>
      </p:sp>
      <p:sp>
        <p:nvSpPr>
          <p:cNvPr id="13" name="y_axis_title">
            <a:extLst>
              <a:ext uri="{FF2B5EF4-FFF2-40B4-BE49-F238E27FC236}">
                <a16:creationId xmlns:a16="http://schemas.microsoft.com/office/drawing/2014/main" id="{D9BF5D25-3102-42C2-B0F1-664CC4AA1FDB}"/>
              </a:ext>
            </a:extLst>
          </p:cNvPr>
          <p:cNvSpPr>
            <a:spLocks noGrp="1"/>
          </p:cNvSpPr>
          <p:nvPr/>
        </p:nvSpPr>
        <p:spPr>
          <a:xfrm>
            <a:off x="457200" y="2136989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14" name="tick_y_0">
            <a:extLst>
              <a:ext uri="{FF2B5EF4-FFF2-40B4-BE49-F238E27FC236}">
                <a16:creationId xmlns:a16="http://schemas.microsoft.com/office/drawing/2014/main" id="{99CC0655-617C-42E7-B4AA-191BADB80FBC}"/>
              </a:ext>
            </a:extLst>
          </p:cNvPr>
          <p:cNvSpPr>
            <a:spLocks noGrp="1"/>
          </p:cNvSpPr>
          <p:nvPr/>
        </p:nvSpPr>
        <p:spPr>
          <a:xfrm>
            <a:off x="815975" y="5298317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" name="y_0">
            <a:extLst>
              <a:ext uri="{FF2B5EF4-FFF2-40B4-BE49-F238E27FC236}">
                <a16:creationId xmlns:a16="http://schemas.microsoft.com/office/drawing/2014/main" id="{E4D00B76-C865-44BD-A07D-83825639FF73}"/>
              </a:ext>
            </a:extLst>
          </p:cNvPr>
          <p:cNvSpPr>
            <a:spLocks noGrp="1"/>
          </p:cNvSpPr>
          <p:nvPr/>
        </p:nvSpPr>
        <p:spPr>
          <a:xfrm>
            <a:off x="454025" y="5196443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6" name="grid_10">
            <a:extLst>
              <a:ext uri="{FF2B5EF4-FFF2-40B4-BE49-F238E27FC236}">
                <a16:creationId xmlns:a16="http://schemas.microsoft.com/office/drawing/2014/main" id="{DCB4AF76-7C61-4B9B-894C-F7BA553E4F4B}"/>
              </a:ext>
            </a:extLst>
          </p:cNvPr>
          <p:cNvSpPr>
            <a:spLocks noGrp="1"/>
          </p:cNvSpPr>
          <p:nvPr/>
        </p:nvSpPr>
        <p:spPr>
          <a:xfrm>
            <a:off x="863600" y="4600531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tick_y_10">
            <a:extLst>
              <a:ext uri="{FF2B5EF4-FFF2-40B4-BE49-F238E27FC236}">
                <a16:creationId xmlns:a16="http://schemas.microsoft.com/office/drawing/2014/main" id="{44406392-D66A-4F9A-B713-2B43F0D40180}"/>
              </a:ext>
            </a:extLst>
          </p:cNvPr>
          <p:cNvSpPr>
            <a:spLocks noGrp="1"/>
          </p:cNvSpPr>
          <p:nvPr/>
        </p:nvSpPr>
        <p:spPr>
          <a:xfrm>
            <a:off x="815975" y="4600531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y_10">
            <a:extLst>
              <a:ext uri="{FF2B5EF4-FFF2-40B4-BE49-F238E27FC236}">
                <a16:creationId xmlns:a16="http://schemas.microsoft.com/office/drawing/2014/main" id="{4C0A2F53-F80F-4E9E-81B0-07ABAB0A3663}"/>
              </a:ext>
            </a:extLst>
          </p:cNvPr>
          <p:cNvSpPr>
            <a:spLocks noGrp="1"/>
          </p:cNvSpPr>
          <p:nvPr/>
        </p:nvSpPr>
        <p:spPr>
          <a:xfrm>
            <a:off x="454025" y="4498657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19" name="grid_20">
            <a:extLst>
              <a:ext uri="{FF2B5EF4-FFF2-40B4-BE49-F238E27FC236}">
                <a16:creationId xmlns:a16="http://schemas.microsoft.com/office/drawing/2014/main" id="{47D5BF9F-0B56-44BE-B930-D89EA88D52E1}"/>
              </a:ext>
            </a:extLst>
          </p:cNvPr>
          <p:cNvSpPr>
            <a:spLocks noGrp="1"/>
          </p:cNvSpPr>
          <p:nvPr/>
        </p:nvSpPr>
        <p:spPr>
          <a:xfrm>
            <a:off x="863600" y="3902744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tick_y_20">
            <a:extLst>
              <a:ext uri="{FF2B5EF4-FFF2-40B4-BE49-F238E27FC236}">
                <a16:creationId xmlns:a16="http://schemas.microsoft.com/office/drawing/2014/main" id="{F0241278-CEF1-4607-A282-E806913E5170}"/>
              </a:ext>
            </a:extLst>
          </p:cNvPr>
          <p:cNvSpPr>
            <a:spLocks noGrp="1"/>
          </p:cNvSpPr>
          <p:nvPr/>
        </p:nvSpPr>
        <p:spPr>
          <a:xfrm>
            <a:off x="815975" y="3902744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y_20">
            <a:extLst>
              <a:ext uri="{FF2B5EF4-FFF2-40B4-BE49-F238E27FC236}">
                <a16:creationId xmlns:a16="http://schemas.microsoft.com/office/drawing/2014/main" id="{BD2C160C-DA27-4440-A2EC-8F2ACA429064}"/>
              </a:ext>
            </a:extLst>
          </p:cNvPr>
          <p:cNvSpPr>
            <a:spLocks noGrp="1"/>
          </p:cNvSpPr>
          <p:nvPr/>
        </p:nvSpPr>
        <p:spPr>
          <a:xfrm>
            <a:off x="454025" y="3800869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22" name="grid_30">
            <a:extLst>
              <a:ext uri="{FF2B5EF4-FFF2-40B4-BE49-F238E27FC236}">
                <a16:creationId xmlns:a16="http://schemas.microsoft.com/office/drawing/2014/main" id="{472B2417-B270-4C1E-922F-C854D7F78A3E}"/>
              </a:ext>
            </a:extLst>
          </p:cNvPr>
          <p:cNvSpPr>
            <a:spLocks noGrp="1"/>
          </p:cNvSpPr>
          <p:nvPr/>
        </p:nvSpPr>
        <p:spPr>
          <a:xfrm>
            <a:off x="863600" y="3204958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tick_y_30">
            <a:extLst>
              <a:ext uri="{FF2B5EF4-FFF2-40B4-BE49-F238E27FC236}">
                <a16:creationId xmlns:a16="http://schemas.microsoft.com/office/drawing/2014/main" id="{9720BF18-4CF0-48D0-9CD1-E2131D8497BC}"/>
              </a:ext>
            </a:extLst>
          </p:cNvPr>
          <p:cNvSpPr>
            <a:spLocks noGrp="1"/>
          </p:cNvSpPr>
          <p:nvPr/>
        </p:nvSpPr>
        <p:spPr>
          <a:xfrm>
            <a:off x="815975" y="3204958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y_30">
            <a:extLst>
              <a:ext uri="{FF2B5EF4-FFF2-40B4-BE49-F238E27FC236}">
                <a16:creationId xmlns:a16="http://schemas.microsoft.com/office/drawing/2014/main" id="{461A4715-2283-4775-B111-8F7C247100B6}"/>
              </a:ext>
            </a:extLst>
          </p:cNvPr>
          <p:cNvSpPr>
            <a:spLocks noGrp="1"/>
          </p:cNvSpPr>
          <p:nvPr/>
        </p:nvSpPr>
        <p:spPr>
          <a:xfrm>
            <a:off x="454025" y="3103085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25" name="grid_40">
            <a:extLst>
              <a:ext uri="{FF2B5EF4-FFF2-40B4-BE49-F238E27FC236}">
                <a16:creationId xmlns:a16="http://schemas.microsoft.com/office/drawing/2014/main" id="{1467E376-5B69-436E-9096-C03486575836}"/>
              </a:ext>
            </a:extLst>
          </p:cNvPr>
          <p:cNvSpPr>
            <a:spLocks noGrp="1"/>
          </p:cNvSpPr>
          <p:nvPr/>
        </p:nvSpPr>
        <p:spPr>
          <a:xfrm>
            <a:off x="863600" y="2507170"/>
            <a:ext cx="4038600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tick_y_40">
            <a:extLst>
              <a:ext uri="{FF2B5EF4-FFF2-40B4-BE49-F238E27FC236}">
                <a16:creationId xmlns:a16="http://schemas.microsoft.com/office/drawing/2014/main" id="{21F3C3C2-B8A1-4D91-A90F-BEEFA08B188E}"/>
              </a:ext>
            </a:extLst>
          </p:cNvPr>
          <p:cNvSpPr>
            <a:spLocks noGrp="1"/>
          </p:cNvSpPr>
          <p:nvPr/>
        </p:nvSpPr>
        <p:spPr>
          <a:xfrm>
            <a:off x="815975" y="2507170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y_40">
            <a:extLst>
              <a:ext uri="{FF2B5EF4-FFF2-40B4-BE49-F238E27FC236}">
                <a16:creationId xmlns:a16="http://schemas.microsoft.com/office/drawing/2014/main" id="{A31658D5-50E2-4838-AACB-CE4EC03C1E62}"/>
              </a:ext>
            </a:extLst>
          </p:cNvPr>
          <p:cNvSpPr>
            <a:spLocks noGrp="1"/>
          </p:cNvSpPr>
          <p:nvPr/>
        </p:nvSpPr>
        <p:spPr>
          <a:xfrm>
            <a:off x="454025" y="2405298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40</a:t>
            </a:r>
          </a:p>
        </p:txBody>
      </p:sp>
      <p:sp>
        <p:nvSpPr>
          <p:cNvPr id="28" name="y_axis">
            <a:extLst>
              <a:ext uri="{FF2B5EF4-FFF2-40B4-BE49-F238E27FC236}">
                <a16:creationId xmlns:a16="http://schemas.microsoft.com/office/drawing/2014/main" id="{E17D8223-12B9-4DC5-9951-755EB13ADE75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95" cy="279114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x_axis">
            <a:extLst>
              <a:ext uri="{FF2B5EF4-FFF2-40B4-BE49-F238E27FC236}">
                <a16:creationId xmlns:a16="http://schemas.microsoft.com/office/drawing/2014/main" id="{AC8E1279-A1A9-46CF-80B7-269B2489C850}"/>
              </a:ext>
            </a:extLst>
          </p:cNvPr>
          <p:cNvSpPr>
            <a:spLocks noGrp="1"/>
          </p:cNvSpPr>
          <p:nvPr/>
        </p:nvSpPr>
        <p:spPr>
          <a:xfrm>
            <a:off x="863600" y="5295900"/>
            <a:ext cx="4038600" cy="8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tick_x_0">
            <a:extLst>
              <a:ext uri="{FF2B5EF4-FFF2-40B4-BE49-F238E27FC236}">
                <a16:creationId xmlns:a16="http://schemas.microsoft.com/office/drawing/2014/main" id="{C552F541-999A-43AA-B9CC-97017837D9F7}"/>
              </a:ext>
            </a:extLst>
          </p:cNvPr>
          <p:cNvSpPr>
            <a:spLocks noGrp="1"/>
          </p:cNvSpPr>
          <p:nvPr/>
        </p:nvSpPr>
        <p:spPr>
          <a:xfrm>
            <a:off x="8636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month_0">
            <a:extLst>
              <a:ext uri="{FF2B5EF4-FFF2-40B4-BE49-F238E27FC236}">
                <a16:creationId xmlns:a16="http://schemas.microsoft.com/office/drawing/2014/main" id="{37794906-FBB9-426B-9467-B68BB0664494}"/>
              </a:ext>
            </a:extLst>
          </p:cNvPr>
          <p:cNvSpPr>
            <a:spLocks noGrp="1"/>
          </p:cNvSpPr>
          <p:nvPr/>
        </p:nvSpPr>
        <p:spPr>
          <a:xfrm>
            <a:off x="6445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32" name="tick_x_6">
            <a:extLst>
              <a:ext uri="{FF2B5EF4-FFF2-40B4-BE49-F238E27FC236}">
                <a16:creationId xmlns:a16="http://schemas.microsoft.com/office/drawing/2014/main" id="{5FB887B2-44E6-4B22-A441-3DCB5CC44E15}"/>
              </a:ext>
            </a:extLst>
          </p:cNvPr>
          <p:cNvSpPr>
            <a:spLocks noGrp="1"/>
          </p:cNvSpPr>
          <p:nvPr/>
        </p:nvSpPr>
        <p:spPr>
          <a:xfrm>
            <a:off x="136842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month_6">
            <a:extLst>
              <a:ext uri="{FF2B5EF4-FFF2-40B4-BE49-F238E27FC236}">
                <a16:creationId xmlns:a16="http://schemas.microsoft.com/office/drawing/2014/main" id="{E3B967B5-642D-49D8-924E-3D366DD07011}"/>
              </a:ext>
            </a:extLst>
          </p:cNvPr>
          <p:cNvSpPr>
            <a:spLocks noGrp="1"/>
          </p:cNvSpPr>
          <p:nvPr/>
        </p:nvSpPr>
        <p:spPr>
          <a:xfrm>
            <a:off x="114935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34" name="tick_x_12">
            <a:extLst>
              <a:ext uri="{FF2B5EF4-FFF2-40B4-BE49-F238E27FC236}">
                <a16:creationId xmlns:a16="http://schemas.microsoft.com/office/drawing/2014/main" id="{5B7A0EBD-6427-4D99-8860-FB75264BB405}"/>
              </a:ext>
            </a:extLst>
          </p:cNvPr>
          <p:cNvSpPr>
            <a:spLocks noGrp="1"/>
          </p:cNvSpPr>
          <p:nvPr/>
        </p:nvSpPr>
        <p:spPr>
          <a:xfrm>
            <a:off x="18732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month_12">
            <a:extLst>
              <a:ext uri="{FF2B5EF4-FFF2-40B4-BE49-F238E27FC236}">
                <a16:creationId xmlns:a16="http://schemas.microsoft.com/office/drawing/2014/main" id="{29E53C9F-8662-43BE-AD03-D7AF8941D334}"/>
              </a:ext>
            </a:extLst>
          </p:cNvPr>
          <p:cNvSpPr>
            <a:spLocks noGrp="1"/>
          </p:cNvSpPr>
          <p:nvPr/>
        </p:nvSpPr>
        <p:spPr>
          <a:xfrm>
            <a:off x="16541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36" name="tick_x_18">
            <a:extLst>
              <a:ext uri="{FF2B5EF4-FFF2-40B4-BE49-F238E27FC236}">
                <a16:creationId xmlns:a16="http://schemas.microsoft.com/office/drawing/2014/main" id="{54978DAF-76DF-4B09-8A34-9D595CD909B7}"/>
              </a:ext>
            </a:extLst>
          </p:cNvPr>
          <p:cNvSpPr>
            <a:spLocks noGrp="1"/>
          </p:cNvSpPr>
          <p:nvPr/>
        </p:nvSpPr>
        <p:spPr>
          <a:xfrm>
            <a:off x="237807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month_18">
            <a:extLst>
              <a:ext uri="{FF2B5EF4-FFF2-40B4-BE49-F238E27FC236}">
                <a16:creationId xmlns:a16="http://schemas.microsoft.com/office/drawing/2014/main" id="{10B0B6EF-AD35-4B47-B315-28BC0802E043}"/>
              </a:ext>
            </a:extLst>
          </p:cNvPr>
          <p:cNvSpPr>
            <a:spLocks noGrp="1"/>
          </p:cNvSpPr>
          <p:nvPr/>
        </p:nvSpPr>
        <p:spPr>
          <a:xfrm>
            <a:off x="215900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38" name="tick_x_24">
            <a:extLst>
              <a:ext uri="{FF2B5EF4-FFF2-40B4-BE49-F238E27FC236}">
                <a16:creationId xmlns:a16="http://schemas.microsoft.com/office/drawing/2014/main" id="{61D9C40F-B433-4C59-8C55-FED7CC158D29}"/>
              </a:ext>
            </a:extLst>
          </p:cNvPr>
          <p:cNvSpPr>
            <a:spLocks noGrp="1"/>
          </p:cNvSpPr>
          <p:nvPr/>
        </p:nvSpPr>
        <p:spPr>
          <a:xfrm>
            <a:off x="28829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month_24">
            <a:extLst>
              <a:ext uri="{FF2B5EF4-FFF2-40B4-BE49-F238E27FC236}">
                <a16:creationId xmlns:a16="http://schemas.microsoft.com/office/drawing/2014/main" id="{81A5B70C-2E4D-4141-BCD4-EAB3B093E06C}"/>
              </a:ext>
            </a:extLst>
          </p:cNvPr>
          <p:cNvSpPr>
            <a:spLocks noGrp="1"/>
          </p:cNvSpPr>
          <p:nvPr/>
        </p:nvSpPr>
        <p:spPr>
          <a:xfrm>
            <a:off x="26638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40" name="tick_x_30">
            <a:extLst>
              <a:ext uri="{FF2B5EF4-FFF2-40B4-BE49-F238E27FC236}">
                <a16:creationId xmlns:a16="http://schemas.microsoft.com/office/drawing/2014/main" id="{77A1A78D-AAD5-47B2-99A0-11EAE24B367A}"/>
              </a:ext>
            </a:extLst>
          </p:cNvPr>
          <p:cNvSpPr>
            <a:spLocks noGrp="1"/>
          </p:cNvSpPr>
          <p:nvPr/>
        </p:nvSpPr>
        <p:spPr>
          <a:xfrm>
            <a:off x="338772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month_30">
            <a:extLst>
              <a:ext uri="{FF2B5EF4-FFF2-40B4-BE49-F238E27FC236}">
                <a16:creationId xmlns:a16="http://schemas.microsoft.com/office/drawing/2014/main" id="{BCCF0379-4E5C-40D5-A5CF-F48E71F89648}"/>
              </a:ext>
            </a:extLst>
          </p:cNvPr>
          <p:cNvSpPr>
            <a:spLocks noGrp="1"/>
          </p:cNvSpPr>
          <p:nvPr/>
        </p:nvSpPr>
        <p:spPr>
          <a:xfrm>
            <a:off x="316865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42" name="tick_x_36">
            <a:extLst>
              <a:ext uri="{FF2B5EF4-FFF2-40B4-BE49-F238E27FC236}">
                <a16:creationId xmlns:a16="http://schemas.microsoft.com/office/drawing/2014/main" id="{48A63022-B124-4B3A-B1CA-4D8F58FE2033}"/>
              </a:ext>
            </a:extLst>
          </p:cNvPr>
          <p:cNvSpPr>
            <a:spLocks noGrp="1"/>
          </p:cNvSpPr>
          <p:nvPr/>
        </p:nvSpPr>
        <p:spPr>
          <a:xfrm>
            <a:off x="38925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month_36">
            <a:extLst>
              <a:ext uri="{FF2B5EF4-FFF2-40B4-BE49-F238E27FC236}">
                <a16:creationId xmlns:a16="http://schemas.microsoft.com/office/drawing/2014/main" id="{4BADC973-507D-4416-9353-40AD1C202E32}"/>
              </a:ext>
            </a:extLst>
          </p:cNvPr>
          <p:cNvSpPr>
            <a:spLocks noGrp="1"/>
          </p:cNvSpPr>
          <p:nvPr/>
        </p:nvSpPr>
        <p:spPr>
          <a:xfrm>
            <a:off x="36734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44" name="tick_x_42">
            <a:extLst>
              <a:ext uri="{FF2B5EF4-FFF2-40B4-BE49-F238E27FC236}">
                <a16:creationId xmlns:a16="http://schemas.microsoft.com/office/drawing/2014/main" id="{E95B99B0-66F0-4E31-AE2A-CB5C5631187E}"/>
              </a:ext>
            </a:extLst>
          </p:cNvPr>
          <p:cNvSpPr>
            <a:spLocks noGrp="1"/>
          </p:cNvSpPr>
          <p:nvPr/>
        </p:nvSpPr>
        <p:spPr>
          <a:xfrm>
            <a:off x="439737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month_42">
            <a:extLst>
              <a:ext uri="{FF2B5EF4-FFF2-40B4-BE49-F238E27FC236}">
                <a16:creationId xmlns:a16="http://schemas.microsoft.com/office/drawing/2014/main" id="{3E9C717B-2BC7-41BD-9F6B-EC74E7FF0EE4}"/>
              </a:ext>
            </a:extLst>
          </p:cNvPr>
          <p:cNvSpPr>
            <a:spLocks noGrp="1"/>
          </p:cNvSpPr>
          <p:nvPr/>
        </p:nvSpPr>
        <p:spPr>
          <a:xfrm>
            <a:off x="417830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46" name="tick_x_48">
            <a:extLst>
              <a:ext uri="{FF2B5EF4-FFF2-40B4-BE49-F238E27FC236}">
                <a16:creationId xmlns:a16="http://schemas.microsoft.com/office/drawing/2014/main" id="{2CE80C2B-78FB-41EF-9426-B767DCEA14CB}"/>
              </a:ext>
            </a:extLst>
          </p:cNvPr>
          <p:cNvSpPr>
            <a:spLocks noGrp="1"/>
          </p:cNvSpPr>
          <p:nvPr/>
        </p:nvSpPr>
        <p:spPr>
          <a:xfrm>
            <a:off x="49022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month_48">
            <a:extLst>
              <a:ext uri="{FF2B5EF4-FFF2-40B4-BE49-F238E27FC236}">
                <a16:creationId xmlns:a16="http://schemas.microsoft.com/office/drawing/2014/main" id="{84DD3801-4C79-4A5F-843C-F2CC6017FB10}"/>
              </a:ext>
            </a:extLst>
          </p:cNvPr>
          <p:cNvSpPr>
            <a:spLocks noGrp="1"/>
          </p:cNvSpPr>
          <p:nvPr/>
        </p:nvSpPr>
        <p:spPr>
          <a:xfrm>
            <a:off x="46831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48" name="published_curve_Финеренон">
            <a:extLst>
              <a:ext uri="{FF2B5EF4-FFF2-40B4-BE49-F238E27FC236}">
                <a16:creationId xmlns:a16="http://schemas.microsoft.com/office/drawing/2014/main" id="{2D6E0B2E-3DFB-4581-B224-9A6A4D384691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8600" cy="2791146"/>
          </a:xfrm>
          <a:custGeom>
            <a:avLst/>
            <a:gdLst/>
            <a:ahLst/>
            <a:cxnLst/>
            <a:rect l="0" t="0" r="0" b="0"/>
            <a:pathLst>
              <a:path w="5181600" h="2457450">
                <a:moveTo>
                  <a:pt x="1695" y="2457462"/>
                </a:moveTo>
                <a:lnTo>
                  <a:pt x="5263" y="2457462"/>
                </a:lnTo>
                <a:lnTo>
                  <a:pt x="8878" y="2457462"/>
                </a:lnTo>
                <a:lnTo>
                  <a:pt x="12446" y="2457462"/>
                </a:lnTo>
                <a:lnTo>
                  <a:pt x="16108" y="2457462"/>
                </a:lnTo>
                <a:lnTo>
                  <a:pt x="19676" y="2457462"/>
                </a:lnTo>
                <a:lnTo>
                  <a:pt x="23197" y="2457462"/>
                </a:lnTo>
                <a:lnTo>
                  <a:pt x="26906" y="2457462"/>
                </a:lnTo>
                <a:lnTo>
                  <a:pt x="30474" y="2457462"/>
                </a:lnTo>
                <a:lnTo>
                  <a:pt x="34042" y="2457462"/>
                </a:lnTo>
                <a:lnTo>
                  <a:pt x="37657" y="2457462"/>
                </a:lnTo>
                <a:lnTo>
                  <a:pt x="41272" y="2457462"/>
                </a:lnTo>
                <a:lnTo>
                  <a:pt x="44887" y="2457462"/>
                </a:lnTo>
                <a:lnTo>
                  <a:pt x="48456" y="2457462"/>
                </a:lnTo>
                <a:lnTo>
                  <a:pt x="52117" y="2457462"/>
                </a:lnTo>
                <a:lnTo>
                  <a:pt x="55686" y="2457462"/>
                </a:lnTo>
                <a:lnTo>
                  <a:pt x="59301" y="2457462"/>
                </a:lnTo>
                <a:lnTo>
                  <a:pt x="62916" y="2457462"/>
                </a:lnTo>
                <a:lnTo>
                  <a:pt x="66484" y="2457462"/>
                </a:lnTo>
                <a:lnTo>
                  <a:pt x="70052" y="2457462"/>
                </a:lnTo>
                <a:lnTo>
                  <a:pt x="73667" y="2457462"/>
                </a:lnTo>
                <a:lnTo>
                  <a:pt x="77282" y="2457462"/>
                </a:lnTo>
                <a:lnTo>
                  <a:pt x="80850" y="2457462"/>
                </a:lnTo>
                <a:lnTo>
                  <a:pt x="84465" y="2457462"/>
                </a:lnTo>
                <a:lnTo>
                  <a:pt x="88127" y="2457462"/>
                </a:lnTo>
                <a:lnTo>
                  <a:pt x="91695" y="2457462"/>
                </a:lnTo>
                <a:lnTo>
                  <a:pt x="95263" y="2457462"/>
                </a:lnTo>
                <a:lnTo>
                  <a:pt x="98832" y="2457462"/>
                </a:lnTo>
                <a:lnTo>
                  <a:pt x="102446" y="2457462"/>
                </a:lnTo>
                <a:lnTo>
                  <a:pt x="102446" y="2455264"/>
                </a:lnTo>
                <a:lnTo>
                  <a:pt x="106062" y="2455264"/>
                </a:lnTo>
                <a:lnTo>
                  <a:pt x="109630" y="2455264"/>
                </a:lnTo>
                <a:lnTo>
                  <a:pt x="109630" y="2453100"/>
                </a:lnTo>
                <a:lnTo>
                  <a:pt x="113292" y="2453100"/>
                </a:lnTo>
                <a:lnTo>
                  <a:pt x="116907" y="2453100"/>
                </a:lnTo>
                <a:lnTo>
                  <a:pt x="120475" y="2453100"/>
                </a:lnTo>
                <a:lnTo>
                  <a:pt x="124043" y="2453100"/>
                </a:lnTo>
                <a:lnTo>
                  <a:pt x="124043" y="2450902"/>
                </a:lnTo>
                <a:lnTo>
                  <a:pt x="127705" y="2450902"/>
                </a:lnTo>
                <a:lnTo>
                  <a:pt x="127705" y="2446505"/>
                </a:lnTo>
                <a:lnTo>
                  <a:pt x="131273" y="2446505"/>
                </a:lnTo>
                <a:lnTo>
                  <a:pt x="131273" y="2444375"/>
                </a:lnTo>
                <a:lnTo>
                  <a:pt x="134841" y="2444375"/>
                </a:lnTo>
                <a:lnTo>
                  <a:pt x="138503" y="2444375"/>
                </a:lnTo>
                <a:lnTo>
                  <a:pt x="142071" y="2444375"/>
                </a:lnTo>
                <a:lnTo>
                  <a:pt x="145640" y="2444375"/>
                </a:lnTo>
                <a:lnTo>
                  <a:pt x="149254" y="2444375"/>
                </a:lnTo>
                <a:lnTo>
                  <a:pt x="152917" y="2444375"/>
                </a:lnTo>
                <a:lnTo>
                  <a:pt x="156484" y="2444375"/>
                </a:lnTo>
                <a:lnTo>
                  <a:pt x="160053" y="2444375"/>
                </a:lnTo>
                <a:lnTo>
                  <a:pt x="163715" y="2444375"/>
                </a:lnTo>
                <a:lnTo>
                  <a:pt x="167283" y="2444375"/>
                </a:lnTo>
                <a:lnTo>
                  <a:pt x="170898" y="2444375"/>
                </a:lnTo>
                <a:lnTo>
                  <a:pt x="174419" y="2444375"/>
                </a:lnTo>
                <a:lnTo>
                  <a:pt x="178081" y="2444375"/>
                </a:lnTo>
                <a:lnTo>
                  <a:pt x="181649" y="2444375"/>
                </a:lnTo>
                <a:lnTo>
                  <a:pt x="185264" y="2444375"/>
                </a:lnTo>
                <a:lnTo>
                  <a:pt x="188879" y="2444375"/>
                </a:lnTo>
                <a:lnTo>
                  <a:pt x="192494" y="2444375"/>
                </a:lnTo>
                <a:lnTo>
                  <a:pt x="196062" y="2444375"/>
                </a:lnTo>
                <a:lnTo>
                  <a:pt x="199631" y="2444375"/>
                </a:lnTo>
                <a:lnTo>
                  <a:pt x="203292" y="2444375"/>
                </a:lnTo>
                <a:lnTo>
                  <a:pt x="206908" y="2444375"/>
                </a:lnTo>
                <a:lnTo>
                  <a:pt x="210429" y="2444375"/>
                </a:lnTo>
                <a:lnTo>
                  <a:pt x="210429" y="2442109"/>
                </a:lnTo>
                <a:lnTo>
                  <a:pt x="214091" y="2442109"/>
                </a:lnTo>
                <a:lnTo>
                  <a:pt x="217706" y="2442109"/>
                </a:lnTo>
                <a:lnTo>
                  <a:pt x="221227" y="2442109"/>
                </a:lnTo>
                <a:lnTo>
                  <a:pt x="224842" y="2442109"/>
                </a:lnTo>
                <a:lnTo>
                  <a:pt x="228504" y="2442109"/>
                </a:lnTo>
                <a:lnTo>
                  <a:pt x="228504" y="2439978"/>
                </a:lnTo>
                <a:lnTo>
                  <a:pt x="232072" y="2439978"/>
                </a:lnTo>
                <a:lnTo>
                  <a:pt x="235640" y="2439978"/>
                </a:lnTo>
                <a:lnTo>
                  <a:pt x="235640" y="2437746"/>
                </a:lnTo>
                <a:lnTo>
                  <a:pt x="239302" y="2437746"/>
                </a:lnTo>
                <a:lnTo>
                  <a:pt x="242917" y="2437746"/>
                </a:lnTo>
                <a:lnTo>
                  <a:pt x="246438" y="2437746"/>
                </a:lnTo>
                <a:lnTo>
                  <a:pt x="250053" y="2437746"/>
                </a:lnTo>
                <a:lnTo>
                  <a:pt x="253715" y="2437746"/>
                </a:lnTo>
                <a:lnTo>
                  <a:pt x="257237" y="2437746"/>
                </a:lnTo>
                <a:lnTo>
                  <a:pt x="260851" y="2437746"/>
                </a:lnTo>
                <a:lnTo>
                  <a:pt x="264514" y="2437746"/>
                </a:lnTo>
                <a:lnTo>
                  <a:pt x="268082" y="2437746"/>
                </a:lnTo>
                <a:lnTo>
                  <a:pt x="271650" y="2437746"/>
                </a:lnTo>
                <a:lnTo>
                  <a:pt x="275265" y="2437746"/>
                </a:lnTo>
                <a:lnTo>
                  <a:pt x="278880" y="2437746"/>
                </a:lnTo>
                <a:lnTo>
                  <a:pt x="282448" y="2437746"/>
                </a:lnTo>
                <a:lnTo>
                  <a:pt x="286063" y="2437746"/>
                </a:lnTo>
                <a:lnTo>
                  <a:pt x="289725" y="2437746"/>
                </a:lnTo>
                <a:lnTo>
                  <a:pt x="293246" y="2437746"/>
                </a:lnTo>
                <a:lnTo>
                  <a:pt x="296861" y="2437746"/>
                </a:lnTo>
                <a:lnTo>
                  <a:pt x="300429" y="2437746"/>
                </a:lnTo>
                <a:lnTo>
                  <a:pt x="304091" y="2437746"/>
                </a:lnTo>
                <a:lnTo>
                  <a:pt x="304091" y="2435548"/>
                </a:lnTo>
                <a:lnTo>
                  <a:pt x="307659" y="2435548"/>
                </a:lnTo>
                <a:lnTo>
                  <a:pt x="311275" y="2435548"/>
                </a:lnTo>
                <a:lnTo>
                  <a:pt x="314889" y="2435548"/>
                </a:lnTo>
                <a:lnTo>
                  <a:pt x="318505" y="2435548"/>
                </a:lnTo>
                <a:lnTo>
                  <a:pt x="322073" y="2435548"/>
                </a:lnTo>
                <a:lnTo>
                  <a:pt x="325641" y="2435548"/>
                </a:lnTo>
                <a:lnTo>
                  <a:pt x="329303" y="2435548"/>
                </a:lnTo>
                <a:lnTo>
                  <a:pt x="332871" y="2435548"/>
                </a:lnTo>
                <a:lnTo>
                  <a:pt x="336439" y="2435548"/>
                </a:lnTo>
                <a:lnTo>
                  <a:pt x="340101" y="2435548"/>
                </a:lnTo>
                <a:lnTo>
                  <a:pt x="343669" y="2435548"/>
                </a:lnTo>
                <a:lnTo>
                  <a:pt x="347284" y="2435548"/>
                </a:lnTo>
                <a:lnTo>
                  <a:pt x="350852" y="2435548"/>
                </a:lnTo>
                <a:lnTo>
                  <a:pt x="354514" y="2435548"/>
                </a:lnTo>
                <a:lnTo>
                  <a:pt x="358083" y="2435548"/>
                </a:lnTo>
                <a:lnTo>
                  <a:pt x="361651" y="2435548"/>
                </a:lnTo>
                <a:lnTo>
                  <a:pt x="365313" y="2435548"/>
                </a:lnTo>
                <a:lnTo>
                  <a:pt x="368834" y="2435548"/>
                </a:lnTo>
                <a:lnTo>
                  <a:pt x="372449" y="2435548"/>
                </a:lnTo>
                <a:lnTo>
                  <a:pt x="376017" y="2435548"/>
                </a:lnTo>
                <a:lnTo>
                  <a:pt x="379679" y="2435548"/>
                </a:lnTo>
                <a:lnTo>
                  <a:pt x="383294" y="2435548"/>
                </a:lnTo>
                <a:lnTo>
                  <a:pt x="383294" y="2433383"/>
                </a:lnTo>
                <a:lnTo>
                  <a:pt x="386862" y="2433383"/>
                </a:lnTo>
                <a:lnTo>
                  <a:pt x="390477" y="2433383"/>
                </a:lnTo>
                <a:lnTo>
                  <a:pt x="394092" y="2433383"/>
                </a:lnTo>
                <a:lnTo>
                  <a:pt x="397660" y="2433383"/>
                </a:lnTo>
                <a:lnTo>
                  <a:pt x="401228" y="2433383"/>
                </a:lnTo>
                <a:lnTo>
                  <a:pt x="404890" y="2433383"/>
                </a:lnTo>
                <a:lnTo>
                  <a:pt x="404890" y="2431185"/>
                </a:lnTo>
                <a:lnTo>
                  <a:pt x="408458" y="2431185"/>
                </a:lnTo>
                <a:lnTo>
                  <a:pt x="412026" y="2431185"/>
                </a:lnTo>
                <a:lnTo>
                  <a:pt x="415689" y="2431185"/>
                </a:lnTo>
                <a:lnTo>
                  <a:pt x="419304" y="2431185"/>
                </a:lnTo>
                <a:lnTo>
                  <a:pt x="422872" y="2431185"/>
                </a:lnTo>
                <a:lnTo>
                  <a:pt x="422872" y="2426755"/>
                </a:lnTo>
                <a:lnTo>
                  <a:pt x="426440" y="2426755"/>
                </a:lnTo>
                <a:lnTo>
                  <a:pt x="426440" y="2424523"/>
                </a:lnTo>
                <a:lnTo>
                  <a:pt x="430102" y="2424523"/>
                </a:lnTo>
                <a:lnTo>
                  <a:pt x="430102" y="2415696"/>
                </a:lnTo>
                <a:lnTo>
                  <a:pt x="433670" y="2415696"/>
                </a:lnTo>
                <a:lnTo>
                  <a:pt x="437238" y="2415696"/>
                </a:lnTo>
                <a:lnTo>
                  <a:pt x="437238" y="2411232"/>
                </a:lnTo>
                <a:lnTo>
                  <a:pt x="440900" y="2411232"/>
                </a:lnTo>
                <a:lnTo>
                  <a:pt x="444468" y="2411232"/>
                </a:lnTo>
                <a:lnTo>
                  <a:pt x="448036" y="2411232"/>
                </a:lnTo>
                <a:lnTo>
                  <a:pt x="451698" y="2411232"/>
                </a:lnTo>
                <a:lnTo>
                  <a:pt x="455266" y="2411232"/>
                </a:lnTo>
                <a:lnTo>
                  <a:pt x="458881" y="2411232"/>
                </a:lnTo>
                <a:lnTo>
                  <a:pt x="458881" y="2409033"/>
                </a:lnTo>
                <a:lnTo>
                  <a:pt x="462450" y="2409033"/>
                </a:lnTo>
                <a:lnTo>
                  <a:pt x="466111" y="2409033"/>
                </a:lnTo>
                <a:lnTo>
                  <a:pt x="466111" y="2402337"/>
                </a:lnTo>
                <a:lnTo>
                  <a:pt x="469680" y="2402337"/>
                </a:lnTo>
                <a:lnTo>
                  <a:pt x="473248" y="2402337"/>
                </a:lnTo>
                <a:lnTo>
                  <a:pt x="473248" y="2400106"/>
                </a:lnTo>
                <a:lnTo>
                  <a:pt x="476910" y="2400106"/>
                </a:lnTo>
                <a:lnTo>
                  <a:pt x="480478" y="2400106"/>
                </a:lnTo>
                <a:lnTo>
                  <a:pt x="484046" y="2400106"/>
                </a:lnTo>
                <a:lnTo>
                  <a:pt x="487614" y="2400106"/>
                </a:lnTo>
                <a:lnTo>
                  <a:pt x="491276" y="2400106"/>
                </a:lnTo>
                <a:lnTo>
                  <a:pt x="494891" y="2400106"/>
                </a:lnTo>
                <a:lnTo>
                  <a:pt x="498459" y="2400106"/>
                </a:lnTo>
                <a:lnTo>
                  <a:pt x="498459" y="2397840"/>
                </a:lnTo>
                <a:lnTo>
                  <a:pt x="502121" y="2397840"/>
                </a:lnTo>
                <a:lnTo>
                  <a:pt x="505689" y="2397840"/>
                </a:lnTo>
                <a:lnTo>
                  <a:pt x="509304" y="2397840"/>
                </a:lnTo>
                <a:lnTo>
                  <a:pt x="512826" y="2397840"/>
                </a:lnTo>
                <a:lnTo>
                  <a:pt x="516487" y="2397840"/>
                </a:lnTo>
                <a:lnTo>
                  <a:pt x="520103" y="2397840"/>
                </a:lnTo>
                <a:lnTo>
                  <a:pt x="523624" y="2397840"/>
                </a:lnTo>
                <a:lnTo>
                  <a:pt x="527286" y="2397840"/>
                </a:lnTo>
                <a:lnTo>
                  <a:pt x="530901" y="2397840"/>
                </a:lnTo>
                <a:lnTo>
                  <a:pt x="534469" y="2397840"/>
                </a:lnTo>
                <a:lnTo>
                  <a:pt x="538037" y="2397840"/>
                </a:lnTo>
                <a:lnTo>
                  <a:pt x="541699" y="2397840"/>
                </a:lnTo>
                <a:lnTo>
                  <a:pt x="545267" y="2397840"/>
                </a:lnTo>
                <a:lnTo>
                  <a:pt x="548835" y="2397840"/>
                </a:lnTo>
                <a:lnTo>
                  <a:pt x="552497" y="2397840"/>
                </a:lnTo>
                <a:lnTo>
                  <a:pt x="552497" y="2395608"/>
                </a:lnTo>
                <a:lnTo>
                  <a:pt x="556112" y="2395608"/>
                </a:lnTo>
                <a:lnTo>
                  <a:pt x="559680" y="2395608"/>
                </a:lnTo>
                <a:lnTo>
                  <a:pt x="563248" y="2395608"/>
                </a:lnTo>
                <a:lnTo>
                  <a:pt x="563248" y="2393409"/>
                </a:lnTo>
                <a:lnTo>
                  <a:pt x="566910" y="2393409"/>
                </a:lnTo>
                <a:lnTo>
                  <a:pt x="570478" y="2393409"/>
                </a:lnTo>
                <a:lnTo>
                  <a:pt x="574047" y="2393409"/>
                </a:lnTo>
                <a:lnTo>
                  <a:pt x="577708" y="2393409"/>
                </a:lnTo>
                <a:lnTo>
                  <a:pt x="581277" y="2393409"/>
                </a:lnTo>
                <a:lnTo>
                  <a:pt x="584845" y="2393409"/>
                </a:lnTo>
                <a:lnTo>
                  <a:pt x="588460" y="2393409"/>
                </a:lnTo>
                <a:lnTo>
                  <a:pt x="592122" y="2393409"/>
                </a:lnTo>
                <a:lnTo>
                  <a:pt x="595690" y="2393409"/>
                </a:lnTo>
                <a:lnTo>
                  <a:pt x="599258" y="2393409"/>
                </a:lnTo>
                <a:lnTo>
                  <a:pt x="602920" y="2393409"/>
                </a:lnTo>
                <a:lnTo>
                  <a:pt x="606488" y="2393409"/>
                </a:lnTo>
                <a:lnTo>
                  <a:pt x="610056" y="2393409"/>
                </a:lnTo>
                <a:lnTo>
                  <a:pt x="613672" y="2393409"/>
                </a:lnTo>
                <a:lnTo>
                  <a:pt x="617333" y="2393409"/>
                </a:lnTo>
                <a:lnTo>
                  <a:pt x="620855" y="2393409"/>
                </a:lnTo>
                <a:lnTo>
                  <a:pt x="624470" y="2393409"/>
                </a:lnTo>
                <a:lnTo>
                  <a:pt x="628132" y="2393409"/>
                </a:lnTo>
                <a:lnTo>
                  <a:pt x="631653" y="2393409"/>
                </a:lnTo>
                <a:lnTo>
                  <a:pt x="631653" y="2391144"/>
                </a:lnTo>
                <a:lnTo>
                  <a:pt x="635268" y="2391144"/>
                </a:lnTo>
                <a:lnTo>
                  <a:pt x="638836" y="2391144"/>
                </a:lnTo>
                <a:lnTo>
                  <a:pt x="642498" y="2391144"/>
                </a:lnTo>
                <a:lnTo>
                  <a:pt x="646066" y="2391144"/>
                </a:lnTo>
                <a:lnTo>
                  <a:pt x="649681" y="2391144"/>
                </a:lnTo>
                <a:lnTo>
                  <a:pt x="653296" y="2391144"/>
                </a:lnTo>
                <a:lnTo>
                  <a:pt x="656911" y="2391144"/>
                </a:lnTo>
                <a:lnTo>
                  <a:pt x="660479" y="2391144"/>
                </a:lnTo>
                <a:lnTo>
                  <a:pt x="664000" y="2391144"/>
                </a:lnTo>
                <a:lnTo>
                  <a:pt x="664000" y="2388878"/>
                </a:lnTo>
                <a:lnTo>
                  <a:pt x="667709" y="2388878"/>
                </a:lnTo>
                <a:lnTo>
                  <a:pt x="671277" y="2388878"/>
                </a:lnTo>
                <a:lnTo>
                  <a:pt x="674845" y="2388878"/>
                </a:lnTo>
                <a:lnTo>
                  <a:pt x="678508" y="2388878"/>
                </a:lnTo>
                <a:lnTo>
                  <a:pt x="682075" y="2388878"/>
                </a:lnTo>
                <a:lnTo>
                  <a:pt x="685644" y="2388878"/>
                </a:lnTo>
                <a:lnTo>
                  <a:pt x="685644" y="2386646"/>
                </a:lnTo>
                <a:lnTo>
                  <a:pt x="689259" y="2386646"/>
                </a:lnTo>
                <a:lnTo>
                  <a:pt x="692921" y="2386646"/>
                </a:lnTo>
                <a:lnTo>
                  <a:pt x="696489" y="2386646"/>
                </a:lnTo>
                <a:lnTo>
                  <a:pt x="700057" y="2386646"/>
                </a:lnTo>
                <a:lnTo>
                  <a:pt x="703719" y="2386646"/>
                </a:lnTo>
                <a:lnTo>
                  <a:pt x="707287" y="2386646"/>
                </a:lnTo>
                <a:lnTo>
                  <a:pt x="710855" y="2386646"/>
                </a:lnTo>
                <a:lnTo>
                  <a:pt x="714470" y="2386646"/>
                </a:lnTo>
                <a:lnTo>
                  <a:pt x="718085" y="2386646"/>
                </a:lnTo>
                <a:lnTo>
                  <a:pt x="721653" y="2386646"/>
                </a:lnTo>
                <a:lnTo>
                  <a:pt x="725269" y="2386646"/>
                </a:lnTo>
                <a:lnTo>
                  <a:pt x="728930" y="2386646"/>
                </a:lnTo>
                <a:lnTo>
                  <a:pt x="732499" y="2386646"/>
                </a:lnTo>
                <a:lnTo>
                  <a:pt x="736067" y="2386646"/>
                </a:lnTo>
                <a:lnTo>
                  <a:pt x="739635" y="2386646"/>
                </a:lnTo>
                <a:lnTo>
                  <a:pt x="743250" y="2386646"/>
                </a:lnTo>
                <a:lnTo>
                  <a:pt x="746865" y="2386646"/>
                </a:lnTo>
                <a:lnTo>
                  <a:pt x="750433" y="2386646"/>
                </a:lnTo>
                <a:lnTo>
                  <a:pt x="754095" y="2386646"/>
                </a:lnTo>
                <a:lnTo>
                  <a:pt x="757663" y="2386646"/>
                </a:lnTo>
                <a:lnTo>
                  <a:pt x="761278" y="2386646"/>
                </a:lnTo>
                <a:lnTo>
                  <a:pt x="764846" y="2386646"/>
                </a:lnTo>
                <a:lnTo>
                  <a:pt x="768508" y="2386646"/>
                </a:lnTo>
                <a:lnTo>
                  <a:pt x="772076" y="2386646"/>
                </a:lnTo>
                <a:lnTo>
                  <a:pt x="775644" y="2386646"/>
                </a:lnTo>
                <a:lnTo>
                  <a:pt x="779259" y="2386646"/>
                </a:lnTo>
                <a:lnTo>
                  <a:pt x="782875" y="2386646"/>
                </a:lnTo>
                <a:lnTo>
                  <a:pt x="782875" y="2384380"/>
                </a:lnTo>
                <a:lnTo>
                  <a:pt x="786443" y="2384380"/>
                </a:lnTo>
                <a:lnTo>
                  <a:pt x="790058" y="2384380"/>
                </a:lnTo>
                <a:lnTo>
                  <a:pt x="793673" y="2384380"/>
                </a:lnTo>
                <a:lnTo>
                  <a:pt x="797288" y="2384380"/>
                </a:lnTo>
                <a:lnTo>
                  <a:pt x="800856" y="2384380"/>
                </a:lnTo>
                <a:lnTo>
                  <a:pt x="804518" y="2384380"/>
                </a:lnTo>
                <a:lnTo>
                  <a:pt x="808086" y="2384380"/>
                </a:lnTo>
                <a:lnTo>
                  <a:pt x="811654" y="2384380"/>
                </a:lnTo>
                <a:lnTo>
                  <a:pt x="815222" y="2384380"/>
                </a:lnTo>
                <a:lnTo>
                  <a:pt x="818884" y="2384380"/>
                </a:lnTo>
                <a:lnTo>
                  <a:pt x="822452" y="2384380"/>
                </a:lnTo>
                <a:lnTo>
                  <a:pt x="826067" y="2384380"/>
                </a:lnTo>
                <a:lnTo>
                  <a:pt x="826067" y="2382148"/>
                </a:lnTo>
                <a:lnTo>
                  <a:pt x="829683" y="2382148"/>
                </a:lnTo>
                <a:lnTo>
                  <a:pt x="829683" y="2379916"/>
                </a:lnTo>
                <a:lnTo>
                  <a:pt x="833250" y="2379916"/>
                </a:lnTo>
                <a:lnTo>
                  <a:pt x="833250" y="2370852"/>
                </a:lnTo>
                <a:lnTo>
                  <a:pt x="836866" y="2370852"/>
                </a:lnTo>
                <a:lnTo>
                  <a:pt x="836866" y="2366320"/>
                </a:lnTo>
                <a:lnTo>
                  <a:pt x="840434" y="2366320"/>
                </a:lnTo>
                <a:lnTo>
                  <a:pt x="844096" y="2366320"/>
                </a:lnTo>
                <a:lnTo>
                  <a:pt x="847711" y="2366320"/>
                </a:lnTo>
                <a:lnTo>
                  <a:pt x="851232" y="2366320"/>
                </a:lnTo>
                <a:lnTo>
                  <a:pt x="851232" y="2364088"/>
                </a:lnTo>
                <a:lnTo>
                  <a:pt x="854894" y="2364088"/>
                </a:lnTo>
                <a:lnTo>
                  <a:pt x="858509" y="2364088"/>
                </a:lnTo>
                <a:lnTo>
                  <a:pt x="858509" y="2361822"/>
                </a:lnTo>
                <a:lnTo>
                  <a:pt x="862030" y="2361822"/>
                </a:lnTo>
                <a:lnTo>
                  <a:pt x="862030" y="2359557"/>
                </a:lnTo>
                <a:lnTo>
                  <a:pt x="865692" y="2359557"/>
                </a:lnTo>
                <a:lnTo>
                  <a:pt x="869260" y="2359557"/>
                </a:lnTo>
                <a:lnTo>
                  <a:pt x="872875" y="2359557"/>
                </a:lnTo>
                <a:lnTo>
                  <a:pt x="876444" y="2359557"/>
                </a:lnTo>
                <a:lnTo>
                  <a:pt x="876444" y="2357291"/>
                </a:lnTo>
                <a:lnTo>
                  <a:pt x="880105" y="2357291"/>
                </a:lnTo>
                <a:lnTo>
                  <a:pt x="880105" y="2352793"/>
                </a:lnTo>
                <a:lnTo>
                  <a:pt x="883721" y="2352793"/>
                </a:lnTo>
                <a:lnTo>
                  <a:pt x="883721" y="2348261"/>
                </a:lnTo>
                <a:lnTo>
                  <a:pt x="887242" y="2348261"/>
                </a:lnTo>
                <a:lnTo>
                  <a:pt x="890904" y="2348261"/>
                </a:lnTo>
                <a:lnTo>
                  <a:pt x="894519" y="2348261"/>
                </a:lnTo>
                <a:lnTo>
                  <a:pt x="898040" y="2348261"/>
                </a:lnTo>
                <a:lnTo>
                  <a:pt x="898040" y="2345962"/>
                </a:lnTo>
                <a:lnTo>
                  <a:pt x="901655" y="2345962"/>
                </a:lnTo>
                <a:lnTo>
                  <a:pt x="901655" y="2341430"/>
                </a:lnTo>
                <a:lnTo>
                  <a:pt x="905317" y="2341430"/>
                </a:lnTo>
                <a:lnTo>
                  <a:pt x="905317" y="2334598"/>
                </a:lnTo>
                <a:lnTo>
                  <a:pt x="908885" y="2334598"/>
                </a:lnTo>
                <a:lnTo>
                  <a:pt x="912453" y="2334598"/>
                </a:lnTo>
                <a:lnTo>
                  <a:pt x="916115" y="2334598"/>
                </a:lnTo>
                <a:lnTo>
                  <a:pt x="919683" y="2334598"/>
                </a:lnTo>
                <a:lnTo>
                  <a:pt x="923251" y="2334598"/>
                </a:lnTo>
                <a:lnTo>
                  <a:pt x="926866" y="2334598"/>
                </a:lnTo>
                <a:lnTo>
                  <a:pt x="926866" y="2332333"/>
                </a:lnTo>
                <a:lnTo>
                  <a:pt x="930528" y="2332333"/>
                </a:lnTo>
                <a:lnTo>
                  <a:pt x="934050" y="2332333"/>
                </a:lnTo>
                <a:lnTo>
                  <a:pt x="937665" y="2332333"/>
                </a:lnTo>
                <a:lnTo>
                  <a:pt x="941327" y="2332333"/>
                </a:lnTo>
                <a:lnTo>
                  <a:pt x="944894" y="2332333"/>
                </a:lnTo>
                <a:lnTo>
                  <a:pt x="948463" y="2332333"/>
                </a:lnTo>
                <a:lnTo>
                  <a:pt x="952031" y="2332333"/>
                </a:lnTo>
                <a:lnTo>
                  <a:pt x="955693" y="2332333"/>
                </a:lnTo>
                <a:lnTo>
                  <a:pt x="959261" y="2332333"/>
                </a:lnTo>
                <a:lnTo>
                  <a:pt x="959261" y="2330067"/>
                </a:lnTo>
                <a:lnTo>
                  <a:pt x="962876" y="2330067"/>
                </a:lnTo>
                <a:lnTo>
                  <a:pt x="966538" y="2330067"/>
                </a:lnTo>
                <a:lnTo>
                  <a:pt x="966538" y="2325501"/>
                </a:lnTo>
                <a:lnTo>
                  <a:pt x="970059" y="2325501"/>
                </a:lnTo>
                <a:lnTo>
                  <a:pt x="973674" y="2325501"/>
                </a:lnTo>
                <a:lnTo>
                  <a:pt x="977242" y="2325501"/>
                </a:lnTo>
                <a:lnTo>
                  <a:pt x="980904" y="2325501"/>
                </a:lnTo>
                <a:lnTo>
                  <a:pt x="984472" y="2325501"/>
                </a:lnTo>
                <a:lnTo>
                  <a:pt x="988041" y="2325501"/>
                </a:lnTo>
                <a:lnTo>
                  <a:pt x="991702" y="2325501"/>
                </a:lnTo>
                <a:lnTo>
                  <a:pt x="995318" y="2325501"/>
                </a:lnTo>
                <a:lnTo>
                  <a:pt x="998886" y="2325501"/>
                </a:lnTo>
                <a:lnTo>
                  <a:pt x="1002454" y="2325501"/>
                </a:lnTo>
                <a:lnTo>
                  <a:pt x="1006116" y="2325501"/>
                </a:lnTo>
                <a:lnTo>
                  <a:pt x="1009684" y="2325501"/>
                </a:lnTo>
                <a:lnTo>
                  <a:pt x="1013252" y="2325501"/>
                </a:lnTo>
                <a:lnTo>
                  <a:pt x="1016914" y="2325501"/>
                </a:lnTo>
                <a:lnTo>
                  <a:pt x="1020482" y="2325501"/>
                </a:lnTo>
                <a:lnTo>
                  <a:pt x="1024050" y="2325501"/>
                </a:lnTo>
                <a:lnTo>
                  <a:pt x="1024050" y="2323235"/>
                </a:lnTo>
                <a:lnTo>
                  <a:pt x="1027665" y="2323235"/>
                </a:lnTo>
                <a:lnTo>
                  <a:pt x="1031280" y="2323235"/>
                </a:lnTo>
                <a:lnTo>
                  <a:pt x="1034896" y="2323235"/>
                </a:lnTo>
                <a:lnTo>
                  <a:pt x="1038463" y="2323235"/>
                </a:lnTo>
                <a:lnTo>
                  <a:pt x="1042125" y="2323235"/>
                </a:lnTo>
                <a:lnTo>
                  <a:pt x="1045694" y="2323235"/>
                </a:lnTo>
                <a:lnTo>
                  <a:pt x="1049262" y="2323235"/>
                </a:lnTo>
                <a:lnTo>
                  <a:pt x="1052830" y="2323235"/>
                </a:lnTo>
                <a:lnTo>
                  <a:pt x="1056492" y="2323235"/>
                </a:lnTo>
                <a:lnTo>
                  <a:pt x="1060107" y="2323235"/>
                </a:lnTo>
                <a:lnTo>
                  <a:pt x="1063628" y="2323235"/>
                </a:lnTo>
                <a:lnTo>
                  <a:pt x="1067290" y="2323235"/>
                </a:lnTo>
                <a:lnTo>
                  <a:pt x="1070905" y="2323235"/>
                </a:lnTo>
                <a:lnTo>
                  <a:pt x="1074473" y="2323235"/>
                </a:lnTo>
                <a:lnTo>
                  <a:pt x="1078041" y="2323235"/>
                </a:lnTo>
                <a:lnTo>
                  <a:pt x="1081703" y="2323235"/>
                </a:lnTo>
                <a:lnTo>
                  <a:pt x="1085271" y="2323235"/>
                </a:lnTo>
                <a:lnTo>
                  <a:pt x="1088839" y="2323235"/>
                </a:lnTo>
                <a:lnTo>
                  <a:pt x="1092502" y="2323235"/>
                </a:lnTo>
                <a:lnTo>
                  <a:pt x="1096069" y="2323235"/>
                </a:lnTo>
                <a:lnTo>
                  <a:pt x="1099685" y="2323235"/>
                </a:lnTo>
                <a:lnTo>
                  <a:pt x="1103253" y="2323235"/>
                </a:lnTo>
                <a:lnTo>
                  <a:pt x="1106915" y="2323235"/>
                </a:lnTo>
                <a:lnTo>
                  <a:pt x="1110483" y="2323235"/>
                </a:lnTo>
                <a:lnTo>
                  <a:pt x="1114051" y="2323235"/>
                </a:lnTo>
                <a:lnTo>
                  <a:pt x="1117713" y="2323235"/>
                </a:lnTo>
                <a:lnTo>
                  <a:pt x="1121281" y="2323235"/>
                </a:lnTo>
                <a:lnTo>
                  <a:pt x="1124849" y="2323235"/>
                </a:lnTo>
                <a:lnTo>
                  <a:pt x="1128417" y="2323235"/>
                </a:lnTo>
                <a:lnTo>
                  <a:pt x="1132079" y="2323235"/>
                </a:lnTo>
                <a:lnTo>
                  <a:pt x="1135694" y="2323235"/>
                </a:lnTo>
                <a:lnTo>
                  <a:pt x="1139262" y="2323235"/>
                </a:lnTo>
                <a:lnTo>
                  <a:pt x="1142877" y="2323235"/>
                </a:lnTo>
                <a:lnTo>
                  <a:pt x="1146493" y="2323235"/>
                </a:lnTo>
                <a:lnTo>
                  <a:pt x="1150061" y="2323235"/>
                </a:lnTo>
                <a:lnTo>
                  <a:pt x="1153629" y="2323235"/>
                </a:lnTo>
                <a:lnTo>
                  <a:pt x="1157291" y="2323235"/>
                </a:lnTo>
                <a:lnTo>
                  <a:pt x="1160859" y="2323235"/>
                </a:lnTo>
                <a:lnTo>
                  <a:pt x="1164427" y="2323235"/>
                </a:lnTo>
                <a:lnTo>
                  <a:pt x="1168089" y="2323235"/>
                </a:lnTo>
                <a:lnTo>
                  <a:pt x="1171704" y="2323235"/>
                </a:lnTo>
                <a:lnTo>
                  <a:pt x="1175272" y="2323235"/>
                </a:lnTo>
                <a:lnTo>
                  <a:pt x="1178840" y="2323235"/>
                </a:lnTo>
                <a:lnTo>
                  <a:pt x="1182502" y="2323235"/>
                </a:lnTo>
                <a:lnTo>
                  <a:pt x="1186070" y="2323235"/>
                </a:lnTo>
                <a:lnTo>
                  <a:pt x="1189638" y="2323235"/>
                </a:lnTo>
                <a:lnTo>
                  <a:pt x="1193300" y="2323235"/>
                </a:lnTo>
                <a:lnTo>
                  <a:pt x="1196915" y="2323235"/>
                </a:lnTo>
                <a:lnTo>
                  <a:pt x="1200437" y="2323235"/>
                </a:lnTo>
                <a:lnTo>
                  <a:pt x="1204052" y="2323235"/>
                </a:lnTo>
                <a:lnTo>
                  <a:pt x="1207667" y="2323235"/>
                </a:lnTo>
                <a:lnTo>
                  <a:pt x="1211282" y="2323235"/>
                </a:lnTo>
                <a:lnTo>
                  <a:pt x="1214850" y="2323235"/>
                </a:lnTo>
                <a:lnTo>
                  <a:pt x="1218512" y="2323235"/>
                </a:lnTo>
                <a:lnTo>
                  <a:pt x="1218512" y="2320969"/>
                </a:lnTo>
                <a:lnTo>
                  <a:pt x="1222080" y="2320969"/>
                </a:lnTo>
                <a:lnTo>
                  <a:pt x="1225648" y="2320969"/>
                </a:lnTo>
                <a:lnTo>
                  <a:pt x="1229310" y="2320969"/>
                </a:lnTo>
                <a:lnTo>
                  <a:pt x="1232925" y="2320969"/>
                </a:lnTo>
                <a:lnTo>
                  <a:pt x="1236446" y="2320969"/>
                </a:lnTo>
                <a:lnTo>
                  <a:pt x="1240014" y="2320969"/>
                </a:lnTo>
                <a:lnTo>
                  <a:pt x="1243723" y="2320969"/>
                </a:lnTo>
                <a:lnTo>
                  <a:pt x="1247291" y="2320969"/>
                </a:lnTo>
                <a:lnTo>
                  <a:pt x="1250860" y="2320969"/>
                </a:lnTo>
                <a:lnTo>
                  <a:pt x="1254521" y="2320969"/>
                </a:lnTo>
                <a:lnTo>
                  <a:pt x="1254521" y="2318704"/>
                </a:lnTo>
                <a:lnTo>
                  <a:pt x="1258090" y="2318704"/>
                </a:lnTo>
                <a:lnTo>
                  <a:pt x="1261658" y="2318704"/>
                </a:lnTo>
                <a:lnTo>
                  <a:pt x="1261658" y="2309539"/>
                </a:lnTo>
                <a:lnTo>
                  <a:pt x="1265273" y="2309539"/>
                </a:lnTo>
                <a:lnTo>
                  <a:pt x="1265273" y="2307306"/>
                </a:lnTo>
                <a:lnTo>
                  <a:pt x="1268935" y="2307306"/>
                </a:lnTo>
                <a:lnTo>
                  <a:pt x="1272456" y="2307306"/>
                </a:lnTo>
                <a:lnTo>
                  <a:pt x="1272456" y="2302673"/>
                </a:lnTo>
                <a:lnTo>
                  <a:pt x="1276071" y="2302673"/>
                </a:lnTo>
                <a:lnTo>
                  <a:pt x="1276071" y="2300408"/>
                </a:lnTo>
                <a:lnTo>
                  <a:pt x="1279733" y="2300408"/>
                </a:lnTo>
                <a:lnTo>
                  <a:pt x="1283301" y="2300408"/>
                </a:lnTo>
                <a:lnTo>
                  <a:pt x="1286869" y="2300408"/>
                </a:lnTo>
                <a:lnTo>
                  <a:pt x="1286869" y="2295876"/>
                </a:lnTo>
                <a:lnTo>
                  <a:pt x="1290484" y="2295876"/>
                </a:lnTo>
                <a:lnTo>
                  <a:pt x="1290484" y="2293508"/>
                </a:lnTo>
                <a:lnTo>
                  <a:pt x="1294099" y="2293508"/>
                </a:lnTo>
                <a:lnTo>
                  <a:pt x="1294099" y="2286643"/>
                </a:lnTo>
                <a:lnTo>
                  <a:pt x="1297668" y="2286643"/>
                </a:lnTo>
                <a:lnTo>
                  <a:pt x="1297668" y="2275212"/>
                </a:lnTo>
                <a:lnTo>
                  <a:pt x="1301282" y="2275212"/>
                </a:lnTo>
                <a:lnTo>
                  <a:pt x="1301282" y="2270613"/>
                </a:lnTo>
                <a:lnTo>
                  <a:pt x="1304945" y="2270613"/>
                </a:lnTo>
                <a:lnTo>
                  <a:pt x="1304945" y="2268280"/>
                </a:lnTo>
                <a:lnTo>
                  <a:pt x="1308466" y="2268280"/>
                </a:lnTo>
                <a:lnTo>
                  <a:pt x="1312080" y="2268280"/>
                </a:lnTo>
                <a:lnTo>
                  <a:pt x="1312080" y="2254515"/>
                </a:lnTo>
                <a:lnTo>
                  <a:pt x="1315649" y="2254515"/>
                </a:lnTo>
                <a:lnTo>
                  <a:pt x="1315649" y="2249882"/>
                </a:lnTo>
                <a:lnTo>
                  <a:pt x="1319264" y="2249882"/>
                </a:lnTo>
                <a:lnTo>
                  <a:pt x="1319264" y="2247583"/>
                </a:lnTo>
                <a:lnTo>
                  <a:pt x="1322879" y="2247583"/>
                </a:lnTo>
                <a:lnTo>
                  <a:pt x="1322879" y="2245283"/>
                </a:lnTo>
                <a:lnTo>
                  <a:pt x="1326447" y="2245283"/>
                </a:lnTo>
                <a:lnTo>
                  <a:pt x="1326447" y="2242983"/>
                </a:lnTo>
                <a:lnTo>
                  <a:pt x="1330109" y="2242983"/>
                </a:lnTo>
                <a:lnTo>
                  <a:pt x="1333677" y="2242983"/>
                </a:lnTo>
                <a:lnTo>
                  <a:pt x="1337292" y="2242983"/>
                </a:lnTo>
                <a:lnTo>
                  <a:pt x="1337292" y="2238350"/>
                </a:lnTo>
                <a:lnTo>
                  <a:pt x="1340813" y="2238350"/>
                </a:lnTo>
                <a:lnTo>
                  <a:pt x="1344523" y="2238350"/>
                </a:lnTo>
                <a:lnTo>
                  <a:pt x="1348090" y="2238350"/>
                </a:lnTo>
                <a:lnTo>
                  <a:pt x="1351658" y="2238350"/>
                </a:lnTo>
                <a:lnTo>
                  <a:pt x="1355321" y="2238350"/>
                </a:lnTo>
                <a:lnTo>
                  <a:pt x="1358889" y="2238350"/>
                </a:lnTo>
                <a:lnTo>
                  <a:pt x="1362456" y="2238350"/>
                </a:lnTo>
                <a:lnTo>
                  <a:pt x="1362456" y="2236050"/>
                </a:lnTo>
                <a:lnTo>
                  <a:pt x="1366072" y="2236050"/>
                </a:lnTo>
                <a:lnTo>
                  <a:pt x="1369687" y="2236050"/>
                </a:lnTo>
                <a:lnTo>
                  <a:pt x="1373302" y="2236050"/>
                </a:lnTo>
                <a:lnTo>
                  <a:pt x="1373302" y="2233717"/>
                </a:lnTo>
                <a:lnTo>
                  <a:pt x="1376870" y="2233717"/>
                </a:lnTo>
                <a:lnTo>
                  <a:pt x="1380532" y="2233717"/>
                </a:lnTo>
                <a:lnTo>
                  <a:pt x="1384100" y="2233717"/>
                </a:lnTo>
                <a:lnTo>
                  <a:pt x="1387668" y="2233717"/>
                </a:lnTo>
                <a:lnTo>
                  <a:pt x="1391236" y="2233717"/>
                </a:lnTo>
                <a:lnTo>
                  <a:pt x="1391236" y="2231417"/>
                </a:lnTo>
                <a:lnTo>
                  <a:pt x="1394898" y="2231417"/>
                </a:lnTo>
                <a:lnTo>
                  <a:pt x="1398466" y="2231417"/>
                </a:lnTo>
                <a:lnTo>
                  <a:pt x="1402082" y="2231417"/>
                </a:lnTo>
                <a:lnTo>
                  <a:pt x="1405696" y="2231417"/>
                </a:lnTo>
                <a:lnTo>
                  <a:pt x="1409265" y="2231417"/>
                </a:lnTo>
                <a:lnTo>
                  <a:pt x="1412880" y="2231417"/>
                </a:lnTo>
                <a:lnTo>
                  <a:pt x="1416448" y="2231417"/>
                </a:lnTo>
                <a:lnTo>
                  <a:pt x="1420110" y="2231417"/>
                </a:lnTo>
                <a:lnTo>
                  <a:pt x="1420110" y="2229050"/>
                </a:lnTo>
                <a:lnTo>
                  <a:pt x="1423678" y="2229050"/>
                </a:lnTo>
                <a:lnTo>
                  <a:pt x="1427246" y="2229050"/>
                </a:lnTo>
                <a:lnTo>
                  <a:pt x="1430908" y="2229050"/>
                </a:lnTo>
                <a:lnTo>
                  <a:pt x="1434476" y="2229050"/>
                </a:lnTo>
                <a:lnTo>
                  <a:pt x="1438091" y="2229050"/>
                </a:lnTo>
                <a:lnTo>
                  <a:pt x="1438091" y="2224383"/>
                </a:lnTo>
                <a:lnTo>
                  <a:pt x="1441659" y="2224383"/>
                </a:lnTo>
                <a:lnTo>
                  <a:pt x="1445322" y="2224383"/>
                </a:lnTo>
                <a:lnTo>
                  <a:pt x="1448889" y="2224383"/>
                </a:lnTo>
                <a:lnTo>
                  <a:pt x="1452457" y="2224383"/>
                </a:lnTo>
                <a:lnTo>
                  <a:pt x="1456120" y="2224383"/>
                </a:lnTo>
                <a:lnTo>
                  <a:pt x="1459688" y="2224383"/>
                </a:lnTo>
                <a:lnTo>
                  <a:pt x="1463255" y="2224383"/>
                </a:lnTo>
                <a:lnTo>
                  <a:pt x="1466824" y="2224383"/>
                </a:lnTo>
                <a:lnTo>
                  <a:pt x="1470486" y="2224383"/>
                </a:lnTo>
                <a:lnTo>
                  <a:pt x="1474054" y="2224383"/>
                </a:lnTo>
                <a:lnTo>
                  <a:pt x="1477669" y="2224383"/>
                </a:lnTo>
                <a:lnTo>
                  <a:pt x="1481331" y="2224383"/>
                </a:lnTo>
                <a:lnTo>
                  <a:pt x="1484899" y="2224383"/>
                </a:lnTo>
                <a:lnTo>
                  <a:pt x="1488467" y="2224383"/>
                </a:lnTo>
                <a:lnTo>
                  <a:pt x="1492082" y="2224383"/>
                </a:lnTo>
                <a:lnTo>
                  <a:pt x="1495697" y="2224383"/>
                </a:lnTo>
                <a:lnTo>
                  <a:pt x="1499265" y="2224383"/>
                </a:lnTo>
                <a:lnTo>
                  <a:pt x="1499265" y="2222083"/>
                </a:lnTo>
                <a:lnTo>
                  <a:pt x="1502833" y="2222083"/>
                </a:lnTo>
                <a:lnTo>
                  <a:pt x="1506495" y="2222083"/>
                </a:lnTo>
                <a:lnTo>
                  <a:pt x="1510064" y="2222083"/>
                </a:lnTo>
                <a:lnTo>
                  <a:pt x="1510064" y="2219783"/>
                </a:lnTo>
                <a:lnTo>
                  <a:pt x="1513679" y="2219783"/>
                </a:lnTo>
                <a:lnTo>
                  <a:pt x="1517246" y="2219783"/>
                </a:lnTo>
                <a:lnTo>
                  <a:pt x="1517246" y="2217450"/>
                </a:lnTo>
                <a:lnTo>
                  <a:pt x="1520908" y="2217450"/>
                </a:lnTo>
                <a:lnTo>
                  <a:pt x="1524477" y="2217450"/>
                </a:lnTo>
                <a:lnTo>
                  <a:pt x="1528045" y="2217450"/>
                </a:lnTo>
                <a:lnTo>
                  <a:pt x="1531707" y="2217450"/>
                </a:lnTo>
                <a:lnTo>
                  <a:pt x="1535322" y="2217450"/>
                </a:lnTo>
                <a:lnTo>
                  <a:pt x="1538843" y="2217450"/>
                </a:lnTo>
                <a:lnTo>
                  <a:pt x="1542459" y="2217450"/>
                </a:lnTo>
                <a:lnTo>
                  <a:pt x="1546120" y="2217450"/>
                </a:lnTo>
                <a:lnTo>
                  <a:pt x="1549688" y="2217450"/>
                </a:lnTo>
                <a:lnTo>
                  <a:pt x="1553257" y="2217450"/>
                </a:lnTo>
                <a:lnTo>
                  <a:pt x="1556918" y="2217450"/>
                </a:lnTo>
                <a:lnTo>
                  <a:pt x="1560486" y="2217450"/>
                </a:lnTo>
                <a:lnTo>
                  <a:pt x="1564055" y="2217450"/>
                </a:lnTo>
                <a:lnTo>
                  <a:pt x="1567623" y="2217450"/>
                </a:lnTo>
                <a:lnTo>
                  <a:pt x="1571332" y="2217450"/>
                </a:lnTo>
                <a:lnTo>
                  <a:pt x="1574853" y="2217450"/>
                </a:lnTo>
                <a:lnTo>
                  <a:pt x="1578468" y="2217450"/>
                </a:lnTo>
                <a:lnTo>
                  <a:pt x="1582130" y="2217450"/>
                </a:lnTo>
                <a:lnTo>
                  <a:pt x="1585651" y="2217450"/>
                </a:lnTo>
                <a:lnTo>
                  <a:pt x="1589266" y="2217450"/>
                </a:lnTo>
                <a:lnTo>
                  <a:pt x="1592834" y="2217450"/>
                </a:lnTo>
                <a:lnTo>
                  <a:pt x="1596497" y="2217450"/>
                </a:lnTo>
                <a:lnTo>
                  <a:pt x="1600064" y="2217450"/>
                </a:lnTo>
                <a:lnTo>
                  <a:pt x="1603679" y="2217450"/>
                </a:lnTo>
                <a:lnTo>
                  <a:pt x="1607295" y="2217450"/>
                </a:lnTo>
                <a:lnTo>
                  <a:pt x="1610863" y="2217450"/>
                </a:lnTo>
                <a:lnTo>
                  <a:pt x="1610863" y="2212749"/>
                </a:lnTo>
                <a:lnTo>
                  <a:pt x="1614478" y="2212749"/>
                </a:lnTo>
                <a:lnTo>
                  <a:pt x="1618140" y="2212749"/>
                </a:lnTo>
                <a:lnTo>
                  <a:pt x="1621661" y="2212749"/>
                </a:lnTo>
                <a:lnTo>
                  <a:pt x="1625276" y="2212749"/>
                </a:lnTo>
                <a:lnTo>
                  <a:pt x="1628844" y="2212749"/>
                </a:lnTo>
                <a:lnTo>
                  <a:pt x="1632506" y="2212749"/>
                </a:lnTo>
                <a:lnTo>
                  <a:pt x="1636121" y="2212749"/>
                </a:lnTo>
                <a:lnTo>
                  <a:pt x="1639689" y="2212749"/>
                </a:lnTo>
                <a:lnTo>
                  <a:pt x="1643304" y="2212749"/>
                </a:lnTo>
                <a:lnTo>
                  <a:pt x="1646872" y="2212749"/>
                </a:lnTo>
                <a:lnTo>
                  <a:pt x="1646872" y="2210416"/>
                </a:lnTo>
                <a:lnTo>
                  <a:pt x="1650487" y="2210416"/>
                </a:lnTo>
                <a:lnTo>
                  <a:pt x="1654055" y="2210416"/>
                </a:lnTo>
                <a:lnTo>
                  <a:pt x="1657670" y="2210416"/>
                </a:lnTo>
                <a:lnTo>
                  <a:pt x="1657670" y="2208082"/>
                </a:lnTo>
                <a:lnTo>
                  <a:pt x="1661285" y="2208082"/>
                </a:lnTo>
                <a:lnTo>
                  <a:pt x="1664854" y="2208082"/>
                </a:lnTo>
                <a:lnTo>
                  <a:pt x="1668516" y="2208082"/>
                </a:lnTo>
                <a:lnTo>
                  <a:pt x="1672083" y="2208082"/>
                </a:lnTo>
                <a:lnTo>
                  <a:pt x="1675698" y="2208082"/>
                </a:lnTo>
                <a:lnTo>
                  <a:pt x="1679220" y="2208082"/>
                </a:lnTo>
                <a:lnTo>
                  <a:pt x="1682929" y="2208082"/>
                </a:lnTo>
                <a:lnTo>
                  <a:pt x="1682929" y="2201082"/>
                </a:lnTo>
                <a:lnTo>
                  <a:pt x="1686497" y="2201082"/>
                </a:lnTo>
                <a:lnTo>
                  <a:pt x="1690065" y="2201082"/>
                </a:lnTo>
                <a:lnTo>
                  <a:pt x="1690065" y="2177645"/>
                </a:lnTo>
                <a:lnTo>
                  <a:pt x="1693727" y="2177645"/>
                </a:lnTo>
                <a:lnTo>
                  <a:pt x="1693727" y="2170611"/>
                </a:lnTo>
                <a:lnTo>
                  <a:pt x="1697248" y="2170611"/>
                </a:lnTo>
                <a:lnTo>
                  <a:pt x="1697248" y="2163576"/>
                </a:lnTo>
                <a:lnTo>
                  <a:pt x="1700863" y="2163576"/>
                </a:lnTo>
                <a:lnTo>
                  <a:pt x="1704432" y="2163576"/>
                </a:lnTo>
                <a:lnTo>
                  <a:pt x="1708093" y="2163576"/>
                </a:lnTo>
                <a:lnTo>
                  <a:pt x="1708093" y="2158909"/>
                </a:lnTo>
                <a:lnTo>
                  <a:pt x="1711709" y="2158909"/>
                </a:lnTo>
                <a:lnTo>
                  <a:pt x="1711709" y="2151773"/>
                </a:lnTo>
                <a:lnTo>
                  <a:pt x="1715277" y="2151773"/>
                </a:lnTo>
                <a:lnTo>
                  <a:pt x="1715277" y="2144705"/>
                </a:lnTo>
                <a:lnTo>
                  <a:pt x="1718938" y="2144705"/>
                </a:lnTo>
                <a:lnTo>
                  <a:pt x="1718938" y="2142406"/>
                </a:lnTo>
                <a:lnTo>
                  <a:pt x="1722507" y="2142406"/>
                </a:lnTo>
                <a:lnTo>
                  <a:pt x="1722507" y="2140072"/>
                </a:lnTo>
                <a:lnTo>
                  <a:pt x="1726075" y="2140072"/>
                </a:lnTo>
                <a:lnTo>
                  <a:pt x="1726075" y="2135338"/>
                </a:lnTo>
                <a:lnTo>
                  <a:pt x="1729643" y="2135338"/>
                </a:lnTo>
                <a:lnTo>
                  <a:pt x="1729643" y="2128303"/>
                </a:lnTo>
                <a:lnTo>
                  <a:pt x="1733305" y="2128303"/>
                </a:lnTo>
                <a:lnTo>
                  <a:pt x="1733305" y="2125902"/>
                </a:lnTo>
                <a:lnTo>
                  <a:pt x="1736873" y="2125902"/>
                </a:lnTo>
                <a:lnTo>
                  <a:pt x="1736873" y="2121201"/>
                </a:lnTo>
                <a:lnTo>
                  <a:pt x="1740441" y="2121201"/>
                </a:lnTo>
                <a:lnTo>
                  <a:pt x="1740441" y="2118868"/>
                </a:lnTo>
                <a:lnTo>
                  <a:pt x="1744103" y="2118868"/>
                </a:lnTo>
                <a:lnTo>
                  <a:pt x="1744103" y="2114133"/>
                </a:lnTo>
                <a:lnTo>
                  <a:pt x="1747718" y="2114133"/>
                </a:lnTo>
                <a:lnTo>
                  <a:pt x="1747718" y="2111766"/>
                </a:lnTo>
                <a:lnTo>
                  <a:pt x="1751286" y="2111766"/>
                </a:lnTo>
                <a:lnTo>
                  <a:pt x="1751286" y="2104698"/>
                </a:lnTo>
                <a:lnTo>
                  <a:pt x="1754854" y="2104698"/>
                </a:lnTo>
                <a:lnTo>
                  <a:pt x="1754854" y="2102296"/>
                </a:lnTo>
                <a:lnTo>
                  <a:pt x="1758516" y="2102296"/>
                </a:lnTo>
                <a:lnTo>
                  <a:pt x="1758516" y="2099929"/>
                </a:lnTo>
                <a:lnTo>
                  <a:pt x="1762084" y="2099929"/>
                </a:lnTo>
                <a:lnTo>
                  <a:pt x="1762084" y="2097562"/>
                </a:lnTo>
                <a:lnTo>
                  <a:pt x="1765653" y="2097562"/>
                </a:lnTo>
                <a:lnTo>
                  <a:pt x="1765653" y="2095194"/>
                </a:lnTo>
                <a:lnTo>
                  <a:pt x="1769315" y="2095194"/>
                </a:lnTo>
                <a:lnTo>
                  <a:pt x="1769315" y="2092861"/>
                </a:lnTo>
                <a:lnTo>
                  <a:pt x="1772882" y="2092861"/>
                </a:lnTo>
                <a:lnTo>
                  <a:pt x="1776451" y="2092861"/>
                </a:lnTo>
                <a:lnTo>
                  <a:pt x="1780066" y="2092861"/>
                </a:lnTo>
                <a:lnTo>
                  <a:pt x="1783681" y="2092861"/>
                </a:lnTo>
                <a:lnTo>
                  <a:pt x="1787296" y="2092861"/>
                </a:lnTo>
                <a:lnTo>
                  <a:pt x="1787296" y="2090494"/>
                </a:lnTo>
                <a:lnTo>
                  <a:pt x="1790864" y="2090494"/>
                </a:lnTo>
                <a:lnTo>
                  <a:pt x="1794526" y="2090494"/>
                </a:lnTo>
                <a:lnTo>
                  <a:pt x="1798094" y="2090494"/>
                </a:lnTo>
                <a:lnTo>
                  <a:pt x="1798094" y="2088093"/>
                </a:lnTo>
                <a:lnTo>
                  <a:pt x="1801662" y="2088093"/>
                </a:lnTo>
                <a:lnTo>
                  <a:pt x="1805230" y="2088093"/>
                </a:lnTo>
                <a:lnTo>
                  <a:pt x="1808892" y="2088093"/>
                </a:lnTo>
                <a:lnTo>
                  <a:pt x="1812460" y="2088093"/>
                </a:lnTo>
                <a:lnTo>
                  <a:pt x="1816075" y="2088093"/>
                </a:lnTo>
                <a:lnTo>
                  <a:pt x="1819691" y="2088093"/>
                </a:lnTo>
                <a:lnTo>
                  <a:pt x="1823306" y="2088093"/>
                </a:lnTo>
                <a:lnTo>
                  <a:pt x="1826873" y="2088093"/>
                </a:lnTo>
                <a:lnTo>
                  <a:pt x="1830489" y="2088093"/>
                </a:lnTo>
                <a:lnTo>
                  <a:pt x="1834104" y="2088093"/>
                </a:lnTo>
                <a:lnTo>
                  <a:pt x="1834104" y="2085691"/>
                </a:lnTo>
                <a:lnTo>
                  <a:pt x="1837672" y="2085691"/>
                </a:lnTo>
                <a:lnTo>
                  <a:pt x="1841239" y="2085691"/>
                </a:lnTo>
                <a:lnTo>
                  <a:pt x="1844902" y="2085691"/>
                </a:lnTo>
                <a:lnTo>
                  <a:pt x="1848470" y="2085691"/>
                </a:lnTo>
                <a:lnTo>
                  <a:pt x="1848470" y="2083358"/>
                </a:lnTo>
                <a:lnTo>
                  <a:pt x="1852038" y="2083358"/>
                </a:lnTo>
                <a:lnTo>
                  <a:pt x="1855653" y="2083358"/>
                </a:lnTo>
                <a:lnTo>
                  <a:pt x="1859315" y="2083358"/>
                </a:lnTo>
                <a:lnTo>
                  <a:pt x="1862883" y="2083358"/>
                </a:lnTo>
                <a:lnTo>
                  <a:pt x="1862883" y="2078589"/>
                </a:lnTo>
                <a:lnTo>
                  <a:pt x="1866498" y="2078589"/>
                </a:lnTo>
                <a:lnTo>
                  <a:pt x="1870113" y="2078589"/>
                </a:lnTo>
                <a:lnTo>
                  <a:pt x="1870113" y="2076188"/>
                </a:lnTo>
                <a:lnTo>
                  <a:pt x="1873681" y="2076188"/>
                </a:lnTo>
                <a:lnTo>
                  <a:pt x="1877250" y="2076188"/>
                </a:lnTo>
                <a:lnTo>
                  <a:pt x="1877250" y="2073821"/>
                </a:lnTo>
                <a:lnTo>
                  <a:pt x="1880818" y="2073821"/>
                </a:lnTo>
                <a:lnTo>
                  <a:pt x="1884527" y="2073821"/>
                </a:lnTo>
                <a:lnTo>
                  <a:pt x="1884527" y="2071420"/>
                </a:lnTo>
                <a:lnTo>
                  <a:pt x="1888095" y="2071420"/>
                </a:lnTo>
                <a:lnTo>
                  <a:pt x="1891663" y="2071420"/>
                </a:lnTo>
                <a:lnTo>
                  <a:pt x="1895325" y="2071420"/>
                </a:lnTo>
                <a:lnTo>
                  <a:pt x="1895325" y="2069086"/>
                </a:lnTo>
                <a:lnTo>
                  <a:pt x="1898893" y="2069086"/>
                </a:lnTo>
                <a:lnTo>
                  <a:pt x="1898893" y="2066685"/>
                </a:lnTo>
                <a:lnTo>
                  <a:pt x="1902461" y="2066685"/>
                </a:lnTo>
                <a:lnTo>
                  <a:pt x="1906076" y="2066685"/>
                </a:lnTo>
                <a:lnTo>
                  <a:pt x="1906076" y="2064318"/>
                </a:lnTo>
                <a:lnTo>
                  <a:pt x="1909691" y="2064318"/>
                </a:lnTo>
                <a:lnTo>
                  <a:pt x="1913259" y="2064318"/>
                </a:lnTo>
                <a:lnTo>
                  <a:pt x="1913259" y="2059516"/>
                </a:lnTo>
                <a:lnTo>
                  <a:pt x="1916828" y="2059516"/>
                </a:lnTo>
                <a:lnTo>
                  <a:pt x="1920536" y="2059516"/>
                </a:lnTo>
                <a:lnTo>
                  <a:pt x="1924105" y="2059516"/>
                </a:lnTo>
                <a:lnTo>
                  <a:pt x="1924105" y="2057148"/>
                </a:lnTo>
                <a:lnTo>
                  <a:pt x="1927672" y="2057148"/>
                </a:lnTo>
                <a:lnTo>
                  <a:pt x="1931241" y="2057148"/>
                </a:lnTo>
                <a:lnTo>
                  <a:pt x="1934903" y="2057148"/>
                </a:lnTo>
                <a:lnTo>
                  <a:pt x="1938471" y="2057148"/>
                </a:lnTo>
                <a:lnTo>
                  <a:pt x="1942086" y="2057148"/>
                </a:lnTo>
                <a:lnTo>
                  <a:pt x="1945748" y="2057148"/>
                </a:lnTo>
                <a:lnTo>
                  <a:pt x="1949269" y="2057148"/>
                </a:lnTo>
                <a:lnTo>
                  <a:pt x="1952884" y="2057148"/>
                </a:lnTo>
                <a:lnTo>
                  <a:pt x="1956452" y="2057148"/>
                </a:lnTo>
                <a:lnTo>
                  <a:pt x="1960067" y="2057148"/>
                </a:lnTo>
                <a:lnTo>
                  <a:pt x="1963682" y="2057148"/>
                </a:lnTo>
                <a:lnTo>
                  <a:pt x="1967250" y="2057148"/>
                </a:lnTo>
                <a:lnTo>
                  <a:pt x="1970912" y="2057148"/>
                </a:lnTo>
                <a:lnTo>
                  <a:pt x="1974481" y="2057148"/>
                </a:lnTo>
                <a:lnTo>
                  <a:pt x="1978095" y="2057148"/>
                </a:lnTo>
                <a:lnTo>
                  <a:pt x="1981616" y="2057148"/>
                </a:lnTo>
                <a:lnTo>
                  <a:pt x="1981616" y="2054679"/>
                </a:lnTo>
                <a:lnTo>
                  <a:pt x="1985279" y="2054679"/>
                </a:lnTo>
                <a:lnTo>
                  <a:pt x="1988893" y="2054679"/>
                </a:lnTo>
                <a:lnTo>
                  <a:pt x="1992414" y="2054679"/>
                </a:lnTo>
                <a:lnTo>
                  <a:pt x="1992414" y="2052312"/>
                </a:lnTo>
                <a:lnTo>
                  <a:pt x="1996077" y="2052312"/>
                </a:lnTo>
                <a:lnTo>
                  <a:pt x="1999691" y="2052312"/>
                </a:lnTo>
                <a:lnTo>
                  <a:pt x="2003260" y="2052312"/>
                </a:lnTo>
                <a:lnTo>
                  <a:pt x="2006922" y="2052312"/>
                </a:lnTo>
                <a:lnTo>
                  <a:pt x="2006922" y="2049911"/>
                </a:lnTo>
                <a:lnTo>
                  <a:pt x="2010490" y="2049911"/>
                </a:lnTo>
                <a:lnTo>
                  <a:pt x="2014105" y="2049911"/>
                </a:lnTo>
                <a:lnTo>
                  <a:pt x="2017626" y="2049911"/>
                </a:lnTo>
                <a:lnTo>
                  <a:pt x="2021335" y="2049911"/>
                </a:lnTo>
                <a:lnTo>
                  <a:pt x="2024904" y="2049911"/>
                </a:lnTo>
                <a:lnTo>
                  <a:pt x="2024904" y="2047442"/>
                </a:lnTo>
                <a:lnTo>
                  <a:pt x="2028424" y="2047442"/>
                </a:lnTo>
                <a:lnTo>
                  <a:pt x="2032133" y="2047442"/>
                </a:lnTo>
                <a:lnTo>
                  <a:pt x="2035702" y="2047442"/>
                </a:lnTo>
                <a:lnTo>
                  <a:pt x="2039270" y="2047442"/>
                </a:lnTo>
                <a:lnTo>
                  <a:pt x="2042885" y="2047442"/>
                </a:lnTo>
                <a:lnTo>
                  <a:pt x="2046500" y="2047442"/>
                </a:lnTo>
                <a:lnTo>
                  <a:pt x="2046500" y="2045007"/>
                </a:lnTo>
                <a:lnTo>
                  <a:pt x="2050068" y="2045007"/>
                </a:lnTo>
                <a:lnTo>
                  <a:pt x="2053683" y="2045007"/>
                </a:lnTo>
                <a:lnTo>
                  <a:pt x="2057345" y="2045007"/>
                </a:lnTo>
                <a:lnTo>
                  <a:pt x="2060913" y="2045007"/>
                </a:lnTo>
                <a:lnTo>
                  <a:pt x="2064481" y="2045007"/>
                </a:lnTo>
                <a:lnTo>
                  <a:pt x="2068049" y="2045007"/>
                </a:lnTo>
                <a:lnTo>
                  <a:pt x="2071664" y="2045007"/>
                </a:lnTo>
                <a:lnTo>
                  <a:pt x="2071664" y="2042572"/>
                </a:lnTo>
                <a:lnTo>
                  <a:pt x="2075280" y="2042572"/>
                </a:lnTo>
                <a:lnTo>
                  <a:pt x="2078847" y="2042572"/>
                </a:lnTo>
                <a:lnTo>
                  <a:pt x="2082509" y="2042572"/>
                </a:lnTo>
                <a:lnTo>
                  <a:pt x="2086078" y="2042572"/>
                </a:lnTo>
                <a:lnTo>
                  <a:pt x="2089693" y="2042572"/>
                </a:lnTo>
                <a:lnTo>
                  <a:pt x="2093261" y="2042572"/>
                </a:lnTo>
                <a:lnTo>
                  <a:pt x="2096923" y="2042572"/>
                </a:lnTo>
                <a:lnTo>
                  <a:pt x="2096923" y="2040137"/>
                </a:lnTo>
                <a:lnTo>
                  <a:pt x="2100538" y="2040137"/>
                </a:lnTo>
                <a:lnTo>
                  <a:pt x="2104059" y="2040137"/>
                </a:lnTo>
                <a:lnTo>
                  <a:pt x="2107674" y="2040137"/>
                </a:lnTo>
                <a:lnTo>
                  <a:pt x="2111289" y="2040137"/>
                </a:lnTo>
                <a:lnTo>
                  <a:pt x="2111289" y="2035166"/>
                </a:lnTo>
                <a:lnTo>
                  <a:pt x="2114857" y="2035166"/>
                </a:lnTo>
                <a:lnTo>
                  <a:pt x="2118472" y="2035166"/>
                </a:lnTo>
                <a:lnTo>
                  <a:pt x="2118472" y="2030228"/>
                </a:lnTo>
                <a:lnTo>
                  <a:pt x="2122087" y="2030228"/>
                </a:lnTo>
                <a:lnTo>
                  <a:pt x="2122087" y="2025189"/>
                </a:lnTo>
                <a:lnTo>
                  <a:pt x="2125702" y="2025189"/>
                </a:lnTo>
                <a:lnTo>
                  <a:pt x="2125702" y="2022754"/>
                </a:lnTo>
                <a:lnTo>
                  <a:pt x="2129270" y="2022754"/>
                </a:lnTo>
                <a:lnTo>
                  <a:pt x="2129270" y="2017749"/>
                </a:lnTo>
                <a:lnTo>
                  <a:pt x="2132933" y="2017749"/>
                </a:lnTo>
                <a:lnTo>
                  <a:pt x="2132933" y="2012778"/>
                </a:lnTo>
                <a:lnTo>
                  <a:pt x="2136500" y="2012778"/>
                </a:lnTo>
                <a:lnTo>
                  <a:pt x="2140068" y="2012778"/>
                </a:lnTo>
                <a:lnTo>
                  <a:pt x="2140068" y="2007773"/>
                </a:lnTo>
                <a:lnTo>
                  <a:pt x="2143637" y="2007773"/>
                </a:lnTo>
                <a:lnTo>
                  <a:pt x="2143637" y="2000265"/>
                </a:lnTo>
                <a:lnTo>
                  <a:pt x="2147299" y="2000265"/>
                </a:lnTo>
                <a:lnTo>
                  <a:pt x="2150866" y="2000265"/>
                </a:lnTo>
                <a:lnTo>
                  <a:pt x="2154482" y="2000265"/>
                </a:lnTo>
                <a:lnTo>
                  <a:pt x="2154482" y="1992689"/>
                </a:lnTo>
                <a:lnTo>
                  <a:pt x="2158097" y="1992689"/>
                </a:lnTo>
                <a:lnTo>
                  <a:pt x="2158097" y="1980041"/>
                </a:lnTo>
                <a:lnTo>
                  <a:pt x="2161665" y="1980041"/>
                </a:lnTo>
                <a:lnTo>
                  <a:pt x="2161665" y="1977539"/>
                </a:lnTo>
                <a:lnTo>
                  <a:pt x="2165280" y="1977539"/>
                </a:lnTo>
                <a:lnTo>
                  <a:pt x="2165280" y="1972466"/>
                </a:lnTo>
                <a:lnTo>
                  <a:pt x="2168848" y="1972466"/>
                </a:lnTo>
                <a:lnTo>
                  <a:pt x="2168848" y="1954677"/>
                </a:lnTo>
                <a:lnTo>
                  <a:pt x="2172510" y="1954677"/>
                </a:lnTo>
                <a:lnTo>
                  <a:pt x="2172510" y="1941927"/>
                </a:lnTo>
                <a:lnTo>
                  <a:pt x="2176078" y="1941927"/>
                </a:lnTo>
                <a:lnTo>
                  <a:pt x="2176078" y="1934216"/>
                </a:lnTo>
                <a:lnTo>
                  <a:pt x="2179646" y="1934216"/>
                </a:lnTo>
                <a:lnTo>
                  <a:pt x="2179646" y="1929110"/>
                </a:lnTo>
                <a:lnTo>
                  <a:pt x="2183308" y="1929110"/>
                </a:lnTo>
                <a:lnTo>
                  <a:pt x="2186876" y="1929110"/>
                </a:lnTo>
                <a:lnTo>
                  <a:pt x="2186876" y="1923970"/>
                </a:lnTo>
                <a:lnTo>
                  <a:pt x="2190492" y="1923970"/>
                </a:lnTo>
                <a:lnTo>
                  <a:pt x="2190492" y="1918829"/>
                </a:lnTo>
                <a:lnTo>
                  <a:pt x="2194060" y="1918829"/>
                </a:lnTo>
                <a:lnTo>
                  <a:pt x="2194060" y="1903408"/>
                </a:lnTo>
                <a:lnTo>
                  <a:pt x="2197675" y="1903408"/>
                </a:lnTo>
                <a:lnTo>
                  <a:pt x="2197675" y="1900837"/>
                </a:lnTo>
                <a:lnTo>
                  <a:pt x="2201290" y="1900837"/>
                </a:lnTo>
                <a:lnTo>
                  <a:pt x="2204858" y="1900837"/>
                </a:lnTo>
                <a:lnTo>
                  <a:pt x="2204858" y="1898267"/>
                </a:lnTo>
                <a:lnTo>
                  <a:pt x="2208520" y="1898267"/>
                </a:lnTo>
                <a:lnTo>
                  <a:pt x="2208520" y="1895663"/>
                </a:lnTo>
                <a:lnTo>
                  <a:pt x="2212135" y="1895663"/>
                </a:lnTo>
                <a:lnTo>
                  <a:pt x="2215656" y="1895663"/>
                </a:lnTo>
                <a:lnTo>
                  <a:pt x="2219224" y="1895663"/>
                </a:lnTo>
                <a:lnTo>
                  <a:pt x="2222933" y="1895663"/>
                </a:lnTo>
                <a:lnTo>
                  <a:pt x="2222933" y="1893093"/>
                </a:lnTo>
                <a:lnTo>
                  <a:pt x="2226455" y="1893093"/>
                </a:lnTo>
                <a:lnTo>
                  <a:pt x="2226455" y="1890455"/>
                </a:lnTo>
                <a:lnTo>
                  <a:pt x="2230069" y="1890455"/>
                </a:lnTo>
                <a:lnTo>
                  <a:pt x="2233732" y="1890455"/>
                </a:lnTo>
                <a:lnTo>
                  <a:pt x="2237299" y="1890455"/>
                </a:lnTo>
                <a:lnTo>
                  <a:pt x="2240867" y="1890455"/>
                </a:lnTo>
                <a:lnTo>
                  <a:pt x="2244482" y="1890455"/>
                </a:lnTo>
                <a:lnTo>
                  <a:pt x="2244482" y="1887817"/>
                </a:lnTo>
                <a:lnTo>
                  <a:pt x="2248098" y="1887817"/>
                </a:lnTo>
                <a:lnTo>
                  <a:pt x="2251666" y="1887817"/>
                </a:lnTo>
                <a:lnTo>
                  <a:pt x="2251666" y="1885213"/>
                </a:lnTo>
                <a:lnTo>
                  <a:pt x="2255234" y="1885213"/>
                </a:lnTo>
                <a:lnTo>
                  <a:pt x="2255234" y="1882609"/>
                </a:lnTo>
                <a:lnTo>
                  <a:pt x="2258942" y="1882609"/>
                </a:lnTo>
                <a:lnTo>
                  <a:pt x="2262464" y="1882609"/>
                </a:lnTo>
                <a:lnTo>
                  <a:pt x="2266079" y="1882609"/>
                </a:lnTo>
                <a:lnTo>
                  <a:pt x="2266079" y="1879971"/>
                </a:lnTo>
                <a:lnTo>
                  <a:pt x="2269647" y="1879971"/>
                </a:lnTo>
                <a:lnTo>
                  <a:pt x="2269647" y="1877333"/>
                </a:lnTo>
                <a:lnTo>
                  <a:pt x="2273309" y="1877333"/>
                </a:lnTo>
                <a:lnTo>
                  <a:pt x="2276877" y="1877333"/>
                </a:lnTo>
                <a:lnTo>
                  <a:pt x="2280492" y="1877333"/>
                </a:lnTo>
                <a:lnTo>
                  <a:pt x="2284108" y="1877333"/>
                </a:lnTo>
                <a:lnTo>
                  <a:pt x="2287675" y="1877333"/>
                </a:lnTo>
                <a:lnTo>
                  <a:pt x="2287675" y="1874661"/>
                </a:lnTo>
                <a:lnTo>
                  <a:pt x="2291291" y="1874661"/>
                </a:lnTo>
                <a:lnTo>
                  <a:pt x="2294812" y="1874661"/>
                </a:lnTo>
                <a:lnTo>
                  <a:pt x="2294812" y="1869318"/>
                </a:lnTo>
                <a:lnTo>
                  <a:pt x="2298474" y="1869318"/>
                </a:lnTo>
                <a:lnTo>
                  <a:pt x="2302089" y="1869318"/>
                </a:lnTo>
                <a:lnTo>
                  <a:pt x="2305657" y="1869318"/>
                </a:lnTo>
                <a:lnTo>
                  <a:pt x="2309318" y="1869318"/>
                </a:lnTo>
                <a:lnTo>
                  <a:pt x="2312887" y="1869318"/>
                </a:lnTo>
                <a:lnTo>
                  <a:pt x="2316455" y="1869318"/>
                </a:lnTo>
                <a:lnTo>
                  <a:pt x="2320023" y="1869318"/>
                </a:lnTo>
                <a:lnTo>
                  <a:pt x="2323685" y="1869318"/>
                </a:lnTo>
                <a:lnTo>
                  <a:pt x="2327300" y="1869318"/>
                </a:lnTo>
                <a:lnTo>
                  <a:pt x="2330869" y="1869318"/>
                </a:lnTo>
                <a:lnTo>
                  <a:pt x="2334483" y="1869318"/>
                </a:lnTo>
                <a:lnTo>
                  <a:pt x="2338098" y="1869318"/>
                </a:lnTo>
                <a:lnTo>
                  <a:pt x="2338098" y="1866579"/>
                </a:lnTo>
                <a:lnTo>
                  <a:pt x="2341667" y="1866579"/>
                </a:lnTo>
                <a:lnTo>
                  <a:pt x="2345235" y="1866579"/>
                </a:lnTo>
                <a:lnTo>
                  <a:pt x="2348896" y="1866579"/>
                </a:lnTo>
                <a:lnTo>
                  <a:pt x="2352465" y="1866579"/>
                </a:lnTo>
                <a:lnTo>
                  <a:pt x="2356033" y="1866579"/>
                </a:lnTo>
                <a:lnTo>
                  <a:pt x="2359742" y="1866579"/>
                </a:lnTo>
                <a:lnTo>
                  <a:pt x="2363310" y="1866579"/>
                </a:lnTo>
                <a:lnTo>
                  <a:pt x="2363310" y="1863840"/>
                </a:lnTo>
                <a:lnTo>
                  <a:pt x="2366878" y="1863840"/>
                </a:lnTo>
                <a:lnTo>
                  <a:pt x="2366878" y="1861066"/>
                </a:lnTo>
                <a:lnTo>
                  <a:pt x="2370446" y="1861066"/>
                </a:lnTo>
                <a:lnTo>
                  <a:pt x="2374108" y="1861066"/>
                </a:lnTo>
                <a:lnTo>
                  <a:pt x="2377676" y="1861066"/>
                </a:lnTo>
                <a:lnTo>
                  <a:pt x="2381244" y="1861066"/>
                </a:lnTo>
                <a:lnTo>
                  <a:pt x="2384907" y="1861066"/>
                </a:lnTo>
                <a:lnTo>
                  <a:pt x="2388521" y="1861066"/>
                </a:lnTo>
                <a:lnTo>
                  <a:pt x="2388521" y="1858293"/>
                </a:lnTo>
                <a:lnTo>
                  <a:pt x="2392089" y="1858293"/>
                </a:lnTo>
                <a:lnTo>
                  <a:pt x="2395705" y="1858293"/>
                </a:lnTo>
                <a:lnTo>
                  <a:pt x="2399319" y="1858293"/>
                </a:lnTo>
                <a:lnTo>
                  <a:pt x="2399319" y="1855520"/>
                </a:lnTo>
                <a:lnTo>
                  <a:pt x="2402888" y="1855520"/>
                </a:lnTo>
                <a:lnTo>
                  <a:pt x="2406455" y="1855520"/>
                </a:lnTo>
                <a:lnTo>
                  <a:pt x="2410117" y="1855520"/>
                </a:lnTo>
                <a:lnTo>
                  <a:pt x="2413686" y="1855520"/>
                </a:lnTo>
                <a:lnTo>
                  <a:pt x="2417254" y="1855520"/>
                </a:lnTo>
                <a:lnTo>
                  <a:pt x="2420916" y="1855520"/>
                </a:lnTo>
                <a:lnTo>
                  <a:pt x="2424484" y="1855520"/>
                </a:lnTo>
                <a:lnTo>
                  <a:pt x="2428099" y="1855520"/>
                </a:lnTo>
                <a:lnTo>
                  <a:pt x="2431667" y="1855520"/>
                </a:lnTo>
                <a:lnTo>
                  <a:pt x="2435329" y="1855520"/>
                </a:lnTo>
                <a:lnTo>
                  <a:pt x="2438897" y="1855520"/>
                </a:lnTo>
                <a:lnTo>
                  <a:pt x="2442465" y="1855520"/>
                </a:lnTo>
                <a:lnTo>
                  <a:pt x="2446127" y="1855520"/>
                </a:lnTo>
                <a:lnTo>
                  <a:pt x="2446127" y="1852713"/>
                </a:lnTo>
                <a:lnTo>
                  <a:pt x="2449695" y="1852713"/>
                </a:lnTo>
                <a:lnTo>
                  <a:pt x="2449695" y="1849838"/>
                </a:lnTo>
                <a:lnTo>
                  <a:pt x="2453264" y="1849838"/>
                </a:lnTo>
                <a:lnTo>
                  <a:pt x="2456831" y="1849838"/>
                </a:lnTo>
                <a:lnTo>
                  <a:pt x="2460493" y="1849838"/>
                </a:lnTo>
                <a:lnTo>
                  <a:pt x="2464109" y="1849838"/>
                </a:lnTo>
                <a:lnTo>
                  <a:pt x="2467677" y="1849838"/>
                </a:lnTo>
                <a:lnTo>
                  <a:pt x="2471339" y="1849838"/>
                </a:lnTo>
                <a:lnTo>
                  <a:pt x="2471339" y="1846930"/>
                </a:lnTo>
                <a:lnTo>
                  <a:pt x="2474907" y="1846930"/>
                </a:lnTo>
                <a:lnTo>
                  <a:pt x="2478475" y="1846930"/>
                </a:lnTo>
                <a:lnTo>
                  <a:pt x="2482090" y="1846930"/>
                </a:lnTo>
                <a:lnTo>
                  <a:pt x="2485705" y="1846930"/>
                </a:lnTo>
                <a:lnTo>
                  <a:pt x="2489273" y="1846930"/>
                </a:lnTo>
                <a:lnTo>
                  <a:pt x="2492842" y="1846930"/>
                </a:lnTo>
                <a:lnTo>
                  <a:pt x="2496503" y="1846930"/>
                </a:lnTo>
                <a:lnTo>
                  <a:pt x="2500119" y="1846930"/>
                </a:lnTo>
                <a:lnTo>
                  <a:pt x="2503687" y="1846930"/>
                </a:lnTo>
                <a:lnTo>
                  <a:pt x="2507254" y="1846930"/>
                </a:lnTo>
                <a:lnTo>
                  <a:pt x="2510917" y="1846930"/>
                </a:lnTo>
                <a:lnTo>
                  <a:pt x="2514485" y="1846930"/>
                </a:lnTo>
                <a:lnTo>
                  <a:pt x="2518053" y="1846930"/>
                </a:lnTo>
                <a:lnTo>
                  <a:pt x="2521715" y="1846930"/>
                </a:lnTo>
                <a:lnTo>
                  <a:pt x="2525283" y="1846930"/>
                </a:lnTo>
                <a:lnTo>
                  <a:pt x="2528851" y="1846930"/>
                </a:lnTo>
                <a:lnTo>
                  <a:pt x="2532466" y="1846930"/>
                </a:lnTo>
                <a:lnTo>
                  <a:pt x="2536081" y="1846930"/>
                </a:lnTo>
                <a:lnTo>
                  <a:pt x="2539696" y="1846930"/>
                </a:lnTo>
                <a:lnTo>
                  <a:pt x="2543264" y="1846930"/>
                </a:lnTo>
                <a:lnTo>
                  <a:pt x="2546926" y="1846930"/>
                </a:lnTo>
                <a:lnTo>
                  <a:pt x="2546926" y="1844021"/>
                </a:lnTo>
                <a:lnTo>
                  <a:pt x="2550494" y="1844021"/>
                </a:lnTo>
                <a:lnTo>
                  <a:pt x="2554063" y="1844021"/>
                </a:lnTo>
                <a:lnTo>
                  <a:pt x="2557630" y="1844021"/>
                </a:lnTo>
                <a:lnTo>
                  <a:pt x="2561340" y="1844021"/>
                </a:lnTo>
                <a:lnTo>
                  <a:pt x="2564861" y="1844021"/>
                </a:lnTo>
                <a:lnTo>
                  <a:pt x="2564861" y="1841045"/>
                </a:lnTo>
                <a:lnTo>
                  <a:pt x="2568476" y="1841045"/>
                </a:lnTo>
                <a:lnTo>
                  <a:pt x="2568476" y="1829040"/>
                </a:lnTo>
                <a:lnTo>
                  <a:pt x="2572138" y="1829040"/>
                </a:lnTo>
                <a:lnTo>
                  <a:pt x="2572138" y="1820078"/>
                </a:lnTo>
                <a:lnTo>
                  <a:pt x="2575706" y="1820078"/>
                </a:lnTo>
                <a:lnTo>
                  <a:pt x="2575706" y="1814058"/>
                </a:lnTo>
                <a:lnTo>
                  <a:pt x="2579274" y="1814058"/>
                </a:lnTo>
                <a:lnTo>
                  <a:pt x="2582889" y="1814058"/>
                </a:lnTo>
                <a:lnTo>
                  <a:pt x="2582889" y="1811048"/>
                </a:lnTo>
                <a:lnTo>
                  <a:pt x="2586504" y="1811048"/>
                </a:lnTo>
                <a:lnTo>
                  <a:pt x="2586504" y="1808005"/>
                </a:lnTo>
                <a:lnTo>
                  <a:pt x="2590072" y="1808005"/>
                </a:lnTo>
                <a:lnTo>
                  <a:pt x="2590072" y="1795830"/>
                </a:lnTo>
                <a:lnTo>
                  <a:pt x="2593640" y="1795830"/>
                </a:lnTo>
                <a:lnTo>
                  <a:pt x="2593640" y="1786665"/>
                </a:lnTo>
                <a:lnTo>
                  <a:pt x="2597349" y="1786665"/>
                </a:lnTo>
                <a:lnTo>
                  <a:pt x="2597349" y="1768301"/>
                </a:lnTo>
                <a:lnTo>
                  <a:pt x="2600870" y="1768301"/>
                </a:lnTo>
                <a:lnTo>
                  <a:pt x="2600870" y="1765224"/>
                </a:lnTo>
                <a:lnTo>
                  <a:pt x="2604439" y="1765224"/>
                </a:lnTo>
                <a:lnTo>
                  <a:pt x="2604439" y="1762112"/>
                </a:lnTo>
                <a:lnTo>
                  <a:pt x="2608053" y="1762112"/>
                </a:lnTo>
                <a:lnTo>
                  <a:pt x="2608053" y="1752880"/>
                </a:lnTo>
                <a:lnTo>
                  <a:pt x="2611716" y="1752880"/>
                </a:lnTo>
                <a:lnTo>
                  <a:pt x="2611716" y="1749768"/>
                </a:lnTo>
                <a:lnTo>
                  <a:pt x="2615283" y="1749768"/>
                </a:lnTo>
                <a:lnTo>
                  <a:pt x="2615283" y="1743546"/>
                </a:lnTo>
                <a:lnTo>
                  <a:pt x="2618899" y="1743546"/>
                </a:lnTo>
                <a:lnTo>
                  <a:pt x="2618899" y="1737289"/>
                </a:lnTo>
                <a:lnTo>
                  <a:pt x="2622514" y="1737289"/>
                </a:lnTo>
                <a:lnTo>
                  <a:pt x="2622514" y="1727921"/>
                </a:lnTo>
                <a:lnTo>
                  <a:pt x="2626082" y="1727921"/>
                </a:lnTo>
                <a:lnTo>
                  <a:pt x="2626082" y="1724844"/>
                </a:lnTo>
                <a:lnTo>
                  <a:pt x="2629697" y="1724844"/>
                </a:lnTo>
                <a:lnTo>
                  <a:pt x="2633218" y="1724844"/>
                </a:lnTo>
                <a:lnTo>
                  <a:pt x="2633218" y="1721665"/>
                </a:lnTo>
                <a:lnTo>
                  <a:pt x="2636880" y="1721665"/>
                </a:lnTo>
                <a:lnTo>
                  <a:pt x="2636880" y="1718520"/>
                </a:lnTo>
                <a:lnTo>
                  <a:pt x="2640496" y="1718520"/>
                </a:lnTo>
                <a:lnTo>
                  <a:pt x="2640496" y="1709118"/>
                </a:lnTo>
                <a:lnTo>
                  <a:pt x="2644063" y="1709118"/>
                </a:lnTo>
                <a:lnTo>
                  <a:pt x="2647725" y="1709118"/>
                </a:lnTo>
                <a:lnTo>
                  <a:pt x="2647725" y="1702828"/>
                </a:lnTo>
                <a:lnTo>
                  <a:pt x="2651294" y="1702828"/>
                </a:lnTo>
                <a:lnTo>
                  <a:pt x="2651294" y="1699648"/>
                </a:lnTo>
                <a:lnTo>
                  <a:pt x="2654908" y="1699648"/>
                </a:lnTo>
                <a:lnTo>
                  <a:pt x="2654908" y="1696470"/>
                </a:lnTo>
                <a:lnTo>
                  <a:pt x="2658429" y="1696470"/>
                </a:lnTo>
                <a:lnTo>
                  <a:pt x="2662092" y="1696470"/>
                </a:lnTo>
                <a:lnTo>
                  <a:pt x="2665706" y="1696470"/>
                </a:lnTo>
                <a:lnTo>
                  <a:pt x="2669228" y="1696470"/>
                </a:lnTo>
                <a:lnTo>
                  <a:pt x="2672890" y="1696470"/>
                </a:lnTo>
                <a:lnTo>
                  <a:pt x="2676505" y="1696470"/>
                </a:lnTo>
                <a:lnTo>
                  <a:pt x="2680073" y="1696470"/>
                </a:lnTo>
                <a:lnTo>
                  <a:pt x="2683641" y="1696470"/>
                </a:lnTo>
                <a:lnTo>
                  <a:pt x="2687303" y="1696470"/>
                </a:lnTo>
                <a:lnTo>
                  <a:pt x="2690871" y="1696470"/>
                </a:lnTo>
                <a:lnTo>
                  <a:pt x="2694439" y="1696470"/>
                </a:lnTo>
                <a:lnTo>
                  <a:pt x="2698101" y="1696470"/>
                </a:lnTo>
                <a:lnTo>
                  <a:pt x="2701716" y="1696470"/>
                </a:lnTo>
                <a:lnTo>
                  <a:pt x="2705238" y="1696470"/>
                </a:lnTo>
                <a:lnTo>
                  <a:pt x="2708853" y="1696470"/>
                </a:lnTo>
                <a:lnTo>
                  <a:pt x="2712515" y="1696470"/>
                </a:lnTo>
                <a:lnTo>
                  <a:pt x="2716082" y="1696470"/>
                </a:lnTo>
                <a:lnTo>
                  <a:pt x="2719651" y="1696470"/>
                </a:lnTo>
                <a:lnTo>
                  <a:pt x="2723313" y="1696470"/>
                </a:lnTo>
                <a:lnTo>
                  <a:pt x="2726881" y="1696470"/>
                </a:lnTo>
                <a:lnTo>
                  <a:pt x="2730496" y="1696470"/>
                </a:lnTo>
                <a:lnTo>
                  <a:pt x="2734064" y="1696470"/>
                </a:lnTo>
                <a:lnTo>
                  <a:pt x="2737726" y="1696470"/>
                </a:lnTo>
                <a:lnTo>
                  <a:pt x="2741294" y="1696470"/>
                </a:lnTo>
                <a:lnTo>
                  <a:pt x="2744862" y="1696470"/>
                </a:lnTo>
                <a:lnTo>
                  <a:pt x="2748524" y="1696470"/>
                </a:lnTo>
                <a:lnTo>
                  <a:pt x="2752092" y="1696470"/>
                </a:lnTo>
                <a:lnTo>
                  <a:pt x="2755660" y="1696470"/>
                </a:lnTo>
                <a:lnTo>
                  <a:pt x="2755660" y="1693189"/>
                </a:lnTo>
                <a:lnTo>
                  <a:pt x="2759228" y="1693189"/>
                </a:lnTo>
                <a:lnTo>
                  <a:pt x="2762891" y="1693189"/>
                </a:lnTo>
                <a:lnTo>
                  <a:pt x="2766505" y="1693189"/>
                </a:lnTo>
                <a:lnTo>
                  <a:pt x="2770074" y="1693189"/>
                </a:lnTo>
                <a:lnTo>
                  <a:pt x="2773735" y="1693189"/>
                </a:lnTo>
                <a:lnTo>
                  <a:pt x="2777303" y="1693189"/>
                </a:lnTo>
                <a:lnTo>
                  <a:pt x="2780872" y="1693189"/>
                </a:lnTo>
                <a:lnTo>
                  <a:pt x="2784487" y="1693189"/>
                </a:lnTo>
                <a:lnTo>
                  <a:pt x="2788101" y="1693189"/>
                </a:lnTo>
                <a:lnTo>
                  <a:pt x="2791670" y="1693189"/>
                </a:lnTo>
                <a:lnTo>
                  <a:pt x="2795238" y="1693189"/>
                </a:lnTo>
                <a:lnTo>
                  <a:pt x="2798900" y="1693189"/>
                </a:lnTo>
                <a:lnTo>
                  <a:pt x="2802468" y="1693189"/>
                </a:lnTo>
                <a:lnTo>
                  <a:pt x="2806083" y="1693189"/>
                </a:lnTo>
                <a:lnTo>
                  <a:pt x="2809745" y="1693189"/>
                </a:lnTo>
                <a:lnTo>
                  <a:pt x="2813314" y="1693189"/>
                </a:lnTo>
                <a:lnTo>
                  <a:pt x="2816881" y="1693189"/>
                </a:lnTo>
                <a:lnTo>
                  <a:pt x="2820496" y="1693189"/>
                </a:lnTo>
                <a:lnTo>
                  <a:pt x="2824112" y="1693189"/>
                </a:lnTo>
                <a:lnTo>
                  <a:pt x="2827680" y="1693189"/>
                </a:lnTo>
                <a:lnTo>
                  <a:pt x="2831295" y="1693189"/>
                </a:lnTo>
                <a:lnTo>
                  <a:pt x="2831295" y="1689807"/>
                </a:lnTo>
                <a:lnTo>
                  <a:pt x="2834910" y="1689807"/>
                </a:lnTo>
                <a:lnTo>
                  <a:pt x="2838478" y="1689807"/>
                </a:lnTo>
                <a:lnTo>
                  <a:pt x="2842093" y="1689807"/>
                </a:lnTo>
                <a:lnTo>
                  <a:pt x="2845661" y="1689807"/>
                </a:lnTo>
                <a:lnTo>
                  <a:pt x="2849323" y="1689807"/>
                </a:lnTo>
                <a:lnTo>
                  <a:pt x="2849323" y="1686493"/>
                </a:lnTo>
                <a:lnTo>
                  <a:pt x="2852891" y="1686493"/>
                </a:lnTo>
                <a:lnTo>
                  <a:pt x="2856459" y="1686493"/>
                </a:lnTo>
                <a:lnTo>
                  <a:pt x="2860121" y="1686493"/>
                </a:lnTo>
                <a:lnTo>
                  <a:pt x="2863690" y="1686493"/>
                </a:lnTo>
                <a:lnTo>
                  <a:pt x="2867257" y="1686493"/>
                </a:lnTo>
                <a:lnTo>
                  <a:pt x="2870872" y="1686493"/>
                </a:lnTo>
                <a:lnTo>
                  <a:pt x="2874488" y="1686493"/>
                </a:lnTo>
                <a:lnTo>
                  <a:pt x="2878103" y="1686493"/>
                </a:lnTo>
                <a:lnTo>
                  <a:pt x="2881671" y="1686493"/>
                </a:lnTo>
                <a:lnTo>
                  <a:pt x="2885333" y="1686493"/>
                </a:lnTo>
                <a:lnTo>
                  <a:pt x="2888901" y="1686493"/>
                </a:lnTo>
                <a:lnTo>
                  <a:pt x="2888901" y="1683043"/>
                </a:lnTo>
                <a:lnTo>
                  <a:pt x="2892469" y="1683043"/>
                </a:lnTo>
                <a:lnTo>
                  <a:pt x="2896037" y="1683043"/>
                </a:lnTo>
                <a:lnTo>
                  <a:pt x="2899746" y="1683043"/>
                </a:lnTo>
                <a:lnTo>
                  <a:pt x="2899746" y="1679628"/>
                </a:lnTo>
                <a:lnTo>
                  <a:pt x="2903267" y="1679628"/>
                </a:lnTo>
                <a:lnTo>
                  <a:pt x="2903267" y="1676178"/>
                </a:lnTo>
                <a:lnTo>
                  <a:pt x="2906882" y="1676178"/>
                </a:lnTo>
                <a:lnTo>
                  <a:pt x="2910544" y="1676178"/>
                </a:lnTo>
                <a:lnTo>
                  <a:pt x="2914112" y="1676178"/>
                </a:lnTo>
                <a:lnTo>
                  <a:pt x="2917680" y="1676178"/>
                </a:lnTo>
                <a:lnTo>
                  <a:pt x="2917680" y="1672661"/>
                </a:lnTo>
                <a:lnTo>
                  <a:pt x="2921295" y="1672661"/>
                </a:lnTo>
                <a:lnTo>
                  <a:pt x="2924910" y="1672661"/>
                </a:lnTo>
                <a:lnTo>
                  <a:pt x="2928478" y="1672661"/>
                </a:lnTo>
                <a:lnTo>
                  <a:pt x="2932094" y="1672661"/>
                </a:lnTo>
                <a:lnTo>
                  <a:pt x="2935755" y="1672661"/>
                </a:lnTo>
                <a:lnTo>
                  <a:pt x="2939276" y="1672661"/>
                </a:lnTo>
                <a:lnTo>
                  <a:pt x="2942892" y="1672661"/>
                </a:lnTo>
                <a:lnTo>
                  <a:pt x="2942892" y="1669245"/>
                </a:lnTo>
                <a:lnTo>
                  <a:pt x="2946460" y="1669245"/>
                </a:lnTo>
                <a:lnTo>
                  <a:pt x="2950075" y="1669245"/>
                </a:lnTo>
                <a:lnTo>
                  <a:pt x="2953690" y="1669245"/>
                </a:lnTo>
                <a:lnTo>
                  <a:pt x="2957258" y="1669245"/>
                </a:lnTo>
                <a:lnTo>
                  <a:pt x="2960920" y="1669245"/>
                </a:lnTo>
                <a:lnTo>
                  <a:pt x="2964488" y="1669245"/>
                </a:lnTo>
                <a:lnTo>
                  <a:pt x="2968104" y="1669245"/>
                </a:lnTo>
                <a:lnTo>
                  <a:pt x="2971625" y="1669245"/>
                </a:lnTo>
                <a:lnTo>
                  <a:pt x="2971625" y="1665694"/>
                </a:lnTo>
                <a:lnTo>
                  <a:pt x="2975287" y="1665694"/>
                </a:lnTo>
                <a:lnTo>
                  <a:pt x="2975287" y="1662177"/>
                </a:lnTo>
                <a:lnTo>
                  <a:pt x="2978902" y="1662177"/>
                </a:lnTo>
                <a:lnTo>
                  <a:pt x="2978902" y="1658626"/>
                </a:lnTo>
                <a:lnTo>
                  <a:pt x="2982470" y="1658626"/>
                </a:lnTo>
                <a:lnTo>
                  <a:pt x="2986085" y="1658626"/>
                </a:lnTo>
                <a:lnTo>
                  <a:pt x="2986085" y="1655075"/>
                </a:lnTo>
                <a:lnTo>
                  <a:pt x="2989700" y="1655075"/>
                </a:lnTo>
                <a:lnTo>
                  <a:pt x="2993268" y="1655075"/>
                </a:lnTo>
                <a:lnTo>
                  <a:pt x="2993268" y="1647973"/>
                </a:lnTo>
                <a:lnTo>
                  <a:pt x="2996836" y="1647973"/>
                </a:lnTo>
                <a:lnTo>
                  <a:pt x="2996836" y="1640871"/>
                </a:lnTo>
                <a:lnTo>
                  <a:pt x="3000498" y="1640871"/>
                </a:lnTo>
                <a:lnTo>
                  <a:pt x="3000498" y="1626566"/>
                </a:lnTo>
                <a:lnTo>
                  <a:pt x="3004113" y="1626566"/>
                </a:lnTo>
                <a:lnTo>
                  <a:pt x="3004113" y="1615778"/>
                </a:lnTo>
                <a:lnTo>
                  <a:pt x="3007634" y="1615778"/>
                </a:lnTo>
                <a:lnTo>
                  <a:pt x="3007634" y="1608608"/>
                </a:lnTo>
                <a:lnTo>
                  <a:pt x="3011296" y="1608608"/>
                </a:lnTo>
                <a:lnTo>
                  <a:pt x="3011296" y="1605057"/>
                </a:lnTo>
                <a:lnTo>
                  <a:pt x="3014911" y="1605057"/>
                </a:lnTo>
                <a:lnTo>
                  <a:pt x="3018480" y="1605057"/>
                </a:lnTo>
                <a:lnTo>
                  <a:pt x="3018480" y="1594235"/>
                </a:lnTo>
                <a:lnTo>
                  <a:pt x="3022047" y="1594235"/>
                </a:lnTo>
                <a:lnTo>
                  <a:pt x="3022047" y="1572557"/>
                </a:lnTo>
                <a:lnTo>
                  <a:pt x="3025709" y="1572557"/>
                </a:lnTo>
                <a:lnTo>
                  <a:pt x="3025709" y="1539922"/>
                </a:lnTo>
                <a:lnTo>
                  <a:pt x="3029278" y="1539922"/>
                </a:lnTo>
                <a:lnTo>
                  <a:pt x="3029278" y="1514321"/>
                </a:lnTo>
                <a:lnTo>
                  <a:pt x="3032846" y="1514321"/>
                </a:lnTo>
                <a:lnTo>
                  <a:pt x="3036508" y="1514321"/>
                </a:lnTo>
                <a:lnTo>
                  <a:pt x="3036508" y="1510669"/>
                </a:lnTo>
                <a:lnTo>
                  <a:pt x="3040123" y="1510669"/>
                </a:lnTo>
                <a:lnTo>
                  <a:pt x="3040123" y="1506982"/>
                </a:lnTo>
                <a:lnTo>
                  <a:pt x="3043644" y="1506982"/>
                </a:lnTo>
                <a:lnTo>
                  <a:pt x="3047259" y="1506982"/>
                </a:lnTo>
                <a:lnTo>
                  <a:pt x="3047259" y="1492237"/>
                </a:lnTo>
                <a:lnTo>
                  <a:pt x="3050921" y="1492237"/>
                </a:lnTo>
                <a:lnTo>
                  <a:pt x="3050921" y="1488517"/>
                </a:lnTo>
                <a:lnTo>
                  <a:pt x="3054489" y="1488517"/>
                </a:lnTo>
                <a:lnTo>
                  <a:pt x="3054489" y="1484831"/>
                </a:lnTo>
                <a:lnTo>
                  <a:pt x="3058057" y="1484831"/>
                </a:lnTo>
                <a:lnTo>
                  <a:pt x="3058057" y="1481077"/>
                </a:lnTo>
                <a:lnTo>
                  <a:pt x="3061719" y="1481077"/>
                </a:lnTo>
                <a:lnTo>
                  <a:pt x="3061719" y="1477391"/>
                </a:lnTo>
                <a:lnTo>
                  <a:pt x="3065287" y="1477391"/>
                </a:lnTo>
                <a:lnTo>
                  <a:pt x="3068855" y="1477391"/>
                </a:lnTo>
                <a:lnTo>
                  <a:pt x="3072470" y="1477391"/>
                </a:lnTo>
                <a:lnTo>
                  <a:pt x="3072470" y="1473603"/>
                </a:lnTo>
                <a:lnTo>
                  <a:pt x="3076132" y="1473603"/>
                </a:lnTo>
                <a:lnTo>
                  <a:pt x="3079700" y="1473603"/>
                </a:lnTo>
                <a:lnTo>
                  <a:pt x="3083269" y="1473603"/>
                </a:lnTo>
                <a:lnTo>
                  <a:pt x="3086930" y="1473603"/>
                </a:lnTo>
                <a:lnTo>
                  <a:pt x="3090499" y="1473603"/>
                </a:lnTo>
                <a:lnTo>
                  <a:pt x="3090499" y="1469849"/>
                </a:lnTo>
                <a:lnTo>
                  <a:pt x="3094066" y="1469849"/>
                </a:lnTo>
                <a:lnTo>
                  <a:pt x="3094066" y="1466095"/>
                </a:lnTo>
                <a:lnTo>
                  <a:pt x="3097635" y="1466095"/>
                </a:lnTo>
                <a:lnTo>
                  <a:pt x="3097635" y="1462274"/>
                </a:lnTo>
                <a:lnTo>
                  <a:pt x="3101297" y="1462274"/>
                </a:lnTo>
                <a:lnTo>
                  <a:pt x="3101297" y="1458554"/>
                </a:lnTo>
                <a:lnTo>
                  <a:pt x="3104865" y="1458554"/>
                </a:lnTo>
                <a:lnTo>
                  <a:pt x="3104865" y="1454766"/>
                </a:lnTo>
                <a:lnTo>
                  <a:pt x="3108480" y="1454766"/>
                </a:lnTo>
                <a:lnTo>
                  <a:pt x="3108480" y="1447191"/>
                </a:lnTo>
                <a:lnTo>
                  <a:pt x="3112142" y="1447191"/>
                </a:lnTo>
                <a:lnTo>
                  <a:pt x="3115710" y="1447191"/>
                </a:lnTo>
                <a:lnTo>
                  <a:pt x="3119279" y="1447191"/>
                </a:lnTo>
                <a:lnTo>
                  <a:pt x="3119279" y="1443403"/>
                </a:lnTo>
                <a:lnTo>
                  <a:pt x="3122846" y="1443403"/>
                </a:lnTo>
                <a:lnTo>
                  <a:pt x="3126508" y="1443403"/>
                </a:lnTo>
                <a:lnTo>
                  <a:pt x="3130077" y="1443403"/>
                </a:lnTo>
                <a:lnTo>
                  <a:pt x="3133645" y="1443403"/>
                </a:lnTo>
                <a:lnTo>
                  <a:pt x="3137307" y="1443403"/>
                </a:lnTo>
                <a:lnTo>
                  <a:pt x="3140875" y="1443403"/>
                </a:lnTo>
                <a:lnTo>
                  <a:pt x="3144489" y="1443403"/>
                </a:lnTo>
                <a:lnTo>
                  <a:pt x="3148058" y="1443403"/>
                </a:lnTo>
                <a:lnTo>
                  <a:pt x="3151720" y="1443403"/>
                </a:lnTo>
                <a:lnTo>
                  <a:pt x="3155288" y="1443403"/>
                </a:lnTo>
                <a:lnTo>
                  <a:pt x="3158903" y="1443403"/>
                </a:lnTo>
                <a:lnTo>
                  <a:pt x="3162518" y="1443403"/>
                </a:lnTo>
                <a:lnTo>
                  <a:pt x="3166086" y="1443403"/>
                </a:lnTo>
                <a:lnTo>
                  <a:pt x="3169655" y="1443403"/>
                </a:lnTo>
                <a:lnTo>
                  <a:pt x="3173317" y="1443403"/>
                </a:lnTo>
                <a:lnTo>
                  <a:pt x="3176884" y="1443403"/>
                </a:lnTo>
                <a:lnTo>
                  <a:pt x="3180453" y="1443403"/>
                </a:lnTo>
                <a:lnTo>
                  <a:pt x="3184067" y="1443403"/>
                </a:lnTo>
                <a:lnTo>
                  <a:pt x="3187730" y="1443403"/>
                </a:lnTo>
                <a:lnTo>
                  <a:pt x="3191298" y="1443403"/>
                </a:lnTo>
                <a:lnTo>
                  <a:pt x="3194913" y="1443403"/>
                </a:lnTo>
                <a:lnTo>
                  <a:pt x="3198528" y="1443403"/>
                </a:lnTo>
                <a:lnTo>
                  <a:pt x="3202096" y="1443403"/>
                </a:lnTo>
                <a:lnTo>
                  <a:pt x="3205664" y="1443403"/>
                </a:lnTo>
                <a:lnTo>
                  <a:pt x="3209279" y="1443403"/>
                </a:lnTo>
                <a:lnTo>
                  <a:pt x="3212894" y="1443403"/>
                </a:lnTo>
                <a:lnTo>
                  <a:pt x="3216509" y="1443403"/>
                </a:lnTo>
                <a:lnTo>
                  <a:pt x="3220078" y="1443403"/>
                </a:lnTo>
                <a:lnTo>
                  <a:pt x="3223739" y="1443403"/>
                </a:lnTo>
                <a:lnTo>
                  <a:pt x="3227307" y="1443403"/>
                </a:lnTo>
                <a:lnTo>
                  <a:pt x="3230875" y="1443403"/>
                </a:lnTo>
                <a:lnTo>
                  <a:pt x="3234444" y="1443403"/>
                </a:lnTo>
                <a:lnTo>
                  <a:pt x="3238105" y="1443403"/>
                </a:lnTo>
                <a:lnTo>
                  <a:pt x="3241674" y="1443403"/>
                </a:lnTo>
                <a:lnTo>
                  <a:pt x="3245241" y="1443403"/>
                </a:lnTo>
                <a:lnTo>
                  <a:pt x="3248951" y="1443403"/>
                </a:lnTo>
                <a:lnTo>
                  <a:pt x="3252518" y="1443403"/>
                </a:lnTo>
                <a:lnTo>
                  <a:pt x="3252518" y="1439378"/>
                </a:lnTo>
                <a:lnTo>
                  <a:pt x="3256087" y="1439378"/>
                </a:lnTo>
                <a:lnTo>
                  <a:pt x="3259655" y="1439378"/>
                </a:lnTo>
                <a:lnTo>
                  <a:pt x="3263317" y="1439378"/>
                </a:lnTo>
                <a:lnTo>
                  <a:pt x="3266885" y="1439378"/>
                </a:lnTo>
                <a:lnTo>
                  <a:pt x="3270500" y="1439378"/>
                </a:lnTo>
                <a:lnTo>
                  <a:pt x="3274162" y="1439378"/>
                </a:lnTo>
                <a:lnTo>
                  <a:pt x="3277683" y="1439378"/>
                </a:lnTo>
                <a:lnTo>
                  <a:pt x="3281251" y="1439378"/>
                </a:lnTo>
                <a:lnTo>
                  <a:pt x="3284866" y="1439378"/>
                </a:lnTo>
                <a:lnTo>
                  <a:pt x="3288529" y="1439378"/>
                </a:lnTo>
                <a:lnTo>
                  <a:pt x="3292097" y="1439378"/>
                </a:lnTo>
                <a:lnTo>
                  <a:pt x="3295664" y="1439378"/>
                </a:lnTo>
                <a:lnTo>
                  <a:pt x="3299327" y="1439378"/>
                </a:lnTo>
                <a:lnTo>
                  <a:pt x="3302895" y="1439378"/>
                </a:lnTo>
                <a:lnTo>
                  <a:pt x="3306510" y="1439378"/>
                </a:lnTo>
                <a:lnTo>
                  <a:pt x="3310031" y="1439378"/>
                </a:lnTo>
                <a:lnTo>
                  <a:pt x="3313693" y="1439378"/>
                </a:lnTo>
                <a:lnTo>
                  <a:pt x="3317308" y="1439378"/>
                </a:lnTo>
                <a:lnTo>
                  <a:pt x="3320876" y="1439378"/>
                </a:lnTo>
                <a:lnTo>
                  <a:pt x="3324492" y="1439378"/>
                </a:lnTo>
                <a:lnTo>
                  <a:pt x="3328106" y="1439378"/>
                </a:lnTo>
                <a:lnTo>
                  <a:pt x="3331674" y="1439378"/>
                </a:lnTo>
                <a:lnTo>
                  <a:pt x="3335242" y="1439378"/>
                </a:lnTo>
                <a:lnTo>
                  <a:pt x="3338904" y="1439378"/>
                </a:lnTo>
                <a:lnTo>
                  <a:pt x="3342519" y="1439378"/>
                </a:lnTo>
                <a:lnTo>
                  <a:pt x="3346040" y="1439378"/>
                </a:lnTo>
                <a:lnTo>
                  <a:pt x="3349750" y="1439378"/>
                </a:lnTo>
                <a:lnTo>
                  <a:pt x="3353317" y="1439378"/>
                </a:lnTo>
                <a:lnTo>
                  <a:pt x="3353317" y="1435117"/>
                </a:lnTo>
                <a:lnTo>
                  <a:pt x="3356839" y="1435117"/>
                </a:lnTo>
                <a:lnTo>
                  <a:pt x="3360454" y="1435117"/>
                </a:lnTo>
                <a:lnTo>
                  <a:pt x="3364116" y="1435117"/>
                </a:lnTo>
                <a:lnTo>
                  <a:pt x="3367684" y="1435117"/>
                </a:lnTo>
                <a:lnTo>
                  <a:pt x="3371253" y="1435117"/>
                </a:lnTo>
                <a:lnTo>
                  <a:pt x="3374914" y="1435117"/>
                </a:lnTo>
                <a:lnTo>
                  <a:pt x="3378530" y="1435117"/>
                </a:lnTo>
                <a:lnTo>
                  <a:pt x="3382050" y="1435117"/>
                </a:lnTo>
                <a:lnTo>
                  <a:pt x="3385666" y="1435117"/>
                </a:lnTo>
                <a:lnTo>
                  <a:pt x="3389327" y="1435117"/>
                </a:lnTo>
                <a:lnTo>
                  <a:pt x="3392849" y="1435117"/>
                </a:lnTo>
                <a:lnTo>
                  <a:pt x="3396464" y="1435117"/>
                </a:lnTo>
                <a:lnTo>
                  <a:pt x="3400126" y="1435117"/>
                </a:lnTo>
                <a:lnTo>
                  <a:pt x="3400126" y="1426460"/>
                </a:lnTo>
                <a:lnTo>
                  <a:pt x="3403693" y="1426460"/>
                </a:lnTo>
                <a:lnTo>
                  <a:pt x="3407309" y="1426460"/>
                </a:lnTo>
                <a:lnTo>
                  <a:pt x="3410877" y="1426460"/>
                </a:lnTo>
                <a:lnTo>
                  <a:pt x="3410877" y="1422063"/>
                </a:lnTo>
                <a:lnTo>
                  <a:pt x="3414492" y="1422063"/>
                </a:lnTo>
                <a:lnTo>
                  <a:pt x="3418107" y="1422063"/>
                </a:lnTo>
                <a:lnTo>
                  <a:pt x="3418107" y="1417700"/>
                </a:lnTo>
                <a:lnTo>
                  <a:pt x="3421675" y="1417700"/>
                </a:lnTo>
                <a:lnTo>
                  <a:pt x="3421675" y="1404477"/>
                </a:lnTo>
                <a:lnTo>
                  <a:pt x="3425337" y="1404477"/>
                </a:lnTo>
                <a:lnTo>
                  <a:pt x="3425337" y="1391186"/>
                </a:lnTo>
                <a:lnTo>
                  <a:pt x="3428952" y="1391186"/>
                </a:lnTo>
                <a:lnTo>
                  <a:pt x="3428952" y="1382326"/>
                </a:lnTo>
                <a:lnTo>
                  <a:pt x="3432473" y="1382326"/>
                </a:lnTo>
                <a:lnTo>
                  <a:pt x="3432473" y="1377828"/>
                </a:lnTo>
                <a:lnTo>
                  <a:pt x="3436041" y="1377828"/>
                </a:lnTo>
                <a:lnTo>
                  <a:pt x="3439703" y="1377828"/>
                </a:lnTo>
                <a:lnTo>
                  <a:pt x="3439703" y="1368934"/>
                </a:lnTo>
                <a:lnTo>
                  <a:pt x="3443272" y="1368934"/>
                </a:lnTo>
                <a:lnTo>
                  <a:pt x="3446887" y="1368934"/>
                </a:lnTo>
                <a:lnTo>
                  <a:pt x="3446887" y="1350874"/>
                </a:lnTo>
                <a:lnTo>
                  <a:pt x="3450502" y="1350874"/>
                </a:lnTo>
                <a:lnTo>
                  <a:pt x="3450502" y="1337279"/>
                </a:lnTo>
                <a:lnTo>
                  <a:pt x="3454116" y="1337279"/>
                </a:lnTo>
                <a:lnTo>
                  <a:pt x="3454116" y="1300789"/>
                </a:lnTo>
                <a:lnTo>
                  <a:pt x="3457685" y="1300789"/>
                </a:lnTo>
                <a:lnTo>
                  <a:pt x="3457685" y="1296189"/>
                </a:lnTo>
                <a:lnTo>
                  <a:pt x="3461253" y="1296189"/>
                </a:lnTo>
                <a:lnTo>
                  <a:pt x="3461253" y="1268593"/>
                </a:lnTo>
                <a:lnTo>
                  <a:pt x="3464915" y="1268593"/>
                </a:lnTo>
                <a:lnTo>
                  <a:pt x="3464915" y="1263960"/>
                </a:lnTo>
                <a:lnTo>
                  <a:pt x="3468483" y="1263960"/>
                </a:lnTo>
                <a:lnTo>
                  <a:pt x="3472051" y="1263960"/>
                </a:lnTo>
                <a:lnTo>
                  <a:pt x="3475713" y="1263960"/>
                </a:lnTo>
                <a:lnTo>
                  <a:pt x="3475713" y="1259293"/>
                </a:lnTo>
                <a:lnTo>
                  <a:pt x="3479281" y="1259293"/>
                </a:lnTo>
                <a:lnTo>
                  <a:pt x="3479281" y="1254592"/>
                </a:lnTo>
                <a:lnTo>
                  <a:pt x="3482896" y="1254592"/>
                </a:lnTo>
                <a:lnTo>
                  <a:pt x="3482896" y="1245123"/>
                </a:lnTo>
                <a:lnTo>
                  <a:pt x="3486464" y="1245123"/>
                </a:lnTo>
                <a:lnTo>
                  <a:pt x="3486464" y="1240422"/>
                </a:lnTo>
                <a:lnTo>
                  <a:pt x="3490126" y="1240422"/>
                </a:lnTo>
                <a:lnTo>
                  <a:pt x="3490126" y="1235721"/>
                </a:lnTo>
                <a:lnTo>
                  <a:pt x="3493694" y="1235721"/>
                </a:lnTo>
                <a:lnTo>
                  <a:pt x="3497310" y="1235721"/>
                </a:lnTo>
                <a:lnTo>
                  <a:pt x="3497310" y="1226116"/>
                </a:lnTo>
                <a:lnTo>
                  <a:pt x="3500925" y="1226116"/>
                </a:lnTo>
                <a:lnTo>
                  <a:pt x="3500925" y="1216613"/>
                </a:lnTo>
                <a:lnTo>
                  <a:pt x="3504492" y="1216613"/>
                </a:lnTo>
                <a:lnTo>
                  <a:pt x="3504492" y="1211811"/>
                </a:lnTo>
                <a:lnTo>
                  <a:pt x="3508061" y="1211811"/>
                </a:lnTo>
                <a:lnTo>
                  <a:pt x="3511629" y="1211811"/>
                </a:lnTo>
                <a:lnTo>
                  <a:pt x="3515291" y="1211811"/>
                </a:lnTo>
                <a:lnTo>
                  <a:pt x="3518906" y="1211811"/>
                </a:lnTo>
                <a:lnTo>
                  <a:pt x="3518906" y="1207009"/>
                </a:lnTo>
                <a:lnTo>
                  <a:pt x="3522473" y="1207009"/>
                </a:lnTo>
                <a:lnTo>
                  <a:pt x="3526089" y="1207009"/>
                </a:lnTo>
                <a:lnTo>
                  <a:pt x="3526089" y="1202173"/>
                </a:lnTo>
                <a:lnTo>
                  <a:pt x="3529705" y="1202173"/>
                </a:lnTo>
                <a:lnTo>
                  <a:pt x="3533272" y="1202173"/>
                </a:lnTo>
                <a:lnTo>
                  <a:pt x="3536840" y="1202173"/>
                </a:lnTo>
                <a:lnTo>
                  <a:pt x="3540502" y="1202173"/>
                </a:lnTo>
                <a:lnTo>
                  <a:pt x="3544071" y="1202173"/>
                </a:lnTo>
                <a:lnTo>
                  <a:pt x="3544071" y="1197337"/>
                </a:lnTo>
                <a:lnTo>
                  <a:pt x="3547639" y="1197337"/>
                </a:lnTo>
                <a:lnTo>
                  <a:pt x="3551301" y="1197337"/>
                </a:lnTo>
                <a:lnTo>
                  <a:pt x="3551301" y="1192467"/>
                </a:lnTo>
                <a:lnTo>
                  <a:pt x="3554868" y="1192467"/>
                </a:lnTo>
                <a:lnTo>
                  <a:pt x="3558484" y="1192467"/>
                </a:lnTo>
                <a:lnTo>
                  <a:pt x="3562145" y="1192467"/>
                </a:lnTo>
                <a:lnTo>
                  <a:pt x="3562145" y="1187563"/>
                </a:lnTo>
                <a:lnTo>
                  <a:pt x="3565714" y="1187563"/>
                </a:lnTo>
                <a:lnTo>
                  <a:pt x="3569282" y="1187563"/>
                </a:lnTo>
                <a:lnTo>
                  <a:pt x="3572850" y="1187563"/>
                </a:lnTo>
                <a:lnTo>
                  <a:pt x="3576559" y="1187563"/>
                </a:lnTo>
                <a:lnTo>
                  <a:pt x="3580081" y="1187563"/>
                </a:lnTo>
                <a:lnTo>
                  <a:pt x="3583695" y="1187563"/>
                </a:lnTo>
                <a:lnTo>
                  <a:pt x="3587358" y="1187563"/>
                </a:lnTo>
                <a:lnTo>
                  <a:pt x="3590878" y="1187563"/>
                </a:lnTo>
                <a:lnTo>
                  <a:pt x="3594493" y="1187563"/>
                </a:lnTo>
                <a:lnTo>
                  <a:pt x="3598062" y="1187563"/>
                </a:lnTo>
                <a:lnTo>
                  <a:pt x="3601724" y="1187563"/>
                </a:lnTo>
                <a:lnTo>
                  <a:pt x="3605291" y="1187563"/>
                </a:lnTo>
                <a:lnTo>
                  <a:pt x="3608906" y="1187563"/>
                </a:lnTo>
                <a:lnTo>
                  <a:pt x="3612522" y="1187563"/>
                </a:lnTo>
                <a:lnTo>
                  <a:pt x="3616090" y="1187563"/>
                </a:lnTo>
                <a:lnTo>
                  <a:pt x="3619705" y="1187563"/>
                </a:lnTo>
                <a:lnTo>
                  <a:pt x="3623226" y="1187563"/>
                </a:lnTo>
                <a:lnTo>
                  <a:pt x="3626888" y="1187563"/>
                </a:lnTo>
                <a:lnTo>
                  <a:pt x="3630503" y="1187563"/>
                </a:lnTo>
                <a:lnTo>
                  <a:pt x="3634071" y="1187563"/>
                </a:lnTo>
                <a:lnTo>
                  <a:pt x="3637733" y="1187563"/>
                </a:lnTo>
                <a:lnTo>
                  <a:pt x="3641301" y="1187563"/>
                </a:lnTo>
                <a:lnTo>
                  <a:pt x="3644869" y="1187563"/>
                </a:lnTo>
                <a:lnTo>
                  <a:pt x="3648438" y="1187563"/>
                </a:lnTo>
                <a:lnTo>
                  <a:pt x="3652100" y="1187563"/>
                </a:lnTo>
                <a:lnTo>
                  <a:pt x="3655715" y="1187563"/>
                </a:lnTo>
                <a:lnTo>
                  <a:pt x="3659282" y="1187563"/>
                </a:lnTo>
                <a:lnTo>
                  <a:pt x="3662898" y="1187563"/>
                </a:lnTo>
                <a:lnTo>
                  <a:pt x="3666513" y="1187563"/>
                </a:lnTo>
                <a:lnTo>
                  <a:pt x="3670081" y="1187563"/>
                </a:lnTo>
                <a:lnTo>
                  <a:pt x="3673696" y="1187563"/>
                </a:lnTo>
                <a:lnTo>
                  <a:pt x="3677311" y="1187563"/>
                </a:lnTo>
                <a:lnTo>
                  <a:pt x="3680879" y="1187563"/>
                </a:lnTo>
                <a:lnTo>
                  <a:pt x="3684447" y="1187563"/>
                </a:lnTo>
                <a:lnTo>
                  <a:pt x="3688157" y="1187563"/>
                </a:lnTo>
                <a:lnTo>
                  <a:pt x="3691724" y="1187563"/>
                </a:lnTo>
                <a:lnTo>
                  <a:pt x="3695292" y="1187563"/>
                </a:lnTo>
                <a:lnTo>
                  <a:pt x="3698861" y="1187563"/>
                </a:lnTo>
                <a:lnTo>
                  <a:pt x="3702523" y="1187563"/>
                </a:lnTo>
                <a:lnTo>
                  <a:pt x="3706090" y="1187563"/>
                </a:lnTo>
                <a:lnTo>
                  <a:pt x="3709658" y="1187563"/>
                </a:lnTo>
                <a:lnTo>
                  <a:pt x="3713320" y="1187563"/>
                </a:lnTo>
                <a:lnTo>
                  <a:pt x="3716936" y="1187563"/>
                </a:lnTo>
                <a:lnTo>
                  <a:pt x="3720457" y="1187563"/>
                </a:lnTo>
                <a:lnTo>
                  <a:pt x="3724072" y="1187563"/>
                </a:lnTo>
                <a:lnTo>
                  <a:pt x="3727734" y="1187563"/>
                </a:lnTo>
                <a:lnTo>
                  <a:pt x="3731256" y="1187563"/>
                </a:lnTo>
                <a:lnTo>
                  <a:pt x="3734870" y="1187563"/>
                </a:lnTo>
                <a:lnTo>
                  <a:pt x="3738533" y="1187563"/>
                </a:lnTo>
                <a:lnTo>
                  <a:pt x="3742100" y="1187563"/>
                </a:lnTo>
                <a:lnTo>
                  <a:pt x="3745668" y="1187563"/>
                </a:lnTo>
                <a:lnTo>
                  <a:pt x="3749283" y="1187563"/>
                </a:lnTo>
                <a:lnTo>
                  <a:pt x="3752945" y="1187563"/>
                </a:lnTo>
                <a:lnTo>
                  <a:pt x="3756514" y="1187563"/>
                </a:lnTo>
                <a:lnTo>
                  <a:pt x="3760081" y="1187563"/>
                </a:lnTo>
                <a:lnTo>
                  <a:pt x="3763743" y="1187563"/>
                </a:lnTo>
                <a:lnTo>
                  <a:pt x="3767312" y="1187563"/>
                </a:lnTo>
                <a:lnTo>
                  <a:pt x="3770880" y="1187563"/>
                </a:lnTo>
                <a:lnTo>
                  <a:pt x="3774448" y="1187563"/>
                </a:lnTo>
                <a:lnTo>
                  <a:pt x="3778110" y="1187563"/>
                </a:lnTo>
                <a:lnTo>
                  <a:pt x="3781678" y="1187563"/>
                </a:lnTo>
                <a:lnTo>
                  <a:pt x="3785293" y="1187563"/>
                </a:lnTo>
                <a:lnTo>
                  <a:pt x="3788908" y="1187563"/>
                </a:lnTo>
                <a:lnTo>
                  <a:pt x="3792523" y="1187563"/>
                </a:lnTo>
                <a:lnTo>
                  <a:pt x="3796091" y="1187563"/>
                </a:lnTo>
                <a:lnTo>
                  <a:pt x="3799660" y="1187563"/>
                </a:lnTo>
                <a:lnTo>
                  <a:pt x="3803321" y="1187563"/>
                </a:lnTo>
                <a:lnTo>
                  <a:pt x="3806890" y="1187563"/>
                </a:lnTo>
                <a:lnTo>
                  <a:pt x="3810457" y="1187563"/>
                </a:lnTo>
                <a:lnTo>
                  <a:pt x="3814119" y="1187563"/>
                </a:lnTo>
                <a:lnTo>
                  <a:pt x="3817688" y="1187563"/>
                </a:lnTo>
                <a:lnTo>
                  <a:pt x="3821256" y="1187563"/>
                </a:lnTo>
                <a:lnTo>
                  <a:pt x="3824871" y="1187563"/>
                </a:lnTo>
                <a:lnTo>
                  <a:pt x="3828533" y="1187563"/>
                </a:lnTo>
                <a:lnTo>
                  <a:pt x="3832100" y="1187563"/>
                </a:lnTo>
                <a:lnTo>
                  <a:pt x="3835669" y="1187563"/>
                </a:lnTo>
                <a:lnTo>
                  <a:pt x="3839331" y="1187563"/>
                </a:lnTo>
                <a:lnTo>
                  <a:pt x="3842899" y="1187563"/>
                </a:lnTo>
                <a:lnTo>
                  <a:pt x="3842899" y="1181712"/>
                </a:lnTo>
                <a:lnTo>
                  <a:pt x="3846467" y="1181712"/>
                </a:lnTo>
                <a:lnTo>
                  <a:pt x="3846467" y="1170078"/>
                </a:lnTo>
                <a:lnTo>
                  <a:pt x="3850082" y="1170078"/>
                </a:lnTo>
                <a:lnTo>
                  <a:pt x="3850082" y="1164194"/>
                </a:lnTo>
                <a:lnTo>
                  <a:pt x="3853697" y="1164194"/>
                </a:lnTo>
                <a:lnTo>
                  <a:pt x="3853697" y="1158310"/>
                </a:lnTo>
                <a:lnTo>
                  <a:pt x="3857265" y="1158310"/>
                </a:lnTo>
                <a:lnTo>
                  <a:pt x="3860880" y="1158310"/>
                </a:lnTo>
                <a:lnTo>
                  <a:pt x="3860880" y="1140521"/>
                </a:lnTo>
                <a:lnTo>
                  <a:pt x="3864542" y="1140521"/>
                </a:lnTo>
                <a:lnTo>
                  <a:pt x="3868110" y="1140521"/>
                </a:lnTo>
                <a:lnTo>
                  <a:pt x="3868110" y="1134535"/>
                </a:lnTo>
                <a:lnTo>
                  <a:pt x="3871726" y="1134535"/>
                </a:lnTo>
                <a:lnTo>
                  <a:pt x="3871726" y="1128515"/>
                </a:lnTo>
                <a:lnTo>
                  <a:pt x="3875247" y="1128515"/>
                </a:lnTo>
                <a:lnTo>
                  <a:pt x="3875247" y="1122529"/>
                </a:lnTo>
                <a:lnTo>
                  <a:pt x="3878861" y="1122529"/>
                </a:lnTo>
                <a:lnTo>
                  <a:pt x="3878861" y="1116543"/>
                </a:lnTo>
                <a:lnTo>
                  <a:pt x="3882477" y="1116543"/>
                </a:lnTo>
                <a:lnTo>
                  <a:pt x="3882477" y="1098383"/>
                </a:lnTo>
                <a:lnTo>
                  <a:pt x="3886045" y="1098383"/>
                </a:lnTo>
                <a:lnTo>
                  <a:pt x="3886045" y="1086275"/>
                </a:lnTo>
                <a:lnTo>
                  <a:pt x="3889707" y="1086275"/>
                </a:lnTo>
                <a:lnTo>
                  <a:pt x="3889707" y="1080154"/>
                </a:lnTo>
                <a:lnTo>
                  <a:pt x="3893275" y="1080154"/>
                </a:lnTo>
                <a:lnTo>
                  <a:pt x="3893275" y="1074033"/>
                </a:lnTo>
                <a:lnTo>
                  <a:pt x="3896890" y="1074033"/>
                </a:lnTo>
                <a:lnTo>
                  <a:pt x="3896890" y="1067878"/>
                </a:lnTo>
                <a:lnTo>
                  <a:pt x="3900458" y="1067878"/>
                </a:lnTo>
                <a:lnTo>
                  <a:pt x="3900458" y="1061723"/>
                </a:lnTo>
                <a:lnTo>
                  <a:pt x="3904120" y="1061723"/>
                </a:lnTo>
                <a:lnTo>
                  <a:pt x="3907689" y="1061723"/>
                </a:lnTo>
                <a:lnTo>
                  <a:pt x="3907689" y="1055568"/>
                </a:lnTo>
                <a:lnTo>
                  <a:pt x="3911256" y="1055568"/>
                </a:lnTo>
                <a:lnTo>
                  <a:pt x="3911256" y="1049311"/>
                </a:lnTo>
                <a:lnTo>
                  <a:pt x="3914918" y="1049311"/>
                </a:lnTo>
                <a:lnTo>
                  <a:pt x="3918487" y="1049311"/>
                </a:lnTo>
                <a:lnTo>
                  <a:pt x="3918487" y="1043089"/>
                </a:lnTo>
                <a:lnTo>
                  <a:pt x="3922055" y="1043089"/>
                </a:lnTo>
                <a:lnTo>
                  <a:pt x="3925670" y="1043089"/>
                </a:lnTo>
                <a:lnTo>
                  <a:pt x="3925670" y="1030576"/>
                </a:lnTo>
                <a:lnTo>
                  <a:pt x="3929285" y="1030576"/>
                </a:lnTo>
                <a:lnTo>
                  <a:pt x="3932853" y="1030576"/>
                </a:lnTo>
                <a:lnTo>
                  <a:pt x="3936468" y="1030576"/>
                </a:lnTo>
                <a:lnTo>
                  <a:pt x="3940130" y="1030576"/>
                </a:lnTo>
                <a:lnTo>
                  <a:pt x="3943698" y="1030576"/>
                </a:lnTo>
                <a:lnTo>
                  <a:pt x="3947313" y="1030576"/>
                </a:lnTo>
                <a:lnTo>
                  <a:pt x="3950928" y="1030576"/>
                </a:lnTo>
                <a:lnTo>
                  <a:pt x="3954496" y="1030576"/>
                </a:lnTo>
                <a:lnTo>
                  <a:pt x="3954496" y="1024150"/>
                </a:lnTo>
                <a:lnTo>
                  <a:pt x="3958112" y="1024150"/>
                </a:lnTo>
                <a:lnTo>
                  <a:pt x="3961679" y="1024150"/>
                </a:lnTo>
                <a:lnTo>
                  <a:pt x="3961679" y="1017724"/>
                </a:lnTo>
                <a:lnTo>
                  <a:pt x="3965294" y="1017724"/>
                </a:lnTo>
                <a:lnTo>
                  <a:pt x="3968863" y="1017724"/>
                </a:lnTo>
                <a:lnTo>
                  <a:pt x="3972478" y="1017724"/>
                </a:lnTo>
                <a:lnTo>
                  <a:pt x="3976140" y="1017724"/>
                </a:lnTo>
                <a:lnTo>
                  <a:pt x="3979708" y="1017724"/>
                </a:lnTo>
                <a:lnTo>
                  <a:pt x="3983323" y="1017724"/>
                </a:lnTo>
                <a:lnTo>
                  <a:pt x="3986844" y="1017724"/>
                </a:lnTo>
                <a:lnTo>
                  <a:pt x="3990506" y="1017724"/>
                </a:lnTo>
                <a:lnTo>
                  <a:pt x="3994121" y="1017724"/>
                </a:lnTo>
                <a:lnTo>
                  <a:pt x="3997642" y="1017724"/>
                </a:lnTo>
                <a:lnTo>
                  <a:pt x="4001304" y="1017724"/>
                </a:lnTo>
                <a:lnTo>
                  <a:pt x="4004919" y="1017724"/>
                </a:lnTo>
                <a:lnTo>
                  <a:pt x="4008488" y="1017724"/>
                </a:lnTo>
                <a:lnTo>
                  <a:pt x="4008488" y="1011096"/>
                </a:lnTo>
                <a:lnTo>
                  <a:pt x="4012055" y="1011096"/>
                </a:lnTo>
                <a:lnTo>
                  <a:pt x="4015717" y="1011096"/>
                </a:lnTo>
                <a:lnTo>
                  <a:pt x="4019285" y="1011096"/>
                </a:lnTo>
                <a:lnTo>
                  <a:pt x="4019285" y="1004400"/>
                </a:lnTo>
                <a:lnTo>
                  <a:pt x="4022854" y="1004400"/>
                </a:lnTo>
                <a:lnTo>
                  <a:pt x="4026515" y="1004400"/>
                </a:lnTo>
                <a:lnTo>
                  <a:pt x="4030131" y="1004400"/>
                </a:lnTo>
                <a:lnTo>
                  <a:pt x="4033651" y="1004400"/>
                </a:lnTo>
                <a:lnTo>
                  <a:pt x="4037267" y="1004400"/>
                </a:lnTo>
                <a:lnTo>
                  <a:pt x="4040929" y="1004400"/>
                </a:lnTo>
                <a:lnTo>
                  <a:pt x="4044497" y="1004400"/>
                </a:lnTo>
                <a:lnTo>
                  <a:pt x="4048065" y="1004400"/>
                </a:lnTo>
                <a:lnTo>
                  <a:pt x="4051727" y="1004400"/>
                </a:lnTo>
                <a:lnTo>
                  <a:pt x="4055295" y="1004400"/>
                </a:lnTo>
                <a:lnTo>
                  <a:pt x="4058864" y="1004400"/>
                </a:lnTo>
                <a:lnTo>
                  <a:pt x="4062478" y="1004400"/>
                </a:lnTo>
                <a:lnTo>
                  <a:pt x="4066141" y="1004400"/>
                </a:lnTo>
                <a:lnTo>
                  <a:pt x="4069662" y="1004400"/>
                </a:lnTo>
                <a:lnTo>
                  <a:pt x="4073276" y="1004400"/>
                </a:lnTo>
                <a:lnTo>
                  <a:pt x="4076939" y="1004400"/>
                </a:lnTo>
                <a:lnTo>
                  <a:pt x="4080507" y="1004400"/>
                </a:lnTo>
                <a:lnTo>
                  <a:pt x="4084075" y="1004400"/>
                </a:lnTo>
                <a:lnTo>
                  <a:pt x="4084075" y="997332"/>
                </a:lnTo>
                <a:lnTo>
                  <a:pt x="4087643" y="997332"/>
                </a:lnTo>
                <a:lnTo>
                  <a:pt x="4087643" y="990365"/>
                </a:lnTo>
                <a:lnTo>
                  <a:pt x="4091305" y="990365"/>
                </a:lnTo>
                <a:lnTo>
                  <a:pt x="4094920" y="990365"/>
                </a:lnTo>
                <a:lnTo>
                  <a:pt x="4098488" y="990365"/>
                </a:lnTo>
                <a:lnTo>
                  <a:pt x="4102150" y="990365"/>
                </a:lnTo>
                <a:lnTo>
                  <a:pt x="4105718" y="990365"/>
                </a:lnTo>
                <a:lnTo>
                  <a:pt x="4109286" y="990365"/>
                </a:lnTo>
                <a:lnTo>
                  <a:pt x="4112854" y="990365"/>
                </a:lnTo>
                <a:lnTo>
                  <a:pt x="4116517" y="990365"/>
                </a:lnTo>
                <a:lnTo>
                  <a:pt x="4120084" y="990365"/>
                </a:lnTo>
                <a:lnTo>
                  <a:pt x="4123652" y="990365"/>
                </a:lnTo>
                <a:lnTo>
                  <a:pt x="4127315" y="990365"/>
                </a:lnTo>
                <a:lnTo>
                  <a:pt x="4130930" y="990365"/>
                </a:lnTo>
                <a:lnTo>
                  <a:pt x="4134498" y="990365"/>
                </a:lnTo>
                <a:lnTo>
                  <a:pt x="4138065" y="990365"/>
                </a:lnTo>
                <a:lnTo>
                  <a:pt x="4141727" y="990365"/>
                </a:lnTo>
                <a:lnTo>
                  <a:pt x="4145296" y="990365"/>
                </a:lnTo>
                <a:lnTo>
                  <a:pt x="4148864" y="990365"/>
                </a:lnTo>
                <a:lnTo>
                  <a:pt x="4152526" y="990365"/>
                </a:lnTo>
                <a:lnTo>
                  <a:pt x="4156094" y="990365"/>
                </a:lnTo>
                <a:lnTo>
                  <a:pt x="4159709" y="990365"/>
                </a:lnTo>
                <a:lnTo>
                  <a:pt x="4159709" y="982992"/>
                </a:lnTo>
                <a:lnTo>
                  <a:pt x="4163278" y="982992"/>
                </a:lnTo>
                <a:lnTo>
                  <a:pt x="4166892" y="982992"/>
                </a:lnTo>
                <a:lnTo>
                  <a:pt x="4170507" y="982992"/>
                </a:lnTo>
                <a:lnTo>
                  <a:pt x="4174076" y="982992"/>
                </a:lnTo>
                <a:lnTo>
                  <a:pt x="4177737" y="982992"/>
                </a:lnTo>
                <a:lnTo>
                  <a:pt x="4181306" y="982992"/>
                </a:lnTo>
                <a:lnTo>
                  <a:pt x="4184921" y="982992"/>
                </a:lnTo>
                <a:lnTo>
                  <a:pt x="4188442" y="982992"/>
                </a:lnTo>
                <a:lnTo>
                  <a:pt x="4192103" y="982992"/>
                </a:lnTo>
                <a:lnTo>
                  <a:pt x="4195672" y="982992"/>
                </a:lnTo>
                <a:lnTo>
                  <a:pt x="4199287" y="982992"/>
                </a:lnTo>
                <a:lnTo>
                  <a:pt x="4202902" y="982992"/>
                </a:lnTo>
                <a:lnTo>
                  <a:pt x="4206517" y="982992"/>
                </a:lnTo>
                <a:lnTo>
                  <a:pt x="4206517" y="975417"/>
                </a:lnTo>
                <a:lnTo>
                  <a:pt x="4210085" y="975417"/>
                </a:lnTo>
                <a:lnTo>
                  <a:pt x="4213653" y="975417"/>
                </a:lnTo>
                <a:lnTo>
                  <a:pt x="4217316" y="975417"/>
                </a:lnTo>
                <a:lnTo>
                  <a:pt x="4220883" y="975417"/>
                </a:lnTo>
                <a:lnTo>
                  <a:pt x="4224451" y="975417"/>
                </a:lnTo>
                <a:lnTo>
                  <a:pt x="4228114" y="975417"/>
                </a:lnTo>
                <a:lnTo>
                  <a:pt x="4231682" y="975417"/>
                </a:lnTo>
                <a:lnTo>
                  <a:pt x="4235297" y="975417"/>
                </a:lnTo>
                <a:lnTo>
                  <a:pt x="4238864" y="975417"/>
                </a:lnTo>
                <a:lnTo>
                  <a:pt x="4242526" y="975417"/>
                </a:lnTo>
                <a:lnTo>
                  <a:pt x="4246095" y="975417"/>
                </a:lnTo>
                <a:lnTo>
                  <a:pt x="4249663" y="975417"/>
                </a:lnTo>
                <a:lnTo>
                  <a:pt x="4253325" y="975417"/>
                </a:lnTo>
                <a:lnTo>
                  <a:pt x="4256893" y="975417"/>
                </a:lnTo>
                <a:lnTo>
                  <a:pt x="4260461" y="975417"/>
                </a:lnTo>
                <a:lnTo>
                  <a:pt x="4264029" y="975417"/>
                </a:lnTo>
                <a:lnTo>
                  <a:pt x="4267692" y="975417"/>
                </a:lnTo>
                <a:lnTo>
                  <a:pt x="4271306" y="975417"/>
                </a:lnTo>
                <a:lnTo>
                  <a:pt x="4274874" y="975417"/>
                </a:lnTo>
                <a:lnTo>
                  <a:pt x="4278490" y="975417"/>
                </a:lnTo>
                <a:lnTo>
                  <a:pt x="4278490" y="967436"/>
                </a:lnTo>
                <a:lnTo>
                  <a:pt x="4282104" y="967436"/>
                </a:lnTo>
                <a:lnTo>
                  <a:pt x="4285673" y="967436"/>
                </a:lnTo>
                <a:lnTo>
                  <a:pt x="4285673" y="959387"/>
                </a:lnTo>
                <a:lnTo>
                  <a:pt x="4289288" y="959387"/>
                </a:lnTo>
                <a:lnTo>
                  <a:pt x="4289288" y="951338"/>
                </a:lnTo>
                <a:lnTo>
                  <a:pt x="4292902" y="951338"/>
                </a:lnTo>
                <a:lnTo>
                  <a:pt x="4296517" y="951338"/>
                </a:lnTo>
                <a:lnTo>
                  <a:pt x="4296517" y="943255"/>
                </a:lnTo>
                <a:lnTo>
                  <a:pt x="4300039" y="943255"/>
                </a:lnTo>
                <a:lnTo>
                  <a:pt x="4303701" y="943255"/>
                </a:lnTo>
                <a:lnTo>
                  <a:pt x="4307316" y="943255"/>
                </a:lnTo>
                <a:lnTo>
                  <a:pt x="4310884" y="943255"/>
                </a:lnTo>
                <a:lnTo>
                  <a:pt x="4314499" y="943255"/>
                </a:lnTo>
                <a:lnTo>
                  <a:pt x="4314499" y="934970"/>
                </a:lnTo>
                <a:lnTo>
                  <a:pt x="4318115" y="934970"/>
                </a:lnTo>
                <a:lnTo>
                  <a:pt x="4321682" y="934970"/>
                </a:lnTo>
                <a:lnTo>
                  <a:pt x="4325251" y="934970"/>
                </a:lnTo>
                <a:lnTo>
                  <a:pt x="4328912" y="934970"/>
                </a:lnTo>
                <a:lnTo>
                  <a:pt x="4328912" y="926583"/>
                </a:lnTo>
                <a:lnTo>
                  <a:pt x="4332528" y="926583"/>
                </a:lnTo>
                <a:lnTo>
                  <a:pt x="4336049" y="926583"/>
                </a:lnTo>
                <a:lnTo>
                  <a:pt x="4336049" y="918094"/>
                </a:lnTo>
                <a:lnTo>
                  <a:pt x="4339711" y="918094"/>
                </a:lnTo>
                <a:lnTo>
                  <a:pt x="4339711" y="900948"/>
                </a:lnTo>
                <a:lnTo>
                  <a:pt x="4343326" y="900948"/>
                </a:lnTo>
                <a:lnTo>
                  <a:pt x="4346894" y="900948"/>
                </a:lnTo>
                <a:lnTo>
                  <a:pt x="4346894" y="892256"/>
                </a:lnTo>
                <a:lnTo>
                  <a:pt x="4350462" y="892256"/>
                </a:lnTo>
                <a:lnTo>
                  <a:pt x="4354124" y="892256"/>
                </a:lnTo>
                <a:lnTo>
                  <a:pt x="4354124" y="883565"/>
                </a:lnTo>
                <a:lnTo>
                  <a:pt x="4357692" y="883565"/>
                </a:lnTo>
                <a:lnTo>
                  <a:pt x="4361260" y="883565"/>
                </a:lnTo>
                <a:lnTo>
                  <a:pt x="4361260" y="874840"/>
                </a:lnTo>
                <a:lnTo>
                  <a:pt x="4364922" y="874840"/>
                </a:lnTo>
                <a:lnTo>
                  <a:pt x="4368537" y="874840"/>
                </a:lnTo>
                <a:lnTo>
                  <a:pt x="4372058" y="874840"/>
                </a:lnTo>
                <a:lnTo>
                  <a:pt x="4375673" y="874840"/>
                </a:lnTo>
                <a:lnTo>
                  <a:pt x="4379335" y="874840"/>
                </a:lnTo>
                <a:lnTo>
                  <a:pt x="4382903" y="874840"/>
                </a:lnTo>
                <a:lnTo>
                  <a:pt x="4386472" y="874840"/>
                </a:lnTo>
                <a:lnTo>
                  <a:pt x="4390134" y="874840"/>
                </a:lnTo>
                <a:lnTo>
                  <a:pt x="4393701" y="874840"/>
                </a:lnTo>
                <a:lnTo>
                  <a:pt x="4397270" y="874840"/>
                </a:lnTo>
                <a:lnTo>
                  <a:pt x="4400885" y="874840"/>
                </a:lnTo>
                <a:lnTo>
                  <a:pt x="4404547" y="874840"/>
                </a:lnTo>
                <a:lnTo>
                  <a:pt x="4408068" y="874840"/>
                </a:lnTo>
                <a:lnTo>
                  <a:pt x="4411683" y="874840"/>
                </a:lnTo>
                <a:lnTo>
                  <a:pt x="4415345" y="874840"/>
                </a:lnTo>
                <a:lnTo>
                  <a:pt x="4418913" y="874840"/>
                </a:lnTo>
                <a:lnTo>
                  <a:pt x="4422481" y="874840"/>
                </a:lnTo>
                <a:lnTo>
                  <a:pt x="4426096" y="874840"/>
                </a:lnTo>
                <a:lnTo>
                  <a:pt x="4429711" y="874840"/>
                </a:lnTo>
                <a:lnTo>
                  <a:pt x="4429711" y="865506"/>
                </a:lnTo>
                <a:lnTo>
                  <a:pt x="4433279" y="865506"/>
                </a:lnTo>
                <a:lnTo>
                  <a:pt x="4436895" y="865506"/>
                </a:lnTo>
                <a:lnTo>
                  <a:pt x="4436895" y="856138"/>
                </a:lnTo>
                <a:lnTo>
                  <a:pt x="4440556" y="856138"/>
                </a:lnTo>
                <a:lnTo>
                  <a:pt x="4444125" y="856138"/>
                </a:lnTo>
                <a:lnTo>
                  <a:pt x="4447692" y="856138"/>
                </a:lnTo>
                <a:lnTo>
                  <a:pt x="4451261" y="856138"/>
                </a:lnTo>
                <a:lnTo>
                  <a:pt x="4454923" y="856138"/>
                </a:lnTo>
                <a:lnTo>
                  <a:pt x="4458491" y="856138"/>
                </a:lnTo>
                <a:lnTo>
                  <a:pt x="4462059" y="856138"/>
                </a:lnTo>
                <a:lnTo>
                  <a:pt x="4465721" y="856138"/>
                </a:lnTo>
                <a:lnTo>
                  <a:pt x="4469289" y="856138"/>
                </a:lnTo>
                <a:lnTo>
                  <a:pt x="4472905" y="856138"/>
                </a:lnTo>
                <a:lnTo>
                  <a:pt x="4476472" y="856138"/>
                </a:lnTo>
                <a:lnTo>
                  <a:pt x="4480134" y="856138"/>
                </a:lnTo>
                <a:lnTo>
                  <a:pt x="4483703" y="856138"/>
                </a:lnTo>
                <a:lnTo>
                  <a:pt x="4487271" y="856138"/>
                </a:lnTo>
                <a:lnTo>
                  <a:pt x="4490933" y="856138"/>
                </a:lnTo>
                <a:lnTo>
                  <a:pt x="4490933" y="846263"/>
                </a:lnTo>
                <a:lnTo>
                  <a:pt x="4494501" y="846263"/>
                </a:lnTo>
                <a:lnTo>
                  <a:pt x="4498069" y="846263"/>
                </a:lnTo>
                <a:lnTo>
                  <a:pt x="4501684" y="846263"/>
                </a:lnTo>
                <a:lnTo>
                  <a:pt x="4505346" y="846263"/>
                </a:lnTo>
                <a:lnTo>
                  <a:pt x="4505346" y="836286"/>
                </a:lnTo>
                <a:lnTo>
                  <a:pt x="4508914" y="836286"/>
                </a:lnTo>
                <a:lnTo>
                  <a:pt x="4512482" y="836286"/>
                </a:lnTo>
                <a:lnTo>
                  <a:pt x="4512482" y="826276"/>
                </a:lnTo>
                <a:lnTo>
                  <a:pt x="4516144" y="826276"/>
                </a:lnTo>
                <a:lnTo>
                  <a:pt x="4519712" y="826276"/>
                </a:lnTo>
                <a:lnTo>
                  <a:pt x="4523327" y="826276"/>
                </a:lnTo>
                <a:lnTo>
                  <a:pt x="4526848" y="826276"/>
                </a:lnTo>
                <a:lnTo>
                  <a:pt x="4530510" y="826276"/>
                </a:lnTo>
                <a:lnTo>
                  <a:pt x="4534078" y="826276"/>
                </a:lnTo>
                <a:lnTo>
                  <a:pt x="4537693" y="826276"/>
                </a:lnTo>
                <a:lnTo>
                  <a:pt x="4541309" y="826276"/>
                </a:lnTo>
                <a:lnTo>
                  <a:pt x="4544924" y="826276"/>
                </a:lnTo>
                <a:lnTo>
                  <a:pt x="4548491" y="826276"/>
                </a:lnTo>
                <a:lnTo>
                  <a:pt x="4552060" y="826276"/>
                </a:lnTo>
                <a:lnTo>
                  <a:pt x="4555722" y="826276"/>
                </a:lnTo>
                <a:lnTo>
                  <a:pt x="4559290" y="826276"/>
                </a:lnTo>
                <a:lnTo>
                  <a:pt x="4562858" y="826276"/>
                </a:lnTo>
                <a:lnTo>
                  <a:pt x="4566472" y="826276"/>
                </a:lnTo>
                <a:lnTo>
                  <a:pt x="4570088" y="826276"/>
                </a:lnTo>
                <a:lnTo>
                  <a:pt x="4573656" y="826276"/>
                </a:lnTo>
                <a:lnTo>
                  <a:pt x="4577271" y="826276"/>
                </a:lnTo>
                <a:lnTo>
                  <a:pt x="4580933" y="826276"/>
                </a:lnTo>
                <a:lnTo>
                  <a:pt x="4584501" y="826276"/>
                </a:lnTo>
                <a:lnTo>
                  <a:pt x="4588070" y="826276"/>
                </a:lnTo>
                <a:lnTo>
                  <a:pt x="4591731" y="826276"/>
                </a:lnTo>
                <a:lnTo>
                  <a:pt x="4595300" y="826276"/>
                </a:lnTo>
                <a:lnTo>
                  <a:pt x="4598867" y="826276"/>
                </a:lnTo>
                <a:lnTo>
                  <a:pt x="4602483" y="826276"/>
                </a:lnTo>
                <a:lnTo>
                  <a:pt x="4606098" y="826276"/>
                </a:lnTo>
                <a:lnTo>
                  <a:pt x="4609666" y="826276"/>
                </a:lnTo>
                <a:lnTo>
                  <a:pt x="4613281" y="826276"/>
                </a:lnTo>
                <a:lnTo>
                  <a:pt x="4616943" y="826276"/>
                </a:lnTo>
                <a:lnTo>
                  <a:pt x="4620510" y="826276"/>
                </a:lnTo>
                <a:lnTo>
                  <a:pt x="4624079" y="826276"/>
                </a:lnTo>
                <a:lnTo>
                  <a:pt x="4627694" y="826276"/>
                </a:lnTo>
                <a:lnTo>
                  <a:pt x="4631309" y="826276"/>
                </a:lnTo>
                <a:lnTo>
                  <a:pt x="4634924" y="826276"/>
                </a:lnTo>
                <a:lnTo>
                  <a:pt x="4638446" y="826276"/>
                </a:lnTo>
                <a:lnTo>
                  <a:pt x="4642107" y="826276"/>
                </a:lnTo>
                <a:lnTo>
                  <a:pt x="4645723" y="826276"/>
                </a:lnTo>
                <a:lnTo>
                  <a:pt x="4649290" y="826276"/>
                </a:lnTo>
                <a:lnTo>
                  <a:pt x="4652859" y="826276"/>
                </a:lnTo>
                <a:lnTo>
                  <a:pt x="4656521" y="826276"/>
                </a:lnTo>
                <a:lnTo>
                  <a:pt x="4660089" y="826276"/>
                </a:lnTo>
                <a:lnTo>
                  <a:pt x="4663657" y="826276"/>
                </a:lnTo>
                <a:lnTo>
                  <a:pt x="4667319" y="826276"/>
                </a:lnTo>
                <a:lnTo>
                  <a:pt x="4670934" y="826276"/>
                </a:lnTo>
                <a:lnTo>
                  <a:pt x="4674455" y="826276"/>
                </a:lnTo>
                <a:lnTo>
                  <a:pt x="4678070" y="826276"/>
                </a:lnTo>
                <a:lnTo>
                  <a:pt x="4681732" y="826276"/>
                </a:lnTo>
                <a:lnTo>
                  <a:pt x="4685300" y="826276"/>
                </a:lnTo>
                <a:lnTo>
                  <a:pt x="4688868" y="826276"/>
                </a:lnTo>
                <a:lnTo>
                  <a:pt x="4692530" y="826276"/>
                </a:lnTo>
                <a:lnTo>
                  <a:pt x="4696099" y="826276"/>
                </a:lnTo>
                <a:lnTo>
                  <a:pt x="4699666" y="826276"/>
                </a:lnTo>
                <a:lnTo>
                  <a:pt x="4703281" y="826276"/>
                </a:lnTo>
                <a:lnTo>
                  <a:pt x="4706943" y="826276"/>
                </a:lnTo>
                <a:lnTo>
                  <a:pt x="4710465" y="826276"/>
                </a:lnTo>
                <a:lnTo>
                  <a:pt x="4710465" y="813999"/>
                </a:lnTo>
                <a:lnTo>
                  <a:pt x="4714080" y="813999"/>
                </a:lnTo>
                <a:lnTo>
                  <a:pt x="4717742" y="813999"/>
                </a:lnTo>
                <a:lnTo>
                  <a:pt x="4721263" y="813999"/>
                </a:lnTo>
                <a:lnTo>
                  <a:pt x="4724878" y="813999"/>
                </a:lnTo>
                <a:lnTo>
                  <a:pt x="4728540" y="813999"/>
                </a:lnTo>
                <a:lnTo>
                  <a:pt x="4728540" y="801283"/>
                </a:lnTo>
                <a:lnTo>
                  <a:pt x="4732108" y="801283"/>
                </a:lnTo>
                <a:lnTo>
                  <a:pt x="4732108" y="788534"/>
                </a:lnTo>
                <a:lnTo>
                  <a:pt x="4735676" y="788534"/>
                </a:lnTo>
                <a:lnTo>
                  <a:pt x="4739291" y="788534"/>
                </a:lnTo>
                <a:lnTo>
                  <a:pt x="4739291" y="775615"/>
                </a:lnTo>
                <a:lnTo>
                  <a:pt x="4742906" y="775615"/>
                </a:lnTo>
                <a:lnTo>
                  <a:pt x="4746475" y="775615"/>
                </a:lnTo>
                <a:lnTo>
                  <a:pt x="4750089" y="775615"/>
                </a:lnTo>
                <a:lnTo>
                  <a:pt x="4750089" y="748729"/>
                </a:lnTo>
                <a:lnTo>
                  <a:pt x="4753752" y="748729"/>
                </a:lnTo>
                <a:lnTo>
                  <a:pt x="4753752" y="735167"/>
                </a:lnTo>
                <a:lnTo>
                  <a:pt x="4757319" y="735167"/>
                </a:lnTo>
                <a:lnTo>
                  <a:pt x="4757319" y="721505"/>
                </a:lnTo>
                <a:lnTo>
                  <a:pt x="4760888" y="721505"/>
                </a:lnTo>
                <a:lnTo>
                  <a:pt x="4760888" y="707808"/>
                </a:lnTo>
                <a:lnTo>
                  <a:pt x="4764456" y="707808"/>
                </a:lnTo>
                <a:lnTo>
                  <a:pt x="4764456" y="680178"/>
                </a:lnTo>
                <a:lnTo>
                  <a:pt x="4768118" y="680178"/>
                </a:lnTo>
                <a:lnTo>
                  <a:pt x="4771733" y="680178"/>
                </a:lnTo>
                <a:lnTo>
                  <a:pt x="4771733" y="665771"/>
                </a:lnTo>
                <a:lnTo>
                  <a:pt x="4775301" y="665771"/>
                </a:lnTo>
                <a:lnTo>
                  <a:pt x="4778916" y="665771"/>
                </a:lnTo>
                <a:lnTo>
                  <a:pt x="4782531" y="665771"/>
                </a:lnTo>
                <a:lnTo>
                  <a:pt x="4786099" y="665771"/>
                </a:lnTo>
                <a:lnTo>
                  <a:pt x="4789667" y="665771"/>
                </a:lnTo>
                <a:lnTo>
                  <a:pt x="4793329" y="665771"/>
                </a:lnTo>
                <a:lnTo>
                  <a:pt x="4796898" y="665771"/>
                </a:lnTo>
                <a:lnTo>
                  <a:pt x="4800465" y="665771"/>
                </a:lnTo>
                <a:lnTo>
                  <a:pt x="4804127" y="665771"/>
                </a:lnTo>
                <a:lnTo>
                  <a:pt x="4807695" y="665771"/>
                </a:lnTo>
                <a:lnTo>
                  <a:pt x="4811311" y="665771"/>
                </a:lnTo>
                <a:lnTo>
                  <a:pt x="4814879" y="665771"/>
                </a:lnTo>
                <a:lnTo>
                  <a:pt x="4818541" y="665771"/>
                </a:lnTo>
                <a:lnTo>
                  <a:pt x="4822109" y="665771"/>
                </a:lnTo>
                <a:lnTo>
                  <a:pt x="4825677" y="665771"/>
                </a:lnTo>
                <a:lnTo>
                  <a:pt x="4825677" y="650113"/>
                </a:lnTo>
                <a:lnTo>
                  <a:pt x="4829339" y="650113"/>
                </a:lnTo>
                <a:lnTo>
                  <a:pt x="4832907" y="650113"/>
                </a:lnTo>
                <a:lnTo>
                  <a:pt x="4836475" y="650113"/>
                </a:lnTo>
                <a:lnTo>
                  <a:pt x="4840043" y="650113"/>
                </a:lnTo>
                <a:lnTo>
                  <a:pt x="4843705" y="650113"/>
                </a:lnTo>
                <a:lnTo>
                  <a:pt x="4847320" y="650113"/>
                </a:lnTo>
                <a:lnTo>
                  <a:pt x="4850889" y="650113"/>
                </a:lnTo>
                <a:lnTo>
                  <a:pt x="4854503" y="650113"/>
                </a:lnTo>
                <a:lnTo>
                  <a:pt x="4858118" y="650113"/>
                </a:lnTo>
                <a:lnTo>
                  <a:pt x="4861687" y="650113"/>
                </a:lnTo>
                <a:lnTo>
                  <a:pt x="4865255" y="650113"/>
                </a:lnTo>
                <a:lnTo>
                  <a:pt x="4868917" y="650113"/>
                </a:lnTo>
                <a:lnTo>
                  <a:pt x="4872485" y="650113"/>
                </a:lnTo>
                <a:lnTo>
                  <a:pt x="4876053" y="650113"/>
                </a:lnTo>
                <a:lnTo>
                  <a:pt x="4879715" y="650113"/>
                </a:lnTo>
                <a:lnTo>
                  <a:pt x="4883330" y="650113"/>
                </a:lnTo>
                <a:lnTo>
                  <a:pt x="4886898" y="650113"/>
                </a:lnTo>
                <a:lnTo>
                  <a:pt x="4890466" y="650113"/>
                </a:lnTo>
                <a:lnTo>
                  <a:pt x="4894128" y="650113"/>
                </a:lnTo>
                <a:lnTo>
                  <a:pt x="4897696" y="650113"/>
                </a:lnTo>
                <a:lnTo>
                  <a:pt x="4901264" y="650113"/>
                </a:lnTo>
                <a:lnTo>
                  <a:pt x="4904927" y="650113"/>
                </a:lnTo>
                <a:lnTo>
                  <a:pt x="4908494" y="650113"/>
                </a:lnTo>
                <a:lnTo>
                  <a:pt x="4912110" y="650113"/>
                </a:lnTo>
                <a:lnTo>
                  <a:pt x="4915678" y="650113"/>
                </a:lnTo>
                <a:lnTo>
                  <a:pt x="4919293" y="650113"/>
                </a:lnTo>
                <a:lnTo>
                  <a:pt x="4922908" y="650113"/>
                </a:lnTo>
                <a:lnTo>
                  <a:pt x="4926476" y="650113"/>
                </a:lnTo>
                <a:lnTo>
                  <a:pt x="4930137" y="650113"/>
                </a:lnTo>
                <a:lnTo>
                  <a:pt x="4933706" y="650113"/>
                </a:lnTo>
                <a:lnTo>
                  <a:pt x="4937274" y="650113"/>
                </a:lnTo>
                <a:lnTo>
                  <a:pt x="4940842" y="650113"/>
                </a:lnTo>
                <a:lnTo>
                  <a:pt x="4944504" y="650113"/>
                </a:lnTo>
                <a:lnTo>
                  <a:pt x="4948073" y="650113"/>
                </a:lnTo>
                <a:lnTo>
                  <a:pt x="4951640" y="650113"/>
                </a:lnTo>
                <a:lnTo>
                  <a:pt x="4955302" y="650113"/>
                </a:lnTo>
                <a:lnTo>
                  <a:pt x="4958917" y="650113"/>
                </a:lnTo>
                <a:lnTo>
                  <a:pt x="4962486" y="650113"/>
                </a:lnTo>
                <a:lnTo>
                  <a:pt x="4966100" y="650113"/>
                </a:lnTo>
                <a:lnTo>
                  <a:pt x="4969716" y="650113"/>
                </a:lnTo>
                <a:lnTo>
                  <a:pt x="4973331" y="650113"/>
                </a:lnTo>
                <a:lnTo>
                  <a:pt x="4976852" y="650113"/>
                </a:lnTo>
                <a:lnTo>
                  <a:pt x="4980513" y="650113"/>
                </a:lnTo>
                <a:lnTo>
                  <a:pt x="4984129" y="650113"/>
                </a:lnTo>
                <a:lnTo>
                  <a:pt x="4987697" y="650113"/>
                </a:lnTo>
                <a:lnTo>
                  <a:pt x="4991265" y="650113"/>
                </a:lnTo>
                <a:lnTo>
                  <a:pt x="4994927" y="650113"/>
                </a:lnTo>
                <a:lnTo>
                  <a:pt x="4998495" y="650113"/>
                </a:lnTo>
                <a:lnTo>
                  <a:pt x="5002111" y="650113"/>
                </a:lnTo>
                <a:lnTo>
                  <a:pt x="5005726" y="650113"/>
                </a:lnTo>
                <a:lnTo>
                  <a:pt x="5009293" y="650113"/>
                </a:lnTo>
                <a:lnTo>
                  <a:pt x="5012862" y="650113"/>
                </a:lnTo>
                <a:lnTo>
                  <a:pt x="5016430" y="650113"/>
                </a:lnTo>
                <a:lnTo>
                  <a:pt x="5020139" y="650113"/>
                </a:lnTo>
                <a:lnTo>
                  <a:pt x="5023707" y="650113"/>
                </a:lnTo>
                <a:lnTo>
                  <a:pt x="5027274" y="650113"/>
                </a:lnTo>
                <a:lnTo>
                  <a:pt x="5030937" y="650113"/>
                </a:lnTo>
                <a:lnTo>
                  <a:pt x="5030937" y="622652"/>
                </a:lnTo>
                <a:lnTo>
                  <a:pt x="5034505" y="622652"/>
                </a:lnTo>
                <a:lnTo>
                  <a:pt x="5038073" y="622652"/>
                </a:lnTo>
                <a:lnTo>
                  <a:pt x="5041688" y="622652"/>
                </a:lnTo>
                <a:lnTo>
                  <a:pt x="5045350" y="622652"/>
                </a:lnTo>
                <a:lnTo>
                  <a:pt x="5048871" y="622652"/>
                </a:lnTo>
                <a:lnTo>
                  <a:pt x="5052487" y="622652"/>
                </a:lnTo>
                <a:lnTo>
                  <a:pt x="5056148" y="622652"/>
                </a:lnTo>
                <a:lnTo>
                  <a:pt x="5059716" y="622652"/>
                </a:lnTo>
                <a:lnTo>
                  <a:pt x="5063284" y="622652"/>
                </a:lnTo>
                <a:lnTo>
                  <a:pt x="5066900" y="622652"/>
                </a:lnTo>
                <a:lnTo>
                  <a:pt x="5070514" y="622652"/>
                </a:lnTo>
                <a:lnTo>
                  <a:pt x="5074083" y="622652"/>
                </a:lnTo>
                <a:lnTo>
                  <a:pt x="5077698" y="622652"/>
                </a:lnTo>
                <a:lnTo>
                  <a:pt x="5081360" y="622652"/>
                </a:lnTo>
                <a:lnTo>
                  <a:pt x="5084881" y="622652"/>
                </a:lnTo>
                <a:lnTo>
                  <a:pt x="5088496" y="622652"/>
                </a:lnTo>
                <a:lnTo>
                  <a:pt x="5092064" y="622652"/>
                </a:lnTo>
                <a:lnTo>
                  <a:pt x="5095679" y="622652"/>
                </a:lnTo>
                <a:lnTo>
                  <a:pt x="5099294" y="622652"/>
                </a:lnTo>
                <a:lnTo>
                  <a:pt x="5102863" y="622652"/>
                </a:lnTo>
                <a:lnTo>
                  <a:pt x="5106525" y="622652"/>
                </a:lnTo>
                <a:lnTo>
                  <a:pt x="5110092" y="622652"/>
                </a:lnTo>
                <a:lnTo>
                  <a:pt x="5113707" y="622652"/>
                </a:lnTo>
                <a:lnTo>
                  <a:pt x="5117322" y="622652"/>
                </a:lnTo>
                <a:lnTo>
                  <a:pt x="5120938" y="622652"/>
                </a:lnTo>
                <a:lnTo>
                  <a:pt x="5124506" y="622652"/>
                </a:lnTo>
                <a:lnTo>
                  <a:pt x="5128027" y="622652"/>
                </a:lnTo>
                <a:lnTo>
                  <a:pt x="5131736" y="622652"/>
                </a:lnTo>
                <a:lnTo>
                  <a:pt x="5135304" y="622652"/>
                </a:lnTo>
                <a:lnTo>
                  <a:pt x="5138872" y="622652"/>
                </a:lnTo>
                <a:lnTo>
                  <a:pt x="5142534" y="622652"/>
                </a:lnTo>
                <a:lnTo>
                  <a:pt x="5142534" y="584268"/>
                </a:lnTo>
                <a:lnTo>
                  <a:pt x="5146102" y="584268"/>
                </a:lnTo>
                <a:lnTo>
                  <a:pt x="5149717" y="584268"/>
                </a:lnTo>
                <a:lnTo>
                  <a:pt x="5153285" y="584268"/>
                </a:lnTo>
                <a:lnTo>
                  <a:pt x="5153285" y="541994"/>
                </a:lnTo>
                <a:lnTo>
                  <a:pt x="5156947" y="541994"/>
                </a:lnTo>
                <a:lnTo>
                  <a:pt x="5160515" y="541994"/>
                </a:lnTo>
                <a:lnTo>
                  <a:pt x="5164083" y="541994"/>
                </a:lnTo>
                <a:lnTo>
                  <a:pt x="5167745" y="541994"/>
                </a:lnTo>
                <a:lnTo>
                  <a:pt x="5167745" y="496068"/>
                </a:lnTo>
                <a:lnTo>
                  <a:pt x="5171313" y="496068"/>
                </a:lnTo>
                <a:lnTo>
                  <a:pt x="5171313" y="447504"/>
                </a:lnTo>
                <a:lnTo>
                  <a:pt x="5174882" y="447504"/>
                </a:lnTo>
                <a:lnTo>
                  <a:pt x="5174882" y="398940"/>
                </a:lnTo>
                <a:lnTo>
                  <a:pt x="5178497" y="398940"/>
                </a:lnTo>
                <a:lnTo>
                  <a:pt x="5182111" y="398940"/>
                </a:lnTo>
                <a:lnTo>
                  <a:pt x="5182111" y="349801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published_curve_Плацебо">
            <a:extLst>
              <a:ext uri="{FF2B5EF4-FFF2-40B4-BE49-F238E27FC236}">
                <a16:creationId xmlns:a16="http://schemas.microsoft.com/office/drawing/2014/main" id="{059D4D1C-4A48-4B25-ABAD-4380390C9A6D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8600" cy="2791146"/>
          </a:xfrm>
          <a:custGeom>
            <a:avLst/>
            <a:gdLst/>
            <a:ahLst/>
            <a:cxnLst/>
            <a:rect l="0" t="0" r="0" b="0"/>
            <a:pathLst>
              <a:path w="5181600" h="2457450">
                <a:moveTo>
                  <a:pt x="1695" y="2457462"/>
                </a:moveTo>
                <a:lnTo>
                  <a:pt x="5263" y="2457462"/>
                </a:lnTo>
                <a:lnTo>
                  <a:pt x="8878" y="2457462"/>
                </a:lnTo>
                <a:lnTo>
                  <a:pt x="12446" y="2457462"/>
                </a:lnTo>
                <a:lnTo>
                  <a:pt x="16108" y="2457462"/>
                </a:lnTo>
                <a:lnTo>
                  <a:pt x="19676" y="2457462"/>
                </a:lnTo>
                <a:lnTo>
                  <a:pt x="23197" y="2457462"/>
                </a:lnTo>
                <a:lnTo>
                  <a:pt x="26906" y="2457462"/>
                </a:lnTo>
                <a:lnTo>
                  <a:pt x="30474" y="2457462"/>
                </a:lnTo>
                <a:lnTo>
                  <a:pt x="34042" y="2457462"/>
                </a:lnTo>
                <a:lnTo>
                  <a:pt x="37657" y="2457462"/>
                </a:lnTo>
                <a:lnTo>
                  <a:pt x="41272" y="2457462"/>
                </a:lnTo>
                <a:lnTo>
                  <a:pt x="44887" y="2457462"/>
                </a:lnTo>
                <a:lnTo>
                  <a:pt x="48456" y="2457462"/>
                </a:lnTo>
                <a:lnTo>
                  <a:pt x="52117" y="2457462"/>
                </a:lnTo>
                <a:lnTo>
                  <a:pt x="55686" y="2457462"/>
                </a:lnTo>
                <a:lnTo>
                  <a:pt x="59301" y="2457462"/>
                </a:lnTo>
                <a:lnTo>
                  <a:pt x="62916" y="2457462"/>
                </a:lnTo>
                <a:lnTo>
                  <a:pt x="66484" y="2457462"/>
                </a:lnTo>
                <a:lnTo>
                  <a:pt x="70052" y="2457462"/>
                </a:lnTo>
                <a:lnTo>
                  <a:pt x="73667" y="2457462"/>
                </a:lnTo>
                <a:lnTo>
                  <a:pt x="77282" y="2457462"/>
                </a:lnTo>
                <a:lnTo>
                  <a:pt x="80850" y="2457462"/>
                </a:lnTo>
                <a:lnTo>
                  <a:pt x="84465" y="2457462"/>
                </a:lnTo>
                <a:lnTo>
                  <a:pt x="88127" y="2457462"/>
                </a:lnTo>
                <a:lnTo>
                  <a:pt x="91695" y="2457462"/>
                </a:lnTo>
                <a:lnTo>
                  <a:pt x="95263" y="2457462"/>
                </a:lnTo>
                <a:lnTo>
                  <a:pt x="98832" y="2457462"/>
                </a:lnTo>
                <a:lnTo>
                  <a:pt x="102446" y="2457462"/>
                </a:lnTo>
                <a:lnTo>
                  <a:pt x="106062" y="2457462"/>
                </a:lnTo>
                <a:lnTo>
                  <a:pt x="109630" y="2457462"/>
                </a:lnTo>
                <a:lnTo>
                  <a:pt x="113292" y="2457462"/>
                </a:lnTo>
                <a:lnTo>
                  <a:pt x="116907" y="2457462"/>
                </a:lnTo>
                <a:lnTo>
                  <a:pt x="120475" y="2457462"/>
                </a:lnTo>
                <a:lnTo>
                  <a:pt x="124043" y="2457462"/>
                </a:lnTo>
                <a:lnTo>
                  <a:pt x="127705" y="2457462"/>
                </a:lnTo>
                <a:lnTo>
                  <a:pt x="127705" y="2455264"/>
                </a:lnTo>
                <a:lnTo>
                  <a:pt x="131273" y="2455264"/>
                </a:lnTo>
                <a:lnTo>
                  <a:pt x="134841" y="2455264"/>
                </a:lnTo>
                <a:lnTo>
                  <a:pt x="138503" y="2455264"/>
                </a:lnTo>
                <a:lnTo>
                  <a:pt x="142071" y="2455264"/>
                </a:lnTo>
                <a:lnTo>
                  <a:pt x="145640" y="2455264"/>
                </a:lnTo>
                <a:lnTo>
                  <a:pt x="149254" y="2455264"/>
                </a:lnTo>
                <a:lnTo>
                  <a:pt x="152917" y="2455264"/>
                </a:lnTo>
                <a:lnTo>
                  <a:pt x="156484" y="2455264"/>
                </a:lnTo>
                <a:lnTo>
                  <a:pt x="160053" y="2455264"/>
                </a:lnTo>
                <a:lnTo>
                  <a:pt x="163715" y="2455264"/>
                </a:lnTo>
                <a:lnTo>
                  <a:pt x="167283" y="2455264"/>
                </a:lnTo>
                <a:lnTo>
                  <a:pt x="170898" y="2455264"/>
                </a:lnTo>
                <a:lnTo>
                  <a:pt x="174419" y="2455264"/>
                </a:lnTo>
                <a:lnTo>
                  <a:pt x="178081" y="2455264"/>
                </a:lnTo>
                <a:lnTo>
                  <a:pt x="181649" y="2455264"/>
                </a:lnTo>
                <a:lnTo>
                  <a:pt x="185264" y="2455264"/>
                </a:lnTo>
                <a:lnTo>
                  <a:pt x="188879" y="2455264"/>
                </a:lnTo>
                <a:lnTo>
                  <a:pt x="192494" y="2455264"/>
                </a:lnTo>
                <a:lnTo>
                  <a:pt x="196062" y="2455264"/>
                </a:lnTo>
                <a:lnTo>
                  <a:pt x="199631" y="2455264"/>
                </a:lnTo>
                <a:lnTo>
                  <a:pt x="203292" y="2455264"/>
                </a:lnTo>
                <a:lnTo>
                  <a:pt x="206908" y="2455264"/>
                </a:lnTo>
                <a:lnTo>
                  <a:pt x="210429" y="2455264"/>
                </a:lnTo>
                <a:lnTo>
                  <a:pt x="214091" y="2455264"/>
                </a:lnTo>
                <a:lnTo>
                  <a:pt x="217706" y="2455264"/>
                </a:lnTo>
                <a:lnTo>
                  <a:pt x="221227" y="2455264"/>
                </a:lnTo>
                <a:lnTo>
                  <a:pt x="224842" y="2455264"/>
                </a:lnTo>
                <a:lnTo>
                  <a:pt x="228504" y="2455264"/>
                </a:lnTo>
                <a:lnTo>
                  <a:pt x="232072" y="2455264"/>
                </a:lnTo>
                <a:lnTo>
                  <a:pt x="235640" y="2455264"/>
                </a:lnTo>
                <a:lnTo>
                  <a:pt x="239302" y="2455264"/>
                </a:lnTo>
                <a:lnTo>
                  <a:pt x="242917" y="2455264"/>
                </a:lnTo>
                <a:lnTo>
                  <a:pt x="246438" y="2455264"/>
                </a:lnTo>
                <a:lnTo>
                  <a:pt x="250053" y="2455264"/>
                </a:lnTo>
                <a:lnTo>
                  <a:pt x="253715" y="2455264"/>
                </a:lnTo>
                <a:lnTo>
                  <a:pt x="257237" y="2455264"/>
                </a:lnTo>
                <a:lnTo>
                  <a:pt x="260851" y="2455264"/>
                </a:lnTo>
                <a:lnTo>
                  <a:pt x="264514" y="2455264"/>
                </a:lnTo>
                <a:lnTo>
                  <a:pt x="268082" y="2455264"/>
                </a:lnTo>
                <a:lnTo>
                  <a:pt x="271650" y="2455264"/>
                </a:lnTo>
                <a:lnTo>
                  <a:pt x="275265" y="2455264"/>
                </a:lnTo>
                <a:lnTo>
                  <a:pt x="278880" y="2455264"/>
                </a:lnTo>
                <a:lnTo>
                  <a:pt x="282448" y="2455264"/>
                </a:lnTo>
                <a:lnTo>
                  <a:pt x="286063" y="2455264"/>
                </a:lnTo>
                <a:lnTo>
                  <a:pt x="289725" y="2455264"/>
                </a:lnTo>
                <a:lnTo>
                  <a:pt x="293246" y="2455264"/>
                </a:lnTo>
                <a:lnTo>
                  <a:pt x="296861" y="2455264"/>
                </a:lnTo>
                <a:lnTo>
                  <a:pt x="300429" y="2455264"/>
                </a:lnTo>
                <a:lnTo>
                  <a:pt x="304091" y="2455264"/>
                </a:lnTo>
                <a:lnTo>
                  <a:pt x="307659" y="2455264"/>
                </a:lnTo>
                <a:lnTo>
                  <a:pt x="311275" y="2455264"/>
                </a:lnTo>
                <a:lnTo>
                  <a:pt x="314889" y="2455264"/>
                </a:lnTo>
                <a:lnTo>
                  <a:pt x="318505" y="2455264"/>
                </a:lnTo>
                <a:lnTo>
                  <a:pt x="322073" y="2455264"/>
                </a:lnTo>
                <a:lnTo>
                  <a:pt x="325641" y="2455264"/>
                </a:lnTo>
                <a:lnTo>
                  <a:pt x="329303" y="2455264"/>
                </a:lnTo>
                <a:lnTo>
                  <a:pt x="332871" y="2455264"/>
                </a:lnTo>
                <a:lnTo>
                  <a:pt x="336439" y="2455264"/>
                </a:lnTo>
                <a:lnTo>
                  <a:pt x="340101" y="2455264"/>
                </a:lnTo>
                <a:lnTo>
                  <a:pt x="343669" y="2455264"/>
                </a:lnTo>
                <a:lnTo>
                  <a:pt x="347284" y="2455264"/>
                </a:lnTo>
                <a:lnTo>
                  <a:pt x="350852" y="2455264"/>
                </a:lnTo>
                <a:lnTo>
                  <a:pt x="354514" y="2455264"/>
                </a:lnTo>
                <a:lnTo>
                  <a:pt x="358083" y="2455264"/>
                </a:lnTo>
                <a:lnTo>
                  <a:pt x="361651" y="2455264"/>
                </a:lnTo>
                <a:lnTo>
                  <a:pt x="361651" y="2453032"/>
                </a:lnTo>
                <a:lnTo>
                  <a:pt x="365313" y="2453032"/>
                </a:lnTo>
                <a:lnTo>
                  <a:pt x="368834" y="2453032"/>
                </a:lnTo>
                <a:lnTo>
                  <a:pt x="372449" y="2453032"/>
                </a:lnTo>
                <a:lnTo>
                  <a:pt x="376017" y="2453032"/>
                </a:lnTo>
                <a:lnTo>
                  <a:pt x="379679" y="2453032"/>
                </a:lnTo>
                <a:lnTo>
                  <a:pt x="383294" y="2453032"/>
                </a:lnTo>
                <a:lnTo>
                  <a:pt x="386862" y="2453032"/>
                </a:lnTo>
                <a:lnTo>
                  <a:pt x="390477" y="2453032"/>
                </a:lnTo>
                <a:lnTo>
                  <a:pt x="394092" y="2453032"/>
                </a:lnTo>
                <a:lnTo>
                  <a:pt x="397660" y="2453032"/>
                </a:lnTo>
                <a:lnTo>
                  <a:pt x="397660" y="2450902"/>
                </a:lnTo>
                <a:lnTo>
                  <a:pt x="401228" y="2450902"/>
                </a:lnTo>
                <a:lnTo>
                  <a:pt x="401228" y="2448670"/>
                </a:lnTo>
                <a:lnTo>
                  <a:pt x="404890" y="2448670"/>
                </a:lnTo>
                <a:lnTo>
                  <a:pt x="408458" y="2448670"/>
                </a:lnTo>
                <a:lnTo>
                  <a:pt x="412026" y="2448670"/>
                </a:lnTo>
                <a:lnTo>
                  <a:pt x="415689" y="2448670"/>
                </a:lnTo>
                <a:lnTo>
                  <a:pt x="419304" y="2448670"/>
                </a:lnTo>
                <a:lnTo>
                  <a:pt x="422872" y="2448670"/>
                </a:lnTo>
                <a:lnTo>
                  <a:pt x="426440" y="2448670"/>
                </a:lnTo>
                <a:lnTo>
                  <a:pt x="426440" y="2444239"/>
                </a:lnTo>
                <a:lnTo>
                  <a:pt x="430102" y="2444239"/>
                </a:lnTo>
                <a:lnTo>
                  <a:pt x="430102" y="2437611"/>
                </a:lnTo>
                <a:lnTo>
                  <a:pt x="433670" y="2437611"/>
                </a:lnTo>
                <a:lnTo>
                  <a:pt x="437238" y="2437611"/>
                </a:lnTo>
                <a:lnTo>
                  <a:pt x="437238" y="2435379"/>
                </a:lnTo>
                <a:lnTo>
                  <a:pt x="440900" y="2435379"/>
                </a:lnTo>
                <a:lnTo>
                  <a:pt x="444468" y="2435379"/>
                </a:lnTo>
                <a:lnTo>
                  <a:pt x="448036" y="2435379"/>
                </a:lnTo>
                <a:lnTo>
                  <a:pt x="451698" y="2435379"/>
                </a:lnTo>
                <a:lnTo>
                  <a:pt x="455266" y="2435379"/>
                </a:lnTo>
                <a:lnTo>
                  <a:pt x="458881" y="2435379"/>
                </a:lnTo>
                <a:lnTo>
                  <a:pt x="462450" y="2435379"/>
                </a:lnTo>
                <a:lnTo>
                  <a:pt x="462450" y="2430948"/>
                </a:lnTo>
                <a:lnTo>
                  <a:pt x="466111" y="2430948"/>
                </a:lnTo>
                <a:lnTo>
                  <a:pt x="469680" y="2430948"/>
                </a:lnTo>
                <a:lnTo>
                  <a:pt x="469680" y="2428750"/>
                </a:lnTo>
                <a:lnTo>
                  <a:pt x="473248" y="2428750"/>
                </a:lnTo>
                <a:lnTo>
                  <a:pt x="473248" y="2426450"/>
                </a:lnTo>
                <a:lnTo>
                  <a:pt x="476910" y="2426450"/>
                </a:lnTo>
                <a:lnTo>
                  <a:pt x="476910" y="2424252"/>
                </a:lnTo>
                <a:lnTo>
                  <a:pt x="480478" y="2424252"/>
                </a:lnTo>
                <a:lnTo>
                  <a:pt x="484046" y="2424252"/>
                </a:lnTo>
                <a:lnTo>
                  <a:pt x="484046" y="2422020"/>
                </a:lnTo>
                <a:lnTo>
                  <a:pt x="487614" y="2422020"/>
                </a:lnTo>
                <a:lnTo>
                  <a:pt x="491276" y="2422020"/>
                </a:lnTo>
                <a:lnTo>
                  <a:pt x="494891" y="2422020"/>
                </a:lnTo>
                <a:lnTo>
                  <a:pt x="498459" y="2422020"/>
                </a:lnTo>
                <a:lnTo>
                  <a:pt x="502121" y="2422020"/>
                </a:lnTo>
                <a:lnTo>
                  <a:pt x="505689" y="2422020"/>
                </a:lnTo>
                <a:lnTo>
                  <a:pt x="509304" y="2422020"/>
                </a:lnTo>
                <a:lnTo>
                  <a:pt x="512826" y="2422020"/>
                </a:lnTo>
                <a:lnTo>
                  <a:pt x="516487" y="2422020"/>
                </a:lnTo>
                <a:lnTo>
                  <a:pt x="520103" y="2422020"/>
                </a:lnTo>
                <a:lnTo>
                  <a:pt x="523624" y="2422020"/>
                </a:lnTo>
                <a:lnTo>
                  <a:pt x="527286" y="2422020"/>
                </a:lnTo>
                <a:lnTo>
                  <a:pt x="530901" y="2422020"/>
                </a:lnTo>
                <a:lnTo>
                  <a:pt x="534469" y="2422020"/>
                </a:lnTo>
                <a:lnTo>
                  <a:pt x="538037" y="2422020"/>
                </a:lnTo>
                <a:lnTo>
                  <a:pt x="538037" y="2419822"/>
                </a:lnTo>
                <a:lnTo>
                  <a:pt x="541699" y="2419822"/>
                </a:lnTo>
                <a:lnTo>
                  <a:pt x="545267" y="2419822"/>
                </a:lnTo>
                <a:lnTo>
                  <a:pt x="548835" y="2419822"/>
                </a:lnTo>
                <a:lnTo>
                  <a:pt x="552497" y="2419822"/>
                </a:lnTo>
                <a:lnTo>
                  <a:pt x="556112" y="2419822"/>
                </a:lnTo>
                <a:lnTo>
                  <a:pt x="556112" y="2417590"/>
                </a:lnTo>
                <a:lnTo>
                  <a:pt x="559680" y="2417590"/>
                </a:lnTo>
                <a:lnTo>
                  <a:pt x="563248" y="2417590"/>
                </a:lnTo>
                <a:lnTo>
                  <a:pt x="566910" y="2417590"/>
                </a:lnTo>
                <a:lnTo>
                  <a:pt x="570478" y="2417590"/>
                </a:lnTo>
                <a:lnTo>
                  <a:pt x="574047" y="2417590"/>
                </a:lnTo>
                <a:lnTo>
                  <a:pt x="577708" y="2417590"/>
                </a:lnTo>
                <a:lnTo>
                  <a:pt x="581277" y="2417590"/>
                </a:lnTo>
                <a:lnTo>
                  <a:pt x="584845" y="2417590"/>
                </a:lnTo>
                <a:lnTo>
                  <a:pt x="588460" y="2417590"/>
                </a:lnTo>
                <a:lnTo>
                  <a:pt x="592122" y="2417590"/>
                </a:lnTo>
                <a:lnTo>
                  <a:pt x="595690" y="2417590"/>
                </a:lnTo>
                <a:lnTo>
                  <a:pt x="599258" y="2417590"/>
                </a:lnTo>
                <a:lnTo>
                  <a:pt x="602920" y="2417590"/>
                </a:lnTo>
                <a:lnTo>
                  <a:pt x="606488" y="2417590"/>
                </a:lnTo>
                <a:lnTo>
                  <a:pt x="610056" y="2417590"/>
                </a:lnTo>
                <a:lnTo>
                  <a:pt x="613672" y="2417590"/>
                </a:lnTo>
                <a:lnTo>
                  <a:pt x="617333" y="2417590"/>
                </a:lnTo>
                <a:lnTo>
                  <a:pt x="620855" y="2417590"/>
                </a:lnTo>
                <a:lnTo>
                  <a:pt x="624470" y="2417590"/>
                </a:lnTo>
                <a:lnTo>
                  <a:pt x="628132" y="2417590"/>
                </a:lnTo>
                <a:lnTo>
                  <a:pt x="631653" y="2417590"/>
                </a:lnTo>
                <a:lnTo>
                  <a:pt x="631653" y="2410826"/>
                </a:lnTo>
                <a:lnTo>
                  <a:pt x="635268" y="2410826"/>
                </a:lnTo>
                <a:lnTo>
                  <a:pt x="638836" y="2410826"/>
                </a:lnTo>
                <a:lnTo>
                  <a:pt x="642498" y="2410826"/>
                </a:lnTo>
                <a:lnTo>
                  <a:pt x="646066" y="2410826"/>
                </a:lnTo>
                <a:lnTo>
                  <a:pt x="649681" y="2410826"/>
                </a:lnTo>
                <a:lnTo>
                  <a:pt x="653296" y="2410826"/>
                </a:lnTo>
                <a:lnTo>
                  <a:pt x="656911" y="2410826"/>
                </a:lnTo>
                <a:lnTo>
                  <a:pt x="656911" y="2408628"/>
                </a:lnTo>
                <a:lnTo>
                  <a:pt x="660479" y="2408628"/>
                </a:lnTo>
                <a:lnTo>
                  <a:pt x="664000" y="2408628"/>
                </a:lnTo>
                <a:lnTo>
                  <a:pt x="667709" y="2408628"/>
                </a:lnTo>
                <a:lnTo>
                  <a:pt x="671277" y="2408628"/>
                </a:lnTo>
                <a:lnTo>
                  <a:pt x="674845" y="2408628"/>
                </a:lnTo>
                <a:lnTo>
                  <a:pt x="678508" y="2408628"/>
                </a:lnTo>
                <a:lnTo>
                  <a:pt x="682075" y="2408628"/>
                </a:lnTo>
                <a:lnTo>
                  <a:pt x="685644" y="2408628"/>
                </a:lnTo>
                <a:lnTo>
                  <a:pt x="689259" y="2408628"/>
                </a:lnTo>
                <a:lnTo>
                  <a:pt x="692921" y="2408628"/>
                </a:lnTo>
                <a:lnTo>
                  <a:pt x="696489" y="2408628"/>
                </a:lnTo>
                <a:lnTo>
                  <a:pt x="700057" y="2408628"/>
                </a:lnTo>
                <a:lnTo>
                  <a:pt x="703719" y="2408628"/>
                </a:lnTo>
                <a:lnTo>
                  <a:pt x="703719" y="2406430"/>
                </a:lnTo>
                <a:lnTo>
                  <a:pt x="707287" y="2406430"/>
                </a:lnTo>
                <a:lnTo>
                  <a:pt x="710855" y="2406430"/>
                </a:lnTo>
                <a:lnTo>
                  <a:pt x="714470" y="2406430"/>
                </a:lnTo>
                <a:lnTo>
                  <a:pt x="718085" y="2406430"/>
                </a:lnTo>
                <a:lnTo>
                  <a:pt x="721653" y="2406430"/>
                </a:lnTo>
                <a:lnTo>
                  <a:pt x="725269" y="2406430"/>
                </a:lnTo>
                <a:lnTo>
                  <a:pt x="728930" y="2406430"/>
                </a:lnTo>
                <a:lnTo>
                  <a:pt x="732499" y="2406430"/>
                </a:lnTo>
                <a:lnTo>
                  <a:pt x="736067" y="2406430"/>
                </a:lnTo>
                <a:lnTo>
                  <a:pt x="739635" y="2406430"/>
                </a:lnTo>
                <a:lnTo>
                  <a:pt x="739635" y="2404130"/>
                </a:lnTo>
                <a:lnTo>
                  <a:pt x="743250" y="2404130"/>
                </a:lnTo>
                <a:lnTo>
                  <a:pt x="746865" y="2404130"/>
                </a:lnTo>
                <a:lnTo>
                  <a:pt x="750433" y="2404130"/>
                </a:lnTo>
                <a:lnTo>
                  <a:pt x="754095" y="2404130"/>
                </a:lnTo>
                <a:lnTo>
                  <a:pt x="757663" y="2404130"/>
                </a:lnTo>
                <a:lnTo>
                  <a:pt x="757663" y="2399666"/>
                </a:lnTo>
                <a:lnTo>
                  <a:pt x="761278" y="2399666"/>
                </a:lnTo>
                <a:lnTo>
                  <a:pt x="764846" y="2399666"/>
                </a:lnTo>
                <a:lnTo>
                  <a:pt x="768508" y="2399666"/>
                </a:lnTo>
                <a:lnTo>
                  <a:pt x="772076" y="2399666"/>
                </a:lnTo>
                <a:lnTo>
                  <a:pt x="772076" y="2397366"/>
                </a:lnTo>
                <a:lnTo>
                  <a:pt x="775644" y="2397366"/>
                </a:lnTo>
                <a:lnTo>
                  <a:pt x="779259" y="2397366"/>
                </a:lnTo>
                <a:lnTo>
                  <a:pt x="779259" y="2395168"/>
                </a:lnTo>
                <a:lnTo>
                  <a:pt x="782875" y="2395168"/>
                </a:lnTo>
                <a:lnTo>
                  <a:pt x="786443" y="2395168"/>
                </a:lnTo>
                <a:lnTo>
                  <a:pt x="790058" y="2395168"/>
                </a:lnTo>
                <a:lnTo>
                  <a:pt x="793673" y="2395168"/>
                </a:lnTo>
                <a:lnTo>
                  <a:pt x="797288" y="2395168"/>
                </a:lnTo>
                <a:lnTo>
                  <a:pt x="800856" y="2395168"/>
                </a:lnTo>
                <a:lnTo>
                  <a:pt x="804518" y="2395168"/>
                </a:lnTo>
                <a:lnTo>
                  <a:pt x="808086" y="2395168"/>
                </a:lnTo>
                <a:lnTo>
                  <a:pt x="811654" y="2395168"/>
                </a:lnTo>
                <a:lnTo>
                  <a:pt x="815222" y="2395168"/>
                </a:lnTo>
                <a:lnTo>
                  <a:pt x="818884" y="2395168"/>
                </a:lnTo>
                <a:lnTo>
                  <a:pt x="822452" y="2395168"/>
                </a:lnTo>
                <a:lnTo>
                  <a:pt x="826067" y="2395168"/>
                </a:lnTo>
                <a:lnTo>
                  <a:pt x="829683" y="2395168"/>
                </a:lnTo>
                <a:lnTo>
                  <a:pt x="833250" y="2395168"/>
                </a:lnTo>
                <a:lnTo>
                  <a:pt x="833250" y="2390670"/>
                </a:lnTo>
                <a:lnTo>
                  <a:pt x="836866" y="2390670"/>
                </a:lnTo>
                <a:lnTo>
                  <a:pt x="836866" y="2388404"/>
                </a:lnTo>
                <a:lnTo>
                  <a:pt x="840434" y="2388404"/>
                </a:lnTo>
                <a:lnTo>
                  <a:pt x="840434" y="2386139"/>
                </a:lnTo>
                <a:lnTo>
                  <a:pt x="844096" y="2386139"/>
                </a:lnTo>
                <a:lnTo>
                  <a:pt x="847711" y="2386139"/>
                </a:lnTo>
                <a:lnTo>
                  <a:pt x="851232" y="2386139"/>
                </a:lnTo>
                <a:lnTo>
                  <a:pt x="851232" y="2379408"/>
                </a:lnTo>
                <a:lnTo>
                  <a:pt x="854894" y="2379408"/>
                </a:lnTo>
                <a:lnTo>
                  <a:pt x="854894" y="2377143"/>
                </a:lnTo>
                <a:lnTo>
                  <a:pt x="858509" y="2377143"/>
                </a:lnTo>
                <a:lnTo>
                  <a:pt x="858509" y="2370412"/>
                </a:lnTo>
                <a:lnTo>
                  <a:pt x="862030" y="2370412"/>
                </a:lnTo>
                <a:lnTo>
                  <a:pt x="862030" y="2363649"/>
                </a:lnTo>
                <a:lnTo>
                  <a:pt x="865692" y="2363649"/>
                </a:lnTo>
                <a:lnTo>
                  <a:pt x="869260" y="2363649"/>
                </a:lnTo>
                <a:lnTo>
                  <a:pt x="872875" y="2363649"/>
                </a:lnTo>
                <a:lnTo>
                  <a:pt x="872875" y="2356817"/>
                </a:lnTo>
                <a:lnTo>
                  <a:pt x="876444" y="2356817"/>
                </a:lnTo>
                <a:lnTo>
                  <a:pt x="876444" y="2354552"/>
                </a:lnTo>
                <a:lnTo>
                  <a:pt x="880105" y="2354552"/>
                </a:lnTo>
                <a:lnTo>
                  <a:pt x="880105" y="2350054"/>
                </a:lnTo>
                <a:lnTo>
                  <a:pt x="883721" y="2350054"/>
                </a:lnTo>
                <a:lnTo>
                  <a:pt x="883721" y="2345488"/>
                </a:lnTo>
                <a:lnTo>
                  <a:pt x="887242" y="2345488"/>
                </a:lnTo>
                <a:lnTo>
                  <a:pt x="887242" y="2340956"/>
                </a:lnTo>
                <a:lnTo>
                  <a:pt x="890904" y="2340956"/>
                </a:lnTo>
                <a:lnTo>
                  <a:pt x="890904" y="2336458"/>
                </a:lnTo>
                <a:lnTo>
                  <a:pt x="894519" y="2336458"/>
                </a:lnTo>
                <a:lnTo>
                  <a:pt x="898040" y="2336458"/>
                </a:lnTo>
                <a:lnTo>
                  <a:pt x="898040" y="2334192"/>
                </a:lnTo>
                <a:lnTo>
                  <a:pt x="901655" y="2334192"/>
                </a:lnTo>
                <a:lnTo>
                  <a:pt x="901655" y="2331926"/>
                </a:lnTo>
                <a:lnTo>
                  <a:pt x="905317" y="2331926"/>
                </a:lnTo>
                <a:lnTo>
                  <a:pt x="908885" y="2331926"/>
                </a:lnTo>
                <a:lnTo>
                  <a:pt x="912453" y="2331926"/>
                </a:lnTo>
                <a:lnTo>
                  <a:pt x="916115" y="2331926"/>
                </a:lnTo>
                <a:lnTo>
                  <a:pt x="919683" y="2331926"/>
                </a:lnTo>
                <a:lnTo>
                  <a:pt x="923251" y="2331926"/>
                </a:lnTo>
                <a:lnTo>
                  <a:pt x="926866" y="2331926"/>
                </a:lnTo>
                <a:lnTo>
                  <a:pt x="930528" y="2331926"/>
                </a:lnTo>
                <a:lnTo>
                  <a:pt x="934050" y="2331926"/>
                </a:lnTo>
                <a:lnTo>
                  <a:pt x="937665" y="2331926"/>
                </a:lnTo>
                <a:lnTo>
                  <a:pt x="941327" y="2331926"/>
                </a:lnTo>
                <a:lnTo>
                  <a:pt x="941327" y="2327395"/>
                </a:lnTo>
                <a:lnTo>
                  <a:pt x="944894" y="2327395"/>
                </a:lnTo>
                <a:lnTo>
                  <a:pt x="948463" y="2327395"/>
                </a:lnTo>
                <a:lnTo>
                  <a:pt x="952031" y="2327395"/>
                </a:lnTo>
                <a:lnTo>
                  <a:pt x="952031" y="2325095"/>
                </a:lnTo>
                <a:lnTo>
                  <a:pt x="955693" y="2325095"/>
                </a:lnTo>
                <a:lnTo>
                  <a:pt x="959261" y="2325095"/>
                </a:lnTo>
                <a:lnTo>
                  <a:pt x="962876" y="2325095"/>
                </a:lnTo>
                <a:lnTo>
                  <a:pt x="966538" y="2325095"/>
                </a:lnTo>
                <a:lnTo>
                  <a:pt x="970059" y="2325095"/>
                </a:lnTo>
                <a:lnTo>
                  <a:pt x="973674" y="2325095"/>
                </a:lnTo>
                <a:lnTo>
                  <a:pt x="977242" y="2325095"/>
                </a:lnTo>
                <a:lnTo>
                  <a:pt x="980904" y="2325095"/>
                </a:lnTo>
                <a:lnTo>
                  <a:pt x="984472" y="2325095"/>
                </a:lnTo>
                <a:lnTo>
                  <a:pt x="988041" y="2325095"/>
                </a:lnTo>
                <a:lnTo>
                  <a:pt x="991702" y="2325095"/>
                </a:lnTo>
                <a:lnTo>
                  <a:pt x="995318" y="2325095"/>
                </a:lnTo>
                <a:lnTo>
                  <a:pt x="998886" y="2325095"/>
                </a:lnTo>
                <a:lnTo>
                  <a:pt x="1002454" y="2325095"/>
                </a:lnTo>
                <a:lnTo>
                  <a:pt x="1002454" y="2322829"/>
                </a:lnTo>
                <a:lnTo>
                  <a:pt x="1006116" y="2322829"/>
                </a:lnTo>
                <a:lnTo>
                  <a:pt x="1009684" y="2322829"/>
                </a:lnTo>
                <a:lnTo>
                  <a:pt x="1013252" y="2322829"/>
                </a:lnTo>
                <a:lnTo>
                  <a:pt x="1016914" y="2322829"/>
                </a:lnTo>
                <a:lnTo>
                  <a:pt x="1016914" y="2320563"/>
                </a:lnTo>
                <a:lnTo>
                  <a:pt x="1020482" y="2320563"/>
                </a:lnTo>
                <a:lnTo>
                  <a:pt x="1024050" y="2320563"/>
                </a:lnTo>
                <a:lnTo>
                  <a:pt x="1024050" y="2318297"/>
                </a:lnTo>
                <a:lnTo>
                  <a:pt x="1027665" y="2318297"/>
                </a:lnTo>
                <a:lnTo>
                  <a:pt x="1031280" y="2318297"/>
                </a:lnTo>
                <a:lnTo>
                  <a:pt x="1031280" y="2316032"/>
                </a:lnTo>
                <a:lnTo>
                  <a:pt x="1034896" y="2316032"/>
                </a:lnTo>
                <a:lnTo>
                  <a:pt x="1038463" y="2316032"/>
                </a:lnTo>
                <a:lnTo>
                  <a:pt x="1042125" y="2316032"/>
                </a:lnTo>
                <a:lnTo>
                  <a:pt x="1045694" y="2316032"/>
                </a:lnTo>
                <a:lnTo>
                  <a:pt x="1045694" y="2313732"/>
                </a:lnTo>
                <a:lnTo>
                  <a:pt x="1049262" y="2313732"/>
                </a:lnTo>
                <a:lnTo>
                  <a:pt x="1052830" y="2313732"/>
                </a:lnTo>
                <a:lnTo>
                  <a:pt x="1056492" y="2313732"/>
                </a:lnTo>
                <a:lnTo>
                  <a:pt x="1056492" y="2311500"/>
                </a:lnTo>
                <a:lnTo>
                  <a:pt x="1060107" y="2311500"/>
                </a:lnTo>
                <a:lnTo>
                  <a:pt x="1060107" y="2309200"/>
                </a:lnTo>
                <a:lnTo>
                  <a:pt x="1063628" y="2309200"/>
                </a:lnTo>
                <a:lnTo>
                  <a:pt x="1067290" y="2309200"/>
                </a:lnTo>
                <a:lnTo>
                  <a:pt x="1070905" y="2309200"/>
                </a:lnTo>
                <a:lnTo>
                  <a:pt x="1074473" y="2309200"/>
                </a:lnTo>
                <a:lnTo>
                  <a:pt x="1078041" y="2309200"/>
                </a:lnTo>
                <a:lnTo>
                  <a:pt x="1081703" y="2309200"/>
                </a:lnTo>
                <a:lnTo>
                  <a:pt x="1085271" y="2309200"/>
                </a:lnTo>
                <a:lnTo>
                  <a:pt x="1085271" y="2306934"/>
                </a:lnTo>
                <a:lnTo>
                  <a:pt x="1088839" y="2306934"/>
                </a:lnTo>
                <a:lnTo>
                  <a:pt x="1092502" y="2306934"/>
                </a:lnTo>
                <a:lnTo>
                  <a:pt x="1096069" y="2306934"/>
                </a:lnTo>
                <a:lnTo>
                  <a:pt x="1099685" y="2306934"/>
                </a:lnTo>
                <a:lnTo>
                  <a:pt x="1103253" y="2306934"/>
                </a:lnTo>
                <a:lnTo>
                  <a:pt x="1106915" y="2306934"/>
                </a:lnTo>
                <a:lnTo>
                  <a:pt x="1110483" y="2306934"/>
                </a:lnTo>
                <a:lnTo>
                  <a:pt x="1114051" y="2306934"/>
                </a:lnTo>
                <a:lnTo>
                  <a:pt x="1117713" y="2306934"/>
                </a:lnTo>
                <a:lnTo>
                  <a:pt x="1121281" y="2306934"/>
                </a:lnTo>
                <a:lnTo>
                  <a:pt x="1124849" y="2306934"/>
                </a:lnTo>
                <a:lnTo>
                  <a:pt x="1128417" y="2306934"/>
                </a:lnTo>
                <a:lnTo>
                  <a:pt x="1132079" y="2306934"/>
                </a:lnTo>
                <a:lnTo>
                  <a:pt x="1135694" y="2306934"/>
                </a:lnTo>
                <a:lnTo>
                  <a:pt x="1139262" y="2306934"/>
                </a:lnTo>
                <a:lnTo>
                  <a:pt x="1142877" y="2306934"/>
                </a:lnTo>
                <a:lnTo>
                  <a:pt x="1146493" y="2306934"/>
                </a:lnTo>
                <a:lnTo>
                  <a:pt x="1150061" y="2306934"/>
                </a:lnTo>
                <a:lnTo>
                  <a:pt x="1153629" y="2306934"/>
                </a:lnTo>
                <a:lnTo>
                  <a:pt x="1157291" y="2306934"/>
                </a:lnTo>
                <a:lnTo>
                  <a:pt x="1160859" y="2306934"/>
                </a:lnTo>
                <a:lnTo>
                  <a:pt x="1164427" y="2306934"/>
                </a:lnTo>
                <a:lnTo>
                  <a:pt x="1168089" y="2306934"/>
                </a:lnTo>
                <a:lnTo>
                  <a:pt x="1171704" y="2306934"/>
                </a:lnTo>
                <a:lnTo>
                  <a:pt x="1175272" y="2306934"/>
                </a:lnTo>
                <a:lnTo>
                  <a:pt x="1178840" y="2306934"/>
                </a:lnTo>
                <a:lnTo>
                  <a:pt x="1182502" y="2306934"/>
                </a:lnTo>
                <a:lnTo>
                  <a:pt x="1182502" y="2304635"/>
                </a:lnTo>
                <a:lnTo>
                  <a:pt x="1186070" y="2304635"/>
                </a:lnTo>
                <a:lnTo>
                  <a:pt x="1189638" y="2304635"/>
                </a:lnTo>
                <a:lnTo>
                  <a:pt x="1193300" y="2304635"/>
                </a:lnTo>
                <a:lnTo>
                  <a:pt x="1196915" y="2304635"/>
                </a:lnTo>
                <a:lnTo>
                  <a:pt x="1200437" y="2304635"/>
                </a:lnTo>
                <a:lnTo>
                  <a:pt x="1204052" y="2304635"/>
                </a:lnTo>
                <a:lnTo>
                  <a:pt x="1207667" y="2304635"/>
                </a:lnTo>
                <a:lnTo>
                  <a:pt x="1211282" y="2304635"/>
                </a:lnTo>
                <a:lnTo>
                  <a:pt x="1214850" y="2304635"/>
                </a:lnTo>
                <a:lnTo>
                  <a:pt x="1214850" y="2300035"/>
                </a:lnTo>
                <a:lnTo>
                  <a:pt x="1218512" y="2300035"/>
                </a:lnTo>
                <a:lnTo>
                  <a:pt x="1222080" y="2300035"/>
                </a:lnTo>
                <a:lnTo>
                  <a:pt x="1225648" y="2300035"/>
                </a:lnTo>
                <a:lnTo>
                  <a:pt x="1225648" y="2297770"/>
                </a:lnTo>
                <a:lnTo>
                  <a:pt x="1229310" y="2297770"/>
                </a:lnTo>
                <a:lnTo>
                  <a:pt x="1232925" y="2297770"/>
                </a:lnTo>
                <a:lnTo>
                  <a:pt x="1232925" y="2295504"/>
                </a:lnTo>
                <a:lnTo>
                  <a:pt x="1236446" y="2295504"/>
                </a:lnTo>
                <a:lnTo>
                  <a:pt x="1240014" y="2295504"/>
                </a:lnTo>
                <a:lnTo>
                  <a:pt x="1243723" y="2295504"/>
                </a:lnTo>
                <a:lnTo>
                  <a:pt x="1243723" y="2293238"/>
                </a:lnTo>
                <a:lnTo>
                  <a:pt x="1247291" y="2293238"/>
                </a:lnTo>
                <a:lnTo>
                  <a:pt x="1250860" y="2293238"/>
                </a:lnTo>
                <a:lnTo>
                  <a:pt x="1254521" y="2293238"/>
                </a:lnTo>
                <a:lnTo>
                  <a:pt x="1254521" y="2288605"/>
                </a:lnTo>
                <a:lnTo>
                  <a:pt x="1258090" y="2288605"/>
                </a:lnTo>
                <a:lnTo>
                  <a:pt x="1258090" y="2286339"/>
                </a:lnTo>
                <a:lnTo>
                  <a:pt x="1261658" y="2286339"/>
                </a:lnTo>
                <a:lnTo>
                  <a:pt x="1261658" y="2279508"/>
                </a:lnTo>
                <a:lnTo>
                  <a:pt x="1265273" y="2279508"/>
                </a:lnTo>
                <a:lnTo>
                  <a:pt x="1265273" y="2277174"/>
                </a:lnTo>
                <a:lnTo>
                  <a:pt x="1268935" y="2277174"/>
                </a:lnTo>
                <a:lnTo>
                  <a:pt x="1268935" y="2274942"/>
                </a:lnTo>
                <a:lnTo>
                  <a:pt x="1272456" y="2274942"/>
                </a:lnTo>
                <a:lnTo>
                  <a:pt x="1276071" y="2274942"/>
                </a:lnTo>
                <a:lnTo>
                  <a:pt x="1276071" y="2268043"/>
                </a:lnTo>
                <a:lnTo>
                  <a:pt x="1279733" y="2268043"/>
                </a:lnTo>
                <a:lnTo>
                  <a:pt x="1283301" y="2268043"/>
                </a:lnTo>
                <a:lnTo>
                  <a:pt x="1286869" y="2268043"/>
                </a:lnTo>
                <a:lnTo>
                  <a:pt x="1286869" y="2256646"/>
                </a:lnTo>
                <a:lnTo>
                  <a:pt x="1290484" y="2256646"/>
                </a:lnTo>
                <a:lnTo>
                  <a:pt x="1290484" y="2247481"/>
                </a:lnTo>
                <a:lnTo>
                  <a:pt x="1294099" y="2247481"/>
                </a:lnTo>
                <a:lnTo>
                  <a:pt x="1294099" y="2231417"/>
                </a:lnTo>
                <a:lnTo>
                  <a:pt x="1297668" y="2231417"/>
                </a:lnTo>
                <a:lnTo>
                  <a:pt x="1301282" y="2231417"/>
                </a:lnTo>
                <a:lnTo>
                  <a:pt x="1301282" y="2226851"/>
                </a:lnTo>
                <a:lnTo>
                  <a:pt x="1304945" y="2226851"/>
                </a:lnTo>
                <a:lnTo>
                  <a:pt x="1304945" y="2222218"/>
                </a:lnTo>
                <a:lnTo>
                  <a:pt x="1308466" y="2222218"/>
                </a:lnTo>
                <a:lnTo>
                  <a:pt x="1308466" y="2213020"/>
                </a:lnTo>
                <a:lnTo>
                  <a:pt x="1312080" y="2213020"/>
                </a:lnTo>
                <a:lnTo>
                  <a:pt x="1312080" y="2208454"/>
                </a:lnTo>
                <a:lnTo>
                  <a:pt x="1315649" y="2208454"/>
                </a:lnTo>
                <a:lnTo>
                  <a:pt x="1319264" y="2208454"/>
                </a:lnTo>
                <a:lnTo>
                  <a:pt x="1319264" y="2206154"/>
                </a:lnTo>
                <a:lnTo>
                  <a:pt x="1322879" y="2206154"/>
                </a:lnTo>
                <a:lnTo>
                  <a:pt x="1322879" y="2199221"/>
                </a:lnTo>
                <a:lnTo>
                  <a:pt x="1326447" y="2199221"/>
                </a:lnTo>
                <a:lnTo>
                  <a:pt x="1326447" y="2194622"/>
                </a:lnTo>
                <a:lnTo>
                  <a:pt x="1330109" y="2194622"/>
                </a:lnTo>
                <a:lnTo>
                  <a:pt x="1333677" y="2194622"/>
                </a:lnTo>
                <a:lnTo>
                  <a:pt x="1333677" y="2190022"/>
                </a:lnTo>
                <a:lnTo>
                  <a:pt x="1337292" y="2190022"/>
                </a:lnTo>
                <a:lnTo>
                  <a:pt x="1337292" y="2187689"/>
                </a:lnTo>
                <a:lnTo>
                  <a:pt x="1340813" y="2187689"/>
                </a:lnTo>
                <a:lnTo>
                  <a:pt x="1344523" y="2187689"/>
                </a:lnTo>
                <a:lnTo>
                  <a:pt x="1344523" y="2185423"/>
                </a:lnTo>
                <a:lnTo>
                  <a:pt x="1348090" y="2185423"/>
                </a:lnTo>
                <a:lnTo>
                  <a:pt x="1351658" y="2185423"/>
                </a:lnTo>
                <a:lnTo>
                  <a:pt x="1355321" y="2185423"/>
                </a:lnTo>
                <a:lnTo>
                  <a:pt x="1358889" y="2185423"/>
                </a:lnTo>
                <a:lnTo>
                  <a:pt x="1362456" y="2185423"/>
                </a:lnTo>
                <a:lnTo>
                  <a:pt x="1362456" y="2180756"/>
                </a:lnTo>
                <a:lnTo>
                  <a:pt x="1366072" y="2180756"/>
                </a:lnTo>
                <a:lnTo>
                  <a:pt x="1369687" y="2180756"/>
                </a:lnTo>
                <a:lnTo>
                  <a:pt x="1373302" y="2180756"/>
                </a:lnTo>
                <a:lnTo>
                  <a:pt x="1373302" y="2178491"/>
                </a:lnTo>
                <a:lnTo>
                  <a:pt x="1376870" y="2178491"/>
                </a:lnTo>
                <a:lnTo>
                  <a:pt x="1380532" y="2178491"/>
                </a:lnTo>
                <a:lnTo>
                  <a:pt x="1384100" y="2178491"/>
                </a:lnTo>
                <a:lnTo>
                  <a:pt x="1387668" y="2178491"/>
                </a:lnTo>
                <a:lnTo>
                  <a:pt x="1387668" y="2176157"/>
                </a:lnTo>
                <a:lnTo>
                  <a:pt x="1391236" y="2176157"/>
                </a:lnTo>
                <a:lnTo>
                  <a:pt x="1394898" y="2176157"/>
                </a:lnTo>
                <a:lnTo>
                  <a:pt x="1398466" y="2176157"/>
                </a:lnTo>
                <a:lnTo>
                  <a:pt x="1402082" y="2176157"/>
                </a:lnTo>
                <a:lnTo>
                  <a:pt x="1405696" y="2176157"/>
                </a:lnTo>
                <a:lnTo>
                  <a:pt x="1409265" y="2176157"/>
                </a:lnTo>
                <a:lnTo>
                  <a:pt x="1409265" y="2173824"/>
                </a:lnTo>
                <a:lnTo>
                  <a:pt x="1412880" y="2173824"/>
                </a:lnTo>
                <a:lnTo>
                  <a:pt x="1412880" y="2171524"/>
                </a:lnTo>
                <a:lnTo>
                  <a:pt x="1416448" y="2171524"/>
                </a:lnTo>
                <a:lnTo>
                  <a:pt x="1420110" y="2171524"/>
                </a:lnTo>
                <a:lnTo>
                  <a:pt x="1423678" y="2171524"/>
                </a:lnTo>
                <a:lnTo>
                  <a:pt x="1427246" y="2171524"/>
                </a:lnTo>
                <a:lnTo>
                  <a:pt x="1427246" y="2169224"/>
                </a:lnTo>
                <a:lnTo>
                  <a:pt x="1430908" y="2169224"/>
                </a:lnTo>
                <a:lnTo>
                  <a:pt x="1434476" y="2169224"/>
                </a:lnTo>
                <a:lnTo>
                  <a:pt x="1438091" y="2169224"/>
                </a:lnTo>
                <a:lnTo>
                  <a:pt x="1438091" y="2166891"/>
                </a:lnTo>
                <a:lnTo>
                  <a:pt x="1441659" y="2166891"/>
                </a:lnTo>
                <a:lnTo>
                  <a:pt x="1445322" y="2166891"/>
                </a:lnTo>
                <a:lnTo>
                  <a:pt x="1445322" y="2164557"/>
                </a:lnTo>
                <a:lnTo>
                  <a:pt x="1448889" y="2164557"/>
                </a:lnTo>
                <a:lnTo>
                  <a:pt x="1452457" y="2164557"/>
                </a:lnTo>
                <a:lnTo>
                  <a:pt x="1456120" y="2164557"/>
                </a:lnTo>
                <a:lnTo>
                  <a:pt x="1459688" y="2164557"/>
                </a:lnTo>
                <a:lnTo>
                  <a:pt x="1459688" y="2162257"/>
                </a:lnTo>
                <a:lnTo>
                  <a:pt x="1463255" y="2162257"/>
                </a:lnTo>
                <a:lnTo>
                  <a:pt x="1466824" y="2162257"/>
                </a:lnTo>
                <a:lnTo>
                  <a:pt x="1470486" y="2162257"/>
                </a:lnTo>
                <a:lnTo>
                  <a:pt x="1474054" y="2162257"/>
                </a:lnTo>
                <a:lnTo>
                  <a:pt x="1477669" y="2162257"/>
                </a:lnTo>
                <a:lnTo>
                  <a:pt x="1481331" y="2162257"/>
                </a:lnTo>
                <a:lnTo>
                  <a:pt x="1484899" y="2162257"/>
                </a:lnTo>
                <a:lnTo>
                  <a:pt x="1488467" y="2162257"/>
                </a:lnTo>
                <a:lnTo>
                  <a:pt x="1492082" y="2162257"/>
                </a:lnTo>
                <a:lnTo>
                  <a:pt x="1495697" y="2162257"/>
                </a:lnTo>
                <a:lnTo>
                  <a:pt x="1499265" y="2162257"/>
                </a:lnTo>
                <a:lnTo>
                  <a:pt x="1502833" y="2162257"/>
                </a:lnTo>
                <a:lnTo>
                  <a:pt x="1506495" y="2162257"/>
                </a:lnTo>
                <a:lnTo>
                  <a:pt x="1510064" y="2162257"/>
                </a:lnTo>
                <a:lnTo>
                  <a:pt x="1513679" y="2162257"/>
                </a:lnTo>
                <a:lnTo>
                  <a:pt x="1517246" y="2162257"/>
                </a:lnTo>
                <a:lnTo>
                  <a:pt x="1517246" y="2159958"/>
                </a:lnTo>
                <a:lnTo>
                  <a:pt x="1520908" y="2159958"/>
                </a:lnTo>
                <a:lnTo>
                  <a:pt x="1524477" y="2159958"/>
                </a:lnTo>
                <a:lnTo>
                  <a:pt x="1528045" y="2159958"/>
                </a:lnTo>
                <a:lnTo>
                  <a:pt x="1531707" y="2159958"/>
                </a:lnTo>
                <a:lnTo>
                  <a:pt x="1535322" y="2159958"/>
                </a:lnTo>
                <a:lnTo>
                  <a:pt x="1538843" y="2159958"/>
                </a:lnTo>
                <a:lnTo>
                  <a:pt x="1542459" y="2159958"/>
                </a:lnTo>
                <a:lnTo>
                  <a:pt x="1546120" y="2159958"/>
                </a:lnTo>
                <a:lnTo>
                  <a:pt x="1549688" y="2159958"/>
                </a:lnTo>
                <a:lnTo>
                  <a:pt x="1553257" y="2159958"/>
                </a:lnTo>
                <a:lnTo>
                  <a:pt x="1556918" y="2159958"/>
                </a:lnTo>
                <a:lnTo>
                  <a:pt x="1560486" y="2159958"/>
                </a:lnTo>
                <a:lnTo>
                  <a:pt x="1564055" y="2159958"/>
                </a:lnTo>
                <a:lnTo>
                  <a:pt x="1567623" y="2159958"/>
                </a:lnTo>
                <a:lnTo>
                  <a:pt x="1567623" y="2157624"/>
                </a:lnTo>
                <a:lnTo>
                  <a:pt x="1571332" y="2157624"/>
                </a:lnTo>
                <a:lnTo>
                  <a:pt x="1574853" y="2157624"/>
                </a:lnTo>
                <a:lnTo>
                  <a:pt x="1578468" y="2157624"/>
                </a:lnTo>
                <a:lnTo>
                  <a:pt x="1582130" y="2157624"/>
                </a:lnTo>
                <a:lnTo>
                  <a:pt x="1585651" y="2157624"/>
                </a:lnTo>
                <a:lnTo>
                  <a:pt x="1589266" y="2157624"/>
                </a:lnTo>
                <a:lnTo>
                  <a:pt x="1589266" y="2155291"/>
                </a:lnTo>
                <a:lnTo>
                  <a:pt x="1592834" y="2155291"/>
                </a:lnTo>
                <a:lnTo>
                  <a:pt x="1592834" y="2152957"/>
                </a:lnTo>
                <a:lnTo>
                  <a:pt x="1596497" y="2152957"/>
                </a:lnTo>
                <a:lnTo>
                  <a:pt x="1600064" y="2152957"/>
                </a:lnTo>
                <a:lnTo>
                  <a:pt x="1603679" y="2152957"/>
                </a:lnTo>
                <a:lnTo>
                  <a:pt x="1607295" y="2152957"/>
                </a:lnTo>
                <a:lnTo>
                  <a:pt x="1610863" y="2152957"/>
                </a:lnTo>
                <a:lnTo>
                  <a:pt x="1614478" y="2152957"/>
                </a:lnTo>
                <a:lnTo>
                  <a:pt x="1614478" y="2150624"/>
                </a:lnTo>
                <a:lnTo>
                  <a:pt x="1618140" y="2150624"/>
                </a:lnTo>
                <a:lnTo>
                  <a:pt x="1621661" y="2150624"/>
                </a:lnTo>
                <a:lnTo>
                  <a:pt x="1625276" y="2150624"/>
                </a:lnTo>
                <a:lnTo>
                  <a:pt x="1628844" y="2150624"/>
                </a:lnTo>
                <a:lnTo>
                  <a:pt x="1632506" y="2150624"/>
                </a:lnTo>
                <a:lnTo>
                  <a:pt x="1636121" y="2150624"/>
                </a:lnTo>
                <a:lnTo>
                  <a:pt x="1639689" y="2150624"/>
                </a:lnTo>
                <a:lnTo>
                  <a:pt x="1643304" y="2150624"/>
                </a:lnTo>
                <a:lnTo>
                  <a:pt x="1646872" y="2150624"/>
                </a:lnTo>
                <a:lnTo>
                  <a:pt x="1650487" y="2150624"/>
                </a:lnTo>
                <a:lnTo>
                  <a:pt x="1654055" y="2150624"/>
                </a:lnTo>
                <a:lnTo>
                  <a:pt x="1657670" y="2150624"/>
                </a:lnTo>
                <a:lnTo>
                  <a:pt x="1661285" y="2150624"/>
                </a:lnTo>
                <a:lnTo>
                  <a:pt x="1664854" y="2150624"/>
                </a:lnTo>
                <a:lnTo>
                  <a:pt x="1668516" y="2150624"/>
                </a:lnTo>
                <a:lnTo>
                  <a:pt x="1672083" y="2150624"/>
                </a:lnTo>
                <a:lnTo>
                  <a:pt x="1675698" y="2150624"/>
                </a:lnTo>
                <a:lnTo>
                  <a:pt x="1679220" y="2150624"/>
                </a:lnTo>
                <a:lnTo>
                  <a:pt x="1679220" y="2148290"/>
                </a:lnTo>
                <a:lnTo>
                  <a:pt x="1682929" y="2148290"/>
                </a:lnTo>
                <a:lnTo>
                  <a:pt x="1682929" y="2143691"/>
                </a:lnTo>
                <a:lnTo>
                  <a:pt x="1686497" y="2143691"/>
                </a:lnTo>
                <a:lnTo>
                  <a:pt x="1686497" y="2136690"/>
                </a:lnTo>
                <a:lnTo>
                  <a:pt x="1690065" y="2136690"/>
                </a:lnTo>
                <a:lnTo>
                  <a:pt x="1690065" y="2122689"/>
                </a:lnTo>
                <a:lnTo>
                  <a:pt x="1693727" y="2122689"/>
                </a:lnTo>
                <a:lnTo>
                  <a:pt x="1693727" y="2118022"/>
                </a:lnTo>
                <a:lnTo>
                  <a:pt x="1697248" y="2118022"/>
                </a:lnTo>
                <a:lnTo>
                  <a:pt x="1697248" y="2115723"/>
                </a:lnTo>
                <a:lnTo>
                  <a:pt x="1700863" y="2115723"/>
                </a:lnTo>
                <a:lnTo>
                  <a:pt x="1700863" y="2113389"/>
                </a:lnTo>
                <a:lnTo>
                  <a:pt x="1704432" y="2113389"/>
                </a:lnTo>
                <a:lnTo>
                  <a:pt x="1704432" y="2108688"/>
                </a:lnTo>
                <a:lnTo>
                  <a:pt x="1708093" y="2108688"/>
                </a:lnTo>
                <a:lnTo>
                  <a:pt x="1711709" y="2108688"/>
                </a:lnTo>
                <a:lnTo>
                  <a:pt x="1711709" y="2101654"/>
                </a:lnTo>
                <a:lnTo>
                  <a:pt x="1715277" y="2101654"/>
                </a:lnTo>
                <a:lnTo>
                  <a:pt x="1715277" y="2090020"/>
                </a:lnTo>
                <a:lnTo>
                  <a:pt x="1718938" y="2090020"/>
                </a:lnTo>
                <a:lnTo>
                  <a:pt x="1718938" y="2085353"/>
                </a:lnTo>
                <a:lnTo>
                  <a:pt x="1722507" y="2085353"/>
                </a:lnTo>
                <a:lnTo>
                  <a:pt x="1722507" y="2075985"/>
                </a:lnTo>
                <a:lnTo>
                  <a:pt x="1726075" y="2075985"/>
                </a:lnTo>
                <a:lnTo>
                  <a:pt x="1726075" y="2068917"/>
                </a:lnTo>
                <a:lnTo>
                  <a:pt x="1729643" y="2068917"/>
                </a:lnTo>
                <a:lnTo>
                  <a:pt x="1729643" y="2061950"/>
                </a:lnTo>
                <a:lnTo>
                  <a:pt x="1733305" y="2061950"/>
                </a:lnTo>
                <a:lnTo>
                  <a:pt x="1733305" y="2059583"/>
                </a:lnTo>
                <a:lnTo>
                  <a:pt x="1736873" y="2059583"/>
                </a:lnTo>
                <a:lnTo>
                  <a:pt x="1736873" y="2052515"/>
                </a:lnTo>
                <a:lnTo>
                  <a:pt x="1740441" y="2052515"/>
                </a:lnTo>
                <a:lnTo>
                  <a:pt x="1740441" y="2043147"/>
                </a:lnTo>
                <a:lnTo>
                  <a:pt x="1744103" y="2043147"/>
                </a:lnTo>
                <a:lnTo>
                  <a:pt x="1744103" y="2040813"/>
                </a:lnTo>
                <a:lnTo>
                  <a:pt x="1747718" y="2040813"/>
                </a:lnTo>
                <a:lnTo>
                  <a:pt x="1747718" y="2038480"/>
                </a:lnTo>
                <a:lnTo>
                  <a:pt x="1751286" y="2038480"/>
                </a:lnTo>
                <a:lnTo>
                  <a:pt x="1751286" y="2033779"/>
                </a:lnTo>
                <a:lnTo>
                  <a:pt x="1754854" y="2033779"/>
                </a:lnTo>
                <a:lnTo>
                  <a:pt x="1758516" y="2033779"/>
                </a:lnTo>
                <a:lnTo>
                  <a:pt x="1758516" y="2031446"/>
                </a:lnTo>
                <a:lnTo>
                  <a:pt x="1762084" y="2031446"/>
                </a:lnTo>
                <a:lnTo>
                  <a:pt x="1762084" y="2024412"/>
                </a:lnTo>
                <a:lnTo>
                  <a:pt x="1765653" y="2024412"/>
                </a:lnTo>
                <a:lnTo>
                  <a:pt x="1765653" y="2017343"/>
                </a:lnTo>
                <a:lnTo>
                  <a:pt x="1769315" y="2017343"/>
                </a:lnTo>
                <a:lnTo>
                  <a:pt x="1769315" y="2014942"/>
                </a:lnTo>
                <a:lnTo>
                  <a:pt x="1772882" y="2014942"/>
                </a:lnTo>
                <a:lnTo>
                  <a:pt x="1772882" y="2012608"/>
                </a:lnTo>
                <a:lnTo>
                  <a:pt x="1776451" y="2012608"/>
                </a:lnTo>
                <a:lnTo>
                  <a:pt x="1780066" y="2012608"/>
                </a:lnTo>
                <a:lnTo>
                  <a:pt x="1780066" y="2010207"/>
                </a:lnTo>
                <a:lnTo>
                  <a:pt x="1783681" y="2010207"/>
                </a:lnTo>
                <a:lnTo>
                  <a:pt x="1783681" y="2007908"/>
                </a:lnTo>
                <a:lnTo>
                  <a:pt x="1787296" y="2007908"/>
                </a:lnTo>
                <a:lnTo>
                  <a:pt x="1787296" y="2005507"/>
                </a:lnTo>
                <a:lnTo>
                  <a:pt x="1790864" y="2005507"/>
                </a:lnTo>
                <a:lnTo>
                  <a:pt x="1794526" y="2005507"/>
                </a:lnTo>
                <a:lnTo>
                  <a:pt x="1798094" y="2005507"/>
                </a:lnTo>
                <a:lnTo>
                  <a:pt x="1801662" y="2005507"/>
                </a:lnTo>
                <a:lnTo>
                  <a:pt x="1805230" y="2005507"/>
                </a:lnTo>
                <a:lnTo>
                  <a:pt x="1808892" y="2005507"/>
                </a:lnTo>
                <a:lnTo>
                  <a:pt x="1812460" y="2005507"/>
                </a:lnTo>
                <a:lnTo>
                  <a:pt x="1816075" y="2005507"/>
                </a:lnTo>
                <a:lnTo>
                  <a:pt x="1816075" y="2000840"/>
                </a:lnTo>
                <a:lnTo>
                  <a:pt x="1819691" y="2000840"/>
                </a:lnTo>
                <a:lnTo>
                  <a:pt x="1819691" y="1998472"/>
                </a:lnTo>
                <a:lnTo>
                  <a:pt x="1823306" y="1998472"/>
                </a:lnTo>
                <a:lnTo>
                  <a:pt x="1826873" y="1998472"/>
                </a:lnTo>
                <a:lnTo>
                  <a:pt x="1830489" y="1998472"/>
                </a:lnTo>
                <a:lnTo>
                  <a:pt x="1834104" y="1998472"/>
                </a:lnTo>
                <a:lnTo>
                  <a:pt x="1834104" y="1996105"/>
                </a:lnTo>
                <a:lnTo>
                  <a:pt x="1837672" y="1996105"/>
                </a:lnTo>
                <a:lnTo>
                  <a:pt x="1837672" y="1991336"/>
                </a:lnTo>
                <a:lnTo>
                  <a:pt x="1841239" y="1991336"/>
                </a:lnTo>
                <a:lnTo>
                  <a:pt x="1844902" y="1991336"/>
                </a:lnTo>
                <a:lnTo>
                  <a:pt x="1844902" y="1989003"/>
                </a:lnTo>
                <a:lnTo>
                  <a:pt x="1848470" y="1989003"/>
                </a:lnTo>
                <a:lnTo>
                  <a:pt x="1848470" y="1984302"/>
                </a:lnTo>
                <a:lnTo>
                  <a:pt x="1852038" y="1984302"/>
                </a:lnTo>
                <a:lnTo>
                  <a:pt x="1855653" y="1984302"/>
                </a:lnTo>
                <a:lnTo>
                  <a:pt x="1859315" y="1984302"/>
                </a:lnTo>
                <a:lnTo>
                  <a:pt x="1862883" y="1984302"/>
                </a:lnTo>
                <a:lnTo>
                  <a:pt x="1862883" y="1981901"/>
                </a:lnTo>
                <a:lnTo>
                  <a:pt x="1866498" y="1981901"/>
                </a:lnTo>
                <a:lnTo>
                  <a:pt x="1870113" y="1981901"/>
                </a:lnTo>
                <a:lnTo>
                  <a:pt x="1873681" y="1981901"/>
                </a:lnTo>
                <a:lnTo>
                  <a:pt x="1877250" y="1981901"/>
                </a:lnTo>
                <a:lnTo>
                  <a:pt x="1880818" y="1981901"/>
                </a:lnTo>
                <a:lnTo>
                  <a:pt x="1884527" y="1981901"/>
                </a:lnTo>
                <a:lnTo>
                  <a:pt x="1888095" y="1981901"/>
                </a:lnTo>
                <a:lnTo>
                  <a:pt x="1891663" y="1981901"/>
                </a:lnTo>
                <a:lnTo>
                  <a:pt x="1895325" y="1981901"/>
                </a:lnTo>
                <a:lnTo>
                  <a:pt x="1898893" y="1981901"/>
                </a:lnTo>
                <a:lnTo>
                  <a:pt x="1902461" y="1981901"/>
                </a:lnTo>
                <a:lnTo>
                  <a:pt x="1906076" y="1981901"/>
                </a:lnTo>
                <a:lnTo>
                  <a:pt x="1909691" y="1981901"/>
                </a:lnTo>
                <a:lnTo>
                  <a:pt x="1913259" y="1981901"/>
                </a:lnTo>
                <a:lnTo>
                  <a:pt x="1916828" y="1981901"/>
                </a:lnTo>
                <a:lnTo>
                  <a:pt x="1920536" y="1981901"/>
                </a:lnTo>
                <a:lnTo>
                  <a:pt x="1924105" y="1981901"/>
                </a:lnTo>
                <a:lnTo>
                  <a:pt x="1927672" y="1981901"/>
                </a:lnTo>
                <a:lnTo>
                  <a:pt x="1927672" y="1979500"/>
                </a:lnTo>
                <a:lnTo>
                  <a:pt x="1931241" y="1979500"/>
                </a:lnTo>
                <a:lnTo>
                  <a:pt x="1934903" y="1979500"/>
                </a:lnTo>
                <a:lnTo>
                  <a:pt x="1934903" y="1977133"/>
                </a:lnTo>
                <a:lnTo>
                  <a:pt x="1938471" y="1977133"/>
                </a:lnTo>
                <a:lnTo>
                  <a:pt x="1942086" y="1977133"/>
                </a:lnTo>
                <a:lnTo>
                  <a:pt x="1945748" y="1977133"/>
                </a:lnTo>
                <a:lnTo>
                  <a:pt x="1949269" y="1977133"/>
                </a:lnTo>
                <a:lnTo>
                  <a:pt x="1949269" y="1974799"/>
                </a:lnTo>
                <a:lnTo>
                  <a:pt x="1952884" y="1974799"/>
                </a:lnTo>
                <a:lnTo>
                  <a:pt x="1956452" y="1974799"/>
                </a:lnTo>
                <a:lnTo>
                  <a:pt x="1960067" y="1974799"/>
                </a:lnTo>
                <a:lnTo>
                  <a:pt x="1963682" y="1974799"/>
                </a:lnTo>
                <a:lnTo>
                  <a:pt x="1967250" y="1974799"/>
                </a:lnTo>
                <a:lnTo>
                  <a:pt x="1967250" y="1970031"/>
                </a:lnTo>
                <a:lnTo>
                  <a:pt x="1970912" y="1970031"/>
                </a:lnTo>
                <a:lnTo>
                  <a:pt x="1974481" y="1970031"/>
                </a:lnTo>
                <a:lnTo>
                  <a:pt x="1978095" y="1970031"/>
                </a:lnTo>
                <a:lnTo>
                  <a:pt x="1981616" y="1970031"/>
                </a:lnTo>
                <a:lnTo>
                  <a:pt x="1985279" y="1970031"/>
                </a:lnTo>
                <a:lnTo>
                  <a:pt x="1988893" y="1970031"/>
                </a:lnTo>
                <a:lnTo>
                  <a:pt x="1992414" y="1970031"/>
                </a:lnTo>
                <a:lnTo>
                  <a:pt x="1996077" y="1970031"/>
                </a:lnTo>
                <a:lnTo>
                  <a:pt x="1999691" y="1970031"/>
                </a:lnTo>
                <a:lnTo>
                  <a:pt x="2003260" y="1970031"/>
                </a:lnTo>
                <a:lnTo>
                  <a:pt x="2006922" y="1970031"/>
                </a:lnTo>
                <a:lnTo>
                  <a:pt x="2010490" y="1970031"/>
                </a:lnTo>
                <a:lnTo>
                  <a:pt x="2014105" y="1970031"/>
                </a:lnTo>
                <a:lnTo>
                  <a:pt x="2017626" y="1970031"/>
                </a:lnTo>
                <a:lnTo>
                  <a:pt x="2021335" y="1970031"/>
                </a:lnTo>
                <a:lnTo>
                  <a:pt x="2024904" y="1970031"/>
                </a:lnTo>
                <a:lnTo>
                  <a:pt x="2028424" y="1970031"/>
                </a:lnTo>
                <a:lnTo>
                  <a:pt x="2032133" y="1970031"/>
                </a:lnTo>
                <a:lnTo>
                  <a:pt x="2035702" y="1970031"/>
                </a:lnTo>
                <a:lnTo>
                  <a:pt x="2039270" y="1970031"/>
                </a:lnTo>
                <a:lnTo>
                  <a:pt x="2042885" y="1970031"/>
                </a:lnTo>
                <a:lnTo>
                  <a:pt x="2046500" y="1970031"/>
                </a:lnTo>
                <a:lnTo>
                  <a:pt x="2050068" y="1970031"/>
                </a:lnTo>
                <a:lnTo>
                  <a:pt x="2053683" y="1970031"/>
                </a:lnTo>
                <a:lnTo>
                  <a:pt x="2053683" y="1967562"/>
                </a:lnTo>
                <a:lnTo>
                  <a:pt x="2057345" y="1967562"/>
                </a:lnTo>
                <a:lnTo>
                  <a:pt x="2060913" y="1967562"/>
                </a:lnTo>
                <a:lnTo>
                  <a:pt x="2064481" y="1967562"/>
                </a:lnTo>
                <a:lnTo>
                  <a:pt x="2068049" y="1967562"/>
                </a:lnTo>
                <a:lnTo>
                  <a:pt x="2071664" y="1967562"/>
                </a:lnTo>
                <a:lnTo>
                  <a:pt x="2075280" y="1967562"/>
                </a:lnTo>
                <a:lnTo>
                  <a:pt x="2078847" y="1967562"/>
                </a:lnTo>
                <a:lnTo>
                  <a:pt x="2082509" y="1967562"/>
                </a:lnTo>
                <a:lnTo>
                  <a:pt x="2086078" y="1967562"/>
                </a:lnTo>
                <a:lnTo>
                  <a:pt x="2089693" y="1967562"/>
                </a:lnTo>
                <a:lnTo>
                  <a:pt x="2093261" y="1967562"/>
                </a:lnTo>
                <a:lnTo>
                  <a:pt x="2096923" y="1967562"/>
                </a:lnTo>
                <a:lnTo>
                  <a:pt x="2100538" y="1967562"/>
                </a:lnTo>
                <a:lnTo>
                  <a:pt x="2104059" y="1967562"/>
                </a:lnTo>
                <a:lnTo>
                  <a:pt x="2107674" y="1967562"/>
                </a:lnTo>
                <a:lnTo>
                  <a:pt x="2111289" y="1967562"/>
                </a:lnTo>
                <a:lnTo>
                  <a:pt x="2111289" y="1965093"/>
                </a:lnTo>
                <a:lnTo>
                  <a:pt x="2114857" y="1965093"/>
                </a:lnTo>
                <a:lnTo>
                  <a:pt x="2118472" y="1965093"/>
                </a:lnTo>
                <a:lnTo>
                  <a:pt x="2118472" y="1957788"/>
                </a:lnTo>
                <a:lnTo>
                  <a:pt x="2122087" y="1957788"/>
                </a:lnTo>
                <a:lnTo>
                  <a:pt x="2122087" y="1955320"/>
                </a:lnTo>
                <a:lnTo>
                  <a:pt x="2125702" y="1955320"/>
                </a:lnTo>
                <a:lnTo>
                  <a:pt x="2125702" y="1952885"/>
                </a:lnTo>
                <a:lnTo>
                  <a:pt x="2129270" y="1952885"/>
                </a:lnTo>
                <a:lnTo>
                  <a:pt x="2132933" y="1952885"/>
                </a:lnTo>
                <a:lnTo>
                  <a:pt x="2136500" y="1952885"/>
                </a:lnTo>
                <a:lnTo>
                  <a:pt x="2140068" y="1952885"/>
                </a:lnTo>
                <a:lnTo>
                  <a:pt x="2140068" y="1945478"/>
                </a:lnTo>
                <a:lnTo>
                  <a:pt x="2143637" y="1945478"/>
                </a:lnTo>
                <a:lnTo>
                  <a:pt x="2143637" y="1925728"/>
                </a:lnTo>
                <a:lnTo>
                  <a:pt x="2147299" y="1925728"/>
                </a:lnTo>
                <a:lnTo>
                  <a:pt x="2147299" y="1920757"/>
                </a:lnTo>
                <a:lnTo>
                  <a:pt x="2150866" y="1920757"/>
                </a:lnTo>
                <a:lnTo>
                  <a:pt x="2150866" y="1918254"/>
                </a:lnTo>
                <a:lnTo>
                  <a:pt x="2154482" y="1918254"/>
                </a:lnTo>
                <a:lnTo>
                  <a:pt x="2154482" y="1905775"/>
                </a:lnTo>
                <a:lnTo>
                  <a:pt x="2158097" y="1905775"/>
                </a:lnTo>
                <a:lnTo>
                  <a:pt x="2158097" y="1893329"/>
                </a:lnTo>
                <a:lnTo>
                  <a:pt x="2161665" y="1893329"/>
                </a:lnTo>
                <a:lnTo>
                  <a:pt x="2161665" y="1883353"/>
                </a:lnTo>
                <a:lnTo>
                  <a:pt x="2165280" y="1883353"/>
                </a:lnTo>
                <a:lnTo>
                  <a:pt x="2165280" y="1875845"/>
                </a:lnTo>
                <a:lnTo>
                  <a:pt x="2168848" y="1875845"/>
                </a:lnTo>
                <a:lnTo>
                  <a:pt x="2168848" y="1863231"/>
                </a:lnTo>
                <a:lnTo>
                  <a:pt x="2172510" y="1863231"/>
                </a:lnTo>
                <a:lnTo>
                  <a:pt x="2172510" y="1850650"/>
                </a:lnTo>
                <a:lnTo>
                  <a:pt x="2176078" y="1850650"/>
                </a:lnTo>
                <a:lnTo>
                  <a:pt x="2176078" y="1845577"/>
                </a:lnTo>
                <a:lnTo>
                  <a:pt x="2179646" y="1845577"/>
                </a:lnTo>
                <a:lnTo>
                  <a:pt x="2179646" y="1840538"/>
                </a:lnTo>
                <a:lnTo>
                  <a:pt x="2183308" y="1840538"/>
                </a:lnTo>
                <a:lnTo>
                  <a:pt x="2183308" y="1835431"/>
                </a:lnTo>
                <a:lnTo>
                  <a:pt x="2186876" y="1835431"/>
                </a:lnTo>
                <a:lnTo>
                  <a:pt x="2186876" y="1832895"/>
                </a:lnTo>
                <a:lnTo>
                  <a:pt x="2190492" y="1832895"/>
                </a:lnTo>
                <a:lnTo>
                  <a:pt x="2190492" y="1817609"/>
                </a:lnTo>
                <a:lnTo>
                  <a:pt x="2194060" y="1817609"/>
                </a:lnTo>
                <a:lnTo>
                  <a:pt x="2194060" y="1809932"/>
                </a:lnTo>
                <a:lnTo>
                  <a:pt x="2197675" y="1809932"/>
                </a:lnTo>
                <a:lnTo>
                  <a:pt x="2197675" y="1804792"/>
                </a:lnTo>
                <a:lnTo>
                  <a:pt x="2201290" y="1804792"/>
                </a:lnTo>
                <a:lnTo>
                  <a:pt x="2201290" y="1799651"/>
                </a:lnTo>
                <a:lnTo>
                  <a:pt x="2204858" y="1799651"/>
                </a:lnTo>
                <a:lnTo>
                  <a:pt x="2208520" y="1799651"/>
                </a:lnTo>
                <a:lnTo>
                  <a:pt x="2208520" y="1794477"/>
                </a:lnTo>
                <a:lnTo>
                  <a:pt x="2212135" y="1794477"/>
                </a:lnTo>
                <a:lnTo>
                  <a:pt x="2212135" y="1791907"/>
                </a:lnTo>
                <a:lnTo>
                  <a:pt x="2215656" y="1791907"/>
                </a:lnTo>
                <a:lnTo>
                  <a:pt x="2215656" y="1789336"/>
                </a:lnTo>
                <a:lnTo>
                  <a:pt x="2219224" y="1789336"/>
                </a:lnTo>
                <a:lnTo>
                  <a:pt x="2222933" y="1789336"/>
                </a:lnTo>
                <a:lnTo>
                  <a:pt x="2226455" y="1789336"/>
                </a:lnTo>
                <a:lnTo>
                  <a:pt x="2230069" y="1789336"/>
                </a:lnTo>
                <a:lnTo>
                  <a:pt x="2233732" y="1789336"/>
                </a:lnTo>
                <a:lnTo>
                  <a:pt x="2237299" y="1789336"/>
                </a:lnTo>
                <a:lnTo>
                  <a:pt x="2240867" y="1789336"/>
                </a:lnTo>
                <a:lnTo>
                  <a:pt x="2240867" y="1786732"/>
                </a:lnTo>
                <a:lnTo>
                  <a:pt x="2244482" y="1786732"/>
                </a:lnTo>
                <a:lnTo>
                  <a:pt x="2244482" y="1784095"/>
                </a:lnTo>
                <a:lnTo>
                  <a:pt x="2248098" y="1784095"/>
                </a:lnTo>
                <a:lnTo>
                  <a:pt x="2251666" y="1784095"/>
                </a:lnTo>
                <a:lnTo>
                  <a:pt x="2255234" y="1784095"/>
                </a:lnTo>
                <a:lnTo>
                  <a:pt x="2255234" y="1781490"/>
                </a:lnTo>
                <a:lnTo>
                  <a:pt x="2258942" y="1781490"/>
                </a:lnTo>
                <a:lnTo>
                  <a:pt x="2262464" y="1781490"/>
                </a:lnTo>
                <a:lnTo>
                  <a:pt x="2262464" y="1778853"/>
                </a:lnTo>
                <a:lnTo>
                  <a:pt x="2266079" y="1778853"/>
                </a:lnTo>
                <a:lnTo>
                  <a:pt x="2266079" y="1773610"/>
                </a:lnTo>
                <a:lnTo>
                  <a:pt x="2269647" y="1773610"/>
                </a:lnTo>
                <a:lnTo>
                  <a:pt x="2273309" y="1773610"/>
                </a:lnTo>
                <a:lnTo>
                  <a:pt x="2276877" y="1773610"/>
                </a:lnTo>
                <a:lnTo>
                  <a:pt x="2280492" y="1773610"/>
                </a:lnTo>
                <a:lnTo>
                  <a:pt x="2284108" y="1773610"/>
                </a:lnTo>
                <a:lnTo>
                  <a:pt x="2287675" y="1773610"/>
                </a:lnTo>
                <a:lnTo>
                  <a:pt x="2291291" y="1773610"/>
                </a:lnTo>
                <a:lnTo>
                  <a:pt x="2291291" y="1768301"/>
                </a:lnTo>
                <a:lnTo>
                  <a:pt x="2294812" y="1768301"/>
                </a:lnTo>
                <a:lnTo>
                  <a:pt x="2298474" y="1768301"/>
                </a:lnTo>
                <a:lnTo>
                  <a:pt x="2302089" y="1768301"/>
                </a:lnTo>
                <a:lnTo>
                  <a:pt x="2305657" y="1768301"/>
                </a:lnTo>
                <a:lnTo>
                  <a:pt x="2309318" y="1768301"/>
                </a:lnTo>
                <a:lnTo>
                  <a:pt x="2312887" y="1768301"/>
                </a:lnTo>
                <a:lnTo>
                  <a:pt x="2316455" y="1768301"/>
                </a:lnTo>
                <a:lnTo>
                  <a:pt x="2320023" y="1768301"/>
                </a:lnTo>
                <a:lnTo>
                  <a:pt x="2320023" y="1765562"/>
                </a:lnTo>
                <a:lnTo>
                  <a:pt x="2323685" y="1765562"/>
                </a:lnTo>
                <a:lnTo>
                  <a:pt x="2323685" y="1762890"/>
                </a:lnTo>
                <a:lnTo>
                  <a:pt x="2327300" y="1762890"/>
                </a:lnTo>
                <a:lnTo>
                  <a:pt x="2327300" y="1760150"/>
                </a:lnTo>
                <a:lnTo>
                  <a:pt x="2330869" y="1760150"/>
                </a:lnTo>
                <a:lnTo>
                  <a:pt x="2330869" y="1757479"/>
                </a:lnTo>
                <a:lnTo>
                  <a:pt x="2334483" y="1757479"/>
                </a:lnTo>
                <a:lnTo>
                  <a:pt x="2338098" y="1757479"/>
                </a:lnTo>
                <a:lnTo>
                  <a:pt x="2338098" y="1754706"/>
                </a:lnTo>
                <a:lnTo>
                  <a:pt x="2341667" y="1754706"/>
                </a:lnTo>
                <a:lnTo>
                  <a:pt x="2345235" y="1754706"/>
                </a:lnTo>
                <a:lnTo>
                  <a:pt x="2345235" y="1752000"/>
                </a:lnTo>
                <a:lnTo>
                  <a:pt x="2348896" y="1752000"/>
                </a:lnTo>
                <a:lnTo>
                  <a:pt x="2352465" y="1752000"/>
                </a:lnTo>
                <a:lnTo>
                  <a:pt x="2356033" y="1752000"/>
                </a:lnTo>
                <a:lnTo>
                  <a:pt x="2359742" y="1752000"/>
                </a:lnTo>
                <a:lnTo>
                  <a:pt x="2359742" y="1749261"/>
                </a:lnTo>
                <a:lnTo>
                  <a:pt x="2363310" y="1749261"/>
                </a:lnTo>
                <a:lnTo>
                  <a:pt x="2363310" y="1746521"/>
                </a:lnTo>
                <a:lnTo>
                  <a:pt x="2366878" y="1746521"/>
                </a:lnTo>
                <a:lnTo>
                  <a:pt x="2370446" y="1746521"/>
                </a:lnTo>
                <a:lnTo>
                  <a:pt x="2374108" y="1746521"/>
                </a:lnTo>
                <a:lnTo>
                  <a:pt x="2374108" y="1743715"/>
                </a:lnTo>
                <a:lnTo>
                  <a:pt x="2377676" y="1743715"/>
                </a:lnTo>
                <a:lnTo>
                  <a:pt x="2381244" y="1743715"/>
                </a:lnTo>
                <a:lnTo>
                  <a:pt x="2384907" y="1743715"/>
                </a:lnTo>
                <a:lnTo>
                  <a:pt x="2388521" y="1743715"/>
                </a:lnTo>
                <a:lnTo>
                  <a:pt x="2392089" y="1743715"/>
                </a:lnTo>
                <a:lnTo>
                  <a:pt x="2395705" y="1743715"/>
                </a:lnTo>
                <a:lnTo>
                  <a:pt x="2399319" y="1743715"/>
                </a:lnTo>
                <a:lnTo>
                  <a:pt x="2402888" y="1743715"/>
                </a:lnTo>
                <a:lnTo>
                  <a:pt x="2406455" y="1743715"/>
                </a:lnTo>
                <a:lnTo>
                  <a:pt x="2410117" y="1743715"/>
                </a:lnTo>
                <a:lnTo>
                  <a:pt x="2413686" y="1743715"/>
                </a:lnTo>
                <a:lnTo>
                  <a:pt x="2417254" y="1743715"/>
                </a:lnTo>
                <a:lnTo>
                  <a:pt x="2420916" y="1743715"/>
                </a:lnTo>
                <a:lnTo>
                  <a:pt x="2424484" y="1743715"/>
                </a:lnTo>
                <a:lnTo>
                  <a:pt x="2428099" y="1743715"/>
                </a:lnTo>
                <a:lnTo>
                  <a:pt x="2431667" y="1743715"/>
                </a:lnTo>
                <a:lnTo>
                  <a:pt x="2435329" y="1743715"/>
                </a:lnTo>
                <a:lnTo>
                  <a:pt x="2438897" y="1743715"/>
                </a:lnTo>
                <a:lnTo>
                  <a:pt x="2442465" y="1743715"/>
                </a:lnTo>
                <a:lnTo>
                  <a:pt x="2446127" y="1743715"/>
                </a:lnTo>
                <a:lnTo>
                  <a:pt x="2446127" y="1740942"/>
                </a:lnTo>
                <a:lnTo>
                  <a:pt x="2449695" y="1740942"/>
                </a:lnTo>
                <a:lnTo>
                  <a:pt x="2453264" y="1740942"/>
                </a:lnTo>
                <a:lnTo>
                  <a:pt x="2456831" y="1740942"/>
                </a:lnTo>
                <a:lnTo>
                  <a:pt x="2456831" y="1738067"/>
                </a:lnTo>
                <a:lnTo>
                  <a:pt x="2460493" y="1738067"/>
                </a:lnTo>
                <a:lnTo>
                  <a:pt x="2464109" y="1738067"/>
                </a:lnTo>
                <a:lnTo>
                  <a:pt x="2467677" y="1738067"/>
                </a:lnTo>
                <a:lnTo>
                  <a:pt x="2471339" y="1738067"/>
                </a:lnTo>
                <a:lnTo>
                  <a:pt x="2474907" y="1738067"/>
                </a:lnTo>
                <a:lnTo>
                  <a:pt x="2474907" y="1735226"/>
                </a:lnTo>
                <a:lnTo>
                  <a:pt x="2478475" y="1735226"/>
                </a:lnTo>
                <a:lnTo>
                  <a:pt x="2482090" y="1735226"/>
                </a:lnTo>
                <a:lnTo>
                  <a:pt x="2485705" y="1735226"/>
                </a:lnTo>
                <a:lnTo>
                  <a:pt x="2485705" y="1732352"/>
                </a:lnTo>
                <a:lnTo>
                  <a:pt x="2489273" y="1732352"/>
                </a:lnTo>
                <a:lnTo>
                  <a:pt x="2492842" y="1732352"/>
                </a:lnTo>
                <a:lnTo>
                  <a:pt x="2492842" y="1729443"/>
                </a:lnTo>
                <a:lnTo>
                  <a:pt x="2496503" y="1729443"/>
                </a:lnTo>
                <a:lnTo>
                  <a:pt x="2500119" y="1729443"/>
                </a:lnTo>
                <a:lnTo>
                  <a:pt x="2503687" y="1729443"/>
                </a:lnTo>
                <a:lnTo>
                  <a:pt x="2507254" y="1729443"/>
                </a:lnTo>
                <a:lnTo>
                  <a:pt x="2510917" y="1729443"/>
                </a:lnTo>
                <a:lnTo>
                  <a:pt x="2514485" y="1729443"/>
                </a:lnTo>
                <a:lnTo>
                  <a:pt x="2518053" y="1729443"/>
                </a:lnTo>
                <a:lnTo>
                  <a:pt x="2521715" y="1729443"/>
                </a:lnTo>
                <a:lnTo>
                  <a:pt x="2525283" y="1729443"/>
                </a:lnTo>
                <a:lnTo>
                  <a:pt x="2528851" y="1729443"/>
                </a:lnTo>
                <a:lnTo>
                  <a:pt x="2528851" y="1726534"/>
                </a:lnTo>
                <a:lnTo>
                  <a:pt x="2532466" y="1726534"/>
                </a:lnTo>
                <a:lnTo>
                  <a:pt x="2536081" y="1726534"/>
                </a:lnTo>
                <a:lnTo>
                  <a:pt x="2536081" y="1717708"/>
                </a:lnTo>
                <a:lnTo>
                  <a:pt x="2539696" y="1717708"/>
                </a:lnTo>
                <a:lnTo>
                  <a:pt x="2543264" y="1717708"/>
                </a:lnTo>
                <a:lnTo>
                  <a:pt x="2546926" y="1717708"/>
                </a:lnTo>
                <a:lnTo>
                  <a:pt x="2546926" y="1714766"/>
                </a:lnTo>
                <a:lnTo>
                  <a:pt x="2550494" y="1714766"/>
                </a:lnTo>
                <a:lnTo>
                  <a:pt x="2550494" y="1711823"/>
                </a:lnTo>
                <a:lnTo>
                  <a:pt x="2554063" y="1711823"/>
                </a:lnTo>
                <a:lnTo>
                  <a:pt x="2554063" y="1702963"/>
                </a:lnTo>
                <a:lnTo>
                  <a:pt x="2557630" y="1702963"/>
                </a:lnTo>
                <a:lnTo>
                  <a:pt x="2557630" y="1694069"/>
                </a:lnTo>
                <a:lnTo>
                  <a:pt x="2561340" y="1694069"/>
                </a:lnTo>
                <a:lnTo>
                  <a:pt x="2561340" y="1691059"/>
                </a:lnTo>
                <a:lnTo>
                  <a:pt x="2564861" y="1691059"/>
                </a:lnTo>
                <a:lnTo>
                  <a:pt x="2564861" y="1670294"/>
                </a:lnTo>
                <a:lnTo>
                  <a:pt x="2568476" y="1670294"/>
                </a:lnTo>
                <a:lnTo>
                  <a:pt x="2572138" y="1670294"/>
                </a:lnTo>
                <a:lnTo>
                  <a:pt x="2572138" y="1667318"/>
                </a:lnTo>
                <a:lnTo>
                  <a:pt x="2575706" y="1667318"/>
                </a:lnTo>
                <a:lnTo>
                  <a:pt x="2575706" y="1655312"/>
                </a:lnTo>
                <a:lnTo>
                  <a:pt x="2579274" y="1655312"/>
                </a:lnTo>
                <a:lnTo>
                  <a:pt x="2579274" y="1649258"/>
                </a:lnTo>
                <a:lnTo>
                  <a:pt x="2582889" y="1649258"/>
                </a:lnTo>
                <a:lnTo>
                  <a:pt x="2582889" y="1640195"/>
                </a:lnTo>
                <a:lnTo>
                  <a:pt x="2586504" y="1640195"/>
                </a:lnTo>
                <a:lnTo>
                  <a:pt x="2586504" y="1631165"/>
                </a:lnTo>
                <a:lnTo>
                  <a:pt x="2590072" y="1631165"/>
                </a:lnTo>
                <a:lnTo>
                  <a:pt x="2590072" y="1616082"/>
                </a:lnTo>
                <a:lnTo>
                  <a:pt x="2593640" y="1616082"/>
                </a:lnTo>
                <a:lnTo>
                  <a:pt x="2593640" y="1603907"/>
                </a:lnTo>
                <a:lnTo>
                  <a:pt x="2597349" y="1603907"/>
                </a:lnTo>
                <a:lnTo>
                  <a:pt x="2597349" y="1579456"/>
                </a:lnTo>
                <a:lnTo>
                  <a:pt x="2600870" y="1579456"/>
                </a:lnTo>
                <a:lnTo>
                  <a:pt x="2600870" y="1564102"/>
                </a:lnTo>
                <a:lnTo>
                  <a:pt x="2604439" y="1564102"/>
                </a:lnTo>
                <a:lnTo>
                  <a:pt x="2604439" y="1548715"/>
                </a:lnTo>
                <a:lnTo>
                  <a:pt x="2608053" y="1548715"/>
                </a:lnTo>
                <a:lnTo>
                  <a:pt x="2608053" y="1539516"/>
                </a:lnTo>
                <a:lnTo>
                  <a:pt x="2611716" y="1539516"/>
                </a:lnTo>
                <a:lnTo>
                  <a:pt x="2611716" y="1536405"/>
                </a:lnTo>
                <a:lnTo>
                  <a:pt x="2615283" y="1536405"/>
                </a:lnTo>
                <a:lnTo>
                  <a:pt x="2615283" y="1533327"/>
                </a:lnTo>
                <a:lnTo>
                  <a:pt x="2618899" y="1533327"/>
                </a:lnTo>
                <a:lnTo>
                  <a:pt x="2618899" y="1524061"/>
                </a:lnTo>
                <a:lnTo>
                  <a:pt x="2622514" y="1524061"/>
                </a:lnTo>
                <a:lnTo>
                  <a:pt x="2622514" y="1508538"/>
                </a:lnTo>
                <a:lnTo>
                  <a:pt x="2626082" y="1508538"/>
                </a:lnTo>
                <a:lnTo>
                  <a:pt x="2626082" y="1505494"/>
                </a:lnTo>
                <a:lnTo>
                  <a:pt x="2629697" y="1505494"/>
                </a:lnTo>
                <a:lnTo>
                  <a:pt x="2629697" y="1499238"/>
                </a:lnTo>
                <a:lnTo>
                  <a:pt x="2633218" y="1499238"/>
                </a:lnTo>
                <a:lnTo>
                  <a:pt x="2633218" y="1496160"/>
                </a:lnTo>
                <a:lnTo>
                  <a:pt x="2636880" y="1496160"/>
                </a:lnTo>
                <a:lnTo>
                  <a:pt x="2640496" y="1496160"/>
                </a:lnTo>
                <a:lnTo>
                  <a:pt x="2644063" y="1496160"/>
                </a:lnTo>
                <a:lnTo>
                  <a:pt x="2647725" y="1496160"/>
                </a:lnTo>
                <a:lnTo>
                  <a:pt x="2651294" y="1496160"/>
                </a:lnTo>
                <a:lnTo>
                  <a:pt x="2654908" y="1496160"/>
                </a:lnTo>
                <a:lnTo>
                  <a:pt x="2658429" y="1496160"/>
                </a:lnTo>
                <a:lnTo>
                  <a:pt x="2662092" y="1496160"/>
                </a:lnTo>
                <a:lnTo>
                  <a:pt x="2665706" y="1496160"/>
                </a:lnTo>
                <a:lnTo>
                  <a:pt x="2669228" y="1496160"/>
                </a:lnTo>
                <a:lnTo>
                  <a:pt x="2672890" y="1496160"/>
                </a:lnTo>
                <a:lnTo>
                  <a:pt x="2676505" y="1496160"/>
                </a:lnTo>
                <a:lnTo>
                  <a:pt x="2676505" y="1492981"/>
                </a:lnTo>
                <a:lnTo>
                  <a:pt x="2680073" y="1492981"/>
                </a:lnTo>
                <a:lnTo>
                  <a:pt x="2683641" y="1492981"/>
                </a:lnTo>
                <a:lnTo>
                  <a:pt x="2687303" y="1492981"/>
                </a:lnTo>
                <a:lnTo>
                  <a:pt x="2690871" y="1492981"/>
                </a:lnTo>
                <a:lnTo>
                  <a:pt x="2694439" y="1492981"/>
                </a:lnTo>
                <a:lnTo>
                  <a:pt x="2698101" y="1492981"/>
                </a:lnTo>
                <a:lnTo>
                  <a:pt x="2698101" y="1489802"/>
                </a:lnTo>
                <a:lnTo>
                  <a:pt x="2701716" y="1489802"/>
                </a:lnTo>
                <a:lnTo>
                  <a:pt x="2705238" y="1489802"/>
                </a:lnTo>
                <a:lnTo>
                  <a:pt x="2708853" y="1489802"/>
                </a:lnTo>
                <a:lnTo>
                  <a:pt x="2712515" y="1489802"/>
                </a:lnTo>
                <a:lnTo>
                  <a:pt x="2716082" y="1489802"/>
                </a:lnTo>
                <a:lnTo>
                  <a:pt x="2719651" y="1489802"/>
                </a:lnTo>
                <a:lnTo>
                  <a:pt x="2719651" y="1486590"/>
                </a:lnTo>
                <a:lnTo>
                  <a:pt x="2723313" y="1486590"/>
                </a:lnTo>
                <a:lnTo>
                  <a:pt x="2723313" y="1483343"/>
                </a:lnTo>
                <a:lnTo>
                  <a:pt x="2726881" y="1483343"/>
                </a:lnTo>
                <a:lnTo>
                  <a:pt x="2726881" y="1480130"/>
                </a:lnTo>
                <a:lnTo>
                  <a:pt x="2730496" y="1480130"/>
                </a:lnTo>
                <a:lnTo>
                  <a:pt x="2734064" y="1480130"/>
                </a:lnTo>
                <a:lnTo>
                  <a:pt x="2737726" y="1480130"/>
                </a:lnTo>
                <a:lnTo>
                  <a:pt x="2741294" y="1480130"/>
                </a:lnTo>
                <a:lnTo>
                  <a:pt x="2744862" y="1480130"/>
                </a:lnTo>
                <a:lnTo>
                  <a:pt x="2748524" y="1480130"/>
                </a:lnTo>
                <a:lnTo>
                  <a:pt x="2748524" y="1476850"/>
                </a:lnTo>
                <a:lnTo>
                  <a:pt x="2752092" y="1476850"/>
                </a:lnTo>
                <a:lnTo>
                  <a:pt x="2755660" y="1476850"/>
                </a:lnTo>
                <a:lnTo>
                  <a:pt x="2759228" y="1476850"/>
                </a:lnTo>
                <a:lnTo>
                  <a:pt x="2762891" y="1476850"/>
                </a:lnTo>
                <a:lnTo>
                  <a:pt x="2766505" y="1476850"/>
                </a:lnTo>
                <a:lnTo>
                  <a:pt x="2770074" y="1476850"/>
                </a:lnTo>
                <a:lnTo>
                  <a:pt x="2773735" y="1476850"/>
                </a:lnTo>
                <a:lnTo>
                  <a:pt x="2777303" y="1476850"/>
                </a:lnTo>
                <a:lnTo>
                  <a:pt x="2780872" y="1476850"/>
                </a:lnTo>
                <a:lnTo>
                  <a:pt x="2784487" y="1476850"/>
                </a:lnTo>
                <a:lnTo>
                  <a:pt x="2788101" y="1476850"/>
                </a:lnTo>
                <a:lnTo>
                  <a:pt x="2791670" y="1476850"/>
                </a:lnTo>
                <a:lnTo>
                  <a:pt x="2795238" y="1476850"/>
                </a:lnTo>
                <a:lnTo>
                  <a:pt x="2798900" y="1476850"/>
                </a:lnTo>
                <a:lnTo>
                  <a:pt x="2802468" y="1476850"/>
                </a:lnTo>
                <a:lnTo>
                  <a:pt x="2806083" y="1476850"/>
                </a:lnTo>
                <a:lnTo>
                  <a:pt x="2809745" y="1476850"/>
                </a:lnTo>
                <a:lnTo>
                  <a:pt x="2813314" y="1476850"/>
                </a:lnTo>
                <a:lnTo>
                  <a:pt x="2816881" y="1476850"/>
                </a:lnTo>
                <a:lnTo>
                  <a:pt x="2820496" y="1476850"/>
                </a:lnTo>
                <a:lnTo>
                  <a:pt x="2824112" y="1476850"/>
                </a:lnTo>
                <a:lnTo>
                  <a:pt x="2827680" y="1476850"/>
                </a:lnTo>
                <a:lnTo>
                  <a:pt x="2831295" y="1476850"/>
                </a:lnTo>
                <a:lnTo>
                  <a:pt x="2834910" y="1476850"/>
                </a:lnTo>
                <a:lnTo>
                  <a:pt x="2838478" y="1476850"/>
                </a:lnTo>
                <a:lnTo>
                  <a:pt x="2842093" y="1476850"/>
                </a:lnTo>
                <a:lnTo>
                  <a:pt x="2842093" y="1473535"/>
                </a:lnTo>
                <a:lnTo>
                  <a:pt x="2845661" y="1473535"/>
                </a:lnTo>
                <a:lnTo>
                  <a:pt x="2849323" y="1473535"/>
                </a:lnTo>
                <a:lnTo>
                  <a:pt x="2852891" y="1473535"/>
                </a:lnTo>
                <a:lnTo>
                  <a:pt x="2856459" y="1473535"/>
                </a:lnTo>
                <a:lnTo>
                  <a:pt x="2860121" y="1473535"/>
                </a:lnTo>
                <a:lnTo>
                  <a:pt x="2863690" y="1473535"/>
                </a:lnTo>
                <a:lnTo>
                  <a:pt x="2867257" y="1473535"/>
                </a:lnTo>
                <a:lnTo>
                  <a:pt x="2870872" y="1473535"/>
                </a:lnTo>
                <a:lnTo>
                  <a:pt x="2870872" y="1470154"/>
                </a:lnTo>
                <a:lnTo>
                  <a:pt x="2874488" y="1470154"/>
                </a:lnTo>
                <a:lnTo>
                  <a:pt x="2878103" y="1470154"/>
                </a:lnTo>
                <a:lnTo>
                  <a:pt x="2881671" y="1470154"/>
                </a:lnTo>
                <a:lnTo>
                  <a:pt x="2885333" y="1470154"/>
                </a:lnTo>
                <a:lnTo>
                  <a:pt x="2888901" y="1470154"/>
                </a:lnTo>
                <a:lnTo>
                  <a:pt x="2892469" y="1470154"/>
                </a:lnTo>
                <a:lnTo>
                  <a:pt x="2896037" y="1470154"/>
                </a:lnTo>
                <a:lnTo>
                  <a:pt x="2899746" y="1470154"/>
                </a:lnTo>
                <a:lnTo>
                  <a:pt x="2903267" y="1470154"/>
                </a:lnTo>
                <a:lnTo>
                  <a:pt x="2906882" y="1470154"/>
                </a:lnTo>
                <a:lnTo>
                  <a:pt x="2910544" y="1470154"/>
                </a:lnTo>
                <a:lnTo>
                  <a:pt x="2914112" y="1470154"/>
                </a:lnTo>
                <a:lnTo>
                  <a:pt x="2917680" y="1470154"/>
                </a:lnTo>
                <a:lnTo>
                  <a:pt x="2921295" y="1470154"/>
                </a:lnTo>
                <a:lnTo>
                  <a:pt x="2924910" y="1470154"/>
                </a:lnTo>
                <a:lnTo>
                  <a:pt x="2928478" y="1470154"/>
                </a:lnTo>
                <a:lnTo>
                  <a:pt x="2932094" y="1470154"/>
                </a:lnTo>
                <a:lnTo>
                  <a:pt x="2935755" y="1470154"/>
                </a:lnTo>
                <a:lnTo>
                  <a:pt x="2939276" y="1470154"/>
                </a:lnTo>
                <a:lnTo>
                  <a:pt x="2942892" y="1470154"/>
                </a:lnTo>
                <a:lnTo>
                  <a:pt x="2946460" y="1470154"/>
                </a:lnTo>
                <a:lnTo>
                  <a:pt x="2950075" y="1470154"/>
                </a:lnTo>
                <a:lnTo>
                  <a:pt x="2953690" y="1470154"/>
                </a:lnTo>
                <a:lnTo>
                  <a:pt x="2957258" y="1470154"/>
                </a:lnTo>
                <a:lnTo>
                  <a:pt x="2957258" y="1466738"/>
                </a:lnTo>
                <a:lnTo>
                  <a:pt x="2960920" y="1466738"/>
                </a:lnTo>
                <a:lnTo>
                  <a:pt x="2964488" y="1466738"/>
                </a:lnTo>
                <a:lnTo>
                  <a:pt x="2968104" y="1466738"/>
                </a:lnTo>
                <a:lnTo>
                  <a:pt x="2971625" y="1466738"/>
                </a:lnTo>
                <a:lnTo>
                  <a:pt x="2975287" y="1466738"/>
                </a:lnTo>
                <a:lnTo>
                  <a:pt x="2978902" y="1466738"/>
                </a:lnTo>
                <a:lnTo>
                  <a:pt x="2978902" y="1459737"/>
                </a:lnTo>
                <a:lnTo>
                  <a:pt x="2982470" y="1459737"/>
                </a:lnTo>
                <a:lnTo>
                  <a:pt x="2982470" y="1452737"/>
                </a:lnTo>
                <a:lnTo>
                  <a:pt x="2986085" y="1452737"/>
                </a:lnTo>
                <a:lnTo>
                  <a:pt x="2989700" y="1452737"/>
                </a:lnTo>
                <a:lnTo>
                  <a:pt x="2993268" y="1452737"/>
                </a:lnTo>
                <a:lnTo>
                  <a:pt x="2996836" y="1452737"/>
                </a:lnTo>
                <a:lnTo>
                  <a:pt x="2996836" y="1449186"/>
                </a:lnTo>
                <a:lnTo>
                  <a:pt x="3000498" y="1449186"/>
                </a:lnTo>
                <a:lnTo>
                  <a:pt x="3000498" y="1431532"/>
                </a:lnTo>
                <a:lnTo>
                  <a:pt x="3004113" y="1431532"/>
                </a:lnTo>
                <a:lnTo>
                  <a:pt x="3004113" y="1427981"/>
                </a:lnTo>
                <a:lnTo>
                  <a:pt x="3007634" y="1427981"/>
                </a:lnTo>
                <a:lnTo>
                  <a:pt x="3007634" y="1417295"/>
                </a:lnTo>
                <a:lnTo>
                  <a:pt x="3011296" y="1417295"/>
                </a:lnTo>
                <a:lnTo>
                  <a:pt x="3014911" y="1417295"/>
                </a:lnTo>
                <a:lnTo>
                  <a:pt x="3014911" y="1410193"/>
                </a:lnTo>
                <a:lnTo>
                  <a:pt x="3018480" y="1410193"/>
                </a:lnTo>
                <a:lnTo>
                  <a:pt x="3022047" y="1410193"/>
                </a:lnTo>
                <a:lnTo>
                  <a:pt x="3022047" y="1377828"/>
                </a:lnTo>
                <a:lnTo>
                  <a:pt x="3025709" y="1377828"/>
                </a:lnTo>
                <a:lnTo>
                  <a:pt x="3025709" y="1356285"/>
                </a:lnTo>
                <a:lnTo>
                  <a:pt x="3029278" y="1356285"/>
                </a:lnTo>
                <a:lnTo>
                  <a:pt x="3029278" y="1345362"/>
                </a:lnTo>
                <a:lnTo>
                  <a:pt x="3032846" y="1345362"/>
                </a:lnTo>
                <a:lnTo>
                  <a:pt x="3032846" y="1338091"/>
                </a:lnTo>
                <a:lnTo>
                  <a:pt x="3036508" y="1338091"/>
                </a:lnTo>
                <a:lnTo>
                  <a:pt x="3036508" y="1330820"/>
                </a:lnTo>
                <a:lnTo>
                  <a:pt x="3040123" y="1330820"/>
                </a:lnTo>
                <a:lnTo>
                  <a:pt x="3040123" y="1327133"/>
                </a:lnTo>
                <a:lnTo>
                  <a:pt x="3043644" y="1327133"/>
                </a:lnTo>
                <a:lnTo>
                  <a:pt x="3047259" y="1327133"/>
                </a:lnTo>
                <a:lnTo>
                  <a:pt x="3047259" y="1316075"/>
                </a:lnTo>
                <a:lnTo>
                  <a:pt x="3050921" y="1316075"/>
                </a:lnTo>
                <a:lnTo>
                  <a:pt x="3050921" y="1305050"/>
                </a:lnTo>
                <a:lnTo>
                  <a:pt x="3054489" y="1305050"/>
                </a:lnTo>
                <a:lnTo>
                  <a:pt x="3054489" y="1297643"/>
                </a:lnTo>
                <a:lnTo>
                  <a:pt x="3058057" y="1297643"/>
                </a:lnTo>
                <a:lnTo>
                  <a:pt x="3058057" y="1293991"/>
                </a:lnTo>
                <a:lnTo>
                  <a:pt x="3061719" y="1293991"/>
                </a:lnTo>
                <a:lnTo>
                  <a:pt x="3061719" y="1290237"/>
                </a:lnTo>
                <a:lnTo>
                  <a:pt x="3065287" y="1290237"/>
                </a:lnTo>
                <a:lnTo>
                  <a:pt x="3065287" y="1282865"/>
                </a:lnTo>
                <a:lnTo>
                  <a:pt x="3068855" y="1282865"/>
                </a:lnTo>
                <a:lnTo>
                  <a:pt x="3068855" y="1279111"/>
                </a:lnTo>
                <a:lnTo>
                  <a:pt x="3072470" y="1279111"/>
                </a:lnTo>
                <a:lnTo>
                  <a:pt x="3076132" y="1279111"/>
                </a:lnTo>
                <a:lnTo>
                  <a:pt x="3079700" y="1279111"/>
                </a:lnTo>
                <a:lnTo>
                  <a:pt x="3083269" y="1279111"/>
                </a:lnTo>
                <a:lnTo>
                  <a:pt x="3083269" y="1275390"/>
                </a:lnTo>
                <a:lnTo>
                  <a:pt x="3086930" y="1275390"/>
                </a:lnTo>
                <a:lnTo>
                  <a:pt x="3090499" y="1275390"/>
                </a:lnTo>
                <a:lnTo>
                  <a:pt x="3094066" y="1275390"/>
                </a:lnTo>
                <a:lnTo>
                  <a:pt x="3097635" y="1275390"/>
                </a:lnTo>
                <a:lnTo>
                  <a:pt x="3097635" y="1271603"/>
                </a:lnTo>
                <a:lnTo>
                  <a:pt x="3101297" y="1271603"/>
                </a:lnTo>
                <a:lnTo>
                  <a:pt x="3104865" y="1271603"/>
                </a:lnTo>
                <a:lnTo>
                  <a:pt x="3108480" y="1271603"/>
                </a:lnTo>
                <a:lnTo>
                  <a:pt x="3112142" y="1271603"/>
                </a:lnTo>
                <a:lnTo>
                  <a:pt x="3115710" y="1271603"/>
                </a:lnTo>
                <a:lnTo>
                  <a:pt x="3119279" y="1271603"/>
                </a:lnTo>
                <a:lnTo>
                  <a:pt x="3122846" y="1271603"/>
                </a:lnTo>
                <a:lnTo>
                  <a:pt x="3126508" y="1271603"/>
                </a:lnTo>
                <a:lnTo>
                  <a:pt x="3130077" y="1271603"/>
                </a:lnTo>
                <a:lnTo>
                  <a:pt x="3133645" y="1271603"/>
                </a:lnTo>
                <a:lnTo>
                  <a:pt x="3137307" y="1271603"/>
                </a:lnTo>
                <a:lnTo>
                  <a:pt x="3140875" y="1271603"/>
                </a:lnTo>
                <a:lnTo>
                  <a:pt x="3144489" y="1271603"/>
                </a:lnTo>
                <a:lnTo>
                  <a:pt x="3144489" y="1267815"/>
                </a:lnTo>
                <a:lnTo>
                  <a:pt x="3148058" y="1267815"/>
                </a:lnTo>
                <a:lnTo>
                  <a:pt x="3151720" y="1267815"/>
                </a:lnTo>
                <a:lnTo>
                  <a:pt x="3155288" y="1267815"/>
                </a:lnTo>
                <a:lnTo>
                  <a:pt x="3155288" y="1263994"/>
                </a:lnTo>
                <a:lnTo>
                  <a:pt x="3158903" y="1263994"/>
                </a:lnTo>
                <a:lnTo>
                  <a:pt x="3158903" y="1260172"/>
                </a:lnTo>
                <a:lnTo>
                  <a:pt x="3162518" y="1260172"/>
                </a:lnTo>
                <a:lnTo>
                  <a:pt x="3162518" y="1256317"/>
                </a:lnTo>
                <a:lnTo>
                  <a:pt x="3166086" y="1256317"/>
                </a:lnTo>
                <a:lnTo>
                  <a:pt x="3169655" y="1256317"/>
                </a:lnTo>
                <a:lnTo>
                  <a:pt x="3173317" y="1256317"/>
                </a:lnTo>
                <a:lnTo>
                  <a:pt x="3176884" y="1256317"/>
                </a:lnTo>
                <a:lnTo>
                  <a:pt x="3180453" y="1256317"/>
                </a:lnTo>
                <a:lnTo>
                  <a:pt x="3184067" y="1256317"/>
                </a:lnTo>
                <a:lnTo>
                  <a:pt x="3187730" y="1256317"/>
                </a:lnTo>
                <a:lnTo>
                  <a:pt x="3191298" y="1256317"/>
                </a:lnTo>
                <a:lnTo>
                  <a:pt x="3191298" y="1252461"/>
                </a:lnTo>
                <a:lnTo>
                  <a:pt x="3194913" y="1252461"/>
                </a:lnTo>
                <a:lnTo>
                  <a:pt x="3198528" y="1252461"/>
                </a:lnTo>
                <a:lnTo>
                  <a:pt x="3198528" y="1248572"/>
                </a:lnTo>
                <a:lnTo>
                  <a:pt x="3202096" y="1248572"/>
                </a:lnTo>
                <a:lnTo>
                  <a:pt x="3205664" y="1248572"/>
                </a:lnTo>
                <a:lnTo>
                  <a:pt x="3209279" y="1248572"/>
                </a:lnTo>
                <a:lnTo>
                  <a:pt x="3212894" y="1248572"/>
                </a:lnTo>
                <a:lnTo>
                  <a:pt x="3216509" y="1248572"/>
                </a:lnTo>
                <a:lnTo>
                  <a:pt x="3216509" y="1244683"/>
                </a:lnTo>
                <a:lnTo>
                  <a:pt x="3220078" y="1244683"/>
                </a:lnTo>
                <a:lnTo>
                  <a:pt x="3223739" y="1244683"/>
                </a:lnTo>
                <a:lnTo>
                  <a:pt x="3227307" y="1244683"/>
                </a:lnTo>
                <a:lnTo>
                  <a:pt x="3227307" y="1240760"/>
                </a:lnTo>
                <a:lnTo>
                  <a:pt x="3230875" y="1240760"/>
                </a:lnTo>
                <a:lnTo>
                  <a:pt x="3234444" y="1240760"/>
                </a:lnTo>
                <a:lnTo>
                  <a:pt x="3238105" y="1240760"/>
                </a:lnTo>
                <a:lnTo>
                  <a:pt x="3241674" y="1240760"/>
                </a:lnTo>
                <a:lnTo>
                  <a:pt x="3245241" y="1240760"/>
                </a:lnTo>
                <a:lnTo>
                  <a:pt x="3248951" y="1240760"/>
                </a:lnTo>
                <a:lnTo>
                  <a:pt x="3252518" y="1240760"/>
                </a:lnTo>
                <a:lnTo>
                  <a:pt x="3256087" y="1240760"/>
                </a:lnTo>
                <a:lnTo>
                  <a:pt x="3259655" y="1240760"/>
                </a:lnTo>
                <a:lnTo>
                  <a:pt x="3263317" y="1240760"/>
                </a:lnTo>
                <a:lnTo>
                  <a:pt x="3266885" y="1240760"/>
                </a:lnTo>
                <a:lnTo>
                  <a:pt x="3270500" y="1240760"/>
                </a:lnTo>
                <a:lnTo>
                  <a:pt x="3274162" y="1240760"/>
                </a:lnTo>
                <a:lnTo>
                  <a:pt x="3277683" y="1240760"/>
                </a:lnTo>
                <a:lnTo>
                  <a:pt x="3277683" y="1236769"/>
                </a:lnTo>
                <a:lnTo>
                  <a:pt x="3281251" y="1236769"/>
                </a:lnTo>
                <a:lnTo>
                  <a:pt x="3284866" y="1236769"/>
                </a:lnTo>
                <a:lnTo>
                  <a:pt x="3288529" y="1236769"/>
                </a:lnTo>
                <a:lnTo>
                  <a:pt x="3292097" y="1236769"/>
                </a:lnTo>
                <a:lnTo>
                  <a:pt x="3295664" y="1236769"/>
                </a:lnTo>
                <a:lnTo>
                  <a:pt x="3299327" y="1236769"/>
                </a:lnTo>
                <a:lnTo>
                  <a:pt x="3302895" y="1236769"/>
                </a:lnTo>
                <a:lnTo>
                  <a:pt x="3306510" y="1236769"/>
                </a:lnTo>
                <a:lnTo>
                  <a:pt x="3310031" y="1236769"/>
                </a:lnTo>
                <a:lnTo>
                  <a:pt x="3313693" y="1236769"/>
                </a:lnTo>
                <a:lnTo>
                  <a:pt x="3317308" y="1236769"/>
                </a:lnTo>
                <a:lnTo>
                  <a:pt x="3320876" y="1236769"/>
                </a:lnTo>
                <a:lnTo>
                  <a:pt x="3324492" y="1236769"/>
                </a:lnTo>
                <a:lnTo>
                  <a:pt x="3328106" y="1236769"/>
                </a:lnTo>
                <a:lnTo>
                  <a:pt x="3331674" y="1236769"/>
                </a:lnTo>
                <a:lnTo>
                  <a:pt x="3335242" y="1236769"/>
                </a:lnTo>
                <a:lnTo>
                  <a:pt x="3338904" y="1236769"/>
                </a:lnTo>
                <a:lnTo>
                  <a:pt x="3342519" y="1236769"/>
                </a:lnTo>
                <a:lnTo>
                  <a:pt x="3346040" y="1236769"/>
                </a:lnTo>
                <a:lnTo>
                  <a:pt x="3349750" y="1236769"/>
                </a:lnTo>
                <a:lnTo>
                  <a:pt x="3353317" y="1236769"/>
                </a:lnTo>
                <a:lnTo>
                  <a:pt x="3356839" y="1236769"/>
                </a:lnTo>
                <a:lnTo>
                  <a:pt x="3356839" y="1228416"/>
                </a:lnTo>
                <a:lnTo>
                  <a:pt x="3360454" y="1228416"/>
                </a:lnTo>
                <a:lnTo>
                  <a:pt x="3364116" y="1228416"/>
                </a:lnTo>
                <a:lnTo>
                  <a:pt x="3367684" y="1228416"/>
                </a:lnTo>
                <a:lnTo>
                  <a:pt x="3371253" y="1228416"/>
                </a:lnTo>
                <a:lnTo>
                  <a:pt x="3374914" y="1228416"/>
                </a:lnTo>
                <a:lnTo>
                  <a:pt x="3378530" y="1228416"/>
                </a:lnTo>
                <a:lnTo>
                  <a:pt x="3382050" y="1228416"/>
                </a:lnTo>
                <a:lnTo>
                  <a:pt x="3385666" y="1228416"/>
                </a:lnTo>
                <a:lnTo>
                  <a:pt x="3389327" y="1228416"/>
                </a:lnTo>
                <a:lnTo>
                  <a:pt x="3392849" y="1228416"/>
                </a:lnTo>
                <a:lnTo>
                  <a:pt x="3396464" y="1228416"/>
                </a:lnTo>
                <a:lnTo>
                  <a:pt x="3400126" y="1228416"/>
                </a:lnTo>
                <a:lnTo>
                  <a:pt x="3403693" y="1228416"/>
                </a:lnTo>
                <a:lnTo>
                  <a:pt x="3407309" y="1228416"/>
                </a:lnTo>
                <a:lnTo>
                  <a:pt x="3410877" y="1228416"/>
                </a:lnTo>
                <a:lnTo>
                  <a:pt x="3410877" y="1224087"/>
                </a:lnTo>
                <a:lnTo>
                  <a:pt x="3414492" y="1224087"/>
                </a:lnTo>
                <a:lnTo>
                  <a:pt x="3418107" y="1224087"/>
                </a:lnTo>
                <a:lnTo>
                  <a:pt x="3421675" y="1224087"/>
                </a:lnTo>
                <a:lnTo>
                  <a:pt x="3421675" y="1211270"/>
                </a:lnTo>
                <a:lnTo>
                  <a:pt x="3425337" y="1211270"/>
                </a:lnTo>
                <a:lnTo>
                  <a:pt x="3425337" y="1206975"/>
                </a:lnTo>
                <a:lnTo>
                  <a:pt x="3428952" y="1206975"/>
                </a:lnTo>
                <a:lnTo>
                  <a:pt x="3428952" y="1194056"/>
                </a:lnTo>
                <a:lnTo>
                  <a:pt x="3432473" y="1194056"/>
                </a:lnTo>
                <a:lnTo>
                  <a:pt x="3432473" y="1180968"/>
                </a:lnTo>
                <a:lnTo>
                  <a:pt x="3436041" y="1180968"/>
                </a:lnTo>
                <a:lnTo>
                  <a:pt x="3436041" y="1176673"/>
                </a:lnTo>
                <a:lnTo>
                  <a:pt x="3439703" y="1176673"/>
                </a:lnTo>
                <a:lnTo>
                  <a:pt x="3439703" y="1159155"/>
                </a:lnTo>
                <a:lnTo>
                  <a:pt x="3443272" y="1159155"/>
                </a:lnTo>
                <a:lnTo>
                  <a:pt x="3443272" y="1154792"/>
                </a:lnTo>
                <a:lnTo>
                  <a:pt x="3446887" y="1154792"/>
                </a:lnTo>
                <a:lnTo>
                  <a:pt x="3450502" y="1154792"/>
                </a:lnTo>
                <a:lnTo>
                  <a:pt x="3450502" y="1141637"/>
                </a:lnTo>
                <a:lnTo>
                  <a:pt x="3454116" y="1141637"/>
                </a:lnTo>
                <a:lnTo>
                  <a:pt x="3454116" y="1132844"/>
                </a:lnTo>
                <a:lnTo>
                  <a:pt x="3457685" y="1132844"/>
                </a:lnTo>
                <a:lnTo>
                  <a:pt x="3457685" y="1110523"/>
                </a:lnTo>
                <a:lnTo>
                  <a:pt x="3461253" y="1110523"/>
                </a:lnTo>
                <a:lnTo>
                  <a:pt x="3461253" y="1101595"/>
                </a:lnTo>
                <a:lnTo>
                  <a:pt x="3464915" y="1101595"/>
                </a:lnTo>
                <a:lnTo>
                  <a:pt x="3464915" y="1097097"/>
                </a:lnTo>
                <a:lnTo>
                  <a:pt x="3468483" y="1097097"/>
                </a:lnTo>
                <a:lnTo>
                  <a:pt x="3468483" y="1092667"/>
                </a:lnTo>
                <a:lnTo>
                  <a:pt x="3472051" y="1092667"/>
                </a:lnTo>
                <a:lnTo>
                  <a:pt x="3475713" y="1092667"/>
                </a:lnTo>
                <a:lnTo>
                  <a:pt x="3475713" y="1079106"/>
                </a:lnTo>
                <a:lnTo>
                  <a:pt x="3479281" y="1079106"/>
                </a:lnTo>
                <a:lnTo>
                  <a:pt x="3479281" y="1061046"/>
                </a:lnTo>
                <a:lnTo>
                  <a:pt x="3482896" y="1061046"/>
                </a:lnTo>
                <a:lnTo>
                  <a:pt x="3482896" y="1056481"/>
                </a:lnTo>
                <a:lnTo>
                  <a:pt x="3486464" y="1056481"/>
                </a:lnTo>
                <a:lnTo>
                  <a:pt x="3486464" y="1042852"/>
                </a:lnTo>
                <a:lnTo>
                  <a:pt x="3490126" y="1042852"/>
                </a:lnTo>
                <a:lnTo>
                  <a:pt x="3490126" y="1033755"/>
                </a:lnTo>
                <a:lnTo>
                  <a:pt x="3493694" y="1033755"/>
                </a:lnTo>
                <a:lnTo>
                  <a:pt x="3497310" y="1033755"/>
                </a:lnTo>
                <a:lnTo>
                  <a:pt x="3497310" y="1029189"/>
                </a:lnTo>
                <a:lnTo>
                  <a:pt x="3500925" y="1029189"/>
                </a:lnTo>
                <a:lnTo>
                  <a:pt x="3504492" y="1029189"/>
                </a:lnTo>
                <a:lnTo>
                  <a:pt x="3504492" y="1024624"/>
                </a:lnTo>
                <a:lnTo>
                  <a:pt x="3508061" y="1024624"/>
                </a:lnTo>
                <a:lnTo>
                  <a:pt x="3511629" y="1024624"/>
                </a:lnTo>
                <a:lnTo>
                  <a:pt x="3515291" y="1024624"/>
                </a:lnTo>
                <a:lnTo>
                  <a:pt x="3518906" y="1024624"/>
                </a:lnTo>
                <a:lnTo>
                  <a:pt x="3522473" y="1024624"/>
                </a:lnTo>
                <a:lnTo>
                  <a:pt x="3526089" y="1024624"/>
                </a:lnTo>
                <a:lnTo>
                  <a:pt x="3529705" y="1024624"/>
                </a:lnTo>
                <a:lnTo>
                  <a:pt x="3533272" y="1024624"/>
                </a:lnTo>
                <a:lnTo>
                  <a:pt x="3536840" y="1024624"/>
                </a:lnTo>
                <a:lnTo>
                  <a:pt x="3540502" y="1024624"/>
                </a:lnTo>
                <a:lnTo>
                  <a:pt x="3544071" y="1024624"/>
                </a:lnTo>
                <a:lnTo>
                  <a:pt x="3547639" y="1024624"/>
                </a:lnTo>
                <a:lnTo>
                  <a:pt x="3551301" y="1024624"/>
                </a:lnTo>
                <a:lnTo>
                  <a:pt x="3554868" y="1024624"/>
                </a:lnTo>
                <a:lnTo>
                  <a:pt x="3558484" y="1024624"/>
                </a:lnTo>
                <a:lnTo>
                  <a:pt x="3558484" y="1019889"/>
                </a:lnTo>
                <a:lnTo>
                  <a:pt x="3562145" y="1019889"/>
                </a:lnTo>
                <a:lnTo>
                  <a:pt x="3562145" y="1015154"/>
                </a:lnTo>
                <a:lnTo>
                  <a:pt x="3565714" y="1015154"/>
                </a:lnTo>
                <a:lnTo>
                  <a:pt x="3569282" y="1015154"/>
                </a:lnTo>
                <a:lnTo>
                  <a:pt x="3572850" y="1015154"/>
                </a:lnTo>
                <a:lnTo>
                  <a:pt x="3576559" y="1015154"/>
                </a:lnTo>
                <a:lnTo>
                  <a:pt x="3580081" y="1015154"/>
                </a:lnTo>
                <a:lnTo>
                  <a:pt x="3583695" y="1015154"/>
                </a:lnTo>
                <a:lnTo>
                  <a:pt x="3587358" y="1015154"/>
                </a:lnTo>
                <a:lnTo>
                  <a:pt x="3587358" y="1010386"/>
                </a:lnTo>
                <a:lnTo>
                  <a:pt x="3590878" y="1010386"/>
                </a:lnTo>
                <a:lnTo>
                  <a:pt x="3594493" y="1010386"/>
                </a:lnTo>
                <a:lnTo>
                  <a:pt x="3598062" y="1010386"/>
                </a:lnTo>
                <a:lnTo>
                  <a:pt x="3601724" y="1010386"/>
                </a:lnTo>
                <a:lnTo>
                  <a:pt x="3605291" y="1010386"/>
                </a:lnTo>
                <a:lnTo>
                  <a:pt x="3605291" y="1005550"/>
                </a:lnTo>
                <a:lnTo>
                  <a:pt x="3608906" y="1005550"/>
                </a:lnTo>
                <a:lnTo>
                  <a:pt x="3612522" y="1005550"/>
                </a:lnTo>
                <a:lnTo>
                  <a:pt x="3616090" y="1005550"/>
                </a:lnTo>
                <a:lnTo>
                  <a:pt x="3619705" y="1005550"/>
                </a:lnTo>
                <a:lnTo>
                  <a:pt x="3623226" y="1005550"/>
                </a:lnTo>
                <a:lnTo>
                  <a:pt x="3626888" y="1005550"/>
                </a:lnTo>
                <a:lnTo>
                  <a:pt x="3630503" y="1005550"/>
                </a:lnTo>
                <a:lnTo>
                  <a:pt x="3634071" y="1005550"/>
                </a:lnTo>
                <a:lnTo>
                  <a:pt x="3637733" y="1005550"/>
                </a:lnTo>
                <a:lnTo>
                  <a:pt x="3641301" y="1005550"/>
                </a:lnTo>
                <a:lnTo>
                  <a:pt x="3644869" y="1005550"/>
                </a:lnTo>
                <a:lnTo>
                  <a:pt x="3648438" y="1005550"/>
                </a:lnTo>
                <a:lnTo>
                  <a:pt x="3652100" y="1005550"/>
                </a:lnTo>
                <a:lnTo>
                  <a:pt x="3655715" y="1005550"/>
                </a:lnTo>
                <a:lnTo>
                  <a:pt x="3655715" y="1000544"/>
                </a:lnTo>
                <a:lnTo>
                  <a:pt x="3659282" y="1000544"/>
                </a:lnTo>
                <a:lnTo>
                  <a:pt x="3662898" y="1000544"/>
                </a:lnTo>
                <a:lnTo>
                  <a:pt x="3666513" y="1000544"/>
                </a:lnTo>
                <a:lnTo>
                  <a:pt x="3670081" y="1000544"/>
                </a:lnTo>
                <a:lnTo>
                  <a:pt x="3673696" y="1000544"/>
                </a:lnTo>
                <a:lnTo>
                  <a:pt x="3677311" y="1000544"/>
                </a:lnTo>
                <a:lnTo>
                  <a:pt x="3680879" y="1000544"/>
                </a:lnTo>
                <a:lnTo>
                  <a:pt x="3684447" y="1000544"/>
                </a:lnTo>
                <a:lnTo>
                  <a:pt x="3688157" y="1000544"/>
                </a:lnTo>
                <a:lnTo>
                  <a:pt x="3691724" y="1000544"/>
                </a:lnTo>
                <a:lnTo>
                  <a:pt x="3695292" y="1000544"/>
                </a:lnTo>
                <a:lnTo>
                  <a:pt x="3698861" y="1000544"/>
                </a:lnTo>
                <a:lnTo>
                  <a:pt x="3702523" y="1000544"/>
                </a:lnTo>
                <a:lnTo>
                  <a:pt x="3706090" y="1000544"/>
                </a:lnTo>
                <a:lnTo>
                  <a:pt x="3709658" y="1000544"/>
                </a:lnTo>
                <a:lnTo>
                  <a:pt x="3713320" y="1000544"/>
                </a:lnTo>
                <a:lnTo>
                  <a:pt x="3716936" y="1000544"/>
                </a:lnTo>
                <a:lnTo>
                  <a:pt x="3716936" y="995370"/>
                </a:lnTo>
                <a:lnTo>
                  <a:pt x="3720457" y="995370"/>
                </a:lnTo>
                <a:lnTo>
                  <a:pt x="3724072" y="995370"/>
                </a:lnTo>
                <a:lnTo>
                  <a:pt x="3727734" y="995370"/>
                </a:lnTo>
                <a:lnTo>
                  <a:pt x="3731256" y="995370"/>
                </a:lnTo>
                <a:lnTo>
                  <a:pt x="3734870" y="995370"/>
                </a:lnTo>
                <a:lnTo>
                  <a:pt x="3738533" y="995370"/>
                </a:lnTo>
                <a:lnTo>
                  <a:pt x="3742100" y="995370"/>
                </a:lnTo>
                <a:lnTo>
                  <a:pt x="3745668" y="995370"/>
                </a:lnTo>
                <a:lnTo>
                  <a:pt x="3749283" y="995370"/>
                </a:lnTo>
                <a:lnTo>
                  <a:pt x="3752945" y="995370"/>
                </a:lnTo>
                <a:lnTo>
                  <a:pt x="3756514" y="995370"/>
                </a:lnTo>
                <a:lnTo>
                  <a:pt x="3760081" y="995370"/>
                </a:lnTo>
                <a:lnTo>
                  <a:pt x="3763743" y="995370"/>
                </a:lnTo>
                <a:lnTo>
                  <a:pt x="3767312" y="995370"/>
                </a:lnTo>
                <a:lnTo>
                  <a:pt x="3770880" y="995370"/>
                </a:lnTo>
                <a:lnTo>
                  <a:pt x="3774448" y="995370"/>
                </a:lnTo>
                <a:lnTo>
                  <a:pt x="3778110" y="995370"/>
                </a:lnTo>
                <a:lnTo>
                  <a:pt x="3781678" y="995370"/>
                </a:lnTo>
                <a:lnTo>
                  <a:pt x="3785293" y="995370"/>
                </a:lnTo>
                <a:lnTo>
                  <a:pt x="3788908" y="995370"/>
                </a:lnTo>
                <a:lnTo>
                  <a:pt x="3792523" y="995370"/>
                </a:lnTo>
                <a:lnTo>
                  <a:pt x="3796091" y="995370"/>
                </a:lnTo>
                <a:lnTo>
                  <a:pt x="3799660" y="995370"/>
                </a:lnTo>
                <a:lnTo>
                  <a:pt x="3799660" y="989858"/>
                </a:lnTo>
                <a:lnTo>
                  <a:pt x="3803321" y="989858"/>
                </a:lnTo>
                <a:lnTo>
                  <a:pt x="3806890" y="989858"/>
                </a:lnTo>
                <a:lnTo>
                  <a:pt x="3810457" y="989858"/>
                </a:lnTo>
                <a:lnTo>
                  <a:pt x="3814119" y="989858"/>
                </a:lnTo>
                <a:lnTo>
                  <a:pt x="3817688" y="989858"/>
                </a:lnTo>
                <a:lnTo>
                  <a:pt x="3821256" y="989858"/>
                </a:lnTo>
                <a:lnTo>
                  <a:pt x="3824871" y="989858"/>
                </a:lnTo>
                <a:lnTo>
                  <a:pt x="3828533" y="989858"/>
                </a:lnTo>
                <a:lnTo>
                  <a:pt x="3828533" y="984379"/>
                </a:lnTo>
                <a:lnTo>
                  <a:pt x="3832100" y="984379"/>
                </a:lnTo>
                <a:lnTo>
                  <a:pt x="3832100" y="978934"/>
                </a:lnTo>
                <a:lnTo>
                  <a:pt x="3835669" y="978934"/>
                </a:lnTo>
                <a:lnTo>
                  <a:pt x="3839331" y="978934"/>
                </a:lnTo>
                <a:lnTo>
                  <a:pt x="3842899" y="978934"/>
                </a:lnTo>
                <a:lnTo>
                  <a:pt x="3846467" y="978934"/>
                </a:lnTo>
                <a:lnTo>
                  <a:pt x="3850082" y="978934"/>
                </a:lnTo>
                <a:lnTo>
                  <a:pt x="3853697" y="978934"/>
                </a:lnTo>
                <a:lnTo>
                  <a:pt x="3853697" y="973320"/>
                </a:lnTo>
                <a:lnTo>
                  <a:pt x="3857265" y="973320"/>
                </a:lnTo>
                <a:lnTo>
                  <a:pt x="3857265" y="962126"/>
                </a:lnTo>
                <a:lnTo>
                  <a:pt x="3860880" y="962126"/>
                </a:lnTo>
                <a:lnTo>
                  <a:pt x="3860880" y="945115"/>
                </a:lnTo>
                <a:lnTo>
                  <a:pt x="3864542" y="945115"/>
                </a:lnTo>
                <a:lnTo>
                  <a:pt x="3864542" y="939467"/>
                </a:lnTo>
                <a:lnTo>
                  <a:pt x="3868110" y="939467"/>
                </a:lnTo>
                <a:lnTo>
                  <a:pt x="3868110" y="933752"/>
                </a:lnTo>
                <a:lnTo>
                  <a:pt x="3871726" y="933752"/>
                </a:lnTo>
                <a:lnTo>
                  <a:pt x="3875247" y="933752"/>
                </a:lnTo>
                <a:lnTo>
                  <a:pt x="3878861" y="933752"/>
                </a:lnTo>
                <a:lnTo>
                  <a:pt x="3878861" y="905141"/>
                </a:lnTo>
                <a:lnTo>
                  <a:pt x="3882477" y="905141"/>
                </a:lnTo>
                <a:lnTo>
                  <a:pt x="3882477" y="887860"/>
                </a:lnTo>
                <a:lnTo>
                  <a:pt x="3886045" y="887860"/>
                </a:lnTo>
                <a:lnTo>
                  <a:pt x="3886045" y="876361"/>
                </a:lnTo>
                <a:lnTo>
                  <a:pt x="3889707" y="876361"/>
                </a:lnTo>
                <a:lnTo>
                  <a:pt x="3889707" y="870545"/>
                </a:lnTo>
                <a:lnTo>
                  <a:pt x="3893275" y="870545"/>
                </a:lnTo>
                <a:lnTo>
                  <a:pt x="3893275" y="864728"/>
                </a:lnTo>
                <a:lnTo>
                  <a:pt x="3896890" y="864728"/>
                </a:lnTo>
                <a:lnTo>
                  <a:pt x="3896890" y="858911"/>
                </a:lnTo>
                <a:lnTo>
                  <a:pt x="3900458" y="858911"/>
                </a:lnTo>
                <a:lnTo>
                  <a:pt x="3904120" y="858911"/>
                </a:lnTo>
                <a:lnTo>
                  <a:pt x="3907689" y="858911"/>
                </a:lnTo>
                <a:lnTo>
                  <a:pt x="3907689" y="829725"/>
                </a:lnTo>
                <a:lnTo>
                  <a:pt x="3911256" y="829725"/>
                </a:lnTo>
                <a:lnTo>
                  <a:pt x="3911256" y="823841"/>
                </a:lnTo>
                <a:lnTo>
                  <a:pt x="3914918" y="823841"/>
                </a:lnTo>
                <a:lnTo>
                  <a:pt x="3918487" y="823841"/>
                </a:lnTo>
                <a:lnTo>
                  <a:pt x="3918487" y="817821"/>
                </a:lnTo>
                <a:lnTo>
                  <a:pt x="3922055" y="817821"/>
                </a:lnTo>
                <a:lnTo>
                  <a:pt x="3922055" y="805883"/>
                </a:lnTo>
                <a:lnTo>
                  <a:pt x="3925670" y="805883"/>
                </a:lnTo>
                <a:lnTo>
                  <a:pt x="3929285" y="805883"/>
                </a:lnTo>
                <a:lnTo>
                  <a:pt x="3929285" y="799964"/>
                </a:lnTo>
                <a:lnTo>
                  <a:pt x="3932853" y="799964"/>
                </a:lnTo>
                <a:lnTo>
                  <a:pt x="3936468" y="799964"/>
                </a:lnTo>
                <a:lnTo>
                  <a:pt x="3940130" y="799964"/>
                </a:lnTo>
                <a:lnTo>
                  <a:pt x="3943698" y="799964"/>
                </a:lnTo>
                <a:lnTo>
                  <a:pt x="3943698" y="793945"/>
                </a:lnTo>
                <a:lnTo>
                  <a:pt x="3947313" y="793945"/>
                </a:lnTo>
                <a:lnTo>
                  <a:pt x="3950928" y="793945"/>
                </a:lnTo>
                <a:lnTo>
                  <a:pt x="3954496" y="793945"/>
                </a:lnTo>
                <a:lnTo>
                  <a:pt x="3958112" y="793945"/>
                </a:lnTo>
                <a:lnTo>
                  <a:pt x="3961679" y="793945"/>
                </a:lnTo>
                <a:lnTo>
                  <a:pt x="3965294" y="793945"/>
                </a:lnTo>
                <a:lnTo>
                  <a:pt x="3968863" y="793945"/>
                </a:lnTo>
                <a:lnTo>
                  <a:pt x="3972478" y="793945"/>
                </a:lnTo>
                <a:lnTo>
                  <a:pt x="3976140" y="793945"/>
                </a:lnTo>
                <a:lnTo>
                  <a:pt x="3976140" y="787824"/>
                </a:lnTo>
                <a:lnTo>
                  <a:pt x="3979708" y="787824"/>
                </a:lnTo>
                <a:lnTo>
                  <a:pt x="3983323" y="787824"/>
                </a:lnTo>
                <a:lnTo>
                  <a:pt x="3986844" y="787824"/>
                </a:lnTo>
                <a:lnTo>
                  <a:pt x="3990506" y="787824"/>
                </a:lnTo>
                <a:lnTo>
                  <a:pt x="3994121" y="787824"/>
                </a:lnTo>
                <a:lnTo>
                  <a:pt x="3997642" y="787824"/>
                </a:lnTo>
                <a:lnTo>
                  <a:pt x="4001304" y="787824"/>
                </a:lnTo>
                <a:lnTo>
                  <a:pt x="4004919" y="787824"/>
                </a:lnTo>
                <a:lnTo>
                  <a:pt x="4004919" y="781533"/>
                </a:lnTo>
                <a:lnTo>
                  <a:pt x="4008488" y="781533"/>
                </a:lnTo>
                <a:lnTo>
                  <a:pt x="4012055" y="781533"/>
                </a:lnTo>
                <a:lnTo>
                  <a:pt x="4015717" y="781533"/>
                </a:lnTo>
                <a:lnTo>
                  <a:pt x="4015717" y="775243"/>
                </a:lnTo>
                <a:lnTo>
                  <a:pt x="4019285" y="775243"/>
                </a:lnTo>
                <a:lnTo>
                  <a:pt x="4022854" y="775243"/>
                </a:lnTo>
                <a:lnTo>
                  <a:pt x="4026515" y="775243"/>
                </a:lnTo>
                <a:lnTo>
                  <a:pt x="4030131" y="775243"/>
                </a:lnTo>
                <a:lnTo>
                  <a:pt x="4033651" y="775243"/>
                </a:lnTo>
                <a:lnTo>
                  <a:pt x="4037267" y="775243"/>
                </a:lnTo>
                <a:lnTo>
                  <a:pt x="4040929" y="775243"/>
                </a:lnTo>
                <a:lnTo>
                  <a:pt x="4044497" y="775243"/>
                </a:lnTo>
                <a:lnTo>
                  <a:pt x="4048065" y="775243"/>
                </a:lnTo>
                <a:lnTo>
                  <a:pt x="4051727" y="775243"/>
                </a:lnTo>
                <a:lnTo>
                  <a:pt x="4055295" y="775243"/>
                </a:lnTo>
                <a:lnTo>
                  <a:pt x="4058864" y="775243"/>
                </a:lnTo>
                <a:lnTo>
                  <a:pt x="4062478" y="775243"/>
                </a:lnTo>
                <a:lnTo>
                  <a:pt x="4066141" y="775243"/>
                </a:lnTo>
                <a:lnTo>
                  <a:pt x="4069662" y="775243"/>
                </a:lnTo>
                <a:lnTo>
                  <a:pt x="4073276" y="775243"/>
                </a:lnTo>
                <a:lnTo>
                  <a:pt x="4076939" y="775243"/>
                </a:lnTo>
                <a:lnTo>
                  <a:pt x="4080507" y="775243"/>
                </a:lnTo>
                <a:lnTo>
                  <a:pt x="4084075" y="775243"/>
                </a:lnTo>
                <a:lnTo>
                  <a:pt x="4087643" y="775243"/>
                </a:lnTo>
                <a:lnTo>
                  <a:pt x="4091305" y="775243"/>
                </a:lnTo>
                <a:lnTo>
                  <a:pt x="4094920" y="775243"/>
                </a:lnTo>
                <a:lnTo>
                  <a:pt x="4098488" y="775243"/>
                </a:lnTo>
                <a:lnTo>
                  <a:pt x="4102150" y="775243"/>
                </a:lnTo>
                <a:lnTo>
                  <a:pt x="4105718" y="775243"/>
                </a:lnTo>
                <a:lnTo>
                  <a:pt x="4109286" y="775243"/>
                </a:lnTo>
                <a:lnTo>
                  <a:pt x="4112854" y="775243"/>
                </a:lnTo>
                <a:lnTo>
                  <a:pt x="4116517" y="775243"/>
                </a:lnTo>
                <a:lnTo>
                  <a:pt x="4120084" y="775243"/>
                </a:lnTo>
                <a:lnTo>
                  <a:pt x="4123652" y="775243"/>
                </a:lnTo>
                <a:lnTo>
                  <a:pt x="4127315" y="775243"/>
                </a:lnTo>
                <a:lnTo>
                  <a:pt x="4127315" y="761580"/>
                </a:lnTo>
                <a:lnTo>
                  <a:pt x="4130930" y="761580"/>
                </a:lnTo>
                <a:lnTo>
                  <a:pt x="4134498" y="761580"/>
                </a:lnTo>
                <a:lnTo>
                  <a:pt x="4138065" y="761580"/>
                </a:lnTo>
                <a:lnTo>
                  <a:pt x="4141727" y="761580"/>
                </a:lnTo>
                <a:lnTo>
                  <a:pt x="4145296" y="761580"/>
                </a:lnTo>
                <a:lnTo>
                  <a:pt x="4148864" y="761580"/>
                </a:lnTo>
                <a:lnTo>
                  <a:pt x="4152526" y="761580"/>
                </a:lnTo>
                <a:lnTo>
                  <a:pt x="4156094" y="761580"/>
                </a:lnTo>
                <a:lnTo>
                  <a:pt x="4159709" y="761580"/>
                </a:lnTo>
                <a:lnTo>
                  <a:pt x="4159709" y="754647"/>
                </a:lnTo>
                <a:lnTo>
                  <a:pt x="4163278" y="754647"/>
                </a:lnTo>
                <a:lnTo>
                  <a:pt x="4166892" y="754647"/>
                </a:lnTo>
                <a:lnTo>
                  <a:pt x="4170507" y="754647"/>
                </a:lnTo>
                <a:lnTo>
                  <a:pt x="4174076" y="754647"/>
                </a:lnTo>
                <a:lnTo>
                  <a:pt x="4177737" y="754647"/>
                </a:lnTo>
                <a:lnTo>
                  <a:pt x="4181306" y="754647"/>
                </a:lnTo>
                <a:lnTo>
                  <a:pt x="4184921" y="754647"/>
                </a:lnTo>
                <a:lnTo>
                  <a:pt x="4188442" y="754647"/>
                </a:lnTo>
                <a:lnTo>
                  <a:pt x="4192103" y="754647"/>
                </a:lnTo>
                <a:lnTo>
                  <a:pt x="4195672" y="754647"/>
                </a:lnTo>
                <a:lnTo>
                  <a:pt x="4199287" y="754647"/>
                </a:lnTo>
                <a:lnTo>
                  <a:pt x="4202902" y="754647"/>
                </a:lnTo>
                <a:lnTo>
                  <a:pt x="4206517" y="754647"/>
                </a:lnTo>
                <a:lnTo>
                  <a:pt x="4210085" y="754647"/>
                </a:lnTo>
                <a:lnTo>
                  <a:pt x="4213653" y="754647"/>
                </a:lnTo>
                <a:lnTo>
                  <a:pt x="4217316" y="754647"/>
                </a:lnTo>
                <a:lnTo>
                  <a:pt x="4220883" y="754647"/>
                </a:lnTo>
                <a:lnTo>
                  <a:pt x="4224451" y="754647"/>
                </a:lnTo>
                <a:lnTo>
                  <a:pt x="4228114" y="754647"/>
                </a:lnTo>
                <a:lnTo>
                  <a:pt x="4231682" y="754647"/>
                </a:lnTo>
                <a:lnTo>
                  <a:pt x="4235297" y="754647"/>
                </a:lnTo>
                <a:lnTo>
                  <a:pt x="4238864" y="754647"/>
                </a:lnTo>
                <a:lnTo>
                  <a:pt x="4242526" y="754647"/>
                </a:lnTo>
                <a:lnTo>
                  <a:pt x="4246095" y="754647"/>
                </a:lnTo>
                <a:lnTo>
                  <a:pt x="4249663" y="754647"/>
                </a:lnTo>
                <a:lnTo>
                  <a:pt x="4253325" y="754647"/>
                </a:lnTo>
                <a:lnTo>
                  <a:pt x="4256893" y="754647"/>
                </a:lnTo>
                <a:lnTo>
                  <a:pt x="4260461" y="754647"/>
                </a:lnTo>
                <a:lnTo>
                  <a:pt x="4264029" y="754647"/>
                </a:lnTo>
                <a:lnTo>
                  <a:pt x="4267692" y="754647"/>
                </a:lnTo>
                <a:lnTo>
                  <a:pt x="4271306" y="754647"/>
                </a:lnTo>
                <a:lnTo>
                  <a:pt x="4274874" y="754647"/>
                </a:lnTo>
                <a:lnTo>
                  <a:pt x="4278490" y="754647"/>
                </a:lnTo>
                <a:lnTo>
                  <a:pt x="4282104" y="754647"/>
                </a:lnTo>
                <a:lnTo>
                  <a:pt x="4285673" y="754647"/>
                </a:lnTo>
                <a:lnTo>
                  <a:pt x="4285673" y="732090"/>
                </a:lnTo>
                <a:lnTo>
                  <a:pt x="4289288" y="732090"/>
                </a:lnTo>
                <a:lnTo>
                  <a:pt x="4289288" y="724582"/>
                </a:lnTo>
                <a:lnTo>
                  <a:pt x="4292902" y="724582"/>
                </a:lnTo>
                <a:lnTo>
                  <a:pt x="4296517" y="724582"/>
                </a:lnTo>
                <a:lnTo>
                  <a:pt x="4296517" y="716973"/>
                </a:lnTo>
                <a:lnTo>
                  <a:pt x="4300039" y="716973"/>
                </a:lnTo>
                <a:lnTo>
                  <a:pt x="4303701" y="716973"/>
                </a:lnTo>
                <a:lnTo>
                  <a:pt x="4307316" y="716973"/>
                </a:lnTo>
                <a:lnTo>
                  <a:pt x="4307316" y="709330"/>
                </a:lnTo>
                <a:lnTo>
                  <a:pt x="4310884" y="709330"/>
                </a:lnTo>
                <a:lnTo>
                  <a:pt x="4310884" y="678487"/>
                </a:lnTo>
                <a:lnTo>
                  <a:pt x="4314499" y="678487"/>
                </a:lnTo>
                <a:lnTo>
                  <a:pt x="4318115" y="678487"/>
                </a:lnTo>
                <a:lnTo>
                  <a:pt x="4321682" y="678487"/>
                </a:lnTo>
                <a:lnTo>
                  <a:pt x="4321682" y="670675"/>
                </a:lnTo>
                <a:lnTo>
                  <a:pt x="4325251" y="670675"/>
                </a:lnTo>
                <a:lnTo>
                  <a:pt x="4325251" y="662795"/>
                </a:lnTo>
                <a:lnTo>
                  <a:pt x="4328912" y="662795"/>
                </a:lnTo>
                <a:lnTo>
                  <a:pt x="4328912" y="654949"/>
                </a:lnTo>
                <a:lnTo>
                  <a:pt x="4332528" y="654949"/>
                </a:lnTo>
                <a:lnTo>
                  <a:pt x="4332528" y="647069"/>
                </a:lnTo>
                <a:lnTo>
                  <a:pt x="4336049" y="647069"/>
                </a:lnTo>
                <a:lnTo>
                  <a:pt x="4336049" y="631242"/>
                </a:lnTo>
                <a:lnTo>
                  <a:pt x="4339711" y="631242"/>
                </a:lnTo>
                <a:lnTo>
                  <a:pt x="4339711" y="615347"/>
                </a:lnTo>
                <a:lnTo>
                  <a:pt x="4343326" y="615347"/>
                </a:lnTo>
                <a:lnTo>
                  <a:pt x="4343326" y="607400"/>
                </a:lnTo>
                <a:lnTo>
                  <a:pt x="4346894" y="607400"/>
                </a:lnTo>
                <a:lnTo>
                  <a:pt x="4350462" y="607400"/>
                </a:lnTo>
                <a:lnTo>
                  <a:pt x="4354124" y="607400"/>
                </a:lnTo>
                <a:lnTo>
                  <a:pt x="4357692" y="607400"/>
                </a:lnTo>
                <a:lnTo>
                  <a:pt x="4361260" y="607400"/>
                </a:lnTo>
                <a:lnTo>
                  <a:pt x="4364922" y="607400"/>
                </a:lnTo>
                <a:lnTo>
                  <a:pt x="4368537" y="607400"/>
                </a:lnTo>
                <a:lnTo>
                  <a:pt x="4372058" y="607400"/>
                </a:lnTo>
                <a:lnTo>
                  <a:pt x="4375673" y="607400"/>
                </a:lnTo>
                <a:lnTo>
                  <a:pt x="4375673" y="599249"/>
                </a:lnTo>
                <a:lnTo>
                  <a:pt x="4379335" y="599249"/>
                </a:lnTo>
                <a:lnTo>
                  <a:pt x="4382903" y="599249"/>
                </a:lnTo>
                <a:lnTo>
                  <a:pt x="4386472" y="599249"/>
                </a:lnTo>
                <a:lnTo>
                  <a:pt x="4390134" y="599249"/>
                </a:lnTo>
                <a:lnTo>
                  <a:pt x="4393701" y="599249"/>
                </a:lnTo>
                <a:lnTo>
                  <a:pt x="4397270" y="599249"/>
                </a:lnTo>
                <a:lnTo>
                  <a:pt x="4400885" y="599249"/>
                </a:lnTo>
                <a:lnTo>
                  <a:pt x="4404547" y="599249"/>
                </a:lnTo>
                <a:lnTo>
                  <a:pt x="4408068" y="599249"/>
                </a:lnTo>
                <a:lnTo>
                  <a:pt x="4411683" y="599249"/>
                </a:lnTo>
                <a:lnTo>
                  <a:pt x="4415345" y="599249"/>
                </a:lnTo>
                <a:lnTo>
                  <a:pt x="4418913" y="599249"/>
                </a:lnTo>
                <a:lnTo>
                  <a:pt x="4422481" y="599249"/>
                </a:lnTo>
                <a:lnTo>
                  <a:pt x="4426096" y="599249"/>
                </a:lnTo>
                <a:lnTo>
                  <a:pt x="4426096" y="590727"/>
                </a:lnTo>
                <a:lnTo>
                  <a:pt x="4429711" y="590727"/>
                </a:lnTo>
                <a:lnTo>
                  <a:pt x="4433279" y="590727"/>
                </a:lnTo>
                <a:lnTo>
                  <a:pt x="4436895" y="590727"/>
                </a:lnTo>
                <a:lnTo>
                  <a:pt x="4440556" y="590727"/>
                </a:lnTo>
                <a:lnTo>
                  <a:pt x="4444125" y="590727"/>
                </a:lnTo>
                <a:lnTo>
                  <a:pt x="4444125" y="581968"/>
                </a:lnTo>
                <a:lnTo>
                  <a:pt x="4447692" y="581968"/>
                </a:lnTo>
                <a:lnTo>
                  <a:pt x="4451261" y="581968"/>
                </a:lnTo>
                <a:lnTo>
                  <a:pt x="4454923" y="581968"/>
                </a:lnTo>
                <a:lnTo>
                  <a:pt x="4458491" y="581968"/>
                </a:lnTo>
                <a:lnTo>
                  <a:pt x="4458491" y="573175"/>
                </a:lnTo>
                <a:lnTo>
                  <a:pt x="4462059" y="573175"/>
                </a:lnTo>
                <a:lnTo>
                  <a:pt x="4465721" y="573175"/>
                </a:lnTo>
                <a:lnTo>
                  <a:pt x="4469289" y="573175"/>
                </a:lnTo>
                <a:lnTo>
                  <a:pt x="4472905" y="573175"/>
                </a:lnTo>
                <a:lnTo>
                  <a:pt x="4476472" y="573175"/>
                </a:lnTo>
                <a:lnTo>
                  <a:pt x="4480134" y="573175"/>
                </a:lnTo>
                <a:lnTo>
                  <a:pt x="4483703" y="573175"/>
                </a:lnTo>
                <a:lnTo>
                  <a:pt x="4487271" y="573175"/>
                </a:lnTo>
                <a:lnTo>
                  <a:pt x="4490933" y="573175"/>
                </a:lnTo>
                <a:lnTo>
                  <a:pt x="4494501" y="573175"/>
                </a:lnTo>
                <a:lnTo>
                  <a:pt x="4498069" y="573175"/>
                </a:lnTo>
                <a:lnTo>
                  <a:pt x="4501684" y="573175"/>
                </a:lnTo>
                <a:lnTo>
                  <a:pt x="4505346" y="573175"/>
                </a:lnTo>
                <a:lnTo>
                  <a:pt x="4508914" y="573175"/>
                </a:lnTo>
                <a:lnTo>
                  <a:pt x="4512482" y="573175"/>
                </a:lnTo>
                <a:lnTo>
                  <a:pt x="4516144" y="573175"/>
                </a:lnTo>
                <a:lnTo>
                  <a:pt x="4519712" y="573175"/>
                </a:lnTo>
                <a:lnTo>
                  <a:pt x="4523327" y="573175"/>
                </a:lnTo>
                <a:lnTo>
                  <a:pt x="4523327" y="563909"/>
                </a:lnTo>
                <a:lnTo>
                  <a:pt x="4526848" y="563909"/>
                </a:lnTo>
                <a:lnTo>
                  <a:pt x="4530510" y="563909"/>
                </a:lnTo>
                <a:lnTo>
                  <a:pt x="4534078" y="563909"/>
                </a:lnTo>
                <a:lnTo>
                  <a:pt x="4537693" y="563909"/>
                </a:lnTo>
                <a:lnTo>
                  <a:pt x="4541309" y="563909"/>
                </a:lnTo>
                <a:lnTo>
                  <a:pt x="4544924" y="563909"/>
                </a:lnTo>
                <a:lnTo>
                  <a:pt x="4548491" y="563909"/>
                </a:lnTo>
                <a:lnTo>
                  <a:pt x="4548491" y="554304"/>
                </a:lnTo>
                <a:lnTo>
                  <a:pt x="4552060" y="554304"/>
                </a:lnTo>
                <a:lnTo>
                  <a:pt x="4552060" y="544733"/>
                </a:lnTo>
                <a:lnTo>
                  <a:pt x="4555722" y="544733"/>
                </a:lnTo>
                <a:lnTo>
                  <a:pt x="4559290" y="544733"/>
                </a:lnTo>
                <a:lnTo>
                  <a:pt x="4562858" y="544733"/>
                </a:lnTo>
                <a:lnTo>
                  <a:pt x="4566472" y="544733"/>
                </a:lnTo>
                <a:lnTo>
                  <a:pt x="4566472" y="534926"/>
                </a:lnTo>
                <a:lnTo>
                  <a:pt x="4570088" y="534926"/>
                </a:lnTo>
                <a:lnTo>
                  <a:pt x="4573656" y="534926"/>
                </a:lnTo>
                <a:lnTo>
                  <a:pt x="4577271" y="534926"/>
                </a:lnTo>
                <a:lnTo>
                  <a:pt x="4580933" y="534926"/>
                </a:lnTo>
                <a:lnTo>
                  <a:pt x="4584501" y="534926"/>
                </a:lnTo>
                <a:lnTo>
                  <a:pt x="4588070" y="534926"/>
                </a:lnTo>
                <a:lnTo>
                  <a:pt x="4591731" y="534926"/>
                </a:lnTo>
                <a:lnTo>
                  <a:pt x="4595300" y="534926"/>
                </a:lnTo>
                <a:lnTo>
                  <a:pt x="4598867" y="534926"/>
                </a:lnTo>
                <a:lnTo>
                  <a:pt x="4602483" y="534926"/>
                </a:lnTo>
                <a:lnTo>
                  <a:pt x="4606098" y="534926"/>
                </a:lnTo>
                <a:lnTo>
                  <a:pt x="4609666" y="534926"/>
                </a:lnTo>
                <a:lnTo>
                  <a:pt x="4613281" y="534926"/>
                </a:lnTo>
                <a:lnTo>
                  <a:pt x="4616943" y="534926"/>
                </a:lnTo>
                <a:lnTo>
                  <a:pt x="4620510" y="534926"/>
                </a:lnTo>
                <a:lnTo>
                  <a:pt x="4624079" y="534926"/>
                </a:lnTo>
                <a:lnTo>
                  <a:pt x="4627694" y="534926"/>
                </a:lnTo>
                <a:lnTo>
                  <a:pt x="4631309" y="534926"/>
                </a:lnTo>
                <a:lnTo>
                  <a:pt x="4634924" y="534926"/>
                </a:lnTo>
                <a:lnTo>
                  <a:pt x="4638446" y="534926"/>
                </a:lnTo>
                <a:lnTo>
                  <a:pt x="4642107" y="534926"/>
                </a:lnTo>
                <a:lnTo>
                  <a:pt x="4645723" y="534926"/>
                </a:lnTo>
                <a:lnTo>
                  <a:pt x="4649290" y="534926"/>
                </a:lnTo>
                <a:lnTo>
                  <a:pt x="4649290" y="524408"/>
                </a:lnTo>
                <a:lnTo>
                  <a:pt x="4652859" y="524408"/>
                </a:lnTo>
                <a:lnTo>
                  <a:pt x="4656521" y="524408"/>
                </a:lnTo>
                <a:lnTo>
                  <a:pt x="4660089" y="524408"/>
                </a:lnTo>
                <a:lnTo>
                  <a:pt x="4663657" y="524408"/>
                </a:lnTo>
                <a:lnTo>
                  <a:pt x="4667319" y="524408"/>
                </a:lnTo>
                <a:lnTo>
                  <a:pt x="4670934" y="524408"/>
                </a:lnTo>
                <a:lnTo>
                  <a:pt x="4674455" y="524408"/>
                </a:lnTo>
                <a:lnTo>
                  <a:pt x="4678070" y="524408"/>
                </a:lnTo>
                <a:lnTo>
                  <a:pt x="4681732" y="524408"/>
                </a:lnTo>
                <a:lnTo>
                  <a:pt x="4685300" y="524408"/>
                </a:lnTo>
                <a:lnTo>
                  <a:pt x="4688868" y="524408"/>
                </a:lnTo>
                <a:lnTo>
                  <a:pt x="4692530" y="524408"/>
                </a:lnTo>
                <a:lnTo>
                  <a:pt x="4696099" y="524408"/>
                </a:lnTo>
                <a:lnTo>
                  <a:pt x="4699666" y="524408"/>
                </a:lnTo>
                <a:lnTo>
                  <a:pt x="4703281" y="524408"/>
                </a:lnTo>
                <a:lnTo>
                  <a:pt x="4706943" y="524408"/>
                </a:lnTo>
                <a:lnTo>
                  <a:pt x="4706943" y="501986"/>
                </a:lnTo>
                <a:lnTo>
                  <a:pt x="4710465" y="501986"/>
                </a:lnTo>
                <a:lnTo>
                  <a:pt x="4714080" y="501986"/>
                </a:lnTo>
                <a:lnTo>
                  <a:pt x="4714080" y="456331"/>
                </a:lnTo>
                <a:lnTo>
                  <a:pt x="4717742" y="456331"/>
                </a:lnTo>
                <a:lnTo>
                  <a:pt x="4721263" y="456331"/>
                </a:lnTo>
                <a:lnTo>
                  <a:pt x="4724878" y="456331"/>
                </a:lnTo>
                <a:lnTo>
                  <a:pt x="4724878" y="444663"/>
                </a:lnTo>
                <a:lnTo>
                  <a:pt x="4728540" y="444663"/>
                </a:lnTo>
                <a:lnTo>
                  <a:pt x="4732108" y="444663"/>
                </a:lnTo>
                <a:lnTo>
                  <a:pt x="4735676" y="444663"/>
                </a:lnTo>
                <a:lnTo>
                  <a:pt x="4735676" y="421125"/>
                </a:lnTo>
                <a:lnTo>
                  <a:pt x="4739291" y="421125"/>
                </a:lnTo>
                <a:lnTo>
                  <a:pt x="4742906" y="421125"/>
                </a:lnTo>
                <a:lnTo>
                  <a:pt x="4746475" y="421125"/>
                </a:lnTo>
                <a:lnTo>
                  <a:pt x="4750089" y="421125"/>
                </a:lnTo>
                <a:lnTo>
                  <a:pt x="4753752" y="421125"/>
                </a:lnTo>
                <a:lnTo>
                  <a:pt x="4753752" y="408646"/>
                </a:lnTo>
                <a:lnTo>
                  <a:pt x="4757319" y="408646"/>
                </a:lnTo>
                <a:lnTo>
                  <a:pt x="4757319" y="396201"/>
                </a:lnTo>
                <a:lnTo>
                  <a:pt x="4760888" y="396201"/>
                </a:lnTo>
                <a:lnTo>
                  <a:pt x="4760888" y="383485"/>
                </a:lnTo>
                <a:lnTo>
                  <a:pt x="4764456" y="383485"/>
                </a:lnTo>
                <a:lnTo>
                  <a:pt x="4764456" y="370769"/>
                </a:lnTo>
                <a:lnTo>
                  <a:pt x="4768118" y="370769"/>
                </a:lnTo>
                <a:lnTo>
                  <a:pt x="4768118" y="357850"/>
                </a:lnTo>
                <a:lnTo>
                  <a:pt x="4771733" y="357850"/>
                </a:lnTo>
                <a:lnTo>
                  <a:pt x="4775301" y="357850"/>
                </a:lnTo>
                <a:lnTo>
                  <a:pt x="4778916" y="357850"/>
                </a:lnTo>
                <a:lnTo>
                  <a:pt x="4778916" y="344728"/>
                </a:lnTo>
                <a:lnTo>
                  <a:pt x="4782531" y="344728"/>
                </a:lnTo>
                <a:lnTo>
                  <a:pt x="4786099" y="344728"/>
                </a:lnTo>
                <a:lnTo>
                  <a:pt x="4789667" y="344728"/>
                </a:lnTo>
                <a:lnTo>
                  <a:pt x="4789667" y="317741"/>
                </a:lnTo>
                <a:lnTo>
                  <a:pt x="4793329" y="317741"/>
                </a:lnTo>
                <a:lnTo>
                  <a:pt x="4796898" y="317741"/>
                </a:lnTo>
                <a:lnTo>
                  <a:pt x="4800465" y="317741"/>
                </a:lnTo>
                <a:lnTo>
                  <a:pt x="4804127" y="317741"/>
                </a:lnTo>
                <a:lnTo>
                  <a:pt x="4807695" y="317741"/>
                </a:lnTo>
                <a:lnTo>
                  <a:pt x="4811311" y="317741"/>
                </a:lnTo>
                <a:lnTo>
                  <a:pt x="4814879" y="317741"/>
                </a:lnTo>
                <a:lnTo>
                  <a:pt x="4818541" y="317741"/>
                </a:lnTo>
                <a:lnTo>
                  <a:pt x="4822109" y="317741"/>
                </a:lnTo>
                <a:lnTo>
                  <a:pt x="4825677" y="317741"/>
                </a:lnTo>
                <a:lnTo>
                  <a:pt x="4829339" y="317741"/>
                </a:lnTo>
                <a:lnTo>
                  <a:pt x="4832907" y="317741"/>
                </a:lnTo>
                <a:lnTo>
                  <a:pt x="4836475" y="317741"/>
                </a:lnTo>
                <a:lnTo>
                  <a:pt x="4840043" y="317741"/>
                </a:lnTo>
                <a:lnTo>
                  <a:pt x="4843705" y="317741"/>
                </a:lnTo>
                <a:lnTo>
                  <a:pt x="4847320" y="317741"/>
                </a:lnTo>
                <a:lnTo>
                  <a:pt x="4850889" y="317741"/>
                </a:lnTo>
                <a:lnTo>
                  <a:pt x="4854503" y="317741"/>
                </a:lnTo>
                <a:lnTo>
                  <a:pt x="4858118" y="317741"/>
                </a:lnTo>
                <a:lnTo>
                  <a:pt x="4861687" y="317741"/>
                </a:lnTo>
                <a:lnTo>
                  <a:pt x="4865255" y="317741"/>
                </a:lnTo>
                <a:lnTo>
                  <a:pt x="4868917" y="317741"/>
                </a:lnTo>
                <a:lnTo>
                  <a:pt x="4872485" y="317741"/>
                </a:lnTo>
                <a:lnTo>
                  <a:pt x="4876053" y="317741"/>
                </a:lnTo>
                <a:lnTo>
                  <a:pt x="4879715" y="317741"/>
                </a:lnTo>
                <a:lnTo>
                  <a:pt x="4883330" y="317741"/>
                </a:lnTo>
                <a:lnTo>
                  <a:pt x="4886898" y="317741"/>
                </a:lnTo>
                <a:lnTo>
                  <a:pt x="4890466" y="317741"/>
                </a:lnTo>
                <a:lnTo>
                  <a:pt x="4894128" y="317741"/>
                </a:lnTo>
                <a:lnTo>
                  <a:pt x="4897696" y="317741"/>
                </a:lnTo>
                <a:lnTo>
                  <a:pt x="4901264" y="317741"/>
                </a:lnTo>
                <a:lnTo>
                  <a:pt x="4904927" y="317741"/>
                </a:lnTo>
                <a:lnTo>
                  <a:pt x="4908494" y="317741"/>
                </a:lnTo>
                <a:lnTo>
                  <a:pt x="4912110" y="317741"/>
                </a:lnTo>
                <a:lnTo>
                  <a:pt x="4915678" y="317741"/>
                </a:lnTo>
                <a:lnTo>
                  <a:pt x="4919293" y="317741"/>
                </a:lnTo>
                <a:lnTo>
                  <a:pt x="4922908" y="317741"/>
                </a:lnTo>
                <a:lnTo>
                  <a:pt x="4926476" y="317741"/>
                </a:lnTo>
                <a:lnTo>
                  <a:pt x="4930137" y="317741"/>
                </a:lnTo>
                <a:lnTo>
                  <a:pt x="4933706" y="317741"/>
                </a:lnTo>
                <a:lnTo>
                  <a:pt x="4937274" y="317741"/>
                </a:lnTo>
                <a:lnTo>
                  <a:pt x="4940842" y="317741"/>
                </a:lnTo>
                <a:lnTo>
                  <a:pt x="4944504" y="317741"/>
                </a:lnTo>
                <a:lnTo>
                  <a:pt x="4948073" y="317741"/>
                </a:lnTo>
                <a:lnTo>
                  <a:pt x="4951640" y="317741"/>
                </a:lnTo>
                <a:lnTo>
                  <a:pt x="4955302" y="317741"/>
                </a:lnTo>
                <a:lnTo>
                  <a:pt x="4958917" y="317741"/>
                </a:lnTo>
                <a:lnTo>
                  <a:pt x="4962486" y="317741"/>
                </a:lnTo>
                <a:lnTo>
                  <a:pt x="4966100" y="317741"/>
                </a:lnTo>
                <a:lnTo>
                  <a:pt x="4969716" y="317741"/>
                </a:lnTo>
                <a:lnTo>
                  <a:pt x="4973331" y="317741"/>
                </a:lnTo>
                <a:lnTo>
                  <a:pt x="4976852" y="317741"/>
                </a:lnTo>
                <a:lnTo>
                  <a:pt x="4980513" y="317741"/>
                </a:lnTo>
                <a:lnTo>
                  <a:pt x="4984129" y="317741"/>
                </a:lnTo>
                <a:lnTo>
                  <a:pt x="4987697" y="317741"/>
                </a:lnTo>
                <a:lnTo>
                  <a:pt x="4991265" y="317741"/>
                </a:lnTo>
                <a:lnTo>
                  <a:pt x="4994927" y="317741"/>
                </a:lnTo>
                <a:lnTo>
                  <a:pt x="4998495" y="317741"/>
                </a:lnTo>
                <a:lnTo>
                  <a:pt x="5002111" y="317741"/>
                </a:lnTo>
                <a:lnTo>
                  <a:pt x="5005726" y="317741"/>
                </a:lnTo>
                <a:lnTo>
                  <a:pt x="5009293" y="317741"/>
                </a:lnTo>
                <a:lnTo>
                  <a:pt x="5012862" y="317741"/>
                </a:lnTo>
                <a:lnTo>
                  <a:pt x="5016430" y="317741"/>
                </a:lnTo>
                <a:lnTo>
                  <a:pt x="5020139" y="317741"/>
                </a:lnTo>
                <a:lnTo>
                  <a:pt x="5023707" y="317741"/>
                </a:lnTo>
                <a:lnTo>
                  <a:pt x="5027274" y="317741"/>
                </a:lnTo>
                <a:lnTo>
                  <a:pt x="5030937" y="317741"/>
                </a:lnTo>
                <a:lnTo>
                  <a:pt x="5034505" y="317741"/>
                </a:lnTo>
                <a:lnTo>
                  <a:pt x="5038073" y="317741"/>
                </a:lnTo>
                <a:lnTo>
                  <a:pt x="5041688" y="317741"/>
                </a:lnTo>
                <a:lnTo>
                  <a:pt x="5045350" y="317741"/>
                </a:lnTo>
                <a:lnTo>
                  <a:pt x="5048871" y="317741"/>
                </a:lnTo>
                <a:lnTo>
                  <a:pt x="5052487" y="317741"/>
                </a:lnTo>
                <a:lnTo>
                  <a:pt x="5056148" y="317741"/>
                </a:lnTo>
                <a:lnTo>
                  <a:pt x="5059716" y="317741"/>
                </a:lnTo>
                <a:lnTo>
                  <a:pt x="5063284" y="317741"/>
                </a:lnTo>
                <a:lnTo>
                  <a:pt x="5063284" y="290348"/>
                </a:lnTo>
                <a:lnTo>
                  <a:pt x="5066900" y="290348"/>
                </a:lnTo>
                <a:lnTo>
                  <a:pt x="5070514" y="290348"/>
                </a:lnTo>
                <a:lnTo>
                  <a:pt x="5070514" y="262143"/>
                </a:lnTo>
                <a:lnTo>
                  <a:pt x="5074083" y="262143"/>
                </a:lnTo>
                <a:lnTo>
                  <a:pt x="5077698" y="262143"/>
                </a:lnTo>
                <a:lnTo>
                  <a:pt x="5081360" y="262143"/>
                </a:lnTo>
                <a:lnTo>
                  <a:pt x="5084881" y="262143"/>
                </a:lnTo>
                <a:lnTo>
                  <a:pt x="5088496" y="262143"/>
                </a:lnTo>
                <a:lnTo>
                  <a:pt x="5092064" y="262143"/>
                </a:lnTo>
                <a:lnTo>
                  <a:pt x="5095679" y="262143"/>
                </a:lnTo>
                <a:lnTo>
                  <a:pt x="5099294" y="262143"/>
                </a:lnTo>
                <a:lnTo>
                  <a:pt x="5102863" y="262143"/>
                </a:lnTo>
                <a:lnTo>
                  <a:pt x="5106525" y="262143"/>
                </a:lnTo>
                <a:lnTo>
                  <a:pt x="5110092" y="262143"/>
                </a:lnTo>
                <a:lnTo>
                  <a:pt x="5113707" y="262143"/>
                </a:lnTo>
                <a:lnTo>
                  <a:pt x="5117322" y="262143"/>
                </a:lnTo>
                <a:lnTo>
                  <a:pt x="5120938" y="262143"/>
                </a:lnTo>
                <a:lnTo>
                  <a:pt x="5124506" y="262143"/>
                </a:lnTo>
                <a:lnTo>
                  <a:pt x="5128027" y="262143"/>
                </a:lnTo>
                <a:lnTo>
                  <a:pt x="5131736" y="262143"/>
                </a:lnTo>
                <a:lnTo>
                  <a:pt x="5135304" y="262143"/>
                </a:lnTo>
                <a:lnTo>
                  <a:pt x="5138872" y="262143"/>
                </a:lnTo>
                <a:lnTo>
                  <a:pt x="5142534" y="262143"/>
                </a:lnTo>
                <a:lnTo>
                  <a:pt x="5146102" y="262143"/>
                </a:lnTo>
                <a:lnTo>
                  <a:pt x="5146102" y="188417"/>
                </a:lnTo>
                <a:lnTo>
                  <a:pt x="5149717" y="188417"/>
                </a:lnTo>
                <a:lnTo>
                  <a:pt x="5153285" y="188417"/>
                </a:lnTo>
                <a:lnTo>
                  <a:pt x="5156947" y="188417"/>
                </a:lnTo>
                <a:lnTo>
                  <a:pt x="5160515" y="188417"/>
                </a:lnTo>
                <a:lnTo>
                  <a:pt x="5164083" y="188417"/>
                </a:lnTo>
                <a:lnTo>
                  <a:pt x="5167745" y="188417"/>
                </a:lnTo>
                <a:lnTo>
                  <a:pt x="5171313" y="188417"/>
                </a:lnTo>
                <a:lnTo>
                  <a:pt x="5174882" y="188417"/>
                </a:lnTo>
                <a:lnTo>
                  <a:pt x="5178497" y="188417"/>
                </a:lnTo>
                <a:lnTo>
                  <a:pt x="5182111" y="188417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0" name="legend_finerenone">
            <a:extLst>
              <a:ext uri="{FF2B5EF4-FFF2-40B4-BE49-F238E27FC236}">
                <a16:creationId xmlns:a16="http://schemas.microsoft.com/office/drawing/2014/main" id="{175329CD-C86A-46F0-8E4C-7EA474A7F846}"/>
              </a:ext>
            </a:extLst>
          </p:cNvPr>
          <p:cNvSpPr>
            <a:spLocks noGrp="1"/>
          </p:cNvSpPr>
          <p:nvPr/>
        </p:nvSpPr>
        <p:spPr>
          <a:xfrm>
            <a:off x="1041400" y="2745176"/>
            <a:ext cx="266700" cy="86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legend_finerenone_label">
            <a:extLst>
              <a:ext uri="{FF2B5EF4-FFF2-40B4-BE49-F238E27FC236}">
                <a16:creationId xmlns:a16="http://schemas.microsoft.com/office/drawing/2014/main" id="{D426A590-3A2E-4C41-AF30-706DAC904B76}"/>
              </a:ext>
            </a:extLst>
          </p:cNvPr>
          <p:cNvSpPr>
            <a:spLocks noGrp="1"/>
          </p:cNvSpPr>
          <p:nvPr/>
        </p:nvSpPr>
        <p:spPr>
          <a:xfrm>
            <a:off x="1371600" y="2632484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52" name="legend_placebo">
            <a:extLst>
              <a:ext uri="{FF2B5EF4-FFF2-40B4-BE49-F238E27FC236}">
                <a16:creationId xmlns:a16="http://schemas.microsoft.com/office/drawing/2014/main" id="{839D5381-C0F0-4E27-8285-3981C53532C6}"/>
              </a:ext>
            </a:extLst>
          </p:cNvPr>
          <p:cNvSpPr>
            <a:spLocks noGrp="1"/>
          </p:cNvSpPr>
          <p:nvPr/>
        </p:nvSpPr>
        <p:spPr>
          <a:xfrm>
            <a:off x="2514600" y="2745176"/>
            <a:ext cx="266700" cy="86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legend_placebo_label">
            <a:extLst>
              <a:ext uri="{FF2B5EF4-FFF2-40B4-BE49-F238E27FC236}">
                <a16:creationId xmlns:a16="http://schemas.microsoft.com/office/drawing/2014/main" id="{69D08F93-1CBC-41C9-B9D3-1984415815D8}"/>
              </a:ext>
            </a:extLst>
          </p:cNvPr>
          <p:cNvSpPr>
            <a:spLocks noGrp="1"/>
          </p:cNvSpPr>
          <p:nvPr/>
        </p:nvSpPr>
        <p:spPr>
          <a:xfrm>
            <a:off x="2844800" y="2632484"/>
            <a:ext cx="1009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54" name="x_axis_title">
            <a:extLst>
              <a:ext uri="{FF2B5EF4-FFF2-40B4-BE49-F238E27FC236}">
                <a16:creationId xmlns:a16="http://schemas.microsoft.com/office/drawing/2014/main" id="{CA65FFC4-D72E-4ACB-88A2-81D84D969DD0}"/>
              </a:ext>
            </a:extLst>
          </p:cNvPr>
          <p:cNvSpPr>
            <a:spLocks noGrp="1"/>
          </p:cNvSpPr>
          <p:nvPr/>
        </p:nvSpPr>
        <p:spPr>
          <a:xfrm>
            <a:off x="863600" y="5651891"/>
            <a:ext cx="4038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121" name="Источники"/>
          <p:cNvSpPr txBox="1"/>
          <p:nvPr/>
        </p:nvSpPr>
        <p:spPr>
          <a:xfrm>
            <a:off x="457200" y="6433820"/>
            <a:ext cx="10795000" cy="39878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ЧБНЛ: число пациентов, которых нужно лечить, чтобы предотвратить 1 событие. Гиперкалиемия: повышение калия сыворотки. Сердечно-сосудистый исход: сердечно-сосудистая смерть, нефатальные инфаркт миокарда и инсульт, госпитализация по поводу сердечной недостаточности.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GL, et al. N Engl J Med. 2020;383:2219–2229.</a:t>
            </a:r>
            <a:endParaRPr lang="ru-RU" sz="800" b="0" dirty="0"/>
          </a:p>
        </p:txBody>
      </p:sp>
      <p:pic>
        <p:nvPicPr>
          <p:cNvPr id="1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23" name="Сокращения"/>
          <p:cNvSpPr txBox="1"/>
          <p:nvPr/>
        </p:nvSpPr>
        <p:spPr>
          <a:xfrm>
            <a:off x="457200" y="6238240"/>
            <a:ext cx="108966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124" name="Сноска_график"/>
          <p:cNvSpPr txBox="1"/>
          <p:nvPr/>
        </p:nvSpPr>
        <p:spPr>
          <a:xfrm>
            <a:off x="457200" y="5918200"/>
            <a:ext cx="4724400" cy="33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Кривая показывает накопленную частоту к каждому месяцу с учётом разного срока наблюдения, поэтому её конец выше доли за всё исследование.</a:t>
            </a:r>
          </a:p>
        </p:txBody>
      </p:sp>
      <p:sp>
        <p:nvSpPr>
          <p:cNvPr id="125" name="Полоса_результат"/>
          <p:cNvSpPr/>
          <p:nvPr/>
        </p:nvSpPr>
        <p:spPr>
          <a:xfrm>
            <a:off x="5232400" y="2133600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Результат</a:t>
            </a:r>
          </a:p>
        </p:txBody>
      </p:sp>
      <p:sp>
        <p:nvSpPr>
          <p:cNvPr id="130" name="Карточка_результат"/>
          <p:cNvSpPr/>
          <p:nvPr/>
        </p:nvSpPr>
        <p:spPr>
          <a:xfrm>
            <a:off x="5232400" y="2463800"/>
            <a:ext cx="6502400" cy="1999361"/>
          </a:xfrm>
          <a:prstGeom prst="roundRect">
            <a:avLst>
              <a:gd name="adj" fmla="val 5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6" name="Подпись_доли"/>
          <p:cNvSpPr txBox="1"/>
          <p:nvPr/>
        </p:nvSpPr>
        <p:spPr>
          <a:xfrm>
            <a:off x="5359400" y="2540000"/>
            <a:ext cx="6248400" cy="2094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пациентов с событием за всё исследование</a:t>
            </a:r>
          </a:p>
        </p:txBody>
      </p:sp>
      <p:sp>
        <p:nvSpPr>
          <p:cNvPr id="127" name="Доля_финеренон"/>
          <p:cNvSpPr txBox="1"/>
          <p:nvPr/>
        </p:nvSpPr>
        <p:spPr>
          <a:xfrm>
            <a:off x="53594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  Финеренон</a:t>
            </a:r>
          </a:p>
        </p:txBody>
      </p:sp>
      <p:sp>
        <p:nvSpPr>
          <p:cNvPr id="128" name="Доля_плацебо"/>
          <p:cNvSpPr txBox="1"/>
          <p:nvPr/>
        </p:nvSpPr>
        <p:spPr>
          <a:xfrm>
            <a:off x="84836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  Плацебо</a:t>
            </a:r>
          </a:p>
        </p:txBody>
      </p:sp>
      <p:sp>
        <p:nvSpPr>
          <p:cNvPr id="129" name="Текст_результат"/>
          <p:cNvSpPr txBox="1"/>
          <p:nvPr/>
        </p:nvSpPr>
        <p:spPr>
          <a:xfrm>
            <a:off x="5359400" y="3206623"/>
            <a:ext cx="6248400" cy="12057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18%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0,82 (95% ДИ 0,73–0,93), p=0,001.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ЧБНЛ: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чтобы предотвратить 1 событие за 3 года, лечат 29 пациентов.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Сердечно-сосудистый исход (вторичный):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риск ниже на 14% по сравнению с плацебо; 13,0% на финереноне и 14,8% на плацебо, отношение рисков 0,86 (95% ДИ 0,75–0,99).</a:t>
            </a:r>
          </a:p>
        </p:txBody>
      </p:sp>
      <p:sp>
        <p:nvSpPr>
          <p:cNvPr id="131" name="Полоса_калий"/>
          <p:cNvSpPr/>
          <p:nvPr/>
        </p:nvSpPr>
        <p:spPr>
          <a:xfrm>
            <a:off x="5232400" y="4564761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133" name="Карточка_калий"/>
          <p:cNvSpPr/>
          <p:nvPr/>
        </p:nvSpPr>
        <p:spPr>
          <a:xfrm>
            <a:off x="5232400" y="4894961"/>
            <a:ext cx="6502400" cy="1110615"/>
          </a:xfrm>
          <a:prstGeom prst="roundRect">
            <a:avLst>
              <a:gd name="adj" fmla="val 914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2" name="Текст_калий"/>
          <p:cNvSpPr txBox="1"/>
          <p:nvPr/>
        </p:nvSpPr>
        <p:spPr>
          <a:xfrm>
            <a:off x="5359400" y="4971161"/>
            <a:ext cx="6248400" cy="9836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18,3% на финереноне, 9,0% на плацебо.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Окончательная отмена из-за неё: 2,3% и 0,9%.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Смертельных исходов гиперкалиемии не было.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до начала, через 4 недели после начала или повышения дозы, далее периодически.</a:t>
            </a:r>
          </a:p>
        </p:txBody>
      </p:sp>
    </p:spTree>
    <p:extLst>
      <p:ext uri="{BB962C8B-B14F-4D97-AF65-F5344CB8AC3E}">
        <p14:creationId xmlns:p14="http://schemas.microsoft.com/office/powerpoint/2010/main" val="2050906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FF3BA72-B0D8-45FE-9285-D1CC9D7BBE8F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FIGARO-DKD: риск сердечно-сосудистых событий ниже на 13% по сравнению с плацебо, основной вклад дали госпитализации по поводу сердечной недостаточности (ниже на 29%)</a:t>
            </a:r>
            <a:endParaRPr lang="ru-RU" sz="2000" b="0" dirty="0"/>
          </a:p>
        </p:txBody>
      </p:sp>
      <p:sp>
        <p:nvSpPr>
          <p:cNvPr id="11" name="study_population">
            <a:extLst>
              <a:ext uri="{FF2B5EF4-FFF2-40B4-BE49-F238E27FC236}">
                <a16:creationId xmlns:a16="http://schemas.microsoft.com/office/drawing/2014/main" id="{E3A1111F-3EA2-4D57-9FD0-31AB1A53EDCC}"/>
              </a:ext>
            </a:extLst>
          </p:cNvPr>
          <p:cNvSpPr>
            <a:spLocks noGrp="1"/>
          </p:cNvSpPr>
          <p:nvPr/>
        </p:nvSpPr>
        <p:spPr>
          <a:xfrm>
            <a:off x="457200" y="863600"/>
            <a:ext cx="10896600" cy="838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7352 пациента в анализе (7437 рандомизированы). Хроническая болезнь почек и сахарный диабет 2 типа: 2–4-я стадия с умеренно повышенной альбуминурией или 1–2-я стадия с выраженной альбуминурией.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 xml:space="preserve"> финеренон или плацебо на фоне ИАПФ или БРА в максимально переносимой дозе.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Наблюдение: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медиана 3,4 года.</a:t>
            </a:r>
          </a:p>
        </p:txBody>
      </p:sp>
      <p:sp>
        <p:nvSpPr>
          <p:cNvPr id="12" name="primary_endpoint">
            <a:extLst>
              <a:ext uri="{FF2B5EF4-FFF2-40B4-BE49-F238E27FC236}">
                <a16:creationId xmlns:a16="http://schemas.microsoft.com/office/drawing/2014/main" id="{1F1DDD6A-DD43-4C2F-ABA0-C6149359DD00}"/>
              </a:ext>
            </a:extLst>
          </p:cNvPr>
          <p:cNvSpPr>
            <a:spLocks noGrp="1"/>
          </p:cNvSpPr>
          <p:nvPr/>
        </p:nvSpPr>
        <p:spPr>
          <a:xfrm>
            <a:off x="457200" y="1628775"/>
            <a:ext cx="108966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Первичный исход:</a:t>
            </a: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 сердечно-сосудистая смерть, нефатальный инфаркт, нефатальный инсульт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или госпитализация по поводу сердечной недостаточности.</a:t>
            </a:r>
          </a:p>
        </p:txBody>
      </p:sp>
      <p:sp>
        <p:nvSpPr>
          <p:cNvPr id="13" name="y_axis_title">
            <a:extLst>
              <a:ext uri="{FF2B5EF4-FFF2-40B4-BE49-F238E27FC236}">
                <a16:creationId xmlns:a16="http://schemas.microsoft.com/office/drawing/2014/main" id="{8D3AEAF6-E905-4F5B-AED1-774A48217E05}"/>
              </a:ext>
            </a:extLst>
          </p:cNvPr>
          <p:cNvSpPr>
            <a:spLocks noGrp="1"/>
          </p:cNvSpPr>
          <p:nvPr/>
        </p:nvSpPr>
        <p:spPr>
          <a:xfrm>
            <a:off x="457200" y="2136989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14" name="tick_y_0">
            <a:extLst>
              <a:ext uri="{FF2B5EF4-FFF2-40B4-BE49-F238E27FC236}">
                <a16:creationId xmlns:a16="http://schemas.microsoft.com/office/drawing/2014/main" id="{B81D150A-1886-4982-840D-6955CE4652BE}"/>
              </a:ext>
            </a:extLst>
          </p:cNvPr>
          <p:cNvSpPr>
            <a:spLocks noGrp="1"/>
          </p:cNvSpPr>
          <p:nvPr/>
        </p:nvSpPr>
        <p:spPr>
          <a:xfrm>
            <a:off x="815975" y="5298317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5" name="y_0">
            <a:extLst>
              <a:ext uri="{FF2B5EF4-FFF2-40B4-BE49-F238E27FC236}">
                <a16:creationId xmlns:a16="http://schemas.microsoft.com/office/drawing/2014/main" id="{DF37A337-F5C7-4BAD-A059-6158DD9ADC4C}"/>
              </a:ext>
            </a:extLst>
          </p:cNvPr>
          <p:cNvSpPr>
            <a:spLocks noGrp="1"/>
          </p:cNvSpPr>
          <p:nvPr/>
        </p:nvSpPr>
        <p:spPr>
          <a:xfrm>
            <a:off x="454025" y="5196443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6" name="grid_5">
            <a:extLst>
              <a:ext uri="{FF2B5EF4-FFF2-40B4-BE49-F238E27FC236}">
                <a16:creationId xmlns:a16="http://schemas.microsoft.com/office/drawing/2014/main" id="{8257106B-EE0F-4933-B6DA-BE351AF89ED9}"/>
              </a:ext>
            </a:extLst>
          </p:cNvPr>
          <p:cNvSpPr>
            <a:spLocks noGrp="1"/>
          </p:cNvSpPr>
          <p:nvPr/>
        </p:nvSpPr>
        <p:spPr>
          <a:xfrm>
            <a:off x="863600" y="4600531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tick_y_5">
            <a:extLst>
              <a:ext uri="{FF2B5EF4-FFF2-40B4-BE49-F238E27FC236}">
                <a16:creationId xmlns:a16="http://schemas.microsoft.com/office/drawing/2014/main" id="{A7977DF4-7F70-4377-AFD5-47F839A3116E}"/>
              </a:ext>
            </a:extLst>
          </p:cNvPr>
          <p:cNvSpPr>
            <a:spLocks noGrp="1"/>
          </p:cNvSpPr>
          <p:nvPr/>
        </p:nvSpPr>
        <p:spPr>
          <a:xfrm>
            <a:off x="815975" y="4600531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y_5">
            <a:extLst>
              <a:ext uri="{FF2B5EF4-FFF2-40B4-BE49-F238E27FC236}">
                <a16:creationId xmlns:a16="http://schemas.microsoft.com/office/drawing/2014/main" id="{CD67F6E7-7F12-43A1-9971-8C520BA2C8B3}"/>
              </a:ext>
            </a:extLst>
          </p:cNvPr>
          <p:cNvSpPr>
            <a:spLocks noGrp="1"/>
          </p:cNvSpPr>
          <p:nvPr/>
        </p:nvSpPr>
        <p:spPr>
          <a:xfrm>
            <a:off x="454025" y="4498657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19" name="grid_10">
            <a:extLst>
              <a:ext uri="{FF2B5EF4-FFF2-40B4-BE49-F238E27FC236}">
                <a16:creationId xmlns:a16="http://schemas.microsoft.com/office/drawing/2014/main" id="{10108394-CF3B-4F52-AB2D-8E1124E720BF}"/>
              </a:ext>
            </a:extLst>
          </p:cNvPr>
          <p:cNvSpPr>
            <a:spLocks noGrp="1"/>
          </p:cNvSpPr>
          <p:nvPr/>
        </p:nvSpPr>
        <p:spPr>
          <a:xfrm>
            <a:off x="863600" y="3902744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tick_y_10">
            <a:extLst>
              <a:ext uri="{FF2B5EF4-FFF2-40B4-BE49-F238E27FC236}">
                <a16:creationId xmlns:a16="http://schemas.microsoft.com/office/drawing/2014/main" id="{155DE1D5-79B1-4293-8BD1-F1881DC2178C}"/>
              </a:ext>
            </a:extLst>
          </p:cNvPr>
          <p:cNvSpPr>
            <a:spLocks noGrp="1"/>
          </p:cNvSpPr>
          <p:nvPr/>
        </p:nvSpPr>
        <p:spPr>
          <a:xfrm>
            <a:off x="815975" y="3902744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y_10">
            <a:extLst>
              <a:ext uri="{FF2B5EF4-FFF2-40B4-BE49-F238E27FC236}">
                <a16:creationId xmlns:a16="http://schemas.microsoft.com/office/drawing/2014/main" id="{7C41A6E8-B47C-4013-AA87-DDBC1B612ED3}"/>
              </a:ext>
            </a:extLst>
          </p:cNvPr>
          <p:cNvSpPr>
            <a:spLocks noGrp="1"/>
          </p:cNvSpPr>
          <p:nvPr/>
        </p:nvSpPr>
        <p:spPr>
          <a:xfrm>
            <a:off x="454025" y="3800869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22" name="grid_15">
            <a:extLst>
              <a:ext uri="{FF2B5EF4-FFF2-40B4-BE49-F238E27FC236}">
                <a16:creationId xmlns:a16="http://schemas.microsoft.com/office/drawing/2014/main" id="{8A7873B4-978A-40A7-874C-1B44F9263C7B}"/>
              </a:ext>
            </a:extLst>
          </p:cNvPr>
          <p:cNvSpPr>
            <a:spLocks noGrp="1"/>
          </p:cNvSpPr>
          <p:nvPr/>
        </p:nvSpPr>
        <p:spPr>
          <a:xfrm>
            <a:off x="863600" y="3204958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tick_y_15">
            <a:extLst>
              <a:ext uri="{FF2B5EF4-FFF2-40B4-BE49-F238E27FC236}">
                <a16:creationId xmlns:a16="http://schemas.microsoft.com/office/drawing/2014/main" id="{ADE9F592-BDB9-43E6-99BC-14591E62B9AD}"/>
              </a:ext>
            </a:extLst>
          </p:cNvPr>
          <p:cNvSpPr>
            <a:spLocks noGrp="1"/>
          </p:cNvSpPr>
          <p:nvPr/>
        </p:nvSpPr>
        <p:spPr>
          <a:xfrm>
            <a:off x="815975" y="3204958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y_15">
            <a:extLst>
              <a:ext uri="{FF2B5EF4-FFF2-40B4-BE49-F238E27FC236}">
                <a16:creationId xmlns:a16="http://schemas.microsoft.com/office/drawing/2014/main" id="{3BB630D3-F31B-4B0A-954B-BC2BFA46A159}"/>
              </a:ext>
            </a:extLst>
          </p:cNvPr>
          <p:cNvSpPr>
            <a:spLocks noGrp="1"/>
          </p:cNvSpPr>
          <p:nvPr/>
        </p:nvSpPr>
        <p:spPr>
          <a:xfrm>
            <a:off x="454025" y="3103085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25" name="grid_20">
            <a:extLst>
              <a:ext uri="{FF2B5EF4-FFF2-40B4-BE49-F238E27FC236}">
                <a16:creationId xmlns:a16="http://schemas.microsoft.com/office/drawing/2014/main" id="{38E8FFAF-5D51-49C4-9FCB-260ACC6E3764}"/>
              </a:ext>
            </a:extLst>
          </p:cNvPr>
          <p:cNvSpPr>
            <a:spLocks noGrp="1"/>
          </p:cNvSpPr>
          <p:nvPr/>
        </p:nvSpPr>
        <p:spPr>
          <a:xfrm>
            <a:off x="863600" y="2507170"/>
            <a:ext cx="4036149" cy="86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tick_y_20">
            <a:extLst>
              <a:ext uri="{FF2B5EF4-FFF2-40B4-BE49-F238E27FC236}">
                <a16:creationId xmlns:a16="http://schemas.microsoft.com/office/drawing/2014/main" id="{2A60D0BE-9C0B-46D2-9601-B571EAAA6091}"/>
              </a:ext>
            </a:extLst>
          </p:cNvPr>
          <p:cNvSpPr>
            <a:spLocks noGrp="1"/>
          </p:cNvSpPr>
          <p:nvPr/>
        </p:nvSpPr>
        <p:spPr>
          <a:xfrm>
            <a:off x="815975" y="2507170"/>
            <a:ext cx="47625" cy="86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y_20">
            <a:extLst>
              <a:ext uri="{FF2B5EF4-FFF2-40B4-BE49-F238E27FC236}">
                <a16:creationId xmlns:a16="http://schemas.microsoft.com/office/drawing/2014/main" id="{1091B3C2-D3B1-43BE-A9F6-554B0FE27870}"/>
              </a:ext>
            </a:extLst>
          </p:cNvPr>
          <p:cNvSpPr>
            <a:spLocks noGrp="1"/>
          </p:cNvSpPr>
          <p:nvPr/>
        </p:nvSpPr>
        <p:spPr>
          <a:xfrm>
            <a:off x="454025" y="2405298"/>
            <a:ext cx="3333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28" name="y_axis">
            <a:extLst>
              <a:ext uri="{FF2B5EF4-FFF2-40B4-BE49-F238E27FC236}">
                <a16:creationId xmlns:a16="http://schemas.microsoft.com/office/drawing/2014/main" id="{89D41974-0547-4584-8F66-3236F8336208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95" cy="279114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x_axis">
            <a:extLst>
              <a:ext uri="{FF2B5EF4-FFF2-40B4-BE49-F238E27FC236}">
                <a16:creationId xmlns:a16="http://schemas.microsoft.com/office/drawing/2014/main" id="{A7B1F724-4B0A-47E5-8C61-5276E78C2413}"/>
              </a:ext>
            </a:extLst>
          </p:cNvPr>
          <p:cNvSpPr>
            <a:spLocks noGrp="1"/>
          </p:cNvSpPr>
          <p:nvPr/>
        </p:nvSpPr>
        <p:spPr>
          <a:xfrm>
            <a:off x="863600" y="5295900"/>
            <a:ext cx="4036149" cy="86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tick_x_0">
            <a:extLst>
              <a:ext uri="{FF2B5EF4-FFF2-40B4-BE49-F238E27FC236}">
                <a16:creationId xmlns:a16="http://schemas.microsoft.com/office/drawing/2014/main" id="{2A939209-0B5D-439E-A5F6-A0618C78C9B7}"/>
              </a:ext>
            </a:extLst>
          </p:cNvPr>
          <p:cNvSpPr>
            <a:spLocks noGrp="1"/>
          </p:cNvSpPr>
          <p:nvPr/>
        </p:nvSpPr>
        <p:spPr>
          <a:xfrm>
            <a:off x="86605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month_0">
            <a:extLst>
              <a:ext uri="{FF2B5EF4-FFF2-40B4-BE49-F238E27FC236}">
                <a16:creationId xmlns:a16="http://schemas.microsoft.com/office/drawing/2014/main" id="{78E97BD4-E634-4D76-95EA-AFD8182BB71B}"/>
              </a:ext>
            </a:extLst>
          </p:cNvPr>
          <p:cNvSpPr>
            <a:spLocks noGrp="1"/>
          </p:cNvSpPr>
          <p:nvPr/>
        </p:nvSpPr>
        <p:spPr>
          <a:xfrm>
            <a:off x="64697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32" name="tick_x_6">
            <a:extLst>
              <a:ext uri="{FF2B5EF4-FFF2-40B4-BE49-F238E27FC236}">
                <a16:creationId xmlns:a16="http://schemas.microsoft.com/office/drawing/2014/main" id="{83E75F65-5D8A-42EE-8D38-832AD3EE1770}"/>
              </a:ext>
            </a:extLst>
          </p:cNvPr>
          <p:cNvSpPr>
            <a:spLocks noGrp="1"/>
          </p:cNvSpPr>
          <p:nvPr/>
        </p:nvSpPr>
        <p:spPr>
          <a:xfrm>
            <a:off x="1314511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month_6">
            <a:extLst>
              <a:ext uri="{FF2B5EF4-FFF2-40B4-BE49-F238E27FC236}">
                <a16:creationId xmlns:a16="http://schemas.microsoft.com/office/drawing/2014/main" id="{B5B59FF1-6063-4477-9A96-7CD912BF963D}"/>
              </a:ext>
            </a:extLst>
          </p:cNvPr>
          <p:cNvSpPr>
            <a:spLocks noGrp="1"/>
          </p:cNvSpPr>
          <p:nvPr/>
        </p:nvSpPr>
        <p:spPr>
          <a:xfrm>
            <a:off x="1095436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34" name="tick_x_12">
            <a:extLst>
              <a:ext uri="{FF2B5EF4-FFF2-40B4-BE49-F238E27FC236}">
                <a16:creationId xmlns:a16="http://schemas.microsoft.com/office/drawing/2014/main" id="{79BCE497-964E-4163-A333-8BB8B91D6A61}"/>
              </a:ext>
            </a:extLst>
          </p:cNvPr>
          <p:cNvSpPr>
            <a:spLocks noGrp="1"/>
          </p:cNvSpPr>
          <p:nvPr/>
        </p:nvSpPr>
        <p:spPr>
          <a:xfrm>
            <a:off x="1762972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month_12">
            <a:extLst>
              <a:ext uri="{FF2B5EF4-FFF2-40B4-BE49-F238E27FC236}">
                <a16:creationId xmlns:a16="http://schemas.microsoft.com/office/drawing/2014/main" id="{3ABE8BE6-B2E5-4BAC-B6F7-A6E945914A51}"/>
              </a:ext>
            </a:extLst>
          </p:cNvPr>
          <p:cNvSpPr>
            <a:spLocks noGrp="1"/>
          </p:cNvSpPr>
          <p:nvPr/>
        </p:nvSpPr>
        <p:spPr>
          <a:xfrm>
            <a:off x="1543897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36" name="tick_x_18">
            <a:extLst>
              <a:ext uri="{FF2B5EF4-FFF2-40B4-BE49-F238E27FC236}">
                <a16:creationId xmlns:a16="http://schemas.microsoft.com/office/drawing/2014/main" id="{C3C79B5F-5F7D-4AD3-AD00-56E6BCF23243}"/>
              </a:ext>
            </a:extLst>
          </p:cNvPr>
          <p:cNvSpPr>
            <a:spLocks noGrp="1"/>
          </p:cNvSpPr>
          <p:nvPr/>
        </p:nvSpPr>
        <p:spPr>
          <a:xfrm>
            <a:off x="2211433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month_18">
            <a:extLst>
              <a:ext uri="{FF2B5EF4-FFF2-40B4-BE49-F238E27FC236}">
                <a16:creationId xmlns:a16="http://schemas.microsoft.com/office/drawing/2014/main" id="{A3A7C89E-ADC3-482F-8ECC-0E5F5DDBAE89}"/>
              </a:ext>
            </a:extLst>
          </p:cNvPr>
          <p:cNvSpPr>
            <a:spLocks noGrp="1"/>
          </p:cNvSpPr>
          <p:nvPr/>
        </p:nvSpPr>
        <p:spPr>
          <a:xfrm>
            <a:off x="1992358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38" name="tick_x_24">
            <a:extLst>
              <a:ext uri="{FF2B5EF4-FFF2-40B4-BE49-F238E27FC236}">
                <a16:creationId xmlns:a16="http://schemas.microsoft.com/office/drawing/2014/main" id="{BDE21C57-6A4D-4F5E-8B28-F6064E8B859A}"/>
              </a:ext>
            </a:extLst>
          </p:cNvPr>
          <p:cNvSpPr>
            <a:spLocks noGrp="1"/>
          </p:cNvSpPr>
          <p:nvPr/>
        </p:nvSpPr>
        <p:spPr>
          <a:xfrm>
            <a:off x="2659894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month_24">
            <a:extLst>
              <a:ext uri="{FF2B5EF4-FFF2-40B4-BE49-F238E27FC236}">
                <a16:creationId xmlns:a16="http://schemas.microsoft.com/office/drawing/2014/main" id="{CD72529C-56BA-4D24-A5AB-DA75F1F19D94}"/>
              </a:ext>
            </a:extLst>
          </p:cNvPr>
          <p:cNvSpPr>
            <a:spLocks noGrp="1"/>
          </p:cNvSpPr>
          <p:nvPr/>
        </p:nvSpPr>
        <p:spPr>
          <a:xfrm>
            <a:off x="2440819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40" name="tick_x_30">
            <a:extLst>
              <a:ext uri="{FF2B5EF4-FFF2-40B4-BE49-F238E27FC236}">
                <a16:creationId xmlns:a16="http://schemas.microsoft.com/office/drawing/2014/main" id="{FBEA1FD1-1B71-4A80-BC25-B28D82E0AF63}"/>
              </a:ext>
            </a:extLst>
          </p:cNvPr>
          <p:cNvSpPr>
            <a:spLocks noGrp="1"/>
          </p:cNvSpPr>
          <p:nvPr/>
        </p:nvSpPr>
        <p:spPr>
          <a:xfrm>
            <a:off x="3108355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month_30">
            <a:extLst>
              <a:ext uri="{FF2B5EF4-FFF2-40B4-BE49-F238E27FC236}">
                <a16:creationId xmlns:a16="http://schemas.microsoft.com/office/drawing/2014/main" id="{022FFDFC-B480-4100-922D-94C0B18EFDDC}"/>
              </a:ext>
            </a:extLst>
          </p:cNvPr>
          <p:cNvSpPr>
            <a:spLocks noGrp="1"/>
          </p:cNvSpPr>
          <p:nvPr/>
        </p:nvSpPr>
        <p:spPr>
          <a:xfrm>
            <a:off x="2889280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42" name="tick_x_36">
            <a:extLst>
              <a:ext uri="{FF2B5EF4-FFF2-40B4-BE49-F238E27FC236}">
                <a16:creationId xmlns:a16="http://schemas.microsoft.com/office/drawing/2014/main" id="{BE09E92F-8A96-4907-BA94-C1F0D97CCCDC}"/>
              </a:ext>
            </a:extLst>
          </p:cNvPr>
          <p:cNvSpPr>
            <a:spLocks noGrp="1"/>
          </p:cNvSpPr>
          <p:nvPr/>
        </p:nvSpPr>
        <p:spPr>
          <a:xfrm>
            <a:off x="3556816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month_36">
            <a:extLst>
              <a:ext uri="{FF2B5EF4-FFF2-40B4-BE49-F238E27FC236}">
                <a16:creationId xmlns:a16="http://schemas.microsoft.com/office/drawing/2014/main" id="{9C99D548-B422-4FEC-8D23-2E8DC238EED0}"/>
              </a:ext>
            </a:extLst>
          </p:cNvPr>
          <p:cNvSpPr>
            <a:spLocks noGrp="1"/>
          </p:cNvSpPr>
          <p:nvPr/>
        </p:nvSpPr>
        <p:spPr>
          <a:xfrm>
            <a:off x="3337741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44" name="tick_x_42">
            <a:extLst>
              <a:ext uri="{FF2B5EF4-FFF2-40B4-BE49-F238E27FC236}">
                <a16:creationId xmlns:a16="http://schemas.microsoft.com/office/drawing/2014/main" id="{5CFF1E26-251B-4CFD-8DFB-03A9370BC1A0}"/>
              </a:ext>
            </a:extLst>
          </p:cNvPr>
          <p:cNvSpPr>
            <a:spLocks noGrp="1"/>
          </p:cNvSpPr>
          <p:nvPr/>
        </p:nvSpPr>
        <p:spPr>
          <a:xfrm>
            <a:off x="4005277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month_42">
            <a:extLst>
              <a:ext uri="{FF2B5EF4-FFF2-40B4-BE49-F238E27FC236}">
                <a16:creationId xmlns:a16="http://schemas.microsoft.com/office/drawing/2014/main" id="{1DC1AD23-D30A-4B86-BBF8-0C86FB665D8E}"/>
              </a:ext>
            </a:extLst>
          </p:cNvPr>
          <p:cNvSpPr>
            <a:spLocks noGrp="1"/>
          </p:cNvSpPr>
          <p:nvPr/>
        </p:nvSpPr>
        <p:spPr>
          <a:xfrm>
            <a:off x="3786202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46" name="tick_x_48">
            <a:extLst>
              <a:ext uri="{FF2B5EF4-FFF2-40B4-BE49-F238E27FC236}">
                <a16:creationId xmlns:a16="http://schemas.microsoft.com/office/drawing/2014/main" id="{E922E68C-B8AC-4718-B3C8-BFBC403FA4AF}"/>
              </a:ext>
            </a:extLst>
          </p:cNvPr>
          <p:cNvSpPr>
            <a:spLocks noGrp="1"/>
          </p:cNvSpPr>
          <p:nvPr/>
        </p:nvSpPr>
        <p:spPr>
          <a:xfrm>
            <a:off x="4453738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month_48">
            <a:extLst>
              <a:ext uri="{FF2B5EF4-FFF2-40B4-BE49-F238E27FC236}">
                <a16:creationId xmlns:a16="http://schemas.microsoft.com/office/drawing/2014/main" id="{0B6CA2B9-77A5-4CD6-93B9-A2E29D9B63A5}"/>
              </a:ext>
            </a:extLst>
          </p:cNvPr>
          <p:cNvSpPr>
            <a:spLocks noGrp="1"/>
          </p:cNvSpPr>
          <p:nvPr/>
        </p:nvSpPr>
        <p:spPr>
          <a:xfrm>
            <a:off x="4234663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48" name="tick_x_54">
            <a:extLst>
              <a:ext uri="{FF2B5EF4-FFF2-40B4-BE49-F238E27FC236}">
                <a16:creationId xmlns:a16="http://schemas.microsoft.com/office/drawing/2014/main" id="{83C3C37D-3032-4E88-B483-2953CC6B940B}"/>
              </a:ext>
            </a:extLst>
          </p:cNvPr>
          <p:cNvSpPr>
            <a:spLocks noGrp="1"/>
          </p:cNvSpPr>
          <p:nvPr/>
        </p:nvSpPr>
        <p:spPr>
          <a:xfrm>
            <a:off x="4902200" y="5304758"/>
            <a:ext cx="95" cy="52007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month_54">
            <a:extLst>
              <a:ext uri="{FF2B5EF4-FFF2-40B4-BE49-F238E27FC236}">
                <a16:creationId xmlns:a16="http://schemas.microsoft.com/office/drawing/2014/main" id="{E204C86D-C046-4C51-B775-7D0DB5947CD0}"/>
              </a:ext>
            </a:extLst>
          </p:cNvPr>
          <p:cNvSpPr>
            <a:spLocks noGrp="1"/>
          </p:cNvSpPr>
          <p:nvPr/>
        </p:nvSpPr>
        <p:spPr>
          <a:xfrm>
            <a:off x="4683125" y="5422555"/>
            <a:ext cx="4381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54</a:t>
            </a:r>
          </a:p>
        </p:txBody>
      </p:sp>
      <p:sp>
        <p:nvSpPr>
          <p:cNvPr id="50" name="published_curve_Плацебо">
            <a:extLst>
              <a:ext uri="{FF2B5EF4-FFF2-40B4-BE49-F238E27FC236}">
                <a16:creationId xmlns:a16="http://schemas.microsoft.com/office/drawing/2014/main" id="{34666DD0-E87B-4AAF-9CAC-BEC74C81149F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6149" cy="2791146"/>
          </a:xfrm>
          <a:custGeom>
            <a:avLst/>
            <a:gdLst/>
            <a:ahLst/>
            <a:cxnLst/>
            <a:rect l="0" t="0" r="0" b="0"/>
            <a:pathLst>
              <a:path w="5229225" h="2457450">
                <a:moveTo>
                  <a:pt x="4148" y="2456202"/>
                </a:moveTo>
                <a:lnTo>
                  <a:pt x="7390" y="2456202"/>
                </a:lnTo>
                <a:lnTo>
                  <a:pt x="7390" y="2452838"/>
                </a:lnTo>
                <a:lnTo>
                  <a:pt x="10607" y="2452838"/>
                </a:lnTo>
                <a:lnTo>
                  <a:pt x="13849" y="2452838"/>
                </a:lnTo>
                <a:lnTo>
                  <a:pt x="17066" y="2452838"/>
                </a:lnTo>
                <a:lnTo>
                  <a:pt x="17066" y="2449475"/>
                </a:lnTo>
                <a:lnTo>
                  <a:pt x="20309" y="2449475"/>
                </a:lnTo>
                <a:lnTo>
                  <a:pt x="20309" y="2446133"/>
                </a:lnTo>
                <a:lnTo>
                  <a:pt x="23551" y="2446133"/>
                </a:lnTo>
                <a:lnTo>
                  <a:pt x="26768" y="2446133"/>
                </a:lnTo>
                <a:lnTo>
                  <a:pt x="26768" y="2442790"/>
                </a:lnTo>
                <a:lnTo>
                  <a:pt x="30010" y="2442790"/>
                </a:lnTo>
                <a:lnTo>
                  <a:pt x="33253" y="2442790"/>
                </a:lnTo>
                <a:lnTo>
                  <a:pt x="36392" y="2442790"/>
                </a:lnTo>
                <a:lnTo>
                  <a:pt x="36392" y="2439470"/>
                </a:lnTo>
                <a:lnTo>
                  <a:pt x="39634" y="2439470"/>
                </a:lnTo>
                <a:lnTo>
                  <a:pt x="42825" y="2439470"/>
                </a:lnTo>
                <a:lnTo>
                  <a:pt x="42825" y="2436127"/>
                </a:lnTo>
                <a:lnTo>
                  <a:pt x="46093" y="2436127"/>
                </a:lnTo>
                <a:lnTo>
                  <a:pt x="46093" y="2426037"/>
                </a:lnTo>
                <a:lnTo>
                  <a:pt x="49310" y="2426058"/>
                </a:lnTo>
                <a:lnTo>
                  <a:pt x="49310" y="2422695"/>
                </a:lnTo>
                <a:lnTo>
                  <a:pt x="52552" y="2422695"/>
                </a:lnTo>
                <a:lnTo>
                  <a:pt x="55795" y="2422695"/>
                </a:lnTo>
                <a:lnTo>
                  <a:pt x="59038" y="2422695"/>
                </a:lnTo>
                <a:lnTo>
                  <a:pt x="62254" y="2422695"/>
                </a:lnTo>
                <a:lnTo>
                  <a:pt x="65497" y="2422695"/>
                </a:lnTo>
                <a:lnTo>
                  <a:pt x="68713" y="2422717"/>
                </a:lnTo>
                <a:lnTo>
                  <a:pt x="68713" y="2419395"/>
                </a:lnTo>
                <a:lnTo>
                  <a:pt x="71956" y="2419395"/>
                </a:lnTo>
                <a:lnTo>
                  <a:pt x="71956" y="2416053"/>
                </a:lnTo>
                <a:lnTo>
                  <a:pt x="75198" y="2416053"/>
                </a:lnTo>
                <a:lnTo>
                  <a:pt x="78337" y="2416053"/>
                </a:lnTo>
                <a:lnTo>
                  <a:pt x="78337" y="2412690"/>
                </a:lnTo>
                <a:lnTo>
                  <a:pt x="81580" y="2412690"/>
                </a:lnTo>
                <a:lnTo>
                  <a:pt x="81580" y="2409326"/>
                </a:lnTo>
                <a:lnTo>
                  <a:pt x="84796" y="2409326"/>
                </a:lnTo>
                <a:lnTo>
                  <a:pt x="88039" y="2409326"/>
                </a:lnTo>
                <a:lnTo>
                  <a:pt x="88039" y="2405985"/>
                </a:lnTo>
                <a:lnTo>
                  <a:pt x="91281" y="2405985"/>
                </a:lnTo>
                <a:lnTo>
                  <a:pt x="91281" y="2402600"/>
                </a:lnTo>
                <a:lnTo>
                  <a:pt x="94498" y="2402621"/>
                </a:lnTo>
                <a:lnTo>
                  <a:pt x="97741" y="2402621"/>
                </a:lnTo>
                <a:lnTo>
                  <a:pt x="100957" y="2402621"/>
                </a:lnTo>
                <a:lnTo>
                  <a:pt x="104200" y="2402621"/>
                </a:lnTo>
                <a:lnTo>
                  <a:pt x="107416" y="2402621"/>
                </a:lnTo>
                <a:lnTo>
                  <a:pt x="110659" y="2402621"/>
                </a:lnTo>
                <a:lnTo>
                  <a:pt x="113902" y="2402621"/>
                </a:lnTo>
                <a:lnTo>
                  <a:pt x="117144" y="2402621"/>
                </a:lnTo>
                <a:lnTo>
                  <a:pt x="120283" y="2402621"/>
                </a:lnTo>
                <a:lnTo>
                  <a:pt x="120283" y="2399300"/>
                </a:lnTo>
                <a:lnTo>
                  <a:pt x="123551" y="2399300"/>
                </a:lnTo>
                <a:lnTo>
                  <a:pt x="126768" y="2399300"/>
                </a:lnTo>
                <a:lnTo>
                  <a:pt x="129984" y="2399300"/>
                </a:lnTo>
                <a:lnTo>
                  <a:pt x="133227" y="2399300"/>
                </a:lnTo>
                <a:lnTo>
                  <a:pt x="136444" y="2399300"/>
                </a:lnTo>
                <a:lnTo>
                  <a:pt x="136444" y="2392616"/>
                </a:lnTo>
                <a:lnTo>
                  <a:pt x="139686" y="2392616"/>
                </a:lnTo>
                <a:lnTo>
                  <a:pt x="142929" y="2392616"/>
                </a:lnTo>
                <a:lnTo>
                  <a:pt x="146145" y="2392616"/>
                </a:lnTo>
                <a:lnTo>
                  <a:pt x="149388" y="2392637"/>
                </a:lnTo>
                <a:lnTo>
                  <a:pt x="149388" y="2389273"/>
                </a:lnTo>
                <a:lnTo>
                  <a:pt x="152605" y="2389273"/>
                </a:lnTo>
                <a:lnTo>
                  <a:pt x="152605" y="2385910"/>
                </a:lnTo>
                <a:lnTo>
                  <a:pt x="155821" y="2385910"/>
                </a:lnTo>
                <a:lnTo>
                  <a:pt x="159090" y="2385910"/>
                </a:lnTo>
                <a:lnTo>
                  <a:pt x="162228" y="2385910"/>
                </a:lnTo>
                <a:lnTo>
                  <a:pt x="162228" y="2382568"/>
                </a:lnTo>
                <a:lnTo>
                  <a:pt x="165471" y="2382589"/>
                </a:lnTo>
                <a:lnTo>
                  <a:pt x="168713" y="2382589"/>
                </a:lnTo>
                <a:lnTo>
                  <a:pt x="168713" y="2379205"/>
                </a:lnTo>
                <a:lnTo>
                  <a:pt x="171930" y="2379205"/>
                </a:lnTo>
                <a:lnTo>
                  <a:pt x="175173" y="2379226"/>
                </a:lnTo>
                <a:lnTo>
                  <a:pt x="178389" y="2379226"/>
                </a:lnTo>
                <a:lnTo>
                  <a:pt x="181632" y="2379226"/>
                </a:lnTo>
                <a:lnTo>
                  <a:pt x="184874" y="2379226"/>
                </a:lnTo>
                <a:lnTo>
                  <a:pt x="184874" y="2372563"/>
                </a:lnTo>
                <a:lnTo>
                  <a:pt x="188091" y="2372563"/>
                </a:lnTo>
                <a:lnTo>
                  <a:pt x="191334" y="2372563"/>
                </a:lnTo>
                <a:lnTo>
                  <a:pt x="194576" y="2372563"/>
                </a:lnTo>
                <a:lnTo>
                  <a:pt x="197793" y="2372563"/>
                </a:lnTo>
                <a:lnTo>
                  <a:pt x="197793" y="2369220"/>
                </a:lnTo>
                <a:lnTo>
                  <a:pt x="200958" y="2369220"/>
                </a:lnTo>
                <a:lnTo>
                  <a:pt x="204148" y="2369220"/>
                </a:lnTo>
                <a:lnTo>
                  <a:pt x="207416" y="2369220"/>
                </a:lnTo>
                <a:lnTo>
                  <a:pt x="210633" y="2369242"/>
                </a:lnTo>
                <a:lnTo>
                  <a:pt x="213876" y="2369242"/>
                </a:lnTo>
                <a:lnTo>
                  <a:pt x="213876" y="2362494"/>
                </a:lnTo>
                <a:lnTo>
                  <a:pt x="217118" y="2362494"/>
                </a:lnTo>
                <a:lnTo>
                  <a:pt x="220335" y="2362515"/>
                </a:lnTo>
                <a:lnTo>
                  <a:pt x="223577" y="2362515"/>
                </a:lnTo>
                <a:lnTo>
                  <a:pt x="226820" y="2362515"/>
                </a:lnTo>
                <a:lnTo>
                  <a:pt x="226820" y="2355788"/>
                </a:lnTo>
                <a:lnTo>
                  <a:pt x="230037" y="2355788"/>
                </a:lnTo>
                <a:lnTo>
                  <a:pt x="230037" y="2352510"/>
                </a:lnTo>
                <a:lnTo>
                  <a:pt x="233279" y="2352510"/>
                </a:lnTo>
                <a:lnTo>
                  <a:pt x="236522" y="2352510"/>
                </a:lnTo>
                <a:lnTo>
                  <a:pt x="239738" y="2352510"/>
                </a:lnTo>
                <a:lnTo>
                  <a:pt x="242903" y="2352510"/>
                </a:lnTo>
                <a:lnTo>
                  <a:pt x="246120" y="2352510"/>
                </a:lnTo>
                <a:lnTo>
                  <a:pt x="249362" y="2352510"/>
                </a:lnTo>
                <a:lnTo>
                  <a:pt x="252605" y="2352531"/>
                </a:lnTo>
                <a:lnTo>
                  <a:pt x="255795" y="2352531"/>
                </a:lnTo>
                <a:lnTo>
                  <a:pt x="259064" y="2352531"/>
                </a:lnTo>
                <a:lnTo>
                  <a:pt x="262280" y="2352531"/>
                </a:lnTo>
                <a:lnTo>
                  <a:pt x="265523" y="2352531"/>
                </a:lnTo>
                <a:lnTo>
                  <a:pt x="268739" y="2352531"/>
                </a:lnTo>
                <a:lnTo>
                  <a:pt x="271982" y="2352531"/>
                </a:lnTo>
                <a:lnTo>
                  <a:pt x="275225" y="2352531"/>
                </a:lnTo>
                <a:lnTo>
                  <a:pt x="278467" y="2352531"/>
                </a:lnTo>
                <a:lnTo>
                  <a:pt x="278467" y="2349167"/>
                </a:lnTo>
                <a:lnTo>
                  <a:pt x="281684" y="2349167"/>
                </a:lnTo>
                <a:lnTo>
                  <a:pt x="281684" y="2345804"/>
                </a:lnTo>
                <a:lnTo>
                  <a:pt x="284848" y="2345804"/>
                </a:lnTo>
                <a:lnTo>
                  <a:pt x="288065" y="2345804"/>
                </a:lnTo>
                <a:lnTo>
                  <a:pt x="288065" y="2339099"/>
                </a:lnTo>
                <a:lnTo>
                  <a:pt x="291308" y="2339099"/>
                </a:lnTo>
                <a:lnTo>
                  <a:pt x="294550" y="2339099"/>
                </a:lnTo>
                <a:lnTo>
                  <a:pt x="294550" y="2335735"/>
                </a:lnTo>
                <a:lnTo>
                  <a:pt x="297767" y="2335735"/>
                </a:lnTo>
                <a:lnTo>
                  <a:pt x="297767" y="2332393"/>
                </a:lnTo>
                <a:lnTo>
                  <a:pt x="301009" y="2332393"/>
                </a:lnTo>
                <a:lnTo>
                  <a:pt x="304252" y="2332393"/>
                </a:lnTo>
                <a:lnTo>
                  <a:pt x="307468" y="2332393"/>
                </a:lnTo>
                <a:lnTo>
                  <a:pt x="310711" y="2332393"/>
                </a:lnTo>
                <a:lnTo>
                  <a:pt x="310711" y="2325709"/>
                </a:lnTo>
                <a:lnTo>
                  <a:pt x="313928" y="2325709"/>
                </a:lnTo>
                <a:lnTo>
                  <a:pt x="313928" y="2319024"/>
                </a:lnTo>
                <a:lnTo>
                  <a:pt x="317170" y="2319024"/>
                </a:lnTo>
                <a:lnTo>
                  <a:pt x="317170" y="2315661"/>
                </a:lnTo>
                <a:lnTo>
                  <a:pt x="320387" y="2315661"/>
                </a:lnTo>
                <a:lnTo>
                  <a:pt x="320387" y="2308934"/>
                </a:lnTo>
                <a:lnTo>
                  <a:pt x="323603" y="2308934"/>
                </a:lnTo>
                <a:lnTo>
                  <a:pt x="326794" y="2308934"/>
                </a:lnTo>
                <a:lnTo>
                  <a:pt x="326794" y="2305592"/>
                </a:lnTo>
                <a:lnTo>
                  <a:pt x="330037" y="2305592"/>
                </a:lnTo>
                <a:lnTo>
                  <a:pt x="330037" y="2302250"/>
                </a:lnTo>
                <a:lnTo>
                  <a:pt x="333253" y="2302250"/>
                </a:lnTo>
                <a:lnTo>
                  <a:pt x="333253" y="2295566"/>
                </a:lnTo>
                <a:lnTo>
                  <a:pt x="336496" y="2295566"/>
                </a:lnTo>
                <a:lnTo>
                  <a:pt x="339713" y="2295566"/>
                </a:lnTo>
                <a:lnTo>
                  <a:pt x="342955" y="2295566"/>
                </a:lnTo>
                <a:lnTo>
                  <a:pt x="346198" y="2295566"/>
                </a:lnTo>
                <a:lnTo>
                  <a:pt x="346198" y="2292202"/>
                </a:lnTo>
                <a:lnTo>
                  <a:pt x="349388" y="2292202"/>
                </a:lnTo>
                <a:lnTo>
                  <a:pt x="352657" y="2292224"/>
                </a:lnTo>
                <a:lnTo>
                  <a:pt x="352657" y="2288860"/>
                </a:lnTo>
                <a:lnTo>
                  <a:pt x="355847" y="2288860"/>
                </a:lnTo>
                <a:lnTo>
                  <a:pt x="355847" y="2285497"/>
                </a:lnTo>
                <a:lnTo>
                  <a:pt x="359116" y="2285497"/>
                </a:lnTo>
                <a:lnTo>
                  <a:pt x="362332" y="2285518"/>
                </a:lnTo>
                <a:lnTo>
                  <a:pt x="365471" y="2285518"/>
                </a:lnTo>
                <a:lnTo>
                  <a:pt x="368739" y="2285518"/>
                </a:lnTo>
                <a:lnTo>
                  <a:pt x="371956" y="2285518"/>
                </a:lnTo>
                <a:lnTo>
                  <a:pt x="375199" y="2285518"/>
                </a:lnTo>
                <a:lnTo>
                  <a:pt x="378441" y="2285518"/>
                </a:lnTo>
                <a:lnTo>
                  <a:pt x="381632" y="2285518"/>
                </a:lnTo>
                <a:lnTo>
                  <a:pt x="381632" y="2282176"/>
                </a:lnTo>
                <a:lnTo>
                  <a:pt x="384900" y="2282176"/>
                </a:lnTo>
                <a:lnTo>
                  <a:pt x="388143" y="2282176"/>
                </a:lnTo>
                <a:lnTo>
                  <a:pt x="388143" y="2278813"/>
                </a:lnTo>
                <a:lnTo>
                  <a:pt x="391360" y="2278813"/>
                </a:lnTo>
                <a:lnTo>
                  <a:pt x="391360" y="2272107"/>
                </a:lnTo>
                <a:lnTo>
                  <a:pt x="394602" y="2272107"/>
                </a:lnTo>
                <a:lnTo>
                  <a:pt x="397845" y="2272107"/>
                </a:lnTo>
                <a:lnTo>
                  <a:pt x="401061" y="2272107"/>
                </a:lnTo>
                <a:lnTo>
                  <a:pt x="404304" y="2272107"/>
                </a:lnTo>
                <a:lnTo>
                  <a:pt x="407443" y="2272107"/>
                </a:lnTo>
                <a:lnTo>
                  <a:pt x="410659" y="2272107"/>
                </a:lnTo>
                <a:lnTo>
                  <a:pt x="410659" y="2268744"/>
                </a:lnTo>
                <a:lnTo>
                  <a:pt x="413928" y="2268765"/>
                </a:lnTo>
                <a:lnTo>
                  <a:pt x="413928" y="2258738"/>
                </a:lnTo>
                <a:lnTo>
                  <a:pt x="417118" y="2258738"/>
                </a:lnTo>
                <a:lnTo>
                  <a:pt x="420387" y="2258738"/>
                </a:lnTo>
                <a:lnTo>
                  <a:pt x="420387" y="2255375"/>
                </a:lnTo>
                <a:lnTo>
                  <a:pt x="423578" y="2255375"/>
                </a:lnTo>
                <a:lnTo>
                  <a:pt x="426846" y="2255375"/>
                </a:lnTo>
                <a:lnTo>
                  <a:pt x="426846" y="2252033"/>
                </a:lnTo>
                <a:lnTo>
                  <a:pt x="430063" y="2252033"/>
                </a:lnTo>
                <a:lnTo>
                  <a:pt x="433305" y="2252033"/>
                </a:lnTo>
                <a:lnTo>
                  <a:pt x="436548" y="2252033"/>
                </a:lnTo>
                <a:lnTo>
                  <a:pt x="439764" y="2252033"/>
                </a:lnTo>
                <a:lnTo>
                  <a:pt x="443007" y="2252033"/>
                </a:lnTo>
                <a:lnTo>
                  <a:pt x="443007" y="2245328"/>
                </a:lnTo>
                <a:lnTo>
                  <a:pt x="446249" y="2245328"/>
                </a:lnTo>
                <a:lnTo>
                  <a:pt x="449388" y="2245328"/>
                </a:lnTo>
                <a:lnTo>
                  <a:pt x="452631" y="2245328"/>
                </a:lnTo>
                <a:lnTo>
                  <a:pt x="455873" y="2245328"/>
                </a:lnTo>
                <a:lnTo>
                  <a:pt x="459090" y="2245328"/>
                </a:lnTo>
                <a:lnTo>
                  <a:pt x="462332" y="2245328"/>
                </a:lnTo>
                <a:lnTo>
                  <a:pt x="465549" y="2245328"/>
                </a:lnTo>
                <a:lnTo>
                  <a:pt x="468792" y="2245328"/>
                </a:lnTo>
                <a:lnTo>
                  <a:pt x="468792" y="2241985"/>
                </a:lnTo>
                <a:lnTo>
                  <a:pt x="472034" y="2241985"/>
                </a:lnTo>
                <a:lnTo>
                  <a:pt x="475225" y="2241985"/>
                </a:lnTo>
                <a:lnTo>
                  <a:pt x="475225" y="2238622"/>
                </a:lnTo>
                <a:lnTo>
                  <a:pt x="478493" y="2238622"/>
                </a:lnTo>
                <a:lnTo>
                  <a:pt x="481710" y="2238643"/>
                </a:lnTo>
                <a:lnTo>
                  <a:pt x="484926" y="2238643"/>
                </a:lnTo>
                <a:lnTo>
                  <a:pt x="488169" y="2238643"/>
                </a:lnTo>
                <a:lnTo>
                  <a:pt x="488169" y="2235258"/>
                </a:lnTo>
                <a:lnTo>
                  <a:pt x="491334" y="2235258"/>
                </a:lnTo>
                <a:lnTo>
                  <a:pt x="491334" y="2231917"/>
                </a:lnTo>
                <a:lnTo>
                  <a:pt x="494577" y="2231917"/>
                </a:lnTo>
                <a:lnTo>
                  <a:pt x="497819" y="2231917"/>
                </a:lnTo>
                <a:lnTo>
                  <a:pt x="501036" y="2231917"/>
                </a:lnTo>
                <a:lnTo>
                  <a:pt x="504252" y="2231917"/>
                </a:lnTo>
                <a:lnTo>
                  <a:pt x="504252" y="2225211"/>
                </a:lnTo>
                <a:lnTo>
                  <a:pt x="507521" y="2225232"/>
                </a:lnTo>
                <a:lnTo>
                  <a:pt x="507521" y="2218484"/>
                </a:lnTo>
                <a:lnTo>
                  <a:pt x="510711" y="2218484"/>
                </a:lnTo>
                <a:lnTo>
                  <a:pt x="513980" y="2218484"/>
                </a:lnTo>
                <a:lnTo>
                  <a:pt x="517171" y="2218505"/>
                </a:lnTo>
                <a:lnTo>
                  <a:pt x="520439" y="2218505"/>
                </a:lnTo>
                <a:lnTo>
                  <a:pt x="523656" y="2218505"/>
                </a:lnTo>
                <a:lnTo>
                  <a:pt x="523656" y="2215185"/>
                </a:lnTo>
                <a:lnTo>
                  <a:pt x="526898" y="2215185"/>
                </a:lnTo>
                <a:lnTo>
                  <a:pt x="530115" y="2215185"/>
                </a:lnTo>
                <a:lnTo>
                  <a:pt x="533254" y="2215205"/>
                </a:lnTo>
                <a:lnTo>
                  <a:pt x="536496" y="2215205"/>
                </a:lnTo>
                <a:lnTo>
                  <a:pt x="536496" y="2211842"/>
                </a:lnTo>
                <a:lnTo>
                  <a:pt x="539764" y="2211842"/>
                </a:lnTo>
                <a:lnTo>
                  <a:pt x="539764" y="2208479"/>
                </a:lnTo>
                <a:lnTo>
                  <a:pt x="542955" y="2208500"/>
                </a:lnTo>
                <a:lnTo>
                  <a:pt x="542955" y="2205137"/>
                </a:lnTo>
                <a:lnTo>
                  <a:pt x="546224" y="2205137"/>
                </a:lnTo>
                <a:lnTo>
                  <a:pt x="546224" y="2201773"/>
                </a:lnTo>
                <a:lnTo>
                  <a:pt x="549466" y="2201773"/>
                </a:lnTo>
                <a:lnTo>
                  <a:pt x="552683" y="2201773"/>
                </a:lnTo>
                <a:lnTo>
                  <a:pt x="555925" y="2201773"/>
                </a:lnTo>
                <a:lnTo>
                  <a:pt x="559142" y="2201794"/>
                </a:lnTo>
                <a:lnTo>
                  <a:pt x="562385" y="2201794"/>
                </a:lnTo>
                <a:lnTo>
                  <a:pt x="562385" y="2198431"/>
                </a:lnTo>
                <a:lnTo>
                  <a:pt x="565627" y="2198431"/>
                </a:lnTo>
                <a:lnTo>
                  <a:pt x="565627" y="2191726"/>
                </a:lnTo>
                <a:lnTo>
                  <a:pt x="568818" y="2191726"/>
                </a:lnTo>
                <a:lnTo>
                  <a:pt x="568818" y="2188362"/>
                </a:lnTo>
                <a:lnTo>
                  <a:pt x="571982" y="2188362"/>
                </a:lnTo>
                <a:lnTo>
                  <a:pt x="575251" y="2188362"/>
                </a:lnTo>
                <a:lnTo>
                  <a:pt x="578442" y="2188362"/>
                </a:lnTo>
                <a:lnTo>
                  <a:pt x="581710" y="2188362"/>
                </a:lnTo>
                <a:lnTo>
                  <a:pt x="584901" y="2188384"/>
                </a:lnTo>
                <a:lnTo>
                  <a:pt x="584901" y="2185020"/>
                </a:lnTo>
                <a:lnTo>
                  <a:pt x="588169" y="2185020"/>
                </a:lnTo>
                <a:lnTo>
                  <a:pt x="591386" y="2185020"/>
                </a:lnTo>
                <a:lnTo>
                  <a:pt x="591386" y="2181657"/>
                </a:lnTo>
                <a:lnTo>
                  <a:pt x="594602" y="2181657"/>
                </a:lnTo>
                <a:lnTo>
                  <a:pt x="594602" y="2178315"/>
                </a:lnTo>
                <a:lnTo>
                  <a:pt x="597871" y="2178315"/>
                </a:lnTo>
                <a:lnTo>
                  <a:pt x="601062" y="2178315"/>
                </a:lnTo>
                <a:lnTo>
                  <a:pt x="601062" y="2171588"/>
                </a:lnTo>
                <a:lnTo>
                  <a:pt x="604330" y="2171588"/>
                </a:lnTo>
                <a:lnTo>
                  <a:pt x="607572" y="2171588"/>
                </a:lnTo>
                <a:lnTo>
                  <a:pt x="607572" y="2168246"/>
                </a:lnTo>
                <a:lnTo>
                  <a:pt x="610789" y="2168246"/>
                </a:lnTo>
                <a:lnTo>
                  <a:pt x="613954" y="2168246"/>
                </a:lnTo>
                <a:lnTo>
                  <a:pt x="617196" y="2168246"/>
                </a:lnTo>
                <a:lnTo>
                  <a:pt x="617196" y="2164904"/>
                </a:lnTo>
                <a:lnTo>
                  <a:pt x="620413" y="2164904"/>
                </a:lnTo>
                <a:lnTo>
                  <a:pt x="620413" y="2158177"/>
                </a:lnTo>
                <a:lnTo>
                  <a:pt x="623656" y="2158177"/>
                </a:lnTo>
                <a:lnTo>
                  <a:pt x="626872" y="2158177"/>
                </a:lnTo>
                <a:lnTo>
                  <a:pt x="626872" y="2151472"/>
                </a:lnTo>
                <a:lnTo>
                  <a:pt x="630089" y="2151472"/>
                </a:lnTo>
                <a:lnTo>
                  <a:pt x="630089" y="2141382"/>
                </a:lnTo>
                <a:lnTo>
                  <a:pt x="633357" y="2141382"/>
                </a:lnTo>
                <a:lnTo>
                  <a:pt x="636548" y="2141382"/>
                </a:lnTo>
                <a:lnTo>
                  <a:pt x="636548" y="2134655"/>
                </a:lnTo>
                <a:lnTo>
                  <a:pt x="639817" y="2134655"/>
                </a:lnTo>
                <a:lnTo>
                  <a:pt x="643033" y="2134655"/>
                </a:lnTo>
                <a:lnTo>
                  <a:pt x="646250" y="2134655"/>
                </a:lnTo>
                <a:lnTo>
                  <a:pt x="646250" y="2131334"/>
                </a:lnTo>
                <a:lnTo>
                  <a:pt x="649492" y="2131334"/>
                </a:lnTo>
                <a:lnTo>
                  <a:pt x="652735" y="2131334"/>
                </a:lnTo>
                <a:lnTo>
                  <a:pt x="652735" y="2124607"/>
                </a:lnTo>
                <a:lnTo>
                  <a:pt x="655900" y="2124607"/>
                </a:lnTo>
                <a:lnTo>
                  <a:pt x="655900" y="2121244"/>
                </a:lnTo>
                <a:lnTo>
                  <a:pt x="659116" y="2121244"/>
                </a:lnTo>
                <a:lnTo>
                  <a:pt x="659116" y="2114538"/>
                </a:lnTo>
                <a:lnTo>
                  <a:pt x="662359" y="2114538"/>
                </a:lnTo>
                <a:lnTo>
                  <a:pt x="665575" y="2114538"/>
                </a:lnTo>
                <a:lnTo>
                  <a:pt x="668818" y="2114538"/>
                </a:lnTo>
                <a:lnTo>
                  <a:pt x="668818" y="2111196"/>
                </a:lnTo>
                <a:lnTo>
                  <a:pt x="672034" y="2111196"/>
                </a:lnTo>
                <a:lnTo>
                  <a:pt x="675303" y="2111196"/>
                </a:lnTo>
                <a:lnTo>
                  <a:pt x="675303" y="2104427"/>
                </a:lnTo>
                <a:lnTo>
                  <a:pt x="678494" y="2104427"/>
                </a:lnTo>
                <a:lnTo>
                  <a:pt x="681762" y="2104427"/>
                </a:lnTo>
                <a:lnTo>
                  <a:pt x="684979" y="2104427"/>
                </a:lnTo>
                <a:lnTo>
                  <a:pt x="688195" y="2104427"/>
                </a:lnTo>
                <a:lnTo>
                  <a:pt x="688195" y="2101085"/>
                </a:lnTo>
                <a:lnTo>
                  <a:pt x="691438" y="2101085"/>
                </a:lnTo>
                <a:lnTo>
                  <a:pt x="694655" y="2101085"/>
                </a:lnTo>
                <a:lnTo>
                  <a:pt x="697819" y="2101085"/>
                </a:lnTo>
                <a:lnTo>
                  <a:pt x="701088" y="2101085"/>
                </a:lnTo>
                <a:lnTo>
                  <a:pt x="701088" y="2097722"/>
                </a:lnTo>
                <a:lnTo>
                  <a:pt x="704278" y="2097722"/>
                </a:lnTo>
                <a:lnTo>
                  <a:pt x="704278" y="2094359"/>
                </a:lnTo>
                <a:lnTo>
                  <a:pt x="707547" y="2094359"/>
                </a:lnTo>
                <a:lnTo>
                  <a:pt x="710764" y="2094359"/>
                </a:lnTo>
                <a:lnTo>
                  <a:pt x="710764" y="2087653"/>
                </a:lnTo>
                <a:lnTo>
                  <a:pt x="714006" y="2087653"/>
                </a:lnTo>
                <a:lnTo>
                  <a:pt x="714006" y="2084311"/>
                </a:lnTo>
                <a:lnTo>
                  <a:pt x="717249" y="2084311"/>
                </a:lnTo>
                <a:lnTo>
                  <a:pt x="717249" y="2080948"/>
                </a:lnTo>
                <a:lnTo>
                  <a:pt x="720465" y="2080948"/>
                </a:lnTo>
                <a:lnTo>
                  <a:pt x="723682" y="2080948"/>
                </a:lnTo>
                <a:lnTo>
                  <a:pt x="726950" y="2080948"/>
                </a:lnTo>
                <a:lnTo>
                  <a:pt x="730141" y="2080969"/>
                </a:lnTo>
                <a:lnTo>
                  <a:pt x="733410" y="2080969"/>
                </a:lnTo>
                <a:lnTo>
                  <a:pt x="736600" y="2080969"/>
                </a:lnTo>
                <a:lnTo>
                  <a:pt x="739765" y="2080969"/>
                </a:lnTo>
                <a:lnTo>
                  <a:pt x="739765" y="2074242"/>
                </a:lnTo>
                <a:lnTo>
                  <a:pt x="743033" y="2074242"/>
                </a:lnTo>
                <a:lnTo>
                  <a:pt x="746224" y="2074242"/>
                </a:lnTo>
                <a:lnTo>
                  <a:pt x="749466" y="2074242"/>
                </a:lnTo>
                <a:lnTo>
                  <a:pt x="752709" y="2074242"/>
                </a:lnTo>
                <a:lnTo>
                  <a:pt x="755926" y="2074242"/>
                </a:lnTo>
                <a:lnTo>
                  <a:pt x="755926" y="2070858"/>
                </a:lnTo>
                <a:lnTo>
                  <a:pt x="759194" y="2070858"/>
                </a:lnTo>
                <a:lnTo>
                  <a:pt x="759194" y="2067494"/>
                </a:lnTo>
                <a:lnTo>
                  <a:pt x="762385" y="2067494"/>
                </a:lnTo>
                <a:lnTo>
                  <a:pt x="762385" y="2064152"/>
                </a:lnTo>
                <a:lnTo>
                  <a:pt x="765653" y="2064152"/>
                </a:lnTo>
                <a:lnTo>
                  <a:pt x="768870" y="2064152"/>
                </a:lnTo>
                <a:lnTo>
                  <a:pt x="772112" y="2064152"/>
                </a:lnTo>
                <a:lnTo>
                  <a:pt x="772112" y="2057425"/>
                </a:lnTo>
                <a:lnTo>
                  <a:pt x="775355" y="2057425"/>
                </a:lnTo>
                <a:lnTo>
                  <a:pt x="778494" y="2057425"/>
                </a:lnTo>
                <a:lnTo>
                  <a:pt x="778494" y="2054041"/>
                </a:lnTo>
                <a:lnTo>
                  <a:pt x="781736" y="2054083"/>
                </a:lnTo>
                <a:lnTo>
                  <a:pt x="784953" y="2054083"/>
                </a:lnTo>
                <a:lnTo>
                  <a:pt x="788196" y="2054083"/>
                </a:lnTo>
                <a:lnTo>
                  <a:pt x="791412" y="2054083"/>
                </a:lnTo>
                <a:lnTo>
                  <a:pt x="794681" y="2054083"/>
                </a:lnTo>
                <a:lnTo>
                  <a:pt x="794681" y="2047314"/>
                </a:lnTo>
                <a:lnTo>
                  <a:pt x="797871" y="2047314"/>
                </a:lnTo>
                <a:lnTo>
                  <a:pt x="801140" y="2047314"/>
                </a:lnTo>
                <a:lnTo>
                  <a:pt x="804330" y="2047314"/>
                </a:lnTo>
                <a:lnTo>
                  <a:pt x="804330" y="2040609"/>
                </a:lnTo>
                <a:lnTo>
                  <a:pt x="807599" y="2040609"/>
                </a:lnTo>
                <a:lnTo>
                  <a:pt x="810815" y="2040609"/>
                </a:lnTo>
                <a:lnTo>
                  <a:pt x="814032" y="2040609"/>
                </a:lnTo>
                <a:lnTo>
                  <a:pt x="817275" y="2040609"/>
                </a:lnTo>
                <a:lnTo>
                  <a:pt x="820465" y="2040609"/>
                </a:lnTo>
                <a:lnTo>
                  <a:pt x="820465" y="2037246"/>
                </a:lnTo>
                <a:lnTo>
                  <a:pt x="823682" y="2037246"/>
                </a:lnTo>
                <a:lnTo>
                  <a:pt x="826898" y="2037246"/>
                </a:lnTo>
                <a:lnTo>
                  <a:pt x="830141" y="2037246"/>
                </a:lnTo>
                <a:lnTo>
                  <a:pt x="830141" y="2033903"/>
                </a:lnTo>
                <a:lnTo>
                  <a:pt x="833358" y="2033903"/>
                </a:lnTo>
                <a:lnTo>
                  <a:pt x="836626" y="2033903"/>
                </a:lnTo>
                <a:lnTo>
                  <a:pt x="839817" y="2033925"/>
                </a:lnTo>
                <a:lnTo>
                  <a:pt x="843059" y="2033925"/>
                </a:lnTo>
                <a:lnTo>
                  <a:pt x="846302" y="2033925"/>
                </a:lnTo>
                <a:lnTo>
                  <a:pt x="849519" y="2033925"/>
                </a:lnTo>
                <a:lnTo>
                  <a:pt x="852761" y="2033925"/>
                </a:lnTo>
                <a:lnTo>
                  <a:pt x="855978" y="2033925"/>
                </a:lnTo>
                <a:lnTo>
                  <a:pt x="859220" y="2033925"/>
                </a:lnTo>
                <a:lnTo>
                  <a:pt x="862385" y="2033925"/>
                </a:lnTo>
                <a:lnTo>
                  <a:pt x="865601" y="2033925"/>
                </a:lnTo>
                <a:lnTo>
                  <a:pt x="868844" y="2033925"/>
                </a:lnTo>
                <a:lnTo>
                  <a:pt x="868844" y="2030582"/>
                </a:lnTo>
                <a:lnTo>
                  <a:pt x="872061" y="2030582"/>
                </a:lnTo>
                <a:lnTo>
                  <a:pt x="872061" y="2023814"/>
                </a:lnTo>
                <a:lnTo>
                  <a:pt x="875329" y="2023814"/>
                </a:lnTo>
                <a:lnTo>
                  <a:pt x="878546" y="2023814"/>
                </a:lnTo>
                <a:lnTo>
                  <a:pt x="881788" y="2023814"/>
                </a:lnTo>
                <a:lnTo>
                  <a:pt x="881788" y="2020471"/>
                </a:lnTo>
                <a:lnTo>
                  <a:pt x="885005" y="2020471"/>
                </a:lnTo>
                <a:lnTo>
                  <a:pt x="888274" y="2020471"/>
                </a:lnTo>
                <a:lnTo>
                  <a:pt x="891464" y="2020471"/>
                </a:lnTo>
                <a:lnTo>
                  <a:pt x="891464" y="2017108"/>
                </a:lnTo>
                <a:lnTo>
                  <a:pt x="894733" y="2017108"/>
                </a:lnTo>
                <a:lnTo>
                  <a:pt x="894733" y="2013745"/>
                </a:lnTo>
                <a:lnTo>
                  <a:pt x="897923" y="2013766"/>
                </a:lnTo>
                <a:lnTo>
                  <a:pt x="901192" y="2013766"/>
                </a:lnTo>
                <a:lnTo>
                  <a:pt x="901192" y="2010339"/>
                </a:lnTo>
                <a:lnTo>
                  <a:pt x="904330" y="2010339"/>
                </a:lnTo>
                <a:lnTo>
                  <a:pt x="907547" y="2010339"/>
                </a:lnTo>
                <a:lnTo>
                  <a:pt x="910790" y="2010339"/>
                </a:lnTo>
                <a:lnTo>
                  <a:pt x="910790" y="2003655"/>
                </a:lnTo>
                <a:lnTo>
                  <a:pt x="914032" y="2003655"/>
                </a:lnTo>
                <a:lnTo>
                  <a:pt x="917249" y="2003655"/>
                </a:lnTo>
                <a:lnTo>
                  <a:pt x="920517" y="2003655"/>
                </a:lnTo>
                <a:lnTo>
                  <a:pt x="923708" y="2003655"/>
                </a:lnTo>
                <a:lnTo>
                  <a:pt x="923708" y="2000291"/>
                </a:lnTo>
                <a:lnTo>
                  <a:pt x="926976" y="2000291"/>
                </a:lnTo>
                <a:lnTo>
                  <a:pt x="930193" y="2000291"/>
                </a:lnTo>
                <a:lnTo>
                  <a:pt x="933436" y="2000291"/>
                </a:lnTo>
                <a:lnTo>
                  <a:pt x="936652" y="2000312"/>
                </a:lnTo>
                <a:lnTo>
                  <a:pt x="936652" y="1996928"/>
                </a:lnTo>
                <a:lnTo>
                  <a:pt x="939895" y="1996928"/>
                </a:lnTo>
                <a:lnTo>
                  <a:pt x="943111" y="1996928"/>
                </a:lnTo>
                <a:lnTo>
                  <a:pt x="943111" y="1993522"/>
                </a:lnTo>
                <a:lnTo>
                  <a:pt x="946276" y="1993522"/>
                </a:lnTo>
                <a:lnTo>
                  <a:pt x="949519" y="1993522"/>
                </a:lnTo>
                <a:lnTo>
                  <a:pt x="952735" y="1993544"/>
                </a:lnTo>
                <a:lnTo>
                  <a:pt x="956004" y="1993544"/>
                </a:lnTo>
                <a:lnTo>
                  <a:pt x="959194" y="1993544"/>
                </a:lnTo>
                <a:lnTo>
                  <a:pt x="962437" y="1993544"/>
                </a:lnTo>
                <a:lnTo>
                  <a:pt x="962437" y="1990180"/>
                </a:lnTo>
                <a:lnTo>
                  <a:pt x="965654" y="1990180"/>
                </a:lnTo>
                <a:lnTo>
                  <a:pt x="968896" y="1990180"/>
                </a:lnTo>
                <a:lnTo>
                  <a:pt x="972139" y="1990180"/>
                </a:lnTo>
                <a:lnTo>
                  <a:pt x="975355" y="1990180"/>
                </a:lnTo>
                <a:lnTo>
                  <a:pt x="978598" y="1990180"/>
                </a:lnTo>
                <a:lnTo>
                  <a:pt x="978598" y="1986838"/>
                </a:lnTo>
                <a:lnTo>
                  <a:pt x="981840" y="1986838"/>
                </a:lnTo>
                <a:lnTo>
                  <a:pt x="985005" y="1986838"/>
                </a:lnTo>
                <a:lnTo>
                  <a:pt x="988222" y="1986838"/>
                </a:lnTo>
                <a:lnTo>
                  <a:pt x="988222" y="1983496"/>
                </a:lnTo>
                <a:lnTo>
                  <a:pt x="991464" y="1983496"/>
                </a:lnTo>
                <a:lnTo>
                  <a:pt x="994681" y="1983496"/>
                </a:lnTo>
                <a:lnTo>
                  <a:pt x="994681" y="1980069"/>
                </a:lnTo>
                <a:lnTo>
                  <a:pt x="997923" y="1980090"/>
                </a:lnTo>
                <a:lnTo>
                  <a:pt x="997923" y="1973363"/>
                </a:lnTo>
                <a:lnTo>
                  <a:pt x="1001140" y="1973363"/>
                </a:lnTo>
                <a:lnTo>
                  <a:pt x="1004382" y="1973363"/>
                </a:lnTo>
                <a:lnTo>
                  <a:pt x="1004382" y="1966658"/>
                </a:lnTo>
                <a:lnTo>
                  <a:pt x="1007599" y="1966658"/>
                </a:lnTo>
                <a:lnTo>
                  <a:pt x="1010842" y="1966658"/>
                </a:lnTo>
                <a:lnTo>
                  <a:pt x="1014084" y="1966658"/>
                </a:lnTo>
                <a:lnTo>
                  <a:pt x="1017301" y="1966658"/>
                </a:lnTo>
                <a:lnTo>
                  <a:pt x="1020543" y="1966679"/>
                </a:lnTo>
                <a:lnTo>
                  <a:pt x="1020543" y="1963252"/>
                </a:lnTo>
                <a:lnTo>
                  <a:pt x="1023786" y="1963252"/>
                </a:lnTo>
                <a:lnTo>
                  <a:pt x="1026925" y="1963274"/>
                </a:lnTo>
                <a:lnTo>
                  <a:pt x="1030167" y="1963274"/>
                </a:lnTo>
                <a:lnTo>
                  <a:pt x="1033384" y="1963274"/>
                </a:lnTo>
                <a:lnTo>
                  <a:pt x="1036626" y="1963274"/>
                </a:lnTo>
                <a:lnTo>
                  <a:pt x="1039869" y="1963274"/>
                </a:lnTo>
                <a:lnTo>
                  <a:pt x="1043111" y="1963274"/>
                </a:lnTo>
                <a:lnTo>
                  <a:pt x="1046328" y="1963274"/>
                </a:lnTo>
                <a:lnTo>
                  <a:pt x="1046328" y="1959910"/>
                </a:lnTo>
                <a:lnTo>
                  <a:pt x="1049597" y="1959910"/>
                </a:lnTo>
                <a:lnTo>
                  <a:pt x="1052787" y="1959910"/>
                </a:lnTo>
                <a:lnTo>
                  <a:pt x="1052787" y="1956568"/>
                </a:lnTo>
                <a:lnTo>
                  <a:pt x="1056030" y="1956568"/>
                </a:lnTo>
                <a:lnTo>
                  <a:pt x="1059246" y="1956568"/>
                </a:lnTo>
                <a:lnTo>
                  <a:pt x="1062489" y="1956568"/>
                </a:lnTo>
                <a:lnTo>
                  <a:pt x="1062489" y="1953226"/>
                </a:lnTo>
                <a:lnTo>
                  <a:pt x="1065731" y="1953226"/>
                </a:lnTo>
                <a:lnTo>
                  <a:pt x="1065731" y="1949820"/>
                </a:lnTo>
                <a:lnTo>
                  <a:pt x="1068870" y="1949820"/>
                </a:lnTo>
                <a:lnTo>
                  <a:pt x="1068870" y="1946436"/>
                </a:lnTo>
                <a:lnTo>
                  <a:pt x="1072113" y="1946436"/>
                </a:lnTo>
                <a:lnTo>
                  <a:pt x="1072113" y="1943094"/>
                </a:lnTo>
                <a:lnTo>
                  <a:pt x="1075330" y="1943094"/>
                </a:lnTo>
                <a:lnTo>
                  <a:pt x="1078572" y="1943094"/>
                </a:lnTo>
                <a:lnTo>
                  <a:pt x="1081840" y="1943094"/>
                </a:lnTo>
                <a:lnTo>
                  <a:pt x="1085031" y="1943094"/>
                </a:lnTo>
                <a:lnTo>
                  <a:pt x="1088274" y="1943094"/>
                </a:lnTo>
                <a:lnTo>
                  <a:pt x="1091516" y="1943094"/>
                </a:lnTo>
                <a:lnTo>
                  <a:pt x="1094733" y="1943094"/>
                </a:lnTo>
                <a:lnTo>
                  <a:pt x="1094733" y="1939709"/>
                </a:lnTo>
                <a:lnTo>
                  <a:pt x="1097975" y="1939709"/>
                </a:lnTo>
                <a:lnTo>
                  <a:pt x="1101218" y="1939709"/>
                </a:lnTo>
                <a:lnTo>
                  <a:pt x="1104434" y="1939709"/>
                </a:lnTo>
                <a:lnTo>
                  <a:pt x="1107703" y="1939730"/>
                </a:lnTo>
                <a:lnTo>
                  <a:pt x="1107703" y="1936346"/>
                </a:lnTo>
                <a:lnTo>
                  <a:pt x="1110842" y="1936346"/>
                </a:lnTo>
                <a:lnTo>
                  <a:pt x="1114058" y="1936346"/>
                </a:lnTo>
                <a:lnTo>
                  <a:pt x="1117275" y="1936346"/>
                </a:lnTo>
                <a:lnTo>
                  <a:pt x="1117275" y="1933004"/>
                </a:lnTo>
                <a:lnTo>
                  <a:pt x="1120517" y="1933004"/>
                </a:lnTo>
                <a:lnTo>
                  <a:pt x="1123760" y="1933025"/>
                </a:lnTo>
                <a:lnTo>
                  <a:pt x="1123760" y="1929640"/>
                </a:lnTo>
                <a:lnTo>
                  <a:pt x="1126977" y="1929640"/>
                </a:lnTo>
                <a:lnTo>
                  <a:pt x="1130219" y="1929640"/>
                </a:lnTo>
                <a:lnTo>
                  <a:pt x="1130219" y="1926235"/>
                </a:lnTo>
                <a:lnTo>
                  <a:pt x="1133488" y="1926235"/>
                </a:lnTo>
                <a:lnTo>
                  <a:pt x="1133488" y="1922892"/>
                </a:lnTo>
                <a:lnTo>
                  <a:pt x="1136678" y="1922892"/>
                </a:lnTo>
                <a:lnTo>
                  <a:pt x="1139921" y="1922914"/>
                </a:lnTo>
                <a:lnTo>
                  <a:pt x="1143138" y="1922914"/>
                </a:lnTo>
                <a:lnTo>
                  <a:pt x="1146380" y="1922914"/>
                </a:lnTo>
                <a:lnTo>
                  <a:pt x="1149571" y="1922914"/>
                </a:lnTo>
                <a:lnTo>
                  <a:pt x="1152761" y="1922914"/>
                </a:lnTo>
                <a:lnTo>
                  <a:pt x="1156004" y="1922914"/>
                </a:lnTo>
                <a:lnTo>
                  <a:pt x="1159246" y="1922914"/>
                </a:lnTo>
                <a:lnTo>
                  <a:pt x="1159246" y="1916145"/>
                </a:lnTo>
                <a:lnTo>
                  <a:pt x="1162463" y="1916145"/>
                </a:lnTo>
                <a:lnTo>
                  <a:pt x="1162463" y="1912781"/>
                </a:lnTo>
                <a:lnTo>
                  <a:pt x="1165706" y="1912781"/>
                </a:lnTo>
                <a:lnTo>
                  <a:pt x="1165706" y="1909418"/>
                </a:lnTo>
                <a:lnTo>
                  <a:pt x="1168922" y="1909418"/>
                </a:lnTo>
                <a:lnTo>
                  <a:pt x="1172165" y="1909418"/>
                </a:lnTo>
                <a:lnTo>
                  <a:pt x="1175408" y="1909439"/>
                </a:lnTo>
                <a:lnTo>
                  <a:pt x="1175408" y="1906097"/>
                </a:lnTo>
                <a:lnTo>
                  <a:pt x="1178624" y="1906097"/>
                </a:lnTo>
                <a:lnTo>
                  <a:pt x="1178624" y="1902670"/>
                </a:lnTo>
                <a:lnTo>
                  <a:pt x="1181866" y="1902670"/>
                </a:lnTo>
                <a:lnTo>
                  <a:pt x="1185083" y="1902670"/>
                </a:lnTo>
                <a:lnTo>
                  <a:pt x="1188325" y="1902670"/>
                </a:lnTo>
                <a:lnTo>
                  <a:pt x="1188325" y="1899307"/>
                </a:lnTo>
                <a:lnTo>
                  <a:pt x="1191490" y="1899328"/>
                </a:lnTo>
                <a:lnTo>
                  <a:pt x="1191490" y="1895944"/>
                </a:lnTo>
                <a:lnTo>
                  <a:pt x="1194707" y="1895944"/>
                </a:lnTo>
                <a:lnTo>
                  <a:pt x="1197949" y="1895944"/>
                </a:lnTo>
                <a:lnTo>
                  <a:pt x="1201192" y="1895965"/>
                </a:lnTo>
                <a:lnTo>
                  <a:pt x="1204434" y="1895965"/>
                </a:lnTo>
                <a:lnTo>
                  <a:pt x="1204434" y="1889196"/>
                </a:lnTo>
                <a:lnTo>
                  <a:pt x="1207651" y="1889217"/>
                </a:lnTo>
                <a:lnTo>
                  <a:pt x="1207651" y="1885790"/>
                </a:lnTo>
                <a:lnTo>
                  <a:pt x="1210868" y="1885790"/>
                </a:lnTo>
                <a:lnTo>
                  <a:pt x="1210868" y="1882448"/>
                </a:lnTo>
                <a:lnTo>
                  <a:pt x="1214110" y="1882448"/>
                </a:lnTo>
                <a:lnTo>
                  <a:pt x="1217353" y="1882448"/>
                </a:lnTo>
                <a:lnTo>
                  <a:pt x="1220570" y="1882448"/>
                </a:lnTo>
                <a:lnTo>
                  <a:pt x="1223812" y="1882448"/>
                </a:lnTo>
                <a:lnTo>
                  <a:pt x="1227055" y="1882448"/>
                </a:lnTo>
                <a:lnTo>
                  <a:pt x="1230271" y="1882448"/>
                </a:lnTo>
                <a:lnTo>
                  <a:pt x="1230271" y="1879106"/>
                </a:lnTo>
                <a:lnTo>
                  <a:pt x="1233436" y="1879106"/>
                </a:lnTo>
                <a:lnTo>
                  <a:pt x="1236653" y="1879106"/>
                </a:lnTo>
                <a:lnTo>
                  <a:pt x="1236653" y="1872337"/>
                </a:lnTo>
                <a:lnTo>
                  <a:pt x="1239895" y="1872337"/>
                </a:lnTo>
                <a:lnTo>
                  <a:pt x="1243138" y="1872337"/>
                </a:lnTo>
                <a:lnTo>
                  <a:pt x="1243138" y="1868974"/>
                </a:lnTo>
                <a:lnTo>
                  <a:pt x="1246354" y="1868974"/>
                </a:lnTo>
                <a:lnTo>
                  <a:pt x="1249597" y="1868974"/>
                </a:lnTo>
                <a:lnTo>
                  <a:pt x="1249597" y="1865568"/>
                </a:lnTo>
                <a:lnTo>
                  <a:pt x="1252813" y="1865568"/>
                </a:lnTo>
                <a:lnTo>
                  <a:pt x="1256056" y="1865568"/>
                </a:lnTo>
                <a:lnTo>
                  <a:pt x="1256056" y="1862205"/>
                </a:lnTo>
                <a:lnTo>
                  <a:pt x="1259298" y="1862205"/>
                </a:lnTo>
                <a:lnTo>
                  <a:pt x="1259298" y="1858841"/>
                </a:lnTo>
                <a:lnTo>
                  <a:pt x="1262541" y="1858841"/>
                </a:lnTo>
                <a:lnTo>
                  <a:pt x="1265757" y="1858841"/>
                </a:lnTo>
                <a:lnTo>
                  <a:pt x="1269026" y="1858841"/>
                </a:lnTo>
                <a:lnTo>
                  <a:pt x="1269026" y="1852093"/>
                </a:lnTo>
                <a:lnTo>
                  <a:pt x="1272217" y="1852115"/>
                </a:lnTo>
                <a:lnTo>
                  <a:pt x="1272217" y="1848688"/>
                </a:lnTo>
                <a:lnTo>
                  <a:pt x="1275381" y="1848709"/>
                </a:lnTo>
                <a:lnTo>
                  <a:pt x="1275381" y="1841982"/>
                </a:lnTo>
                <a:lnTo>
                  <a:pt x="1278598" y="1841982"/>
                </a:lnTo>
                <a:lnTo>
                  <a:pt x="1278598" y="1835214"/>
                </a:lnTo>
                <a:lnTo>
                  <a:pt x="1281841" y="1835214"/>
                </a:lnTo>
                <a:lnTo>
                  <a:pt x="1285083" y="1835214"/>
                </a:lnTo>
                <a:lnTo>
                  <a:pt x="1288300" y="1835235"/>
                </a:lnTo>
                <a:lnTo>
                  <a:pt x="1288300" y="1831808"/>
                </a:lnTo>
                <a:lnTo>
                  <a:pt x="1291542" y="1831808"/>
                </a:lnTo>
                <a:lnTo>
                  <a:pt x="1291542" y="1828466"/>
                </a:lnTo>
                <a:lnTo>
                  <a:pt x="1294811" y="1828466"/>
                </a:lnTo>
                <a:lnTo>
                  <a:pt x="1298001" y="1828466"/>
                </a:lnTo>
                <a:lnTo>
                  <a:pt x="1298001" y="1825123"/>
                </a:lnTo>
                <a:lnTo>
                  <a:pt x="1301244" y="1825123"/>
                </a:lnTo>
                <a:lnTo>
                  <a:pt x="1304461" y="1825123"/>
                </a:lnTo>
                <a:lnTo>
                  <a:pt x="1307677" y="1825123"/>
                </a:lnTo>
                <a:lnTo>
                  <a:pt x="1310946" y="1825123"/>
                </a:lnTo>
                <a:lnTo>
                  <a:pt x="1314163" y="1825123"/>
                </a:lnTo>
                <a:lnTo>
                  <a:pt x="1317327" y="1825123"/>
                </a:lnTo>
                <a:lnTo>
                  <a:pt x="1320544" y="1825123"/>
                </a:lnTo>
                <a:lnTo>
                  <a:pt x="1320544" y="1818355"/>
                </a:lnTo>
                <a:lnTo>
                  <a:pt x="1323786" y="1818355"/>
                </a:lnTo>
                <a:lnTo>
                  <a:pt x="1327029" y="1818355"/>
                </a:lnTo>
                <a:lnTo>
                  <a:pt x="1330245" y="1818376"/>
                </a:lnTo>
                <a:lnTo>
                  <a:pt x="1333488" y="1818376"/>
                </a:lnTo>
                <a:lnTo>
                  <a:pt x="1333488" y="1814949"/>
                </a:lnTo>
                <a:lnTo>
                  <a:pt x="1336731" y="1814949"/>
                </a:lnTo>
                <a:lnTo>
                  <a:pt x="1339947" y="1814949"/>
                </a:lnTo>
                <a:lnTo>
                  <a:pt x="1343164" y="1814949"/>
                </a:lnTo>
                <a:lnTo>
                  <a:pt x="1346406" y="1814949"/>
                </a:lnTo>
                <a:lnTo>
                  <a:pt x="1346406" y="1811586"/>
                </a:lnTo>
                <a:lnTo>
                  <a:pt x="1349649" y="1811607"/>
                </a:lnTo>
                <a:lnTo>
                  <a:pt x="1352891" y="1811607"/>
                </a:lnTo>
                <a:lnTo>
                  <a:pt x="1352891" y="1808265"/>
                </a:lnTo>
                <a:lnTo>
                  <a:pt x="1356030" y="1808265"/>
                </a:lnTo>
                <a:lnTo>
                  <a:pt x="1359273" y="1808265"/>
                </a:lnTo>
                <a:lnTo>
                  <a:pt x="1362515" y="1808265"/>
                </a:lnTo>
                <a:lnTo>
                  <a:pt x="1362515" y="1804838"/>
                </a:lnTo>
                <a:lnTo>
                  <a:pt x="1365732" y="1804838"/>
                </a:lnTo>
                <a:lnTo>
                  <a:pt x="1365732" y="1801496"/>
                </a:lnTo>
                <a:lnTo>
                  <a:pt x="1368974" y="1801496"/>
                </a:lnTo>
                <a:lnTo>
                  <a:pt x="1368974" y="1794727"/>
                </a:lnTo>
                <a:lnTo>
                  <a:pt x="1372191" y="1794727"/>
                </a:lnTo>
                <a:lnTo>
                  <a:pt x="1375434" y="1794727"/>
                </a:lnTo>
                <a:lnTo>
                  <a:pt x="1378676" y="1794727"/>
                </a:lnTo>
                <a:lnTo>
                  <a:pt x="1381893" y="1794727"/>
                </a:lnTo>
                <a:lnTo>
                  <a:pt x="1381893" y="1791342"/>
                </a:lnTo>
                <a:lnTo>
                  <a:pt x="1385135" y="1791342"/>
                </a:lnTo>
                <a:lnTo>
                  <a:pt x="1388352" y="1791342"/>
                </a:lnTo>
                <a:lnTo>
                  <a:pt x="1388352" y="1787979"/>
                </a:lnTo>
                <a:lnTo>
                  <a:pt x="1391594" y="1787979"/>
                </a:lnTo>
                <a:lnTo>
                  <a:pt x="1391594" y="1784616"/>
                </a:lnTo>
                <a:lnTo>
                  <a:pt x="1394837" y="1784616"/>
                </a:lnTo>
                <a:lnTo>
                  <a:pt x="1394837" y="1781210"/>
                </a:lnTo>
                <a:lnTo>
                  <a:pt x="1397976" y="1781210"/>
                </a:lnTo>
                <a:lnTo>
                  <a:pt x="1401218" y="1781210"/>
                </a:lnTo>
                <a:lnTo>
                  <a:pt x="1404461" y="1781210"/>
                </a:lnTo>
                <a:lnTo>
                  <a:pt x="1407677" y="1781210"/>
                </a:lnTo>
                <a:lnTo>
                  <a:pt x="1410920" y="1781210"/>
                </a:lnTo>
                <a:lnTo>
                  <a:pt x="1414136" y="1781231"/>
                </a:lnTo>
                <a:lnTo>
                  <a:pt x="1417379" y="1781231"/>
                </a:lnTo>
                <a:lnTo>
                  <a:pt x="1417379" y="1777868"/>
                </a:lnTo>
                <a:lnTo>
                  <a:pt x="1420621" y="1777868"/>
                </a:lnTo>
                <a:lnTo>
                  <a:pt x="1423838" y="1777868"/>
                </a:lnTo>
                <a:lnTo>
                  <a:pt x="1427081" y="1777868"/>
                </a:lnTo>
                <a:lnTo>
                  <a:pt x="1430323" y="1777868"/>
                </a:lnTo>
                <a:lnTo>
                  <a:pt x="1430323" y="1771099"/>
                </a:lnTo>
                <a:lnTo>
                  <a:pt x="1433540" y="1771099"/>
                </a:lnTo>
                <a:lnTo>
                  <a:pt x="1436782" y="1771099"/>
                </a:lnTo>
                <a:lnTo>
                  <a:pt x="1436782" y="1764330"/>
                </a:lnTo>
                <a:lnTo>
                  <a:pt x="1439921" y="1764330"/>
                </a:lnTo>
                <a:lnTo>
                  <a:pt x="1443164" y="1764330"/>
                </a:lnTo>
                <a:lnTo>
                  <a:pt x="1446406" y="1764351"/>
                </a:lnTo>
                <a:lnTo>
                  <a:pt x="1446406" y="1760966"/>
                </a:lnTo>
                <a:lnTo>
                  <a:pt x="1449623" y="1760966"/>
                </a:lnTo>
                <a:lnTo>
                  <a:pt x="1452865" y="1760966"/>
                </a:lnTo>
                <a:lnTo>
                  <a:pt x="1456082" y="1760966"/>
                </a:lnTo>
                <a:lnTo>
                  <a:pt x="1459325" y="1760966"/>
                </a:lnTo>
                <a:lnTo>
                  <a:pt x="1462541" y="1760966"/>
                </a:lnTo>
                <a:lnTo>
                  <a:pt x="1465784" y="1760966"/>
                </a:lnTo>
                <a:lnTo>
                  <a:pt x="1469000" y="1760966"/>
                </a:lnTo>
                <a:lnTo>
                  <a:pt x="1469000" y="1757603"/>
                </a:lnTo>
                <a:lnTo>
                  <a:pt x="1472269" y="1757624"/>
                </a:lnTo>
                <a:lnTo>
                  <a:pt x="1475486" y="1757624"/>
                </a:lnTo>
                <a:lnTo>
                  <a:pt x="1478728" y="1757624"/>
                </a:lnTo>
                <a:lnTo>
                  <a:pt x="1481867" y="1757624"/>
                </a:lnTo>
                <a:lnTo>
                  <a:pt x="1485109" y="1757624"/>
                </a:lnTo>
                <a:lnTo>
                  <a:pt x="1485109" y="1754261"/>
                </a:lnTo>
                <a:lnTo>
                  <a:pt x="1488352" y="1754261"/>
                </a:lnTo>
                <a:lnTo>
                  <a:pt x="1491568" y="1754261"/>
                </a:lnTo>
                <a:lnTo>
                  <a:pt x="1494811" y="1754261"/>
                </a:lnTo>
                <a:lnTo>
                  <a:pt x="1494811" y="1750855"/>
                </a:lnTo>
                <a:lnTo>
                  <a:pt x="1498028" y="1750855"/>
                </a:lnTo>
                <a:lnTo>
                  <a:pt x="1501270" y="1750855"/>
                </a:lnTo>
                <a:lnTo>
                  <a:pt x="1504487" y="1750855"/>
                </a:lnTo>
                <a:lnTo>
                  <a:pt x="1507729" y="1750855"/>
                </a:lnTo>
                <a:lnTo>
                  <a:pt x="1510972" y="1750855"/>
                </a:lnTo>
                <a:lnTo>
                  <a:pt x="1510972" y="1747492"/>
                </a:lnTo>
                <a:lnTo>
                  <a:pt x="1514214" y="1747492"/>
                </a:lnTo>
                <a:lnTo>
                  <a:pt x="1514214" y="1744108"/>
                </a:lnTo>
                <a:lnTo>
                  <a:pt x="1517431" y="1744108"/>
                </a:lnTo>
                <a:lnTo>
                  <a:pt x="1520674" y="1744108"/>
                </a:lnTo>
                <a:lnTo>
                  <a:pt x="1523813" y="1744108"/>
                </a:lnTo>
                <a:lnTo>
                  <a:pt x="1527055" y="1744108"/>
                </a:lnTo>
                <a:lnTo>
                  <a:pt x="1530298" y="1744108"/>
                </a:lnTo>
                <a:lnTo>
                  <a:pt x="1533514" y="1744108"/>
                </a:lnTo>
                <a:lnTo>
                  <a:pt x="1536757" y="1744108"/>
                </a:lnTo>
                <a:lnTo>
                  <a:pt x="1536757" y="1740766"/>
                </a:lnTo>
                <a:lnTo>
                  <a:pt x="1539999" y="1740766"/>
                </a:lnTo>
                <a:lnTo>
                  <a:pt x="1539999" y="1733996"/>
                </a:lnTo>
                <a:lnTo>
                  <a:pt x="1543216" y="1733996"/>
                </a:lnTo>
                <a:lnTo>
                  <a:pt x="1546458" y="1733996"/>
                </a:lnTo>
                <a:lnTo>
                  <a:pt x="1546458" y="1730591"/>
                </a:lnTo>
                <a:lnTo>
                  <a:pt x="1549675" y="1730591"/>
                </a:lnTo>
                <a:lnTo>
                  <a:pt x="1549675" y="1727249"/>
                </a:lnTo>
                <a:lnTo>
                  <a:pt x="1552918" y="1727249"/>
                </a:lnTo>
                <a:lnTo>
                  <a:pt x="1556134" y="1727249"/>
                </a:lnTo>
                <a:lnTo>
                  <a:pt x="1559377" y="1727249"/>
                </a:lnTo>
                <a:lnTo>
                  <a:pt x="1562541" y="1727249"/>
                </a:lnTo>
                <a:lnTo>
                  <a:pt x="1565784" y="1727249"/>
                </a:lnTo>
                <a:lnTo>
                  <a:pt x="1565784" y="1723843"/>
                </a:lnTo>
                <a:lnTo>
                  <a:pt x="1569000" y="1723843"/>
                </a:lnTo>
                <a:lnTo>
                  <a:pt x="1572243" y="1723843"/>
                </a:lnTo>
                <a:lnTo>
                  <a:pt x="1575460" y="1723843"/>
                </a:lnTo>
                <a:lnTo>
                  <a:pt x="1578702" y="1723843"/>
                </a:lnTo>
                <a:lnTo>
                  <a:pt x="1578702" y="1720480"/>
                </a:lnTo>
                <a:lnTo>
                  <a:pt x="1581945" y="1720480"/>
                </a:lnTo>
                <a:lnTo>
                  <a:pt x="1585161" y="1720501"/>
                </a:lnTo>
                <a:lnTo>
                  <a:pt x="1588404" y="1720501"/>
                </a:lnTo>
                <a:lnTo>
                  <a:pt x="1588404" y="1717074"/>
                </a:lnTo>
                <a:lnTo>
                  <a:pt x="1591620" y="1717074"/>
                </a:lnTo>
                <a:lnTo>
                  <a:pt x="1594863" y="1717074"/>
                </a:lnTo>
                <a:lnTo>
                  <a:pt x="1594863" y="1706963"/>
                </a:lnTo>
                <a:lnTo>
                  <a:pt x="1598105" y="1706984"/>
                </a:lnTo>
                <a:lnTo>
                  <a:pt x="1601322" y="1706984"/>
                </a:lnTo>
                <a:lnTo>
                  <a:pt x="1604487" y="1706984"/>
                </a:lnTo>
                <a:lnTo>
                  <a:pt x="1607729" y="1706984"/>
                </a:lnTo>
                <a:lnTo>
                  <a:pt x="1610946" y="1706984"/>
                </a:lnTo>
                <a:lnTo>
                  <a:pt x="1614189" y="1706984"/>
                </a:lnTo>
                <a:lnTo>
                  <a:pt x="1614189" y="1703578"/>
                </a:lnTo>
                <a:lnTo>
                  <a:pt x="1617379" y="1703578"/>
                </a:lnTo>
                <a:lnTo>
                  <a:pt x="1620648" y="1703578"/>
                </a:lnTo>
                <a:lnTo>
                  <a:pt x="1623891" y="1703578"/>
                </a:lnTo>
                <a:lnTo>
                  <a:pt x="1627107" y="1703578"/>
                </a:lnTo>
                <a:lnTo>
                  <a:pt x="1627107" y="1696810"/>
                </a:lnTo>
                <a:lnTo>
                  <a:pt x="1630323" y="1696810"/>
                </a:lnTo>
                <a:lnTo>
                  <a:pt x="1633592" y="1696810"/>
                </a:lnTo>
                <a:lnTo>
                  <a:pt x="1636783" y="1696810"/>
                </a:lnTo>
                <a:lnTo>
                  <a:pt x="1640051" y="1696810"/>
                </a:lnTo>
                <a:lnTo>
                  <a:pt x="1643268" y="1696810"/>
                </a:lnTo>
                <a:lnTo>
                  <a:pt x="1643268" y="1693467"/>
                </a:lnTo>
                <a:lnTo>
                  <a:pt x="1646432" y="1693467"/>
                </a:lnTo>
                <a:lnTo>
                  <a:pt x="1649675" y="1693488"/>
                </a:lnTo>
                <a:lnTo>
                  <a:pt x="1652866" y="1693488"/>
                </a:lnTo>
                <a:lnTo>
                  <a:pt x="1656134" y="1693488"/>
                </a:lnTo>
                <a:lnTo>
                  <a:pt x="1659325" y="1693488"/>
                </a:lnTo>
                <a:lnTo>
                  <a:pt x="1659325" y="1690062"/>
                </a:lnTo>
                <a:lnTo>
                  <a:pt x="1662593" y="1690062"/>
                </a:lnTo>
                <a:lnTo>
                  <a:pt x="1665810" y="1690062"/>
                </a:lnTo>
                <a:lnTo>
                  <a:pt x="1669053" y="1690062"/>
                </a:lnTo>
                <a:lnTo>
                  <a:pt x="1672295" y="1690083"/>
                </a:lnTo>
                <a:lnTo>
                  <a:pt x="1675538" y="1690083"/>
                </a:lnTo>
                <a:lnTo>
                  <a:pt x="1675538" y="1686720"/>
                </a:lnTo>
                <a:lnTo>
                  <a:pt x="1678754" y="1686720"/>
                </a:lnTo>
                <a:lnTo>
                  <a:pt x="1681971" y="1686720"/>
                </a:lnTo>
                <a:lnTo>
                  <a:pt x="1681971" y="1683314"/>
                </a:lnTo>
                <a:lnTo>
                  <a:pt x="1685213" y="1683314"/>
                </a:lnTo>
                <a:lnTo>
                  <a:pt x="1685213" y="1676545"/>
                </a:lnTo>
                <a:lnTo>
                  <a:pt x="1688378" y="1676545"/>
                </a:lnTo>
                <a:lnTo>
                  <a:pt x="1691621" y="1676545"/>
                </a:lnTo>
                <a:lnTo>
                  <a:pt x="1694837" y="1676566"/>
                </a:lnTo>
                <a:lnTo>
                  <a:pt x="1698080" y="1676566"/>
                </a:lnTo>
                <a:lnTo>
                  <a:pt x="1701296" y="1676566"/>
                </a:lnTo>
                <a:lnTo>
                  <a:pt x="1701296" y="1669776"/>
                </a:lnTo>
                <a:lnTo>
                  <a:pt x="1704539" y="1669776"/>
                </a:lnTo>
                <a:lnTo>
                  <a:pt x="1707782" y="1669776"/>
                </a:lnTo>
                <a:lnTo>
                  <a:pt x="1710972" y="1669776"/>
                </a:lnTo>
                <a:lnTo>
                  <a:pt x="1714241" y="1669797"/>
                </a:lnTo>
                <a:lnTo>
                  <a:pt x="1714241" y="1666392"/>
                </a:lnTo>
                <a:lnTo>
                  <a:pt x="1717457" y="1666392"/>
                </a:lnTo>
                <a:lnTo>
                  <a:pt x="1720700" y="1666392"/>
                </a:lnTo>
                <a:lnTo>
                  <a:pt x="1723916" y="1666392"/>
                </a:lnTo>
                <a:lnTo>
                  <a:pt x="1723916" y="1663028"/>
                </a:lnTo>
                <a:lnTo>
                  <a:pt x="1727159" y="1663028"/>
                </a:lnTo>
                <a:lnTo>
                  <a:pt x="1730324" y="1663028"/>
                </a:lnTo>
                <a:lnTo>
                  <a:pt x="1730324" y="1659644"/>
                </a:lnTo>
                <a:lnTo>
                  <a:pt x="1733566" y="1659644"/>
                </a:lnTo>
                <a:lnTo>
                  <a:pt x="1736757" y="1659644"/>
                </a:lnTo>
                <a:lnTo>
                  <a:pt x="1740025" y="1659644"/>
                </a:lnTo>
                <a:lnTo>
                  <a:pt x="1743242" y="1659644"/>
                </a:lnTo>
                <a:lnTo>
                  <a:pt x="1746484" y="1659665"/>
                </a:lnTo>
                <a:lnTo>
                  <a:pt x="1746484" y="1656301"/>
                </a:lnTo>
                <a:lnTo>
                  <a:pt x="1749727" y="1656301"/>
                </a:lnTo>
                <a:lnTo>
                  <a:pt x="1752944" y="1656301"/>
                </a:lnTo>
                <a:lnTo>
                  <a:pt x="1752944" y="1652875"/>
                </a:lnTo>
                <a:lnTo>
                  <a:pt x="1756186" y="1652875"/>
                </a:lnTo>
                <a:lnTo>
                  <a:pt x="1759429" y="1652875"/>
                </a:lnTo>
                <a:lnTo>
                  <a:pt x="1762646" y="1652896"/>
                </a:lnTo>
                <a:lnTo>
                  <a:pt x="1762646" y="1649469"/>
                </a:lnTo>
                <a:lnTo>
                  <a:pt x="1765888" y="1649469"/>
                </a:lnTo>
                <a:lnTo>
                  <a:pt x="1765888" y="1646148"/>
                </a:lnTo>
                <a:lnTo>
                  <a:pt x="1769027" y="1646148"/>
                </a:lnTo>
                <a:lnTo>
                  <a:pt x="1769027" y="1642721"/>
                </a:lnTo>
                <a:lnTo>
                  <a:pt x="1772243" y="1642721"/>
                </a:lnTo>
                <a:lnTo>
                  <a:pt x="1772243" y="1639316"/>
                </a:lnTo>
                <a:lnTo>
                  <a:pt x="1775512" y="1639316"/>
                </a:lnTo>
                <a:lnTo>
                  <a:pt x="1778702" y="1639316"/>
                </a:lnTo>
                <a:lnTo>
                  <a:pt x="1781971" y="1639316"/>
                </a:lnTo>
                <a:lnTo>
                  <a:pt x="1785214" y="1639316"/>
                </a:lnTo>
                <a:lnTo>
                  <a:pt x="1785214" y="1632547"/>
                </a:lnTo>
                <a:lnTo>
                  <a:pt x="1788430" y="1632547"/>
                </a:lnTo>
                <a:lnTo>
                  <a:pt x="1791646" y="1632547"/>
                </a:lnTo>
                <a:lnTo>
                  <a:pt x="1794889" y="1632547"/>
                </a:lnTo>
                <a:lnTo>
                  <a:pt x="1798106" y="1632547"/>
                </a:lnTo>
                <a:lnTo>
                  <a:pt x="1798106" y="1629226"/>
                </a:lnTo>
                <a:lnTo>
                  <a:pt x="1801374" y="1629226"/>
                </a:lnTo>
                <a:lnTo>
                  <a:pt x="1804565" y="1629226"/>
                </a:lnTo>
                <a:lnTo>
                  <a:pt x="1804565" y="1625799"/>
                </a:lnTo>
                <a:lnTo>
                  <a:pt x="1807833" y="1625820"/>
                </a:lnTo>
                <a:lnTo>
                  <a:pt x="1810998" y="1625820"/>
                </a:lnTo>
                <a:lnTo>
                  <a:pt x="1810998" y="1619051"/>
                </a:lnTo>
                <a:lnTo>
                  <a:pt x="1814189" y="1619051"/>
                </a:lnTo>
                <a:lnTo>
                  <a:pt x="1814189" y="1615624"/>
                </a:lnTo>
                <a:lnTo>
                  <a:pt x="1817457" y="1615624"/>
                </a:lnTo>
                <a:lnTo>
                  <a:pt x="1820648" y="1615624"/>
                </a:lnTo>
                <a:lnTo>
                  <a:pt x="1823917" y="1615624"/>
                </a:lnTo>
                <a:lnTo>
                  <a:pt x="1827133" y="1615624"/>
                </a:lnTo>
                <a:lnTo>
                  <a:pt x="1827133" y="1612240"/>
                </a:lnTo>
                <a:lnTo>
                  <a:pt x="1830376" y="1612240"/>
                </a:lnTo>
                <a:lnTo>
                  <a:pt x="1833592" y="1612240"/>
                </a:lnTo>
                <a:lnTo>
                  <a:pt x="1836809" y="1612240"/>
                </a:lnTo>
                <a:lnTo>
                  <a:pt x="1840077" y="1612261"/>
                </a:lnTo>
                <a:lnTo>
                  <a:pt x="1843294" y="1612261"/>
                </a:lnTo>
                <a:lnTo>
                  <a:pt x="1843294" y="1608898"/>
                </a:lnTo>
                <a:lnTo>
                  <a:pt x="1846537" y="1608898"/>
                </a:lnTo>
                <a:lnTo>
                  <a:pt x="1846537" y="1605492"/>
                </a:lnTo>
                <a:lnTo>
                  <a:pt x="1849753" y="1605492"/>
                </a:lnTo>
                <a:lnTo>
                  <a:pt x="1852944" y="1605492"/>
                </a:lnTo>
                <a:lnTo>
                  <a:pt x="1852944" y="1602065"/>
                </a:lnTo>
                <a:lnTo>
                  <a:pt x="1856160" y="1602065"/>
                </a:lnTo>
                <a:lnTo>
                  <a:pt x="1859403" y="1602065"/>
                </a:lnTo>
                <a:lnTo>
                  <a:pt x="1859403" y="1595339"/>
                </a:lnTo>
                <a:lnTo>
                  <a:pt x="1862619" y="1595339"/>
                </a:lnTo>
                <a:lnTo>
                  <a:pt x="1862619" y="1591912"/>
                </a:lnTo>
                <a:lnTo>
                  <a:pt x="1865836" y="1591912"/>
                </a:lnTo>
                <a:lnTo>
                  <a:pt x="1869105" y="1591912"/>
                </a:lnTo>
                <a:lnTo>
                  <a:pt x="1869105" y="1588570"/>
                </a:lnTo>
                <a:lnTo>
                  <a:pt x="1872295" y="1588570"/>
                </a:lnTo>
                <a:lnTo>
                  <a:pt x="1875564" y="1588570"/>
                </a:lnTo>
                <a:lnTo>
                  <a:pt x="1878780" y="1588570"/>
                </a:lnTo>
                <a:lnTo>
                  <a:pt x="1878780" y="1585143"/>
                </a:lnTo>
                <a:lnTo>
                  <a:pt x="1882023" y="1585143"/>
                </a:lnTo>
                <a:lnTo>
                  <a:pt x="1885239" y="1585164"/>
                </a:lnTo>
                <a:lnTo>
                  <a:pt x="1885239" y="1581737"/>
                </a:lnTo>
                <a:lnTo>
                  <a:pt x="1888482" y="1581737"/>
                </a:lnTo>
                <a:lnTo>
                  <a:pt x="1888482" y="1578395"/>
                </a:lnTo>
                <a:lnTo>
                  <a:pt x="1891724" y="1578395"/>
                </a:lnTo>
                <a:lnTo>
                  <a:pt x="1894889" y="1578395"/>
                </a:lnTo>
                <a:lnTo>
                  <a:pt x="1894889" y="1574990"/>
                </a:lnTo>
                <a:lnTo>
                  <a:pt x="1898080" y="1574990"/>
                </a:lnTo>
                <a:lnTo>
                  <a:pt x="1901348" y="1574990"/>
                </a:lnTo>
                <a:lnTo>
                  <a:pt x="1904539" y="1574990"/>
                </a:lnTo>
                <a:lnTo>
                  <a:pt x="1907808" y="1574990"/>
                </a:lnTo>
                <a:lnTo>
                  <a:pt x="1911050" y="1575011"/>
                </a:lnTo>
                <a:lnTo>
                  <a:pt x="1914267" y="1575011"/>
                </a:lnTo>
                <a:lnTo>
                  <a:pt x="1917510" y="1575011"/>
                </a:lnTo>
                <a:lnTo>
                  <a:pt x="1920752" y="1575011"/>
                </a:lnTo>
                <a:lnTo>
                  <a:pt x="1923942" y="1575011"/>
                </a:lnTo>
                <a:lnTo>
                  <a:pt x="1923942" y="1571605"/>
                </a:lnTo>
                <a:lnTo>
                  <a:pt x="1927211" y="1571605"/>
                </a:lnTo>
                <a:lnTo>
                  <a:pt x="1930402" y="1571605"/>
                </a:lnTo>
                <a:lnTo>
                  <a:pt x="1930402" y="1568199"/>
                </a:lnTo>
                <a:lnTo>
                  <a:pt x="1933566" y="1568199"/>
                </a:lnTo>
                <a:lnTo>
                  <a:pt x="1936835" y="1568199"/>
                </a:lnTo>
                <a:lnTo>
                  <a:pt x="1940025" y="1568199"/>
                </a:lnTo>
                <a:lnTo>
                  <a:pt x="1943294" y="1568199"/>
                </a:lnTo>
                <a:lnTo>
                  <a:pt x="1946537" y="1568199"/>
                </a:lnTo>
                <a:lnTo>
                  <a:pt x="1946537" y="1564836"/>
                </a:lnTo>
                <a:lnTo>
                  <a:pt x="1949753" y="1564836"/>
                </a:lnTo>
                <a:lnTo>
                  <a:pt x="1952970" y="1564836"/>
                </a:lnTo>
                <a:lnTo>
                  <a:pt x="1952970" y="1561452"/>
                </a:lnTo>
                <a:lnTo>
                  <a:pt x="1956187" y="1561452"/>
                </a:lnTo>
                <a:lnTo>
                  <a:pt x="1959429" y="1561452"/>
                </a:lnTo>
                <a:lnTo>
                  <a:pt x="1959429" y="1558025"/>
                </a:lnTo>
                <a:lnTo>
                  <a:pt x="1962672" y="1558046"/>
                </a:lnTo>
                <a:lnTo>
                  <a:pt x="1965888" y="1558046"/>
                </a:lnTo>
                <a:lnTo>
                  <a:pt x="1969157" y="1558046"/>
                </a:lnTo>
                <a:lnTo>
                  <a:pt x="1972347" y="1558046"/>
                </a:lnTo>
                <a:lnTo>
                  <a:pt x="1975512" y="1558046"/>
                </a:lnTo>
                <a:lnTo>
                  <a:pt x="1978781" y="1558046"/>
                </a:lnTo>
                <a:lnTo>
                  <a:pt x="1978781" y="1551235"/>
                </a:lnTo>
                <a:lnTo>
                  <a:pt x="1981971" y="1551235"/>
                </a:lnTo>
                <a:lnTo>
                  <a:pt x="1981971" y="1547829"/>
                </a:lnTo>
                <a:lnTo>
                  <a:pt x="1985214" y="1547829"/>
                </a:lnTo>
                <a:lnTo>
                  <a:pt x="1988456" y="1547829"/>
                </a:lnTo>
                <a:lnTo>
                  <a:pt x="1991673" y="1547829"/>
                </a:lnTo>
                <a:lnTo>
                  <a:pt x="1994916" y="1547829"/>
                </a:lnTo>
                <a:lnTo>
                  <a:pt x="1998132" y="1547829"/>
                </a:lnTo>
                <a:lnTo>
                  <a:pt x="2001401" y="1547829"/>
                </a:lnTo>
                <a:lnTo>
                  <a:pt x="2004617" y="1547850"/>
                </a:lnTo>
                <a:lnTo>
                  <a:pt x="2007860" y="1547850"/>
                </a:lnTo>
                <a:lnTo>
                  <a:pt x="2011076" y="1547850"/>
                </a:lnTo>
                <a:lnTo>
                  <a:pt x="2011076" y="1544466"/>
                </a:lnTo>
                <a:lnTo>
                  <a:pt x="2014319" y="1544466"/>
                </a:lnTo>
                <a:lnTo>
                  <a:pt x="2014319" y="1541039"/>
                </a:lnTo>
                <a:lnTo>
                  <a:pt x="2017484" y="1541039"/>
                </a:lnTo>
                <a:lnTo>
                  <a:pt x="2020700" y="1541039"/>
                </a:lnTo>
                <a:lnTo>
                  <a:pt x="2023943" y="1541039"/>
                </a:lnTo>
                <a:lnTo>
                  <a:pt x="2027159" y="1541039"/>
                </a:lnTo>
                <a:lnTo>
                  <a:pt x="2030428" y="1541039"/>
                </a:lnTo>
                <a:lnTo>
                  <a:pt x="2030428" y="1537697"/>
                </a:lnTo>
                <a:lnTo>
                  <a:pt x="2033618" y="1537697"/>
                </a:lnTo>
                <a:lnTo>
                  <a:pt x="2033618" y="1534270"/>
                </a:lnTo>
                <a:lnTo>
                  <a:pt x="2036887" y="1534291"/>
                </a:lnTo>
                <a:lnTo>
                  <a:pt x="2036887" y="1527480"/>
                </a:lnTo>
                <a:lnTo>
                  <a:pt x="2040078" y="1527480"/>
                </a:lnTo>
                <a:lnTo>
                  <a:pt x="2043346" y="1527480"/>
                </a:lnTo>
                <a:lnTo>
                  <a:pt x="2046563" y="1527480"/>
                </a:lnTo>
                <a:lnTo>
                  <a:pt x="2049780" y="1527480"/>
                </a:lnTo>
                <a:lnTo>
                  <a:pt x="2053048" y="1527480"/>
                </a:lnTo>
                <a:lnTo>
                  <a:pt x="2053048" y="1520668"/>
                </a:lnTo>
                <a:lnTo>
                  <a:pt x="2056265" y="1520668"/>
                </a:lnTo>
                <a:lnTo>
                  <a:pt x="2056265" y="1517263"/>
                </a:lnTo>
                <a:lnTo>
                  <a:pt x="2059403" y="1517263"/>
                </a:lnTo>
                <a:lnTo>
                  <a:pt x="2062672" y="1517263"/>
                </a:lnTo>
                <a:lnTo>
                  <a:pt x="2062672" y="1513836"/>
                </a:lnTo>
                <a:lnTo>
                  <a:pt x="2065862" y="1513836"/>
                </a:lnTo>
                <a:lnTo>
                  <a:pt x="2065862" y="1510452"/>
                </a:lnTo>
                <a:lnTo>
                  <a:pt x="2069131" y="1510452"/>
                </a:lnTo>
                <a:lnTo>
                  <a:pt x="2072374" y="1510452"/>
                </a:lnTo>
                <a:lnTo>
                  <a:pt x="2075590" y="1510452"/>
                </a:lnTo>
                <a:lnTo>
                  <a:pt x="2078806" y="1510452"/>
                </a:lnTo>
                <a:lnTo>
                  <a:pt x="2082075" y="1510473"/>
                </a:lnTo>
                <a:lnTo>
                  <a:pt x="2082075" y="1503640"/>
                </a:lnTo>
                <a:lnTo>
                  <a:pt x="2085265" y="1503640"/>
                </a:lnTo>
                <a:lnTo>
                  <a:pt x="2088534" y="1503640"/>
                </a:lnTo>
                <a:lnTo>
                  <a:pt x="2091725" y="1503640"/>
                </a:lnTo>
                <a:lnTo>
                  <a:pt x="2091725" y="1500235"/>
                </a:lnTo>
                <a:lnTo>
                  <a:pt x="2094993" y="1500235"/>
                </a:lnTo>
                <a:lnTo>
                  <a:pt x="2098210" y="1500235"/>
                </a:lnTo>
                <a:lnTo>
                  <a:pt x="2098210" y="1493424"/>
                </a:lnTo>
                <a:lnTo>
                  <a:pt x="2101349" y="1493424"/>
                </a:lnTo>
                <a:lnTo>
                  <a:pt x="2104617" y="1493424"/>
                </a:lnTo>
                <a:lnTo>
                  <a:pt x="2107834" y="1493424"/>
                </a:lnTo>
                <a:lnTo>
                  <a:pt x="2107834" y="1490018"/>
                </a:lnTo>
                <a:lnTo>
                  <a:pt x="2111051" y="1490018"/>
                </a:lnTo>
                <a:lnTo>
                  <a:pt x="2114319" y="1490018"/>
                </a:lnTo>
                <a:lnTo>
                  <a:pt x="2117510" y="1490018"/>
                </a:lnTo>
                <a:lnTo>
                  <a:pt x="2117510" y="1486633"/>
                </a:lnTo>
                <a:lnTo>
                  <a:pt x="2120752" y="1486633"/>
                </a:lnTo>
                <a:lnTo>
                  <a:pt x="2123995" y="1486633"/>
                </a:lnTo>
                <a:lnTo>
                  <a:pt x="2127211" y="1486633"/>
                </a:lnTo>
                <a:lnTo>
                  <a:pt x="2127211" y="1483228"/>
                </a:lnTo>
                <a:lnTo>
                  <a:pt x="2130480" y="1483228"/>
                </a:lnTo>
                <a:lnTo>
                  <a:pt x="2133671" y="1483228"/>
                </a:lnTo>
                <a:lnTo>
                  <a:pt x="2136939" y="1483228"/>
                </a:lnTo>
                <a:lnTo>
                  <a:pt x="2140078" y="1483228"/>
                </a:lnTo>
                <a:lnTo>
                  <a:pt x="2140078" y="1479801"/>
                </a:lnTo>
                <a:lnTo>
                  <a:pt x="2143294" y="1479801"/>
                </a:lnTo>
                <a:lnTo>
                  <a:pt x="2146537" y="1479801"/>
                </a:lnTo>
                <a:lnTo>
                  <a:pt x="2146537" y="1476417"/>
                </a:lnTo>
                <a:lnTo>
                  <a:pt x="2149779" y="1476417"/>
                </a:lnTo>
                <a:lnTo>
                  <a:pt x="2149779" y="1469647"/>
                </a:lnTo>
                <a:lnTo>
                  <a:pt x="2152996" y="1469647"/>
                </a:lnTo>
                <a:lnTo>
                  <a:pt x="2156239" y="1469669"/>
                </a:lnTo>
                <a:lnTo>
                  <a:pt x="2159455" y="1469669"/>
                </a:lnTo>
                <a:lnTo>
                  <a:pt x="2162724" y="1469669"/>
                </a:lnTo>
                <a:lnTo>
                  <a:pt x="2162724" y="1462836"/>
                </a:lnTo>
                <a:lnTo>
                  <a:pt x="2165940" y="1462836"/>
                </a:lnTo>
                <a:lnTo>
                  <a:pt x="2165940" y="1459452"/>
                </a:lnTo>
                <a:lnTo>
                  <a:pt x="2169157" y="1459452"/>
                </a:lnTo>
                <a:lnTo>
                  <a:pt x="2172399" y="1459452"/>
                </a:lnTo>
                <a:lnTo>
                  <a:pt x="2172399" y="1452619"/>
                </a:lnTo>
                <a:lnTo>
                  <a:pt x="2175616" y="1452619"/>
                </a:lnTo>
                <a:lnTo>
                  <a:pt x="2178858" y="1452619"/>
                </a:lnTo>
                <a:lnTo>
                  <a:pt x="2182023" y="1452619"/>
                </a:lnTo>
                <a:lnTo>
                  <a:pt x="2185266" y="1452619"/>
                </a:lnTo>
                <a:lnTo>
                  <a:pt x="2185266" y="1445766"/>
                </a:lnTo>
                <a:lnTo>
                  <a:pt x="2188482" y="1445766"/>
                </a:lnTo>
                <a:lnTo>
                  <a:pt x="2188482" y="1442381"/>
                </a:lnTo>
                <a:lnTo>
                  <a:pt x="2191751" y="1442381"/>
                </a:lnTo>
                <a:lnTo>
                  <a:pt x="2194942" y="1442381"/>
                </a:lnTo>
                <a:lnTo>
                  <a:pt x="2198210" y="1442381"/>
                </a:lnTo>
                <a:lnTo>
                  <a:pt x="2201401" y="1442381"/>
                </a:lnTo>
                <a:lnTo>
                  <a:pt x="2204644" y="1442381"/>
                </a:lnTo>
                <a:lnTo>
                  <a:pt x="2207886" y="1442381"/>
                </a:lnTo>
                <a:lnTo>
                  <a:pt x="2207886" y="1435549"/>
                </a:lnTo>
                <a:lnTo>
                  <a:pt x="2211103" y="1435549"/>
                </a:lnTo>
                <a:lnTo>
                  <a:pt x="2214371" y="1435549"/>
                </a:lnTo>
                <a:lnTo>
                  <a:pt x="2217588" y="1435570"/>
                </a:lnTo>
                <a:lnTo>
                  <a:pt x="2220830" y="1435570"/>
                </a:lnTo>
                <a:lnTo>
                  <a:pt x="2223995" y="1435570"/>
                </a:lnTo>
                <a:lnTo>
                  <a:pt x="2227185" y="1435570"/>
                </a:lnTo>
                <a:lnTo>
                  <a:pt x="2227185" y="1428738"/>
                </a:lnTo>
                <a:lnTo>
                  <a:pt x="2230428" y="1428738"/>
                </a:lnTo>
                <a:lnTo>
                  <a:pt x="2233671" y="1428738"/>
                </a:lnTo>
                <a:lnTo>
                  <a:pt x="2233671" y="1425353"/>
                </a:lnTo>
                <a:lnTo>
                  <a:pt x="2236913" y="1425353"/>
                </a:lnTo>
                <a:lnTo>
                  <a:pt x="2240130" y="1425353"/>
                </a:lnTo>
                <a:lnTo>
                  <a:pt x="2243372" y="1425353"/>
                </a:lnTo>
                <a:lnTo>
                  <a:pt x="2246589" y="1425353"/>
                </a:lnTo>
                <a:lnTo>
                  <a:pt x="2249857" y="1425375"/>
                </a:lnTo>
                <a:lnTo>
                  <a:pt x="2249857" y="1421948"/>
                </a:lnTo>
                <a:lnTo>
                  <a:pt x="2253048" y="1421948"/>
                </a:lnTo>
                <a:lnTo>
                  <a:pt x="2253048" y="1418542"/>
                </a:lnTo>
                <a:lnTo>
                  <a:pt x="2256317" y="1418542"/>
                </a:lnTo>
                <a:lnTo>
                  <a:pt x="2259533" y="1418542"/>
                </a:lnTo>
                <a:lnTo>
                  <a:pt x="2259533" y="1415136"/>
                </a:lnTo>
                <a:lnTo>
                  <a:pt x="2262750" y="1415136"/>
                </a:lnTo>
                <a:lnTo>
                  <a:pt x="2265915" y="1415136"/>
                </a:lnTo>
                <a:lnTo>
                  <a:pt x="2269157" y="1415136"/>
                </a:lnTo>
                <a:lnTo>
                  <a:pt x="2272374" y="1415136"/>
                </a:lnTo>
                <a:lnTo>
                  <a:pt x="2275642" y="1415136"/>
                </a:lnTo>
                <a:lnTo>
                  <a:pt x="2278833" y="1415136"/>
                </a:lnTo>
                <a:lnTo>
                  <a:pt x="2282075" y="1415136"/>
                </a:lnTo>
                <a:lnTo>
                  <a:pt x="2285318" y="1415158"/>
                </a:lnTo>
                <a:lnTo>
                  <a:pt x="2288535" y="1415158"/>
                </a:lnTo>
                <a:lnTo>
                  <a:pt x="2291803" y="1415158"/>
                </a:lnTo>
                <a:lnTo>
                  <a:pt x="2294994" y="1415158"/>
                </a:lnTo>
                <a:lnTo>
                  <a:pt x="2294994" y="1411688"/>
                </a:lnTo>
                <a:lnTo>
                  <a:pt x="2298236" y="1411688"/>
                </a:lnTo>
                <a:lnTo>
                  <a:pt x="2301479" y="1411710"/>
                </a:lnTo>
                <a:lnTo>
                  <a:pt x="2304695" y="1411710"/>
                </a:lnTo>
                <a:lnTo>
                  <a:pt x="2307860" y="1411710"/>
                </a:lnTo>
                <a:lnTo>
                  <a:pt x="2307860" y="1408325"/>
                </a:lnTo>
                <a:lnTo>
                  <a:pt x="2311077" y="1408325"/>
                </a:lnTo>
                <a:lnTo>
                  <a:pt x="2314319" y="1408325"/>
                </a:lnTo>
                <a:lnTo>
                  <a:pt x="2314319" y="1404856"/>
                </a:lnTo>
                <a:lnTo>
                  <a:pt x="2317562" y="1404856"/>
                </a:lnTo>
                <a:lnTo>
                  <a:pt x="2317562" y="1401450"/>
                </a:lnTo>
                <a:lnTo>
                  <a:pt x="2320778" y="1401450"/>
                </a:lnTo>
                <a:lnTo>
                  <a:pt x="2324021" y="1401450"/>
                </a:lnTo>
                <a:lnTo>
                  <a:pt x="2327263" y="1401450"/>
                </a:lnTo>
                <a:lnTo>
                  <a:pt x="2330480" y="1401450"/>
                </a:lnTo>
                <a:lnTo>
                  <a:pt x="2333722" y="1401450"/>
                </a:lnTo>
                <a:lnTo>
                  <a:pt x="2333722" y="1398002"/>
                </a:lnTo>
                <a:lnTo>
                  <a:pt x="2336939" y="1398002"/>
                </a:lnTo>
                <a:lnTo>
                  <a:pt x="2336939" y="1394576"/>
                </a:lnTo>
                <a:lnTo>
                  <a:pt x="2340182" y="1394576"/>
                </a:lnTo>
                <a:lnTo>
                  <a:pt x="2340182" y="1391149"/>
                </a:lnTo>
                <a:lnTo>
                  <a:pt x="2343424" y="1391149"/>
                </a:lnTo>
                <a:lnTo>
                  <a:pt x="2346589" y="1391149"/>
                </a:lnTo>
                <a:lnTo>
                  <a:pt x="2349806" y="1391149"/>
                </a:lnTo>
                <a:lnTo>
                  <a:pt x="2353023" y="1391149"/>
                </a:lnTo>
                <a:lnTo>
                  <a:pt x="2356265" y="1391149"/>
                </a:lnTo>
                <a:lnTo>
                  <a:pt x="2356265" y="1387701"/>
                </a:lnTo>
                <a:lnTo>
                  <a:pt x="2359508" y="1387701"/>
                </a:lnTo>
                <a:lnTo>
                  <a:pt x="2359508" y="1380784"/>
                </a:lnTo>
                <a:lnTo>
                  <a:pt x="2362724" y="1380784"/>
                </a:lnTo>
                <a:lnTo>
                  <a:pt x="2362724" y="1373930"/>
                </a:lnTo>
                <a:lnTo>
                  <a:pt x="2365967" y="1373930"/>
                </a:lnTo>
                <a:lnTo>
                  <a:pt x="2369209" y="1373930"/>
                </a:lnTo>
                <a:lnTo>
                  <a:pt x="2372426" y="1373930"/>
                </a:lnTo>
                <a:lnTo>
                  <a:pt x="2375694" y="1373930"/>
                </a:lnTo>
                <a:lnTo>
                  <a:pt x="2378885" y="1373930"/>
                </a:lnTo>
                <a:lnTo>
                  <a:pt x="2378885" y="1370461"/>
                </a:lnTo>
                <a:lnTo>
                  <a:pt x="2382127" y="1370461"/>
                </a:lnTo>
                <a:lnTo>
                  <a:pt x="2385370" y="1370461"/>
                </a:lnTo>
                <a:lnTo>
                  <a:pt x="2385370" y="1367013"/>
                </a:lnTo>
                <a:lnTo>
                  <a:pt x="2388508" y="1367013"/>
                </a:lnTo>
                <a:lnTo>
                  <a:pt x="2391751" y="1367013"/>
                </a:lnTo>
                <a:lnTo>
                  <a:pt x="2394994" y="1367034"/>
                </a:lnTo>
                <a:lnTo>
                  <a:pt x="2398236" y="1367034"/>
                </a:lnTo>
                <a:lnTo>
                  <a:pt x="2401453" y="1367034"/>
                </a:lnTo>
                <a:lnTo>
                  <a:pt x="2404695" y="1367034"/>
                </a:lnTo>
                <a:lnTo>
                  <a:pt x="2404695" y="1363502"/>
                </a:lnTo>
                <a:lnTo>
                  <a:pt x="2407912" y="1363502"/>
                </a:lnTo>
                <a:lnTo>
                  <a:pt x="2411180" y="1363502"/>
                </a:lnTo>
                <a:lnTo>
                  <a:pt x="2414371" y="1363523"/>
                </a:lnTo>
                <a:lnTo>
                  <a:pt x="2417614" y="1363523"/>
                </a:lnTo>
                <a:lnTo>
                  <a:pt x="2417614" y="1360054"/>
                </a:lnTo>
                <a:lnTo>
                  <a:pt x="2420856" y="1360054"/>
                </a:lnTo>
                <a:lnTo>
                  <a:pt x="2420856" y="1356585"/>
                </a:lnTo>
                <a:lnTo>
                  <a:pt x="2424073" y="1356585"/>
                </a:lnTo>
                <a:lnTo>
                  <a:pt x="2427315" y="1356585"/>
                </a:lnTo>
                <a:lnTo>
                  <a:pt x="2430480" y="1356606"/>
                </a:lnTo>
                <a:lnTo>
                  <a:pt x="2430480" y="1353116"/>
                </a:lnTo>
                <a:lnTo>
                  <a:pt x="2433697" y="1353116"/>
                </a:lnTo>
                <a:lnTo>
                  <a:pt x="2433697" y="1349647"/>
                </a:lnTo>
                <a:lnTo>
                  <a:pt x="2436965" y="1349647"/>
                </a:lnTo>
                <a:lnTo>
                  <a:pt x="2440156" y="1349647"/>
                </a:lnTo>
                <a:lnTo>
                  <a:pt x="2443424" y="1349668"/>
                </a:lnTo>
                <a:lnTo>
                  <a:pt x="2446615" y="1349668"/>
                </a:lnTo>
                <a:lnTo>
                  <a:pt x="2449858" y="1349668"/>
                </a:lnTo>
                <a:lnTo>
                  <a:pt x="2453100" y="1349668"/>
                </a:lnTo>
                <a:lnTo>
                  <a:pt x="2453100" y="1346156"/>
                </a:lnTo>
                <a:lnTo>
                  <a:pt x="2456317" y="1346156"/>
                </a:lnTo>
                <a:lnTo>
                  <a:pt x="2456317" y="1342582"/>
                </a:lnTo>
                <a:lnTo>
                  <a:pt x="2459559" y="1342582"/>
                </a:lnTo>
                <a:lnTo>
                  <a:pt x="2462802" y="1342603"/>
                </a:lnTo>
                <a:lnTo>
                  <a:pt x="2462802" y="1339091"/>
                </a:lnTo>
                <a:lnTo>
                  <a:pt x="2466018" y="1339091"/>
                </a:lnTo>
                <a:lnTo>
                  <a:pt x="2466018" y="1335580"/>
                </a:lnTo>
                <a:lnTo>
                  <a:pt x="2469235" y="1335580"/>
                </a:lnTo>
                <a:lnTo>
                  <a:pt x="2472374" y="1335580"/>
                </a:lnTo>
                <a:lnTo>
                  <a:pt x="2472374" y="1332090"/>
                </a:lnTo>
                <a:lnTo>
                  <a:pt x="2475642" y="1332090"/>
                </a:lnTo>
                <a:lnTo>
                  <a:pt x="2478859" y="1332090"/>
                </a:lnTo>
                <a:lnTo>
                  <a:pt x="2482101" y="1332111"/>
                </a:lnTo>
                <a:lnTo>
                  <a:pt x="2485344" y="1332111"/>
                </a:lnTo>
                <a:lnTo>
                  <a:pt x="2488561" y="1332111"/>
                </a:lnTo>
                <a:lnTo>
                  <a:pt x="2491804" y="1332111"/>
                </a:lnTo>
                <a:lnTo>
                  <a:pt x="2495046" y="1332111"/>
                </a:lnTo>
                <a:lnTo>
                  <a:pt x="2495046" y="1328536"/>
                </a:lnTo>
                <a:lnTo>
                  <a:pt x="2498263" y="1328536"/>
                </a:lnTo>
                <a:lnTo>
                  <a:pt x="2501479" y="1328536"/>
                </a:lnTo>
                <a:lnTo>
                  <a:pt x="2504748" y="1328536"/>
                </a:lnTo>
                <a:lnTo>
                  <a:pt x="2507964" y="1328557"/>
                </a:lnTo>
                <a:lnTo>
                  <a:pt x="2511233" y="1328557"/>
                </a:lnTo>
                <a:lnTo>
                  <a:pt x="2514372" y="1328557"/>
                </a:lnTo>
                <a:lnTo>
                  <a:pt x="2517588" y="1328557"/>
                </a:lnTo>
                <a:lnTo>
                  <a:pt x="2517588" y="1325003"/>
                </a:lnTo>
                <a:lnTo>
                  <a:pt x="2520857" y="1325003"/>
                </a:lnTo>
                <a:lnTo>
                  <a:pt x="2524047" y="1325003"/>
                </a:lnTo>
                <a:lnTo>
                  <a:pt x="2524047" y="1321386"/>
                </a:lnTo>
                <a:lnTo>
                  <a:pt x="2527290" y="1321386"/>
                </a:lnTo>
                <a:lnTo>
                  <a:pt x="2527290" y="1317832"/>
                </a:lnTo>
                <a:lnTo>
                  <a:pt x="2530532" y="1317832"/>
                </a:lnTo>
                <a:lnTo>
                  <a:pt x="2530532" y="1314279"/>
                </a:lnTo>
                <a:lnTo>
                  <a:pt x="2533749" y="1314279"/>
                </a:lnTo>
                <a:lnTo>
                  <a:pt x="2533749" y="1310662"/>
                </a:lnTo>
                <a:lnTo>
                  <a:pt x="2537017" y="1310683"/>
                </a:lnTo>
                <a:lnTo>
                  <a:pt x="2540208" y="1310683"/>
                </a:lnTo>
                <a:lnTo>
                  <a:pt x="2543476" y="1310683"/>
                </a:lnTo>
                <a:lnTo>
                  <a:pt x="2546693" y="1310683"/>
                </a:lnTo>
                <a:lnTo>
                  <a:pt x="2549935" y="1310683"/>
                </a:lnTo>
                <a:lnTo>
                  <a:pt x="2553075" y="1310683"/>
                </a:lnTo>
                <a:lnTo>
                  <a:pt x="2556291" y="1310683"/>
                </a:lnTo>
                <a:lnTo>
                  <a:pt x="2556291" y="1307087"/>
                </a:lnTo>
                <a:lnTo>
                  <a:pt x="2559534" y="1307087"/>
                </a:lnTo>
                <a:lnTo>
                  <a:pt x="2562776" y="1307087"/>
                </a:lnTo>
                <a:lnTo>
                  <a:pt x="2562776" y="1303470"/>
                </a:lnTo>
                <a:lnTo>
                  <a:pt x="2565993" y="1303470"/>
                </a:lnTo>
                <a:lnTo>
                  <a:pt x="2569235" y="1303470"/>
                </a:lnTo>
                <a:lnTo>
                  <a:pt x="2572478" y="1303470"/>
                </a:lnTo>
                <a:lnTo>
                  <a:pt x="2575694" y="1303470"/>
                </a:lnTo>
                <a:lnTo>
                  <a:pt x="2578937" y="1303470"/>
                </a:lnTo>
                <a:lnTo>
                  <a:pt x="2582153" y="1303470"/>
                </a:lnTo>
                <a:lnTo>
                  <a:pt x="2585396" y="1303470"/>
                </a:lnTo>
                <a:lnTo>
                  <a:pt x="2588638" y="1303491"/>
                </a:lnTo>
                <a:lnTo>
                  <a:pt x="2588638" y="1296214"/>
                </a:lnTo>
                <a:lnTo>
                  <a:pt x="2591856" y="1296214"/>
                </a:lnTo>
                <a:lnTo>
                  <a:pt x="2591856" y="1292597"/>
                </a:lnTo>
                <a:lnTo>
                  <a:pt x="2595020" y="1292597"/>
                </a:lnTo>
                <a:lnTo>
                  <a:pt x="2595020" y="1288959"/>
                </a:lnTo>
                <a:lnTo>
                  <a:pt x="2598262" y="1288959"/>
                </a:lnTo>
                <a:lnTo>
                  <a:pt x="2601479" y="1288959"/>
                </a:lnTo>
                <a:lnTo>
                  <a:pt x="2601479" y="1285299"/>
                </a:lnTo>
                <a:lnTo>
                  <a:pt x="2604721" y="1285299"/>
                </a:lnTo>
                <a:lnTo>
                  <a:pt x="2607938" y="1285299"/>
                </a:lnTo>
                <a:lnTo>
                  <a:pt x="2607938" y="1281703"/>
                </a:lnTo>
                <a:lnTo>
                  <a:pt x="2611155" y="1281703"/>
                </a:lnTo>
                <a:lnTo>
                  <a:pt x="2614423" y="1281703"/>
                </a:lnTo>
                <a:lnTo>
                  <a:pt x="2614423" y="1270725"/>
                </a:lnTo>
                <a:lnTo>
                  <a:pt x="2617640" y="1270725"/>
                </a:lnTo>
                <a:lnTo>
                  <a:pt x="2620882" y="1270725"/>
                </a:lnTo>
                <a:lnTo>
                  <a:pt x="2620882" y="1267065"/>
                </a:lnTo>
                <a:lnTo>
                  <a:pt x="2624099" y="1267065"/>
                </a:lnTo>
                <a:lnTo>
                  <a:pt x="2627341" y="1267065"/>
                </a:lnTo>
                <a:lnTo>
                  <a:pt x="2630584" y="1267065"/>
                </a:lnTo>
                <a:lnTo>
                  <a:pt x="2630584" y="1263364"/>
                </a:lnTo>
                <a:lnTo>
                  <a:pt x="2633801" y="1263364"/>
                </a:lnTo>
                <a:lnTo>
                  <a:pt x="2636965" y="1263364"/>
                </a:lnTo>
                <a:lnTo>
                  <a:pt x="2640208" y="1263364"/>
                </a:lnTo>
                <a:lnTo>
                  <a:pt x="2643424" y="1263364"/>
                </a:lnTo>
                <a:lnTo>
                  <a:pt x="2646667" y="1263364"/>
                </a:lnTo>
                <a:lnTo>
                  <a:pt x="2649884" y="1263406"/>
                </a:lnTo>
                <a:lnTo>
                  <a:pt x="2653127" y="1263406"/>
                </a:lnTo>
                <a:lnTo>
                  <a:pt x="2656369" y="1263406"/>
                </a:lnTo>
                <a:lnTo>
                  <a:pt x="2659586" y="1263406"/>
                </a:lnTo>
                <a:lnTo>
                  <a:pt x="2659586" y="1256003"/>
                </a:lnTo>
                <a:lnTo>
                  <a:pt x="2662828" y="1256024"/>
                </a:lnTo>
                <a:lnTo>
                  <a:pt x="2662828" y="1244940"/>
                </a:lnTo>
                <a:lnTo>
                  <a:pt x="2666071" y="1244940"/>
                </a:lnTo>
                <a:lnTo>
                  <a:pt x="2666071" y="1241238"/>
                </a:lnTo>
                <a:lnTo>
                  <a:pt x="2669287" y="1241238"/>
                </a:lnTo>
                <a:lnTo>
                  <a:pt x="2672530" y="1241238"/>
                </a:lnTo>
                <a:lnTo>
                  <a:pt x="2672530" y="1237515"/>
                </a:lnTo>
                <a:lnTo>
                  <a:pt x="2675746" y="1237536"/>
                </a:lnTo>
                <a:lnTo>
                  <a:pt x="2678911" y="1237536"/>
                </a:lnTo>
                <a:lnTo>
                  <a:pt x="2678911" y="1233834"/>
                </a:lnTo>
                <a:lnTo>
                  <a:pt x="2682154" y="1233834"/>
                </a:lnTo>
                <a:lnTo>
                  <a:pt x="2685345" y="1233834"/>
                </a:lnTo>
                <a:lnTo>
                  <a:pt x="2688613" y="1233855"/>
                </a:lnTo>
                <a:lnTo>
                  <a:pt x="2688613" y="1230069"/>
                </a:lnTo>
                <a:lnTo>
                  <a:pt x="2691804" y="1230090"/>
                </a:lnTo>
                <a:lnTo>
                  <a:pt x="2695072" y="1230090"/>
                </a:lnTo>
                <a:lnTo>
                  <a:pt x="2698315" y="1230090"/>
                </a:lnTo>
                <a:lnTo>
                  <a:pt x="2701531" y="1230090"/>
                </a:lnTo>
                <a:lnTo>
                  <a:pt x="2701531" y="1226367"/>
                </a:lnTo>
                <a:lnTo>
                  <a:pt x="2704774" y="1226367"/>
                </a:lnTo>
                <a:lnTo>
                  <a:pt x="2708016" y="1226367"/>
                </a:lnTo>
                <a:lnTo>
                  <a:pt x="2711233" y="1226367"/>
                </a:lnTo>
                <a:lnTo>
                  <a:pt x="2711233" y="1218858"/>
                </a:lnTo>
                <a:lnTo>
                  <a:pt x="2714449" y="1218858"/>
                </a:lnTo>
                <a:lnTo>
                  <a:pt x="2714449" y="1215114"/>
                </a:lnTo>
                <a:lnTo>
                  <a:pt x="2717588" y="1215114"/>
                </a:lnTo>
                <a:lnTo>
                  <a:pt x="2720857" y="1215114"/>
                </a:lnTo>
                <a:lnTo>
                  <a:pt x="2724099" y="1215114"/>
                </a:lnTo>
                <a:lnTo>
                  <a:pt x="2724099" y="1211348"/>
                </a:lnTo>
                <a:lnTo>
                  <a:pt x="2727342" y="1211348"/>
                </a:lnTo>
                <a:lnTo>
                  <a:pt x="2727342" y="1207583"/>
                </a:lnTo>
                <a:lnTo>
                  <a:pt x="2730558" y="1207583"/>
                </a:lnTo>
                <a:lnTo>
                  <a:pt x="2733827" y="1207583"/>
                </a:lnTo>
                <a:lnTo>
                  <a:pt x="2737017" y="1207604"/>
                </a:lnTo>
                <a:lnTo>
                  <a:pt x="2740260" y="1207604"/>
                </a:lnTo>
                <a:lnTo>
                  <a:pt x="2743476" y="1207604"/>
                </a:lnTo>
                <a:lnTo>
                  <a:pt x="2746719" y="1207604"/>
                </a:lnTo>
                <a:lnTo>
                  <a:pt x="2749961" y="1207604"/>
                </a:lnTo>
                <a:lnTo>
                  <a:pt x="2749961" y="1203776"/>
                </a:lnTo>
                <a:lnTo>
                  <a:pt x="2753179" y="1203818"/>
                </a:lnTo>
                <a:lnTo>
                  <a:pt x="2753179" y="1200011"/>
                </a:lnTo>
                <a:lnTo>
                  <a:pt x="2756421" y="1200011"/>
                </a:lnTo>
                <a:lnTo>
                  <a:pt x="2756421" y="1196203"/>
                </a:lnTo>
                <a:lnTo>
                  <a:pt x="2759586" y="1196203"/>
                </a:lnTo>
                <a:lnTo>
                  <a:pt x="2762802" y="1196203"/>
                </a:lnTo>
                <a:lnTo>
                  <a:pt x="2766045" y="1196203"/>
                </a:lnTo>
                <a:lnTo>
                  <a:pt x="2769261" y="1196203"/>
                </a:lnTo>
                <a:lnTo>
                  <a:pt x="2772504" y="1196203"/>
                </a:lnTo>
                <a:lnTo>
                  <a:pt x="2775746" y="1196203"/>
                </a:lnTo>
                <a:lnTo>
                  <a:pt x="2778937" y="1196203"/>
                </a:lnTo>
                <a:lnTo>
                  <a:pt x="2778937" y="1192395"/>
                </a:lnTo>
                <a:lnTo>
                  <a:pt x="2782205" y="1192395"/>
                </a:lnTo>
                <a:lnTo>
                  <a:pt x="2782205" y="1184717"/>
                </a:lnTo>
                <a:lnTo>
                  <a:pt x="2785397" y="1184717"/>
                </a:lnTo>
                <a:lnTo>
                  <a:pt x="2788664" y="1184717"/>
                </a:lnTo>
                <a:lnTo>
                  <a:pt x="2791882" y="1184717"/>
                </a:lnTo>
                <a:lnTo>
                  <a:pt x="2791882" y="1180867"/>
                </a:lnTo>
                <a:lnTo>
                  <a:pt x="2795124" y="1180867"/>
                </a:lnTo>
                <a:lnTo>
                  <a:pt x="2795124" y="1176996"/>
                </a:lnTo>
                <a:lnTo>
                  <a:pt x="2798341" y="1176996"/>
                </a:lnTo>
                <a:lnTo>
                  <a:pt x="2801505" y="1177017"/>
                </a:lnTo>
                <a:lnTo>
                  <a:pt x="2801505" y="1173189"/>
                </a:lnTo>
                <a:lnTo>
                  <a:pt x="2804722" y="1173189"/>
                </a:lnTo>
                <a:lnTo>
                  <a:pt x="2807990" y="1173189"/>
                </a:lnTo>
                <a:lnTo>
                  <a:pt x="2811181" y="1173189"/>
                </a:lnTo>
                <a:lnTo>
                  <a:pt x="2811181" y="1169296"/>
                </a:lnTo>
                <a:lnTo>
                  <a:pt x="2814450" y="1169296"/>
                </a:lnTo>
                <a:lnTo>
                  <a:pt x="2817666" y="1169296"/>
                </a:lnTo>
                <a:lnTo>
                  <a:pt x="2820909" y="1169296"/>
                </a:lnTo>
                <a:lnTo>
                  <a:pt x="2824125" y="1169296"/>
                </a:lnTo>
                <a:lnTo>
                  <a:pt x="2824125" y="1161555"/>
                </a:lnTo>
                <a:lnTo>
                  <a:pt x="2827368" y="1161555"/>
                </a:lnTo>
                <a:lnTo>
                  <a:pt x="2827368" y="1157705"/>
                </a:lnTo>
                <a:lnTo>
                  <a:pt x="2830585" y="1157705"/>
                </a:lnTo>
                <a:lnTo>
                  <a:pt x="2833853" y="1157705"/>
                </a:lnTo>
                <a:lnTo>
                  <a:pt x="2837070" y="1157705"/>
                </a:lnTo>
                <a:lnTo>
                  <a:pt x="2840312" y="1157705"/>
                </a:lnTo>
                <a:lnTo>
                  <a:pt x="2840312" y="1153791"/>
                </a:lnTo>
                <a:lnTo>
                  <a:pt x="2843477" y="1153791"/>
                </a:lnTo>
                <a:lnTo>
                  <a:pt x="2846693" y="1153791"/>
                </a:lnTo>
                <a:lnTo>
                  <a:pt x="2849936" y="1153791"/>
                </a:lnTo>
                <a:lnTo>
                  <a:pt x="2853153" y="1153791"/>
                </a:lnTo>
                <a:lnTo>
                  <a:pt x="2856395" y="1153791"/>
                </a:lnTo>
                <a:lnTo>
                  <a:pt x="2859663" y="1153791"/>
                </a:lnTo>
                <a:lnTo>
                  <a:pt x="2862854" y="1153791"/>
                </a:lnTo>
                <a:lnTo>
                  <a:pt x="2866097" y="1153791"/>
                </a:lnTo>
                <a:lnTo>
                  <a:pt x="2869339" y="1153812"/>
                </a:lnTo>
                <a:lnTo>
                  <a:pt x="2872556" y="1153812"/>
                </a:lnTo>
                <a:lnTo>
                  <a:pt x="2872556" y="1149857"/>
                </a:lnTo>
                <a:lnTo>
                  <a:pt x="2875798" y="1149857"/>
                </a:lnTo>
                <a:lnTo>
                  <a:pt x="2875798" y="1145880"/>
                </a:lnTo>
                <a:lnTo>
                  <a:pt x="2879015" y="1145880"/>
                </a:lnTo>
                <a:lnTo>
                  <a:pt x="2882257" y="1145880"/>
                </a:lnTo>
                <a:lnTo>
                  <a:pt x="2885422" y="1145880"/>
                </a:lnTo>
                <a:lnTo>
                  <a:pt x="2888639" y="1145901"/>
                </a:lnTo>
                <a:lnTo>
                  <a:pt x="2891881" y="1145901"/>
                </a:lnTo>
                <a:lnTo>
                  <a:pt x="2895098" y="1145901"/>
                </a:lnTo>
                <a:lnTo>
                  <a:pt x="2895098" y="1141903"/>
                </a:lnTo>
                <a:lnTo>
                  <a:pt x="2898315" y="1141903"/>
                </a:lnTo>
                <a:lnTo>
                  <a:pt x="2898315" y="1133929"/>
                </a:lnTo>
                <a:lnTo>
                  <a:pt x="2901584" y="1133929"/>
                </a:lnTo>
                <a:lnTo>
                  <a:pt x="2901584" y="1129910"/>
                </a:lnTo>
                <a:lnTo>
                  <a:pt x="2904774" y="1129910"/>
                </a:lnTo>
                <a:lnTo>
                  <a:pt x="2908043" y="1129910"/>
                </a:lnTo>
                <a:lnTo>
                  <a:pt x="2911259" y="1129910"/>
                </a:lnTo>
                <a:lnTo>
                  <a:pt x="2911259" y="1125911"/>
                </a:lnTo>
                <a:lnTo>
                  <a:pt x="2914502" y="1125911"/>
                </a:lnTo>
                <a:lnTo>
                  <a:pt x="2917718" y="1125911"/>
                </a:lnTo>
                <a:lnTo>
                  <a:pt x="2917718" y="1121893"/>
                </a:lnTo>
                <a:lnTo>
                  <a:pt x="2920960" y="1121893"/>
                </a:lnTo>
                <a:lnTo>
                  <a:pt x="2920960" y="1117831"/>
                </a:lnTo>
                <a:lnTo>
                  <a:pt x="2924125" y="1117831"/>
                </a:lnTo>
                <a:lnTo>
                  <a:pt x="2927368" y="1117831"/>
                </a:lnTo>
                <a:lnTo>
                  <a:pt x="2930559" y="1117831"/>
                </a:lnTo>
                <a:lnTo>
                  <a:pt x="2933827" y="1117831"/>
                </a:lnTo>
                <a:lnTo>
                  <a:pt x="2937044" y="1117831"/>
                </a:lnTo>
                <a:lnTo>
                  <a:pt x="2940287" y="1117852"/>
                </a:lnTo>
                <a:lnTo>
                  <a:pt x="2940287" y="1113812"/>
                </a:lnTo>
                <a:lnTo>
                  <a:pt x="2943529" y="1113812"/>
                </a:lnTo>
                <a:lnTo>
                  <a:pt x="2946745" y="1113812"/>
                </a:lnTo>
                <a:lnTo>
                  <a:pt x="2949987" y="1113812"/>
                </a:lnTo>
                <a:lnTo>
                  <a:pt x="2953230" y="1113812"/>
                </a:lnTo>
                <a:lnTo>
                  <a:pt x="2953230" y="1109687"/>
                </a:lnTo>
                <a:lnTo>
                  <a:pt x="2956447" y="1109687"/>
                </a:lnTo>
                <a:lnTo>
                  <a:pt x="2959690" y="1109708"/>
                </a:lnTo>
                <a:lnTo>
                  <a:pt x="2962906" y="1109708"/>
                </a:lnTo>
                <a:lnTo>
                  <a:pt x="2966071" y="1109708"/>
                </a:lnTo>
                <a:lnTo>
                  <a:pt x="2969314" y="1109708"/>
                </a:lnTo>
                <a:lnTo>
                  <a:pt x="2972530" y="1109708"/>
                </a:lnTo>
                <a:lnTo>
                  <a:pt x="2975773" y="1109708"/>
                </a:lnTo>
                <a:lnTo>
                  <a:pt x="2979015" y="1109708"/>
                </a:lnTo>
                <a:lnTo>
                  <a:pt x="2979015" y="1105541"/>
                </a:lnTo>
                <a:lnTo>
                  <a:pt x="2982232" y="1105541"/>
                </a:lnTo>
                <a:lnTo>
                  <a:pt x="2985474" y="1105541"/>
                </a:lnTo>
                <a:lnTo>
                  <a:pt x="2988691" y="1105563"/>
                </a:lnTo>
                <a:lnTo>
                  <a:pt x="2991908" y="1105563"/>
                </a:lnTo>
                <a:lnTo>
                  <a:pt x="2995176" y="1105563"/>
                </a:lnTo>
                <a:lnTo>
                  <a:pt x="2995176" y="1101353"/>
                </a:lnTo>
                <a:lnTo>
                  <a:pt x="2998367" y="1101353"/>
                </a:lnTo>
                <a:lnTo>
                  <a:pt x="3001635" y="1101353"/>
                </a:lnTo>
                <a:lnTo>
                  <a:pt x="3004852" y="1101353"/>
                </a:lnTo>
                <a:lnTo>
                  <a:pt x="3004852" y="1097144"/>
                </a:lnTo>
                <a:lnTo>
                  <a:pt x="3008017" y="1097144"/>
                </a:lnTo>
                <a:lnTo>
                  <a:pt x="3011259" y="1097144"/>
                </a:lnTo>
                <a:lnTo>
                  <a:pt x="3011259" y="1092934"/>
                </a:lnTo>
                <a:lnTo>
                  <a:pt x="3014476" y="1092955"/>
                </a:lnTo>
                <a:lnTo>
                  <a:pt x="3017718" y="1092955"/>
                </a:lnTo>
                <a:lnTo>
                  <a:pt x="3020961" y="1092955"/>
                </a:lnTo>
                <a:lnTo>
                  <a:pt x="3024151" y="1092955"/>
                </a:lnTo>
                <a:lnTo>
                  <a:pt x="3024151" y="1088682"/>
                </a:lnTo>
                <a:lnTo>
                  <a:pt x="3027420" y="1088682"/>
                </a:lnTo>
                <a:lnTo>
                  <a:pt x="3030611" y="1088703"/>
                </a:lnTo>
                <a:lnTo>
                  <a:pt x="3030611" y="1084473"/>
                </a:lnTo>
                <a:lnTo>
                  <a:pt x="3033879" y="1084473"/>
                </a:lnTo>
                <a:lnTo>
                  <a:pt x="3037096" y="1084473"/>
                </a:lnTo>
                <a:lnTo>
                  <a:pt x="3037096" y="1080221"/>
                </a:lnTo>
                <a:lnTo>
                  <a:pt x="3040339" y="1080221"/>
                </a:lnTo>
                <a:lnTo>
                  <a:pt x="3040339" y="1071654"/>
                </a:lnTo>
                <a:lnTo>
                  <a:pt x="3043555" y="1071654"/>
                </a:lnTo>
                <a:lnTo>
                  <a:pt x="3046824" y="1071675"/>
                </a:lnTo>
                <a:lnTo>
                  <a:pt x="3049962" y="1071675"/>
                </a:lnTo>
                <a:lnTo>
                  <a:pt x="3049962" y="1067403"/>
                </a:lnTo>
                <a:lnTo>
                  <a:pt x="3053230" y="1067403"/>
                </a:lnTo>
                <a:lnTo>
                  <a:pt x="3056421" y="1067403"/>
                </a:lnTo>
                <a:lnTo>
                  <a:pt x="3059689" y="1067403"/>
                </a:lnTo>
                <a:lnTo>
                  <a:pt x="3062907" y="1067403"/>
                </a:lnTo>
                <a:lnTo>
                  <a:pt x="3066149" y="1067424"/>
                </a:lnTo>
                <a:lnTo>
                  <a:pt x="3069366" y="1067424"/>
                </a:lnTo>
                <a:lnTo>
                  <a:pt x="3072608" y="1067424"/>
                </a:lnTo>
                <a:lnTo>
                  <a:pt x="3072608" y="1063045"/>
                </a:lnTo>
                <a:lnTo>
                  <a:pt x="3075825" y="1063045"/>
                </a:lnTo>
                <a:lnTo>
                  <a:pt x="3079067" y="1063066"/>
                </a:lnTo>
                <a:lnTo>
                  <a:pt x="3082284" y="1063066"/>
                </a:lnTo>
                <a:lnTo>
                  <a:pt x="3085501" y="1063066"/>
                </a:lnTo>
                <a:lnTo>
                  <a:pt x="3085501" y="1054351"/>
                </a:lnTo>
                <a:lnTo>
                  <a:pt x="3088769" y="1054351"/>
                </a:lnTo>
                <a:lnTo>
                  <a:pt x="3091907" y="1054351"/>
                </a:lnTo>
                <a:lnTo>
                  <a:pt x="3091907" y="1041257"/>
                </a:lnTo>
                <a:lnTo>
                  <a:pt x="3095125" y="1041279"/>
                </a:lnTo>
                <a:lnTo>
                  <a:pt x="3098367" y="1041279"/>
                </a:lnTo>
                <a:lnTo>
                  <a:pt x="3101610" y="1041279"/>
                </a:lnTo>
                <a:lnTo>
                  <a:pt x="3104852" y="1041279"/>
                </a:lnTo>
                <a:lnTo>
                  <a:pt x="3104852" y="1028100"/>
                </a:lnTo>
                <a:lnTo>
                  <a:pt x="3108069" y="1028100"/>
                </a:lnTo>
                <a:lnTo>
                  <a:pt x="3108069" y="1023700"/>
                </a:lnTo>
                <a:lnTo>
                  <a:pt x="3111311" y="1023700"/>
                </a:lnTo>
                <a:lnTo>
                  <a:pt x="3114554" y="1023700"/>
                </a:lnTo>
                <a:lnTo>
                  <a:pt x="3117744" y="1023700"/>
                </a:lnTo>
                <a:lnTo>
                  <a:pt x="3117744" y="1019237"/>
                </a:lnTo>
                <a:lnTo>
                  <a:pt x="3121013" y="1019237"/>
                </a:lnTo>
                <a:lnTo>
                  <a:pt x="3124203" y="1019237"/>
                </a:lnTo>
                <a:lnTo>
                  <a:pt x="3124203" y="1014837"/>
                </a:lnTo>
                <a:lnTo>
                  <a:pt x="3127472" y="1014837"/>
                </a:lnTo>
                <a:lnTo>
                  <a:pt x="3130611" y="1014837"/>
                </a:lnTo>
                <a:lnTo>
                  <a:pt x="3133828" y="1014837"/>
                </a:lnTo>
                <a:lnTo>
                  <a:pt x="3133828" y="1010374"/>
                </a:lnTo>
                <a:lnTo>
                  <a:pt x="3137070" y="1010374"/>
                </a:lnTo>
                <a:lnTo>
                  <a:pt x="3137070" y="1001511"/>
                </a:lnTo>
                <a:lnTo>
                  <a:pt x="3140287" y="1001511"/>
                </a:lnTo>
                <a:lnTo>
                  <a:pt x="3140287" y="997048"/>
                </a:lnTo>
                <a:lnTo>
                  <a:pt x="3143529" y="997048"/>
                </a:lnTo>
                <a:lnTo>
                  <a:pt x="3143529" y="992584"/>
                </a:lnTo>
                <a:lnTo>
                  <a:pt x="3146772" y="992584"/>
                </a:lnTo>
                <a:lnTo>
                  <a:pt x="3149962" y="992606"/>
                </a:lnTo>
                <a:lnTo>
                  <a:pt x="3153231" y="992606"/>
                </a:lnTo>
                <a:lnTo>
                  <a:pt x="3153231" y="988079"/>
                </a:lnTo>
                <a:lnTo>
                  <a:pt x="3156473" y="988079"/>
                </a:lnTo>
                <a:lnTo>
                  <a:pt x="3159716" y="988079"/>
                </a:lnTo>
                <a:lnTo>
                  <a:pt x="3159716" y="983616"/>
                </a:lnTo>
                <a:lnTo>
                  <a:pt x="3162958" y="983616"/>
                </a:lnTo>
                <a:lnTo>
                  <a:pt x="3166201" y="983637"/>
                </a:lnTo>
                <a:lnTo>
                  <a:pt x="3169417" y="983637"/>
                </a:lnTo>
                <a:lnTo>
                  <a:pt x="3172582" y="983637"/>
                </a:lnTo>
                <a:lnTo>
                  <a:pt x="3175799" y="983637"/>
                </a:lnTo>
                <a:lnTo>
                  <a:pt x="3179041" y="983637"/>
                </a:lnTo>
                <a:lnTo>
                  <a:pt x="3182258" y="983637"/>
                </a:lnTo>
                <a:lnTo>
                  <a:pt x="3185500" y="983637"/>
                </a:lnTo>
                <a:lnTo>
                  <a:pt x="3188717" y="983637"/>
                </a:lnTo>
                <a:lnTo>
                  <a:pt x="3191959" y="983637"/>
                </a:lnTo>
                <a:lnTo>
                  <a:pt x="3195176" y="983658"/>
                </a:lnTo>
                <a:lnTo>
                  <a:pt x="3198444" y="983658"/>
                </a:lnTo>
                <a:lnTo>
                  <a:pt x="3201635" y="983658"/>
                </a:lnTo>
                <a:lnTo>
                  <a:pt x="3201635" y="979110"/>
                </a:lnTo>
                <a:lnTo>
                  <a:pt x="3204904" y="979110"/>
                </a:lnTo>
                <a:lnTo>
                  <a:pt x="3208094" y="979110"/>
                </a:lnTo>
                <a:lnTo>
                  <a:pt x="3208094" y="974499"/>
                </a:lnTo>
                <a:lnTo>
                  <a:pt x="3211363" y="974499"/>
                </a:lnTo>
                <a:lnTo>
                  <a:pt x="3214502" y="974499"/>
                </a:lnTo>
                <a:lnTo>
                  <a:pt x="3217744" y="974499"/>
                </a:lnTo>
                <a:lnTo>
                  <a:pt x="3217744" y="969930"/>
                </a:lnTo>
                <a:lnTo>
                  <a:pt x="3220961" y="969930"/>
                </a:lnTo>
                <a:lnTo>
                  <a:pt x="3224230" y="969930"/>
                </a:lnTo>
                <a:lnTo>
                  <a:pt x="3227420" y="969930"/>
                </a:lnTo>
                <a:lnTo>
                  <a:pt x="3230689" y="969930"/>
                </a:lnTo>
                <a:lnTo>
                  <a:pt x="3233880" y="969930"/>
                </a:lnTo>
                <a:lnTo>
                  <a:pt x="3237122" y="969930"/>
                </a:lnTo>
                <a:lnTo>
                  <a:pt x="3240365" y="969930"/>
                </a:lnTo>
                <a:lnTo>
                  <a:pt x="3240365" y="965276"/>
                </a:lnTo>
                <a:lnTo>
                  <a:pt x="3243581" y="965276"/>
                </a:lnTo>
                <a:lnTo>
                  <a:pt x="3246824" y="965276"/>
                </a:lnTo>
                <a:lnTo>
                  <a:pt x="3246824" y="960665"/>
                </a:lnTo>
                <a:lnTo>
                  <a:pt x="3250040" y="960665"/>
                </a:lnTo>
                <a:lnTo>
                  <a:pt x="3253283" y="960686"/>
                </a:lnTo>
                <a:lnTo>
                  <a:pt x="3253283" y="956011"/>
                </a:lnTo>
                <a:lnTo>
                  <a:pt x="3256473" y="956011"/>
                </a:lnTo>
                <a:lnTo>
                  <a:pt x="3259664" y="956011"/>
                </a:lnTo>
                <a:lnTo>
                  <a:pt x="3262907" y="956011"/>
                </a:lnTo>
                <a:lnTo>
                  <a:pt x="3266175" y="956011"/>
                </a:lnTo>
                <a:lnTo>
                  <a:pt x="3269392" y="956032"/>
                </a:lnTo>
                <a:lnTo>
                  <a:pt x="3272634" y="956032"/>
                </a:lnTo>
                <a:lnTo>
                  <a:pt x="3275825" y="956032"/>
                </a:lnTo>
                <a:lnTo>
                  <a:pt x="3275825" y="951357"/>
                </a:lnTo>
                <a:lnTo>
                  <a:pt x="3279093" y="951357"/>
                </a:lnTo>
                <a:lnTo>
                  <a:pt x="3282310" y="951378"/>
                </a:lnTo>
                <a:lnTo>
                  <a:pt x="3285553" y="951378"/>
                </a:lnTo>
                <a:lnTo>
                  <a:pt x="3288769" y="951378"/>
                </a:lnTo>
                <a:lnTo>
                  <a:pt x="3288769" y="946682"/>
                </a:lnTo>
                <a:lnTo>
                  <a:pt x="3292038" y="946682"/>
                </a:lnTo>
                <a:lnTo>
                  <a:pt x="3295228" y="946682"/>
                </a:lnTo>
                <a:lnTo>
                  <a:pt x="3298419" y="946682"/>
                </a:lnTo>
                <a:lnTo>
                  <a:pt x="3301610" y="946682"/>
                </a:lnTo>
                <a:lnTo>
                  <a:pt x="3304878" y="946682"/>
                </a:lnTo>
                <a:lnTo>
                  <a:pt x="3308095" y="946682"/>
                </a:lnTo>
                <a:lnTo>
                  <a:pt x="3311337" y="946682"/>
                </a:lnTo>
                <a:lnTo>
                  <a:pt x="3314554" y="946682"/>
                </a:lnTo>
                <a:lnTo>
                  <a:pt x="3317822" y="946704"/>
                </a:lnTo>
                <a:lnTo>
                  <a:pt x="3321013" y="946704"/>
                </a:lnTo>
                <a:lnTo>
                  <a:pt x="3324281" y="946704"/>
                </a:lnTo>
                <a:lnTo>
                  <a:pt x="3327472" y="946704"/>
                </a:lnTo>
                <a:lnTo>
                  <a:pt x="3330714" y="946704"/>
                </a:lnTo>
                <a:lnTo>
                  <a:pt x="3330714" y="941881"/>
                </a:lnTo>
                <a:lnTo>
                  <a:pt x="3333957" y="941902"/>
                </a:lnTo>
                <a:lnTo>
                  <a:pt x="3337122" y="941902"/>
                </a:lnTo>
                <a:lnTo>
                  <a:pt x="3340339" y="941902"/>
                </a:lnTo>
                <a:lnTo>
                  <a:pt x="3343582" y="941902"/>
                </a:lnTo>
                <a:lnTo>
                  <a:pt x="3346797" y="941902"/>
                </a:lnTo>
                <a:lnTo>
                  <a:pt x="3346797" y="932235"/>
                </a:lnTo>
                <a:lnTo>
                  <a:pt x="3350067" y="932235"/>
                </a:lnTo>
                <a:lnTo>
                  <a:pt x="3353257" y="932256"/>
                </a:lnTo>
                <a:lnTo>
                  <a:pt x="3356499" y="932256"/>
                </a:lnTo>
                <a:lnTo>
                  <a:pt x="3359742" y="932256"/>
                </a:lnTo>
                <a:lnTo>
                  <a:pt x="3362958" y="932256"/>
                </a:lnTo>
                <a:lnTo>
                  <a:pt x="3362958" y="922505"/>
                </a:lnTo>
                <a:lnTo>
                  <a:pt x="3366201" y="922505"/>
                </a:lnTo>
                <a:lnTo>
                  <a:pt x="3369417" y="922505"/>
                </a:lnTo>
                <a:lnTo>
                  <a:pt x="3372660" y="922505"/>
                </a:lnTo>
                <a:lnTo>
                  <a:pt x="3375903" y="922505"/>
                </a:lnTo>
                <a:lnTo>
                  <a:pt x="3379067" y="922505"/>
                </a:lnTo>
                <a:lnTo>
                  <a:pt x="3379067" y="917618"/>
                </a:lnTo>
                <a:lnTo>
                  <a:pt x="3382336" y="917618"/>
                </a:lnTo>
                <a:lnTo>
                  <a:pt x="3385553" y="917618"/>
                </a:lnTo>
                <a:lnTo>
                  <a:pt x="3388770" y="917618"/>
                </a:lnTo>
                <a:lnTo>
                  <a:pt x="3392012" y="917618"/>
                </a:lnTo>
                <a:lnTo>
                  <a:pt x="3395228" y="917618"/>
                </a:lnTo>
                <a:lnTo>
                  <a:pt x="3398471" y="917618"/>
                </a:lnTo>
                <a:lnTo>
                  <a:pt x="3401713" y="917639"/>
                </a:lnTo>
                <a:lnTo>
                  <a:pt x="3404930" y="917639"/>
                </a:lnTo>
                <a:lnTo>
                  <a:pt x="3404930" y="912711"/>
                </a:lnTo>
                <a:lnTo>
                  <a:pt x="3408173" y="912711"/>
                </a:lnTo>
                <a:lnTo>
                  <a:pt x="3411389" y="912711"/>
                </a:lnTo>
                <a:lnTo>
                  <a:pt x="3414606" y="912711"/>
                </a:lnTo>
                <a:lnTo>
                  <a:pt x="3414606" y="907824"/>
                </a:lnTo>
                <a:lnTo>
                  <a:pt x="3417874" y="907824"/>
                </a:lnTo>
                <a:lnTo>
                  <a:pt x="3420987" y="907824"/>
                </a:lnTo>
                <a:lnTo>
                  <a:pt x="3420987" y="902875"/>
                </a:lnTo>
                <a:lnTo>
                  <a:pt x="3424256" y="902875"/>
                </a:lnTo>
                <a:lnTo>
                  <a:pt x="3427472" y="902875"/>
                </a:lnTo>
                <a:lnTo>
                  <a:pt x="3430715" y="902875"/>
                </a:lnTo>
                <a:lnTo>
                  <a:pt x="3433931" y="902875"/>
                </a:lnTo>
                <a:lnTo>
                  <a:pt x="3437174" y="902875"/>
                </a:lnTo>
                <a:lnTo>
                  <a:pt x="3440391" y="902875"/>
                </a:lnTo>
                <a:lnTo>
                  <a:pt x="3443659" y="902896"/>
                </a:lnTo>
                <a:lnTo>
                  <a:pt x="3446850" y="902896"/>
                </a:lnTo>
                <a:lnTo>
                  <a:pt x="3450092" y="902896"/>
                </a:lnTo>
                <a:lnTo>
                  <a:pt x="3453335" y="902896"/>
                </a:lnTo>
                <a:lnTo>
                  <a:pt x="3456551" y="902896"/>
                </a:lnTo>
                <a:lnTo>
                  <a:pt x="3459794" y="902896"/>
                </a:lnTo>
                <a:lnTo>
                  <a:pt x="3462933" y="902896"/>
                </a:lnTo>
                <a:lnTo>
                  <a:pt x="3466149" y="902896"/>
                </a:lnTo>
                <a:lnTo>
                  <a:pt x="3466149" y="897946"/>
                </a:lnTo>
                <a:lnTo>
                  <a:pt x="3469418" y="897946"/>
                </a:lnTo>
                <a:lnTo>
                  <a:pt x="3472609" y="897946"/>
                </a:lnTo>
                <a:lnTo>
                  <a:pt x="3475877" y="897946"/>
                </a:lnTo>
                <a:lnTo>
                  <a:pt x="3475877" y="892890"/>
                </a:lnTo>
                <a:lnTo>
                  <a:pt x="3479094" y="892912"/>
                </a:lnTo>
                <a:lnTo>
                  <a:pt x="3482337" y="892912"/>
                </a:lnTo>
                <a:lnTo>
                  <a:pt x="3485604" y="892912"/>
                </a:lnTo>
                <a:lnTo>
                  <a:pt x="3485604" y="887856"/>
                </a:lnTo>
                <a:lnTo>
                  <a:pt x="3488822" y="887856"/>
                </a:lnTo>
                <a:lnTo>
                  <a:pt x="3492064" y="887856"/>
                </a:lnTo>
                <a:lnTo>
                  <a:pt x="3495307" y="887877"/>
                </a:lnTo>
                <a:lnTo>
                  <a:pt x="3498522" y="887877"/>
                </a:lnTo>
                <a:lnTo>
                  <a:pt x="3501687" y="887877"/>
                </a:lnTo>
                <a:lnTo>
                  <a:pt x="3504878" y="887877"/>
                </a:lnTo>
                <a:lnTo>
                  <a:pt x="3504878" y="882758"/>
                </a:lnTo>
                <a:lnTo>
                  <a:pt x="3508147" y="882758"/>
                </a:lnTo>
                <a:lnTo>
                  <a:pt x="3511364" y="882758"/>
                </a:lnTo>
                <a:lnTo>
                  <a:pt x="3514580" y="882758"/>
                </a:lnTo>
                <a:lnTo>
                  <a:pt x="3517822" y="882758"/>
                </a:lnTo>
                <a:lnTo>
                  <a:pt x="3521040" y="882758"/>
                </a:lnTo>
                <a:lnTo>
                  <a:pt x="3521040" y="877660"/>
                </a:lnTo>
                <a:lnTo>
                  <a:pt x="3524282" y="877660"/>
                </a:lnTo>
                <a:lnTo>
                  <a:pt x="3527525" y="877660"/>
                </a:lnTo>
                <a:lnTo>
                  <a:pt x="3530740" y="877681"/>
                </a:lnTo>
                <a:lnTo>
                  <a:pt x="3534010" y="877681"/>
                </a:lnTo>
                <a:lnTo>
                  <a:pt x="3537252" y="877681"/>
                </a:lnTo>
                <a:lnTo>
                  <a:pt x="3540468" y="877681"/>
                </a:lnTo>
                <a:lnTo>
                  <a:pt x="3543608" y="877681"/>
                </a:lnTo>
                <a:lnTo>
                  <a:pt x="3546824" y="877681"/>
                </a:lnTo>
                <a:lnTo>
                  <a:pt x="3550067" y="877681"/>
                </a:lnTo>
                <a:lnTo>
                  <a:pt x="3553309" y="877681"/>
                </a:lnTo>
                <a:lnTo>
                  <a:pt x="3553309" y="862092"/>
                </a:lnTo>
                <a:lnTo>
                  <a:pt x="3556526" y="862092"/>
                </a:lnTo>
                <a:lnTo>
                  <a:pt x="3556526" y="856952"/>
                </a:lnTo>
                <a:lnTo>
                  <a:pt x="3559768" y="856952"/>
                </a:lnTo>
                <a:lnTo>
                  <a:pt x="3563011" y="856952"/>
                </a:lnTo>
                <a:lnTo>
                  <a:pt x="3566227" y="856952"/>
                </a:lnTo>
                <a:lnTo>
                  <a:pt x="3569470" y="856952"/>
                </a:lnTo>
                <a:lnTo>
                  <a:pt x="3572686" y="856952"/>
                </a:lnTo>
                <a:lnTo>
                  <a:pt x="3575929" y="856952"/>
                </a:lnTo>
                <a:lnTo>
                  <a:pt x="3575929" y="851748"/>
                </a:lnTo>
                <a:lnTo>
                  <a:pt x="3579146" y="851748"/>
                </a:lnTo>
                <a:lnTo>
                  <a:pt x="3582362" y="851748"/>
                </a:lnTo>
                <a:lnTo>
                  <a:pt x="3582362" y="846460"/>
                </a:lnTo>
                <a:lnTo>
                  <a:pt x="3585553" y="846460"/>
                </a:lnTo>
                <a:lnTo>
                  <a:pt x="3585553" y="841256"/>
                </a:lnTo>
                <a:lnTo>
                  <a:pt x="3588769" y="841256"/>
                </a:lnTo>
                <a:lnTo>
                  <a:pt x="3592012" y="841256"/>
                </a:lnTo>
                <a:lnTo>
                  <a:pt x="3595281" y="841256"/>
                </a:lnTo>
                <a:lnTo>
                  <a:pt x="3598471" y="841256"/>
                </a:lnTo>
                <a:lnTo>
                  <a:pt x="3601739" y="841256"/>
                </a:lnTo>
                <a:lnTo>
                  <a:pt x="3604956" y="841277"/>
                </a:lnTo>
                <a:lnTo>
                  <a:pt x="3608173" y="841277"/>
                </a:lnTo>
                <a:lnTo>
                  <a:pt x="3611415" y="841277"/>
                </a:lnTo>
                <a:lnTo>
                  <a:pt x="3614632" y="841277"/>
                </a:lnTo>
                <a:lnTo>
                  <a:pt x="3617874" y="841277"/>
                </a:lnTo>
                <a:lnTo>
                  <a:pt x="3621117" y="841277"/>
                </a:lnTo>
                <a:lnTo>
                  <a:pt x="3624334" y="841277"/>
                </a:lnTo>
                <a:lnTo>
                  <a:pt x="3627524" y="841277"/>
                </a:lnTo>
                <a:lnTo>
                  <a:pt x="3630741" y="841277"/>
                </a:lnTo>
                <a:lnTo>
                  <a:pt x="3630741" y="835968"/>
                </a:lnTo>
                <a:lnTo>
                  <a:pt x="3633983" y="835989"/>
                </a:lnTo>
                <a:lnTo>
                  <a:pt x="3637200" y="835989"/>
                </a:lnTo>
                <a:lnTo>
                  <a:pt x="3637200" y="830679"/>
                </a:lnTo>
                <a:lnTo>
                  <a:pt x="3640417" y="830679"/>
                </a:lnTo>
                <a:lnTo>
                  <a:pt x="3643660" y="830679"/>
                </a:lnTo>
                <a:lnTo>
                  <a:pt x="3646902" y="830679"/>
                </a:lnTo>
                <a:lnTo>
                  <a:pt x="3650119" y="830679"/>
                </a:lnTo>
                <a:lnTo>
                  <a:pt x="3650119" y="819891"/>
                </a:lnTo>
                <a:lnTo>
                  <a:pt x="3653361" y="819891"/>
                </a:lnTo>
                <a:lnTo>
                  <a:pt x="3656577" y="819891"/>
                </a:lnTo>
                <a:lnTo>
                  <a:pt x="3659820" y="819913"/>
                </a:lnTo>
                <a:lnTo>
                  <a:pt x="3663063" y="819913"/>
                </a:lnTo>
                <a:lnTo>
                  <a:pt x="3666280" y="819913"/>
                </a:lnTo>
                <a:lnTo>
                  <a:pt x="3669444" y="819913"/>
                </a:lnTo>
                <a:lnTo>
                  <a:pt x="3669444" y="809146"/>
                </a:lnTo>
                <a:lnTo>
                  <a:pt x="3672687" y="809146"/>
                </a:lnTo>
                <a:lnTo>
                  <a:pt x="3675903" y="809146"/>
                </a:lnTo>
                <a:lnTo>
                  <a:pt x="3679145" y="809146"/>
                </a:lnTo>
                <a:lnTo>
                  <a:pt x="3682363" y="809146"/>
                </a:lnTo>
                <a:lnTo>
                  <a:pt x="3685605" y="809167"/>
                </a:lnTo>
                <a:lnTo>
                  <a:pt x="3688848" y="809167"/>
                </a:lnTo>
                <a:lnTo>
                  <a:pt x="3688848" y="803688"/>
                </a:lnTo>
                <a:lnTo>
                  <a:pt x="3692064" y="803688"/>
                </a:lnTo>
                <a:lnTo>
                  <a:pt x="3695307" y="803688"/>
                </a:lnTo>
                <a:lnTo>
                  <a:pt x="3698549" y="803688"/>
                </a:lnTo>
                <a:lnTo>
                  <a:pt x="3701766" y="803688"/>
                </a:lnTo>
                <a:lnTo>
                  <a:pt x="3701766" y="798188"/>
                </a:lnTo>
                <a:lnTo>
                  <a:pt x="3705008" y="798188"/>
                </a:lnTo>
                <a:lnTo>
                  <a:pt x="3708173" y="798188"/>
                </a:lnTo>
                <a:lnTo>
                  <a:pt x="3711416" y="798188"/>
                </a:lnTo>
                <a:lnTo>
                  <a:pt x="3714658" y="798188"/>
                </a:lnTo>
                <a:lnTo>
                  <a:pt x="3717875" y="798188"/>
                </a:lnTo>
                <a:lnTo>
                  <a:pt x="3721117" y="798188"/>
                </a:lnTo>
                <a:lnTo>
                  <a:pt x="3724334" y="798188"/>
                </a:lnTo>
                <a:lnTo>
                  <a:pt x="3727576" y="798210"/>
                </a:lnTo>
                <a:lnTo>
                  <a:pt x="3727576" y="792689"/>
                </a:lnTo>
                <a:lnTo>
                  <a:pt x="3730819" y="792689"/>
                </a:lnTo>
                <a:lnTo>
                  <a:pt x="3734009" y="792689"/>
                </a:lnTo>
                <a:lnTo>
                  <a:pt x="3737252" y="792689"/>
                </a:lnTo>
                <a:lnTo>
                  <a:pt x="3740494" y="792710"/>
                </a:lnTo>
                <a:lnTo>
                  <a:pt x="3743711" y="792710"/>
                </a:lnTo>
                <a:lnTo>
                  <a:pt x="3746954" y="792710"/>
                </a:lnTo>
                <a:lnTo>
                  <a:pt x="3750119" y="792710"/>
                </a:lnTo>
                <a:lnTo>
                  <a:pt x="3753361" y="792710"/>
                </a:lnTo>
                <a:lnTo>
                  <a:pt x="3756578" y="792710"/>
                </a:lnTo>
                <a:lnTo>
                  <a:pt x="3759794" y="792710"/>
                </a:lnTo>
                <a:lnTo>
                  <a:pt x="3763037" y="792710"/>
                </a:lnTo>
                <a:lnTo>
                  <a:pt x="3766279" y="792710"/>
                </a:lnTo>
                <a:lnTo>
                  <a:pt x="3769497" y="792710"/>
                </a:lnTo>
                <a:lnTo>
                  <a:pt x="3772739" y="792731"/>
                </a:lnTo>
                <a:lnTo>
                  <a:pt x="3775955" y="792731"/>
                </a:lnTo>
                <a:lnTo>
                  <a:pt x="3779197" y="792731"/>
                </a:lnTo>
                <a:lnTo>
                  <a:pt x="3782440" y="792731"/>
                </a:lnTo>
                <a:lnTo>
                  <a:pt x="3785657" y="792731"/>
                </a:lnTo>
                <a:lnTo>
                  <a:pt x="3788900" y="792731"/>
                </a:lnTo>
                <a:lnTo>
                  <a:pt x="3788900" y="786999"/>
                </a:lnTo>
                <a:lnTo>
                  <a:pt x="3792038" y="786999"/>
                </a:lnTo>
                <a:lnTo>
                  <a:pt x="3792038" y="781287"/>
                </a:lnTo>
                <a:lnTo>
                  <a:pt x="3795255" y="781287"/>
                </a:lnTo>
                <a:lnTo>
                  <a:pt x="3798497" y="781287"/>
                </a:lnTo>
                <a:lnTo>
                  <a:pt x="3801714" y="781308"/>
                </a:lnTo>
                <a:lnTo>
                  <a:pt x="3804983" y="781308"/>
                </a:lnTo>
                <a:lnTo>
                  <a:pt x="3808225" y="781308"/>
                </a:lnTo>
                <a:lnTo>
                  <a:pt x="3811468" y="781308"/>
                </a:lnTo>
                <a:lnTo>
                  <a:pt x="3811468" y="775597"/>
                </a:lnTo>
                <a:lnTo>
                  <a:pt x="3814710" y="775597"/>
                </a:lnTo>
                <a:lnTo>
                  <a:pt x="3817927" y="775597"/>
                </a:lnTo>
                <a:lnTo>
                  <a:pt x="3821169" y="775597"/>
                </a:lnTo>
                <a:lnTo>
                  <a:pt x="3821169" y="769822"/>
                </a:lnTo>
                <a:lnTo>
                  <a:pt x="3824412" y="769844"/>
                </a:lnTo>
                <a:lnTo>
                  <a:pt x="3827603" y="769844"/>
                </a:lnTo>
                <a:lnTo>
                  <a:pt x="3830871" y="769844"/>
                </a:lnTo>
                <a:lnTo>
                  <a:pt x="3834010" y="769844"/>
                </a:lnTo>
                <a:lnTo>
                  <a:pt x="3837226" y="769844"/>
                </a:lnTo>
                <a:lnTo>
                  <a:pt x="3840468" y="769844"/>
                </a:lnTo>
                <a:lnTo>
                  <a:pt x="3840468" y="764090"/>
                </a:lnTo>
                <a:lnTo>
                  <a:pt x="3843686" y="764090"/>
                </a:lnTo>
                <a:lnTo>
                  <a:pt x="3843686" y="758294"/>
                </a:lnTo>
                <a:lnTo>
                  <a:pt x="3846928" y="758294"/>
                </a:lnTo>
                <a:lnTo>
                  <a:pt x="3850171" y="758294"/>
                </a:lnTo>
                <a:lnTo>
                  <a:pt x="3853387" y="758294"/>
                </a:lnTo>
                <a:lnTo>
                  <a:pt x="3856656" y="758294"/>
                </a:lnTo>
                <a:lnTo>
                  <a:pt x="3859846" y="758294"/>
                </a:lnTo>
                <a:lnTo>
                  <a:pt x="3863115" y="758294"/>
                </a:lnTo>
                <a:lnTo>
                  <a:pt x="3863115" y="752477"/>
                </a:lnTo>
                <a:lnTo>
                  <a:pt x="3866331" y="752477"/>
                </a:lnTo>
                <a:lnTo>
                  <a:pt x="3866331" y="746618"/>
                </a:lnTo>
                <a:lnTo>
                  <a:pt x="3869574" y="746618"/>
                </a:lnTo>
                <a:lnTo>
                  <a:pt x="3872791" y="746618"/>
                </a:lnTo>
                <a:lnTo>
                  <a:pt x="3875955" y="746639"/>
                </a:lnTo>
                <a:lnTo>
                  <a:pt x="3879172" y="746639"/>
                </a:lnTo>
                <a:lnTo>
                  <a:pt x="3882414" y="746639"/>
                </a:lnTo>
                <a:lnTo>
                  <a:pt x="3885631" y="746639"/>
                </a:lnTo>
                <a:lnTo>
                  <a:pt x="3888874" y="746639"/>
                </a:lnTo>
                <a:lnTo>
                  <a:pt x="3888874" y="740779"/>
                </a:lnTo>
                <a:lnTo>
                  <a:pt x="3892090" y="740779"/>
                </a:lnTo>
                <a:lnTo>
                  <a:pt x="3895333" y="740800"/>
                </a:lnTo>
                <a:lnTo>
                  <a:pt x="3898549" y="740800"/>
                </a:lnTo>
                <a:lnTo>
                  <a:pt x="3901818" y="740800"/>
                </a:lnTo>
                <a:lnTo>
                  <a:pt x="3901818" y="734814"/>
                </a:lnTo>
                <a:lnTo>
                  <a:pt x="3905009" y="734814"/>
                </a:lnTo>
                <a:lnTo>
                  <a:pt x="3908252" y="734814"/>
                </a:lnTo>
                <a:lnTo>
                  <a:pt x="3911494" y="734814"/>
                </a:lnTo>
                <a:lnTo>
                  <a:pt x="3914658" y="734814"/>
                </a:lnTo>
                <a:lnTo>
                  <a:pt x="3917901" y="734814"/>
                </a:lnTo>
                <a:lnTo>
                  <a:pt x="3921117" y="734814"/>
                </a:lnTo>
                <a:lnTo>
                  <a:pt x="3924360" y="734814"/>
                </a:lnTo>
                <a:lnTo>
                  <a:pt x="3927577" y="734835"/>
                </a:lnTo>
                <a:lnTo>
                  <a:pt x="3930820" y="734835"/>
                </a:lnTo>
                <a:lnTo>
                  <a:pt x="3930820" y="722778"/>
                </a:lnTo>
                <a:lnTo>
                  <a:pt x="3934062" y="722778"/>
                </a:lnTo>
                <a:lnTo>
                  <a:pt x="3937278" y="722799"/>
                </a:lnTo>
                <a:lnTo>
                  <a:pt x="3940520" y="722799"/>
                </a:lnTo>
                <a:lnTo>
                  <a:pt x="3943763" y="722799"/>
                </a:lnTo>
                <a:lnTo>
                  <a:pt x="3946980" y="722799"/>
                </a:lnTo>
                <a:lnTo>
                  <a:pt x="3950223" y="722799"/>
                </a:lnTo>
                <a:lnTo>
                  <a:pt x="3950223" y="716749"/>
                </a:lnTo>
                <a:lnTo>
                  <a:pt x="3953413" y="716749"/>
                </a:lnTo>
                <a:lnTo>
                  <a:pt x="3953413" y="710700"/>
                </a:lnTo>
                <a:lnTo>
                  <a:pt x="3956604" y="710700"/>
                </a:lnTo>
                <a:lnTo>
                  <a:pt x="3959847" y="710700"/>
                </a:lnTo>
                <a:lnTo>
                  <a:pt x="3963063" y="710700"/>
                </a:lnTo>
                <a:lnTo>
                  <a:pt x="3963063" y="704629"/>
                </a:lnTo>
                <a:lnTo>
                  <a:pt x="3966306" y="704629"/>
                </a:lnTo>
                <a:lnTo>
                  <a:pt x="3969548" y="704629"/>
                </a:lnTo>
                <a:lnTo>
                  <a:pt x="3972765" y="704629"/>
                </a:lnTo>
                <a:lnTo>
                  <a:pt x="3976008" y="704650"/>
                </a:lnTo>
                <a:lnTo>
                  <a:pt x="3979223" y="704650"/>
                </a:lnTo>
                <a:lnTo>
                  <a:pt x="3982466" y="704650"/>
                </a:lnTo>
                <a:lnTo>
                  <a:pt x="3985683" y="704650"/>
                </a:lnTo>
                <a:lnTo>
                  <a:pt x="3988926" y="704650"/>
                </a:lnTo>
                <a:lnTo>
                  <a:pt x="3992142" y="704650"/>
                </a:lnTo>
                <a:lnTo>
                  <a:pt x="3995385" y="704650"/>
                </a:lnTo>
                <a:lnTo>
                  <a:pt x="3998549" y="704650"/>
                </a:lnTo>
                <a:lnTo>
                  <a:pt x="4001791" y="704650"/>
                </a:lnTo>
                <a:lnTo>
                  <a:pt x="4005009" y="704650"/>
                </a:lnTo>
                <a:lnTo>
                  <a:pt x="4005009" y="698494"/>
                </a:lnTo>
                <a:lnTo>
                  <a:pt x="4008251" y="698494"/>
                </a:lnTo>
                <a:lnTo>
                  <a:pt x="4011468" y="698494"/>
                </a:lnTo>
                <a:lnTo>
                  <a:pt x="4014710" y="698494"/>
                </a:lnTo>
                <a:lnTo>
                  <a:pt x="4017927" y="698494"/>
                </a:lnTo>
                <a:lnTo>
                  <a:pt x="4021169" y="698494"/>
                </a:lnTo>
                <a:lnTo>
                  <a:pt x="4024386" y="698516"/>
                </a:lnTo>
                <a:lnTo>
                  <a:pt x="4027654" y="698516"/>
                </a:lnTo>
                <a:lnTo>
                  <a:pt x="4030871" y="698516"/>
                </a:lnTo>
                <a:lnTo>
                  <a:pt x="4034139" y="698516"/>
                </a:lnTo>
                <a:lnTo>
                  <a:pt x="4037357" y="698516"/>
                </a:lnTo>
                <a:lnTo>
                  <a:pt x="4040522" y="698516"/>
                </a:lnTo>
                <a:lnTo>
                  <a:pt x="4043737" y="698516"/>
                </a:lnTo>
                <a:lnTo>
                  <a:pt x="4046980" y="698516"/>
                </a:lnTo>
                <a:lnTo>
                  <a:pt x="4050197" y="698516"/>
                </a:lnTo>
                <a:lnTo>
                  <a:pt x="4053465" y="698537"/>
                </a:lnTo>
                <a:lnTo>
                  <a:pt x="4056656" y="698537"/>
                </a:lnTo>
                <a:lnTo>
                  <a:pt x="4059925" y="698537"/>
                </a:lnTo>
                <a:lnTo>
                  <a:pt x="4063115" y="698537"/>
                </a:lnTo>
                <a:lnTo>
                  <a:pt x="4063115" y="692212"/>
                </a:lnTo>
                <a:lnTo>
                  <a:pt x="4066357" y="692212"/>
                </a:lnTo>
                <a:lnTo>
                  <a:pt x="4069600" y="692212"/>
                </a:lnTo>
                <a:lnTo>
                  <a:pt x="4072817" y="692212"/>
                </a:lnTo>
                <a:lnTo>
                  <a:pt x="4072817" y="685866"/>
                </a:lnTo>
                <a:lnTo>
                  <a:pt x="4076060" y="685866"/>
                </a:lnTo>
                <a:lnTo>
                  <a:pt x="4076060" y="679436"/>
                </a:lnTo>
                <a:lnTo>
                  <a:pt x="4079275" y="679436"/>
                </a:lnTo>
                <a:lnTo>
                  <a:pt x="4082440" y="679436"/>
                </a:lnTo>
                <a:lnTo>
                  <a:pt x="4085683" y="679436"/>
                </a:lnTo>
                <a:lnTo>
                  <a:pt x="4088900" y="679436"/>
                </a:lnTo>
                <a:lnTo>
                  <a:pt x="4092143" y="679457"/>
                </a:lnTo>
                <a:lnTo>
                  <a:pt x="4095385" y="679457"/>
                </a:lnTo>
                <a:lnTo>
                  <a:pt x="4098602" y="679457"/>
                </a:lnTo>
                <a:lnTo>
                  <a:pt x="4101844" y="679457"/>
                </a:lnTo>
                <a:lnTo>
                  <a:pt x="4105061" y="679457"/>
                </a:lnTo>
                <a:lnTo>
                  <a:pt x="4108303" y="679457"/>
                </a:lnTo>
                <a:lnTo>
                  <a:pt x="4111520" y="679457"/>
                </a:lnTo>
                <a:lnTo>
                  <a:pt x="4114763" y="679457"/>
                </a:lnTo>
                <a:lnTo>
                  <a:pt x="4117978" y="679457"/>
                </a:lnTo>
                <a:lnTo>
                  <a:pt x="4117978" y="672963"/>
                </a:lnTo>
                <a:lnTo>
                  <a:pt x="4121143" y="672963"/>
                </a:lnTo>
                <a:lnTo>
                  <a:pt x="4124386" y="672963"/>
                </a:lnTo>
                <a:lnTo>
                  <a:pt x="4127629" y="672963"/>
                </a:lnTo>
                <a:lnTo>
                  <a:pt x="4130819" y="672984"/>
                </a:lnTo>
                <a:lnTo>
                  <a:pt x="4134088" y="672984"/>
                </a:lnTo>
                <a:lnTo>
                  <a:pt x="4137331" y="672984"/>
                </a:lnTo>
                <a:lnTo>
                  <a:pt x="4140573" y="672984"/>
                </a:lnTo>
                <a:lnTo>
                  <a:pt x="4143789" y="672984"/>
                </a:lnTo>
                <a:lnTo>
                  <a:pt x="4147058" y="672984"/>
                </a:lnTo>
                <a:lnTo>
                  <a:pt x="4147058" y="666405"/>
                </a:lnTo>
                <a:lnTo>
                  <a:pt x="4150249" y="666427"/>
                </a:lnTo>
                <a:lnTo>
                  <a:pt x="4153517" y="666427"/>
                </a:lnTo>
                <a:lnTo>
                  <a:pt x="4156708" y="666427"/>
                </a:lnTo>
                <a:lnTo>
                  <a:pt x="4159950" y="666427"/>
                </a:lnTo>
                <a:lnTo>
                  <a:pt x="4163115" y="666427"/>
                </a:lnTo>
                <a:lnTo>
                  <a:pt x="4166332" y="666427"/>
                </a:lnTo>
                <a:lnTo>
                  <a:pt x="4169549" y="666427"/>
                </a:lnTo>
                <a:lnTo>
                  <a:pt x="4172791" y="666427"/>
                </a:lnTo>
                <a:lnTo>
                  <a:pt x="4176007" y="666427"/>
                </a:lnTo>
                <a:lnTo>
                  <a:pt x="4179302" y="666448"/>
                </a:lnTo>
                <a:lnTo>
                  <a:pt x="4179302" y="659721"/>
                </a:lnTo>
                <a:lnTo>
                  <a:pt x="4182492" y="659721"/>
                </a:lnTo>
                <a:lnTo>
                  <a:pt x="4185762" y="659721"/>
                </a:lnTo>
                <a:lnTo>
                  <a:pt x="4188977" y="659742"/>
                </a:lnTo>
                <a:lnTo>
                  <a:pt x="4192194" y="659742"/>
                </a:lnTo>
                <a:lnTo>
                  <a:pt x="4195437" y="659742"/>
                </a:lnTo>
                <a:lnTo>
                  <a:pt x="4195437" y="652952"/>
                </a:lnTo>
                <a:lnTo>
                  <a:pt x="4198653" y="652952"/>
                </a:lnTo>
                <a:lnTo>
                  <a:pt x="4201896" y="652952"/>
                </a:lnTo>
                <a:lnTo>
                  <a:pt x="4205061" y="652952"/>
                </a:lnTo>
                <a:lnTo>
                  <a:pt x="4208251" y="652973"/>
                </a:lnTo>
                <a:lnTo>
                  <a:pt x="4211520" y="652973"/>
                </a:lnTo>
                <a:lnTo>
                  <a:pt x="4214736" y="652973"/>
                </a:lnTo>
                <a:lnTo>
                  <a:pt x="4217979" y="652973"/>
                </a:lnTo>
                <a:lnTo>
                  <a:pt x="4221195" y="652973"/>
                </a:lnTo>
                <a:lnTo>
                  <a:pt x="4224413" y="652973"/>
                </a:lnTo>
                <a:lnTo>
                  <a:pt x="4224413" y="646099"/>
                </a:lnTo>
                <a:lnTo>
                  <a:pt x="4227655" y="646099"/>
                </a:lnTo>
                <a:lnTo>
                  <a:pt x="4227655" y="639245"/>
                </a:lnTo>
                <a:lnTo>
                  <a:pt x="4230898" y="639245"/>
                </a:lnTo>
                <a:lnTo>
                  <a:pt x="4234140" y="639245"/>
                </a:lnTo>
                <a:lnTo>
                  <a:pt x="4234140" y="632286"/>
                </a:lnTo>
                <a:lnTo>
                  <a:pt x="4237357" y="632286"/>
                </a:lnTo>
                <a:lnTo>
                  <a:pt x="4240625" y="632286"/>
                </a:lnTo>
                <a:lnTo>
                  <a:pt x="4243816" y="632286"/>
                </a:lnTo>
                <a:lnTo>
                  <a:pt x="4247006" y="632307"/>
                </a:lnTo>
                <a:lnTo>
                  <a:pt x="4250223" y="632307"/>
                </a:lnTo>
                <a:lnTo>
                  <a:pt x="4253466" y="632307"/>
                </a:lnTo>
                <a:lnTo>
                  <a:pt x="4253466" y="625221"/>
                </a:lnTo>
                <a:lnTo>
                  <a:pt x="4256708" y="625221"/>
                </a:lnTo>
                <a:lnTo>
                  <a:pt x="4256708" y="618134"/>
                </a:lnTo>
                <a:lnTo>
                  <a:pt x="4259925" y="618134"/>
                </a:lnTo>
                <a:lnTo>
                  <a:pt x="4263141" y="618134"/>
                </a:lnTo>
                <a:lnTo>
                  <a:pt x="4266384" y="618134"/>
                </a:lnTo>
                <a:lnTo>
                  <a:pt x="4269601" y="618134"/>
                </a:lnTo>
                <a:lnTo>
                  <a:pt x="4269601" y="610963"/>
                </a:lnTo>
                <a:lnTo>
                  <a:pt x="4272869" y="610963"/>
                </a:lnTo>
                <a:lnTo>
                  <a:pt x="4276060" y="610963"/>
                </a:lnTo>
                <a:lnTo>
                  <a:pt x="4279328" y="610963"/>
                </a:lnTo>
                <a:lnTo>
                  <a:pt x="4279328" y="603729"/>
                </a:lnTo>
                <a:lnTo>
                  <a:pt x="4282545" y="603750"/>
                </a:lnTo>
                <a:lnTo>
                  <a:pt x="4285709" y="603750"/>
                </a:lnTo>
                <a:lnTo>
                  <a:pt x="4288926" y="603750"/>
                </a:lnTo>
                <a:lnTo>
                  <a:pt x="4288926" y="596453"/>
                </a:lnTo>
                <a:lnTo>
                  <a:pt x="4292169" y="596453"/>
                </a:lnTo>
                <a:lnTo>
                  <a:pt x="4295385" y="596453"/>
                </a:lnTo>
                <a:lnTo>
                  <a:pt x="4298654" y="596453"/>
                </a:lnTo>
                <a:lnTo>
                  <a:pt x="4301844" y="596453"/>
                </a:lnTo>
                <a:lnTo>
                  <a:pt x="4305113" y="596453"/>
                </a:lnTo>
                <a:lnTo>
                  <a:pt x="4308329" y="596474"/>
                </a:lnTo>
                <a:lnTo>
                  <a:pt x="4311572" y="596474"/>
                </a:lnTo>
                <a:lnTo>
                  <a:pt x="4311572" y="589028"/>
                </a:lnTo>
                <a:lnTo>
                  <a:pt x="4314789" y="589028"/>
                </a:lnTo>
                <a:lnTo>
                  <a:pt x="4318005" y="589028"/>
                </a:lnTo>
                <a:lnTo>
                  <a:pt x="4321247" y="589028"/>
                </a:lnTo>
                <a:lnTo>
                  <a:pt x="4324490" y="589028"/>
                </a:lnTo>
                <a:lnTo>
                  <a:pt x="4327629" y="589028"/>
                </a:lnTo>
                <a:lnTo>
                  <a:pt x="4330897" y="589049"/>
                </a:lnTo>
                <a:lnTo>
                  <a:pt x="4334088" y="589049"/>
                </a:lnTo>
                <a:lnTo>
                  <a:pt x="4337357" y="589049"/>
                </a:lnTo>
                <a:lnTo>
                  <a:pt x="4340573" y="589049"/>
                </a:lnTo>
                <a:lnTo>
                  <a:pt x="4343816" y="589049"/>
                </a:lnTo>
                <a:lnTo>
                  <a:pt x="4347032" y="589049"/>
                </a:lnTo>
                <a:lnTo>
                  <a:pt x="4350275" y="589049"/>
                </a:lnTo>
                <a:lnTo>
                  <a:pt x="4353492" y="589049"/>
                </a:lnTo>
                <a:lnTo>
                  <a:pt x="4353492" y="581392"/>
                </a:lnTo>
                <a:lnTo>
                  <a:pt x="4356760" y="581392"/>
                </a:lnTo>
                <a:lnTo>
                  <a:pt x="4359977" y="581392"/>
                </a:lnTo>
                <a:lnTo>
                  <a:pt x="4363220" y="581392"/>
                </a:lnTo>
                <a:lnTo>
                  <a:pt x="4366462" y="581392"/>
                </a:lnTo>
                <a:lnTo>
                  <a:pt x="4369627" y="581413"/>
                </a:lnTo>
                <a:lnTo>
                  <a:pt x="4372843" y="581413"/>
                </a:lnTo>
                <a:lnTo>
                  <a:pt x="4376085" y="581413"/>
                </a:lnTo>
                <a:lnTo>
                  <a:pt x="4379303" y="581413"/>
                </a:lnTo>
                <a:lnTo>
                  <a:pt x="4382545" y="581413"/>
                </a:lnTo>
                <a:lnTo>
                  <a:pt x="4385761" y="581413"/>
                </a:lnTo>
                <a:lnTo>
                  <a:pt x="4389003" y="581413"/>
                </a:lnTo>
                <a:lnTo>
                  <a:pt x="4392246" y="581413"/>
                </a:lnTo>
                <a:lnTo>
                  <a:pt x="4395437" y="581413"/>
                </a:lnTo>
                <a:lnTo>
                  <a:pt x="4398706" y="581434"/>
                </a:lnTo>
                <a:lnTo>
                  <a:pt x="4401896" y="581434"/>
                </a:lnTo>
                <a:lnTo>
                  <a:pt x="4405165" y="581434"/>
                </a:lnTo>
                <a:lnTo>
                  <a:pt x="4408381" y="581434"/>
                </a:lnTo>
                <a:lnTo>
                  <a:pt x="4411546" y="581434"/>
                </a:lnTo>
                <a:lnTo>
                  <a:pt x="4414763" y="581434"/>
                </a:lnTo>
                <a:lnTo>
                  <a:pt x="4418031" y="581434"/>
                </a:lnTo>
                <a:lnTo>
                  <a:pt x="4421221" y="581434"/>
                </a:lnTo>
                <a:lnTo>
                  <a:pt x="4424491" y="581434"/>
                </a:lnTo>
                <a:lnTo>
                  <a:pt x="4427681" y="581434"/>
                </a:lnTo>
                <a:lnTo>
                  <a:pt x="4430949" y="581455"/>
                </a:lnTo>
                <a:lnTo>
                  <a:pt x="4430949" y="573417"/>
                </a:lnTo>
                <a:lnTo>
                  <a:pt x="4434166" y="573417"/>
                </a:lnTo>
                <a:lnTo>
                  <a:pt x="4437409" y="573438"/>
                </a:lnTo>
                <a:lnTo>
                  <a:pt x="4440625" y="573438"/>
                </a:lnTo>
                <a:lnTo>
                  <a:pt x="4443842" y="573438"/>
                </a:lnTo>
                <a:lnTo>
                  <a:pt x="4447084" y="573438"/>
                </a:lnTo>
                <a:lnTo>
                  <a:pt x="4450327" y="573438"/>
                </a:lnTo>
                <a:lnTo>
                  <a:pt x="4453466" y="573438"/>
                </a:lnTo>
                <a:lnTo>
                  <a:pt x="4456734" y="573438"/>
                </a:lnTo>
                <a:lnTo>
                  <a:pt x="4459977" y="573438"/>
                </a:lnTo>
                <a:lnTo>
                  <a:pt x="4459977" y="565209"/>
                </a:lnTo>
                <a:lnTo>
                  <a:pt x="4463219" y="565209"/>
                </a:lnTo>
                <a:lnTo>
                  <a:pt x="4466436" y="565209"/>
                </a:lnTo>
                <a:lnTo>
                  <a:pt x="4469652" y="565209"/>
                </a:lnTo>
                <a:lnTo>
                  <a:pt x="4472895" y="565209"/>
                </a:lnTo>
                <a:lnTo>
                  <a:pt x="4476137" y="565231"/>
                </a:lnTo>
                <a:lnTo>
                  <a:pt x="4479355" y="565231"/>
                </a:lnTo>
                <a:lnTo>
                  <a:pt x="4482597" y="565231"/>
                </a:lnTo>
                <a:lnTo>
                  <a:pt x="4485840" y="565231"/>
                </a:lnTo>
                <a:lnTo>
                  <a:pt x="4489056" y="565231"/>
                </a:lnTo>
                <a:lnTo>
                  <a:pt x="4492195" y="565231"/>
                </a:lnTo>
                <a:lnTo>
                  <a:pt x="4495437" y="565231"/>
                </a:lnTo>
                <a:lnTo>
                  <a:pt x="4498654" y="565231"/>
                </a:lnTo>
                <a:lnTo>
                  <a:pt x="4501923" y="565231"/>
                </a:lnTo>
                <a:lnTo>
                  <a:pt x="4501923" y="556770"/>
                </a:lnTo>
                <a:lnTo>
                  <a:pt x="4505139" y="556770"/>
                </a:lnTo>
                <a:lnTo>
                  <a:pt x="4508382" y="556770"/>
                </a:lnTo>
                <a:lnTo>
                  <a:pt x="4511598" y="556770"/>
                </a:lnTo>
                <a:lnTo>
                  <a:pt x="4514840" y="556770"/>
                </a:lnTo>
                <a:lnTo>
                  <a:pt x="4518083" y="556791"/>
                </a:lnTo>
                <a:lnTo>
                  <a:pt x="4521300" y="556791"/>
                </a:lnTo>
                <a:lnTo>
                  <a:pt x="4524543" y="556791"/>
                </a:lnTo>
                <a:lnTo>
                  <a:pt x="4527785" y="556791"/>
                </a:lnTo>
                <a:lnTo>
                  <a:pt x="4531001" y="556791"/>
                </a:lnTo>
                <a:lnTo>
                  <a:pt x="4534141" y="556791"/>
                </a:lnTo>
                <a:lnTo>
                  <a:pt x="4537357" y="556791"/>
                </a:lnTo>
                <a:lnTo>
                  <a:pt x="4540600" y="556791"/>
                </a:lnTo>
                <a:lnTo>
                  <a:pt x="4543842" y="556791"/>
                </a:lnTo>
                <a:lnTo>
                  <a:pt x="4543842" y="548033"/>
                </a:lnTo>
                <a:lnTo>
                  <a:pt x="4547059" y="548033"/>
                </a:lnTo>
                <a:lnTo>
                  <a:pt x="4550301" y="548033"/>
                </a:lnTo>
                <a:lnTo>
                  <a:pt x="4550301" y="539170"/>
                </a:lnTo>
                <a:lnTo>
                  <a:pt x="4553544" y="539170"/>
                </a:lnTo>
                <a:lnTo>
                  <a:pt x="4556761" y="539170"/>
                </a:lnTo>
                <a:lnTo>
                  <a:pt x="4560003" y="539170"/>
                </a:lnTo>
                <a:lnTo>
                  <a:pt x="4563219" y="539191"/>
                </a:lnTo>
                <a:lnTo>
                  <a:pt x="4566462" y="539191"/>
                </a:lnTo>
                <a:lnTo>
                  <a:pt x="4569704" y="539191"/>
                </a:lnTo>
                <a:lnTo>
                  <a:pt x="4572921" y="539191"/>
                </a:lnTo>
                <a:lnTo>
                  <a:pt x="4576112" y="539191"/>
                </a:lnTo>
                <a:lnTo>
                  <a:pt x="4579302" y="539191"/>
                </a:lnTo>
                <a:lnTo>
                  <a:pt x="4582571" y="539191"/>
                </a:lnTo>
                <a:lnTo>
                  <a:pt x="4585787" y="539191"/>
                </a:lnTo>
                <a:lnTo>
                  <a:pt x="4585787" y="530117"/>
                </a:lnTo>
                <a:lnTo>
                  <a:pt x="4589030" y="530117"/>
                </a:lnTo>
                <a:lnTo>
                  <a:pt x="4592247" y="530117"/>
                </a:lnTo>
                <a:lnTo>
                  <a:pt x="4592247" y="520958"/>
                </a:lnTo>
                <a:lnTo>
                  <a:pt x="4595515" y="520958"/>
                </a:lnTo>
                <a:lnTo>
                  <a:pt x="4598706" y="520958"/>
                </a:lnTo>
                <a:lnTo>
                  <a:pt x="4601948" y="520958"/>
                </a:lnTo>
                <a:lnTo>
                  <a:pt x="4605165" y="520958"/>
                </a:lnTo>
                <a:lnTo>
                  <a:pt x="4608407" y="520979"/>
                </a:lnTo>
                <a:lnTo>
                  <a:pt x="4611676" y="520979"/>
                </a:lnTo>
                <a:lnTo>
                  <a:pt x="4614892" y="520979"/>
                </a:lnTo>
                <a:lnTo>
                  <a:pt x="4618032" y="520979"/>
                </a:lnTo>
                <a:lnTo>
                  <a:pt x="4621300" y="520979"/>
                </a:lnTo>
                <a:lnTo>
                  <a:pt x="4621300" y="511650"/>
                </a:lnTo>
                <a:lnTo>
                  <a:pt x="4624490" y="511650"/>
                </a:lnTo>
                <a:lnTo>
                  <a:pt x="4627733" y="511650"/>
                </a:lnTo>
                <a:lnTo>
                  <a:pt x="4630950" y="511650"/>
                </a:lnTo>
                <a:lnTo>
                  <a:pt x="4634192" y="511650"/>
                </a:lnTo>
                <a:lnTo>
                  <a:pt x="4637435" y="511671"/>
                </a:lnTo>
                <a:lnTo>
                  <a:pt x="4640651" y="511671"/>
                </a:lnTo>
                <a:lnTo>
                  <a:pt x="4643894" y="511671"/>
                </a:lnTo>
                <a:lnTo>
                  <a:pt x="4647110" y="511671"/>
                </a:lnTo>
                <a:lnTo>
                  <a:pt x="4650353" y="511671"/>
                </a:lnTo>
                <a:lnTo>
                  <a:pt x="4653595" y="511671"/>
                </a:lnTo>
                <a:lnTo>
                  <a:pt x="4653595" y="501983"/>
                </a:lnTo>
                <a:lnTo>
                  <a:pt x="4656813" y="502004"/>
                </a:lnTo>
                <a:lnTo>
                  <a:pt x="4659977" y="502004"/>
                </a:lnTo>
                <a:lnTo>
                  <a:pt x="4663219" y="502004"/>
                </a:lnTo>
                <a:lnTo>
                  <a:pt x="4666436" y="502004"/>
                </a:lnTo>
                <a:lnTo>
                  <a:pt x="4669678" y="502004"/>
                </a:lnTo>
                <a:lnTo>
                  <a:pt x="4672896" y="502004"/>
                </a:lnTo>
                <a:lnTo>
                  <a:pt x="4676138" y="502004"/>
                </a:lnTo>
                <a:lnTo>
                  <a:pt x="4676138" y="492063"/>
                </a:lnTo>
                <a:lnTo>
                  <a:pt x="4679381" y="492084"/>
                </a:lnTo>
                <a:lnTo>
                  <a:pt x="4682623" y="492084"/>
                </a:lnTo>
                <a:lnTo>
                  <a:pt x="4685866" y="492084"/>
                </a:lnTo>
                <a:lnTo>
                  <a:pt x="4689108" y="492084"/>
                </a:lnTo>
                <a:lnTo>
                  <a:pt x="4692325" y="492084"/>
                </a:lnTo>
                <a:lnTo>
                  <a:pt x="4692325" y="482036"/>
                </a:lnTo>
                <a:lnTo>
                  <a:pt x="4695541" y="482036"/>
                </a:lnTo>
                <a:lnTo>
                  <a:pt x="4698706" y="482036"/>
                </a:lnTo>
                <a:lnTo>
                  <a:pt x="4701949" y="482036"/>
                </a:lnTo>
                <a:lnTo>
                  <a:pt x="4705191" y="482036"/>
                </a:lnTo>
                <a:lnTo>
                  <a:pt x="4708408" y="482036"/>
                </a:lnTo>
                <a:lnTo>
                  <a:pt x="4711650" y="482036"/>
                </a:lnTo>
                <a:lnTo>
                  <a:pt x="4714867" y="482036"/>
                </a:lnTo>
                <a:lnTo>
                  <a:pt x="4718109" y="482036"/>
                </a:lnTo>
                <a:lnTo>
                  <a:pt x="4721326" y="482036"/>
                </a:lnTo>
                <a:lnTo>
                  <a:pt x="4724542" y="482057"/>
                </a:lnTo>
                <a:lnTo>
                  <a:pt x="4727785" y="482057"/>
                </a:lnTo>
                <a:lnTo>
                  <a:pt x="4731027" y="482057"/>
                </a:lnTo>
                <a:lnTo>
                  <a:pt x="4734244" y="482057"/>
                </a:lnTo>
                <a:lnTo>
                  <a:pt x="4737487" y="482057"/>
                </a:lnTo>
                <a:lnTo>
                  <a:pt x="4740652" y="482057"/>
                </a:lnTo>
                <a:lnTo>
                  <a:pt x="4743868" y="482057"/>
                </a:lnTo>
                <a:lnTo>
                  <a:pt x="4747111" y="482057"/>
                </a:lnTo>
                <a:lnTo>
                  <a:pt x="4750327" y="482057"/>
                </a:lnTo>
                <a:lnTo>
                  <a:pt x="4750327" y="471671"/>
                </a:lnTo>
                <a:lnTo>
                  <a:pt x="4753570" y="471671"/>
                </a:lnTo>
                <a:lnTo>
                  <a:pt x="4756812" y="471692"/>
                </a:lnTo>
                <a:lnTo>
                  <a:pt x="4760030" y="471692"/>
                </a:lnTo>
                <a:lnTo>
                  <a:pt x="4763272" y="471692"/>
                </a:lnTo>
                <a:lnTo>
                  <a:pt x="4766488" y="471692"/>
                </a:lnTo>
                <a:lnTo>
                  <a:pt x="4769730" y="471692"/>
                </a:lnTo>
                <a:lnTo>
                  <a:pt x="4772973" y="471692"/>
                </a:lnTo>
                <a:lnTo>
                  <a:pt x="4776190" y="471692"/>
                </a:lnTo>
                <a:lnTo>
                  <a:pt x="4779433" y="471692"/>
                </a:lnTo>
                <a:lnTo>
                  <a:pt x="4782571" y="471692"/>
                </a:lnTo>
                <a:lnTo>
                  <a:pt x="4785840" y="471713"/>
                </a:lnTo>
                <a:lnTo>
                  <a:pt x="4789083" y="471713"/>
                </a:lnTo>
                <a:lnTo>
                  <a:pt x="4789083" y="460883"/>
                </a:lnTo>
                <a:lnTo>
                  <a:pt x="4792298" y="460883"/>
                </a:lnTo>
                <a:lnTo>
                  <a:pt x="4795541" y="460883"/>
                </a:lnTo>
                <a:lnTo>
                  <a:pt x="4798783" y="460904"/>
                </a:lnTo>
                <a:lnTo>
                  <a:pt x="4802001" y="460904"/>
                </a:lnTo>
                <a:lnTo>
                  <a:pt x="4802001" y="449905"/>
                </a:lnTo>
                <a:lnTo>
                  <a:pt x="4805243" y="449905"/>
                </a:lnTo>
                <a:lnTo>
                  <a:pt x="4808460" y="449905"/>
                </a:lnTo>
                <a:lnTo>
                  <a:pt x="4811702" y="449926"/>
                </a:lnTo>
                <a:lnTo>
                  <a:pt x="4814918" y="449926"/>
                </a:lnTo>
                <a:lnTo>
                  <a:pt x="4818161" y="449926"/>
                </a:lnTo>
                <a:lnTo>
                  <a:pt x="4821378" y="449926"/>
                </a:lnTo>
                <a:lnTo>
                  <a:pt x="4824543" y="449926"/>
                </a:lnTo>
                <a:lnTo>
                  <a:pt x="4827786" y="449926"/>
                </a:lnTo>
                <a:lnTo>
                  <a:pt x="4831028" y="449926"/>
                </a:lnTo>
                <a:lnTo>
                  <a:pt x="4834244" y="449926"/>
                </a:lnTo>
                <a:lnTo>
                  <a:pt x="4837486" y="449926"/>
                </a:lnTo>
                <a:lnTo>
                  <a:pt x="4840729" y="449926"/>
                </a:lnTo>
                <a:lnTo>
                  <a:pt x="4843946" y="449926"/>
                </a:lnTo>
                <a:lnTo>
                  <a:pt x="4847163" y="449926"/>
                </a:lnTo>
                <a:lnTo>
                  <a:pt x="4850405" y="449926"/>
                </a:lnTo>
                <a:lnTo>
                  <a:pt x="4850405" y="438440"/>
                </a:lnTo>
                <a:lnTo>
                  <a:pt x="4853622" y="438440"/>
                </a:lnTo>
                <a:lnTo>
                  <a:pt x="4856890" y="438440"/>
                </a:lnTo>
                <a:lnTo>
                  <a:pt x="4860081" y="438440"/>
                </a:lnTo>
                <a:lnTo>
                  <a:pt x="4863349" y="438440"/>
                </a:lnTo>
                <a:lnTo>
                  <a:pt x="4866488" y="438440"/>
                </a:lnTo>
                <a:lnTo>
                  <a:pt x="4869705" y="438440"/>
                </a:lnTo>
                <a:lnTo>
                  <a:pt x="4872947" y="438440"/>
                </a:lnTo>
                <a:lnTo>
                  <a:pt x="4876164" y="438440"/>
                </a:lnTo>
                <a:lnTo>
                  <a:pt x="4879407" y="438440"/>
                </a:lnTo>
                <a:lnTo>
                  <a:pt x="4882649" y="438440"/>
                </a:lnTo>
                <a:lnTo>
                  <a:pt x="4885866" y="438440"/>
                </a:lnTo>
                <a:lnTo>
                  <a:pt x="4889108" y="438461"/>
                </a:lnTo>
                <a:lnTo>
                  <a:pt x="4892325" y="438461"/>
                </a:lnTo>
                <a:lnTo>
                  <a:pt x="4895567" y="438461"/>
                </a:lnTo>
                <a:lnTo>
                  <a:pt x="4898810" y="438461"/>
                </a:lnTo>
                <a:lnTo>
                  <a:pt x="4902052" y="438461"/>
                </a:lnTo>
                <a:lnTo>
                  <a:pt x="4905217" y="438461"/>
                </a:lnTo>
                <a:lnTo>
                  <a:pt x="4908434" y="438461"/>
                </a:lnTo>
                <a:lnTo>
                  <a:pt x="4911650" y="438461"/>
                </a:lnTo>
                <a:lnTo>
                  <a:pt x="4914893" y="438461"/>
                </a:lnTo>
                <a:lnTo>
                  <a:pt x="4918110" y="438461"/>
                </a:lnTo>
                <a:lnTo>
                  <a:pt x="4921353" y="438461"/>
                </a:lnTo>
                <a:lnTo>
                  <a:pt x="4924595" y="438461"/>
                </a:lnTo>
                <a:lnTo>
                  <a:pt x="4927812" y="438461"/>
                </a:lnTo>
                <a:lnTo>
                  <a:pt x="4931054" y="438461"/>
                </a:lnTo>
                <a:lnTo>
                  <a:pt x="4934323" y="438461"/>
                </a:lnTo>
                <a:lnTo>
                  <a:pt x="4937539" y="438461"/>
                </a:lnTo>
                <a:lnTo>
                  <a:pt x="4940756" y="438461"/>
                </a:lnTo>
                <a:lnTo>
                  <a:pt x="4943998" y="438461"/>
                </a:lnTo>
                <a:lnTo>
                  <a:pt x="4943998" y="425642"/>
                </a:lnTo>
                <a:lnTo>
                  <a:pt x="4947137" y="425642"/>
                </a:lnTo>
                <a:lnTo>
                  <a:pt x="4950379" y="425642"/>
                </a:lnTo>
                <a:lnTo>
                  <a:pt x="4953596" y="425642"/>
                </a:lnTo>
                <a:lnTo>
                  <a:pt x="4956838" y="425642"/>
                </a:lnTo>
                <a:lnTo>
                  <a:pt x="4960081" y="425642"/>
                </a:lnTo>
                <a:lnTo>
                  <a:pt x="4963298" y="425642"/>
                </a:lnTo>
                <a:lnTo>
                  <a:pt x="4966541" y="425642"/>
                </a:lnTo>
                <a:lnTo>
                  <a:pt x="4969756" y="425642"/>
                </a:lnTo>
                <a:lnTo>
                  <a:pt x="4972974" y="425642"/>
                </a:lnTo>
                <a:lnTo>
                  <a:pt x="4976241" y="425663"/>
                </a:lnTo>
                <a:lnTo>
                  <a:pt x="4979433" y="425663"/>
                </a:lnTo>
                <a:lnTo>
                  <a:pt x="4982701" y="425663"/>
                </a:lnTo>
                <a:lnTo>
                  <a:pt x="4985892" y="425663"/>
                </a:lnTo>
                <a:lnTo>
                  <a:pt x="4989083" y="425663"/>
                </a:lnTo>
                <a:lnTo>
                  <a:pt x="4992325" y="425663"/>
                </a:lnTo>
                <a:lnTo>
                  <a:pt x="4995542" y="425663"/>
                </a:lnTo>
                <a:lnTo>
                  <a:pt x="4998784" y="425663"/>
                </a:lnTo>
                <a:lnTo>
                  <a:pt x="5002027" y="425663"/>
                </a:lnTo>
                <a:lnTo>
                  <a:pt x="5005244" y="425685"/>
                </a:lnTo>
                <a:lnTo>
                  <a:pt x="5008512" y="425685"/>
                </a:lnTo>
                <a:lnTo>
                  <a:pt x="5011702" y="425685"/>
                </a:lnTo>
                <a:lnTo>
                  <a:pt x="5014972" y="425685"/>
                </a:lnTo>
                <a:lnTo>
                  <a:pt x="5018187" y="425685"/>
                </a:lnTo>
                <a:lnTo>
                  <a:pt x="5021430" y="425685"/>
                </a:lnTo>
                <a:lnTo>
                  <a:pt x="5024647" y="425685"/>
                </a:lnTo>
                <a:lnTo>
                  <a:pt x="5027863" y="425685"/>
                </a:lnTo>
                <a:lnTo>
                  <a:pt x="5031028" y="425685"/>
                </a:lnTo>
                <a:lnTo>
                  <a:pt x="5034297" y="425685"/>
                </a:lnTo>
                <a:lnTo>
                  <a:pt x="5037487" y="425727"/>
                </a:lnTo>
                <a:lnTo>
                  <a:pt x="5040755" y="425727"/>
                </a:lnTo>
                <a:lnTo>
                  <a:pt x="5043972" y="425727"/>
                </a:lnTo>
                <a:lnTo>
                  <a:pt x="5047189" y="425727"/>
                </a:lnTo>
                <a:lnTo>
                  <a:pt x="5050431" y="425727"/>
                </a:lnTo>
                <a:lnTo>
                  <a:pt x="5053648" y="425727"/>
                </a:lnTo>
                <a:lnTo>
                  <a:pt x="5056890" y="425727"/>
                </a:lnTo>
                <a:lnTo>
                  <a:pt x="5060133" y="425727"/>
                </a:lnTo>
                <a:lnTo>
                  <a:pt x="5063350" y="425727"/>
                </a:lnTo>
                <a:lnTo>
                  <a:pt x="5066567" y="425727"/>
                </a:lnTo>
                <a:lnTo>
                  <a:pt x="5069758" y="425727"/>
                </a:lnTo>
                <a:lnTo>
                  <a:pt x="5072973" y="425727"/>
                </a:lnTo>
                <a:lnTo>
                  <a:pt x="5076216" y="425727"/>
                </a:lnTo>
                <a:lnTo>
                  <a:pt x="5079433" y="425727"/>
                </a:lnTo>
                <a:lnTo>
                  <a:pt x="5082676" y="425727"/>
                </a:lnTo>
                <a:lnTo>
                  <a:pt x="5085918" y="425727"/>
                </a:lnTo>
                <a:lnTo>
                  <a:pt x="5089135" y="425727"/>
                </a:lnTo>
                <a:lnTo>
                  <a:pt x="5092351" y="425727"/>
                </a:lnTo>
                <a:lnTo>
                  <a:pt x="5095593" y="425769"/>
                </a:lnTo>
                <a:lnTo>
                  <a:pt x="5095593" y="395626"/>
                </a:lnTo>
                <a:lnTo>
                  <a:pt x="5098811" y="395626"/>
                </a:lnTo>
                <a:lnTo>
                  <a:pt x="5102079" y="395626"/>
                </a:lnTo>
                <a:lnTo>
                  <a:pt x="5105269" y="395626"/>
                </a:lnTo>
                <a:lnTo>
                  <a:pt x="5108538" y="395626"/>
                </a:lnTo>
                <a:lnTo>
                  <a:pt x="5111729" y="395626"/>
                </a:lnTo>
                <a:lnTo>
                  <a:pt x="5114945" y="395626"/>
                </a:lnTo>
                <a:lnTo>
                  <a:pt x="5114945" y="380396"/>
                </a:lnTo>
                <a:lnTo>
                  <a:pt x="5118188" y="380396"/>
                </a:lnTo>
                <a:lnTo>
                  <a:pt x="5121404" y="380396"/>
                </a:lnTo>
                <a:lnTo>
                  <a:pt x="5121404" y="365123"/>
                </a:lnTo>
                <a:lnTo>
                  <a:pt x="5124621" y="365123"/>
                </a:lnTo>
                <a:lnTo>
                  <a:pt x="5127889" y="365123"/>
                </a:lnTo>
                <a:lnTo>
                  <a:pt x="5127889" y="349809"/>
                </a:lnTo>
                <a:lnTo>
                  <a:pt x="5131080" y="349809"/>
                </a:lnTo>
                <a:lnTo>
                  <a:pt x="5134349" y="349809"/>
                </a:lnTo>
                <a:lnTo>
                  <a:pt x="5137565" y="349809"/>
                </a:lnTo>
                <a:lnTo>
                  <a:pt x="5140808" y="349809"/>
                </a:lnTo>
                <a:lnTo>
                  <a:pt x="5140808" y="334219"/>
                </a:lnTo>
                <a:lnTo>
                  <a:pt x="5144024" y="334219"/>
                </a:lnTo>
                <a:lnTo>
                  <a:pt x="5147267" y="334219"/>
                </a:lnTo>
                <a:lnTo>
                  <a:pt x="5150484" y="334219"/>
                </a:lnTo>
                <a:lnTo>
                  <a:pt x="5153674" y="334219"/>
                </a:lnTo>
                <a:lnTo>
                  <a:pt x="5156865" y="334219"/>
                </a:lnTo>
                <a:lnTo>
                  <a:pt x="5160133" y="334240"/>
                </a:lnTo>
                <a:lnTo>
                  <a:pt x="5163350" y="334240"/>
                </a:lnTo>
                <a:lnTo>
                  <a:pt x="5166592" y="334240"/>
                </a:lnTo>
                <a:lnTo>
                  <a:pt x="5169809" y="334240"/>
                </a:lnTo>
                <a:lnTo>
                  <a:pt x="5173052" y="334240"/>
                </a:lnTo>
                <a:lnTo>
                  <a:pt x="5176268" y="334240"/>
                </a:lnTo>
                <a:lnTo>
                  <a:pt x="5179510" y="334240"/>
                </a:lnTo>
                <a:lnTo>
                  <a:pt x="5182727" y="334240"/>
                </a:lnTo>
                <a:lnTo>
                  <a:pt x="5182727" y="317699"/>
                </a:lnTo>
                <a:lnTo>
                  <a:pt x="5185970" y="317699"/>
                </a:lnTo>
                <a:lnTo>
                  <a:pt x="5189186" y="317699"/>
                </a:lnTo>
                <a:lnTo>
                  <a:pt x="5192403" y="317699"/>
                </a:lnTo>
                <a:lnTo>
                  <a:pt x="5195568" y="317699"/>
                </a:lnTo>
                <a:lnTo>
                  <a:pt x="5198810" y="317699"/>
                </a:lnTo>
                <a:lnTo>
                  <a:pt x="5202028" y="317699"/>
                </a:lnTo>
                <a:lnTo>
                  <a:pt x="5205295" y="317699"/>
                </a:lnTo>
                <a:lnTo>
                  <a:pt x="5208513" y="317699"/>
                </a:lnTo>
                <a:lnTo>
                  <a:pt x="5211755" y="317720"/>
                </a:lnTo>
                <a:lnTo>
                  <a:pt x="5214971" y="317720"/>
                </a:lnTo>
                <a:lnTo>
                  <a:pt x="5218188" y="317720"/>
                </a:lnTo>
                <a:lnTo>
                  <a:pt x="5221456" y="317720"/>
                </a:lnTo>
                <a:lnTo>
                  <a:pt x="5224673" y="317720"/>
                </a:lnTo>
                <a:lnTo>
                  <a:pt x="5227941" y="317720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published_curve_Финеренон">
            <a:extLst>
              <a:ext uri="{FF2B5EF4-FFF2-40B4-BE49-F238E27FC236}">
                <a16:creationId xmlns:a16="http://schemas.microsoft.com/office/drawing/2014/main" id="{1AF2C255-B8AA-44DE-9229-6D9C5E542BD1}"/>
              </a:ext>
            </a:extLst>
          </p:cNvPr>
          <p:cNvSpPr>
            <a:spLocks noGrp="1"/>
          </p:cNvSpPr>
          <p:nvPr/>
        </p:nvSpPr>
        <p:spPr>
          <a:xfrm>
            <a:off x="863600" y="2507160"/>
            <a:ext cx="4036149" cy="2791146"/>
          </a:xfrm>
          <a:custGeom>
            <a:avLst/>
            <a:gdLst/>
            <a:ahLst/>
            <a:cxnLst/>
            <a:rect l="0" t="0" r="0" b="0"/>
            <a:pathLst>
              <a:path w="5229225" h="2457450">
                <a:moveTo>
                  <a:pt x="4148" y="2452841"/>
                </a:moveTo>
                <a:lnTo>
                  <a:pt x="7390" y="2452841"/>
                </a:lnTo>
                <a:lnTo>
                  <a:pt x="10607" y="2452841"/>
                </a:lnTo>
                <a:lnTo>
                  <a:pt x="13849" y="2452841"/>
                </a:lnTo>
                <a:lnTo>
                  <a:pt x="17066" y="2452841"/>
                </a:lnTo>
                <a:lnTo>
                  <a:pt x="17066" y="2449541"/>
                </a:lnTo>
                <a:lnTo>
                  <a:pt x="20309" y="2449541"/>
                </a:lnTo>
                <a:lnTo>
                  <a:pt x="23551" y="2449541"/>
                </a:lnTo>
                <a:lnTo>
                  <a:pt x="26768" y="2449541"/>
                </a:lnTo>
                <a:lnTo>
                  <a:pt x="26768" y="2446178"/>
                </a:lnTo>
                <a:lnTo>
                  <a:pt x="30010" y="2446178"/>
                </a:lnTo>
                <a:lnTo>
                  <a:pt x="33253" y="2446178"/>
                </a:lnTo>
                <a:lnTo>
                  <a:pt x="36392" y="2446178"/>
                </a:lnTo>
                <a:lnTo>
                  <a:pt x="39634" y="2446178"/>
                </a:lnTo>
                <a:lnTo>
                  <a:pt x="39634" y="2436215"/>
                </a:lnTo>
                <a:lnTo>
                  <a:pt x="42825" y="2436215"/>
                </a:lnTo>
                <a:lnTo>
                  <a:pt x="46093" y="2436215"/>
                </a:lnTo>
                <a:lnTo>
                  <a:pt x="49310" y="2436215"/>
                </a:lnTo>
                <a:lnTo>
                  <a:pt x="52552" y="2436236"/>
                </a:lnTo>
                <a:lnTo>
                  <a:pt x="55795" y="2436236"/>
                </a:lnTo>
                <a:lnTo>
                  <a:pt x="59038" y="2436236"/>
                </a:lnTo>
                <a:lnTo>
                  <a:pt x="59038" y="2432915"/>
                </a:lnTo>
                <a:lnTo>
                  <a:pt x="62254" y="2432915"/>
                </a:lnTo>
                <a:lnTo>
                  <a:pt x="65497" y="2432915"/>
                </a:lnTo>
                <a:lnTo>
                  <a:pt x="65497" y="2429572"/>
                </a:lnTo>
                <a:lnTo>
                  <a:pt x="68713" y="2429572"/>
                </a:lnTo>
                <a:lnTo>
                  <a:pt x="71956" y="2429572"/>
                </a:lnTo>
                <a:lnTo>
                  <a:pt x="75198" y="2429572"/>
                </a:lnTo>
                <a:lnTo>
                  <a:pt x="78337" y="2429572"/>
                </a:lnTo>
                <a:lnTo>
                  <a:pt x="81580" y="2429594"/>
                </a:lnTo>
                <a:lnTo>
                  <a:pt x="81580" y="2426273"/>
                </a:lnTo>
                <a:lnTo>
                  <a:pt x="84796" y="2426273"/>
                </a:lnTo>
                <a:lnTo>
                  <a:pt x="84796" y="2422910"/>
                </a:lnTo>
                <a:lnTo>
                  <a:pt x="88039" y="2422910"/>
                </a:lnTo>
                <a:lnTo>
                  <a:pt x="88039" y="2419610"/>
                </a:lnTo>
                <a:lnTo>
                  <a:pt x="91281" y="2419610"/>
                </a:lnTo>
                <a:lnTo>
                  <a:pt x="94498" y="2419610"/>
                </a:lnTo>
                <a:lnTo>
                  <a:pt x="94498" y="2412968"/>
                </a:lnTo>
                <a:lnTo>
                  <a:pt x="97741" y="2412968"/>
                </a:lnTo>
                <a:lnTo>
                  <a:pt x="97741" y="2406283"/>
                </a:lnTo>
                <a:lnTo>
                  <a:pt x="100957" y="2406283"/>
                </a:lnTo>
                <a:lnTo>
                  <a:pt x="104200" y="2406283"/>
                </a:lnTo>
                <a:lnTo>
                  <a:pt x="107416" y="2406283"/>
                </a:lnTo>
                <a:lnTo>
                  <a:pt x="107416" y="2402920"/>
                </a:lnTo>
                <a:lnTo>
                  <a:pt x="110659" y="2402920"/>
                </a:lnTo>
                <a:lnTo>
                  <a:pt x="110659" y="2399620"/>
                </a:lnTo>
                <a:lnTo>
                  <a:pt x="113902" y="2399620"/>
                </a:lnTo>
                <a:lnTo>
                  <a:pt x="113902" y="2396278"/>
                </a:lnTo>
                <a:lnTo>
                  <a:pt x="117144" y="2396278"/>
                </a:lnTo>
                <a:lnTo>
                  <a:pt x="117144" y="2386294"/>
                </a:lnTo>
                <a:lnTo>
                  <a:pt x="120283" y="2386294"/>
                </a:lnTo>
                <a:lnTo>
                  <a:pt x="120283" y="2382951"/>
                </a:lnTo>
                <a:lnTo>
                  <a:pt x="123551" y="2382951"/>
                </a:lnTo>
                <a:lnTo>
                  <a:pt x="126768" y="2382951"/>
                </a:lnTo>
                <a:lnTo>
                  <a:pt x="129984" y="2382951"/>
                </a:lnTo>
                <a:lnTo>
                  <a:pt x="133227" y="2382951"/>
                </a:lnTo>
                <a:lnTo>
                  <a:pt x="136444" y="2382973"/>
                </a:lnTo>
                <a:lnTo>
                  <a:pt x="139686" y="2382973"/>
                </a:lnTo>
                <a:lnTo>
                  <a:pt x="142929" y="2382973"/>
                </a:lnTo>
                <a:lnTo>
                  <a:pt x="146145" y="2382973"/>
                </a:lnTo>
                <a:lnTo>
                  <a:pt x="149388" y="2382973"/>
                </a:lnTo>
                <a:lnTo>
                  <a:pt x="152605" y="2382973"/>
                </a:lnTo>
                <a:lnTo>
                  <a:pt x="155821" y="2382973"/>
                </a:lnTo>
                <a:lnTo>
                  <a:pt x="159090" y="2382973"/>
                </a:lnTo>
                <a:lnTo>
                  <a:pt x="159090" y="2376288"/>
                </a:lnTo>
                <a:lnTo>
                  <a:pt x="162228" y="2376288"/>
                </a:lnTo>
                <a:lnTo>
                  <a:pt x="165471" y="2376288"/>
                </a:lnTo>
                <a:lnTo>
                  <a:pt x="168713" y="2376309"/>
                </a:lnTo>
                <a:lnTo>
                  <a:pt x="171930" y="2376309"/>
                </a:lnTo>
                <a:lnTo>
                  <a:pt x="175173" y="2376309"/>
                </a:lnTo>
                <a:lnTo>
                  <a:pt x="178389" y="2376309"/>
                </a:lnTo>
                <a:lnTo>
                  <a:pt x="178389" y="2373009"/>
                </a:lnTo>
                <a:lnTo>
                  <a:pt x="181632" y="2373009"/>
                </a:lnTo>
                <a:lnTo>
                  <a:pt x="184874" y="2373009"/>
                </a:lnTo>
                <a:lnTo>
                  <a:pt x="184874" y="2369646"/>
                </a:lnTo>
                <a:lnTo>
                  <a:pt x="188091" y="2369646"/>
                </a:lnTo>
                <a:lnTo>
                  <a:pt x="188091" y="2366346"/>
                </a:lnTo>
                <a:lnTo>
                  <a:pt x="191334" y="2366346"/>
                </a:lnTo>
                <a:lnTo>
                  <a:pt x="191334" y="2362983"/>
                </a:lnTo>
                <a:lnTo>
                  <a:pt x="194576" y="2362983"/>
                </a:lnTo>
                <a:lnTo>
                  <a:pt x="197793" y="2362983"/>
                </a:lnTo>
                <a:lnTo>
                  <a:pt x="197793" y="2359704"/>
                </a:lnTo>
                <a:lnTo>
                  <a:pt x="200958" y="2359704"/>
                </a:lnTo>
                <a:lnTo>
                  <a:pt x="204148" y="2359704"/>
                </a:lnTo>
                <a:lnTo>
                  <a:pt x="207416" y="2359704"/>
                </a:lnTo>
                <a:lnTo>
                  <a:pt x="210633" y="2359704"/>
                </a:lnTo>
                <a:lnTo>
                  <a:pt x="213876" y="2359704"/>
                </a:lnTo>
                <a:lnTo>
                  <a:pt x="217118" y="2359704"/>
                </a:lnTo>
                <a:lnTo>
                  <a:pt x="220335" y="2359704"/>
                </a:lnTo>
                <a:lnTo>
                  <a:pt x="223577" y="2359704"/>
                </a:lnTo>
                <a:lnTo>
                  <a:pt x="226820" y="2359704"/>
                </a:lnTo>
                <a:lnTo>
                  <a:pt x="226820" y="2356341"/>
                </a:lnTo>
                <a:lnTo>
                  <a:pt x="230037" y="2356341"/>
                </a:lnTo>
                <a:lnTo>
                  <a:pt x="230037" y="2353062"/>
                </a:lnTo>
                <a:lnTo>
                  <a:pt x="233279" y="2353062"/>
                </a:lnTo>
                <a:lnTo>
                  <a:pt x="236522" y="2353062"/>
                </a:lnTo>
                <a:lnTo>
                  <a:pt x="236522" y="2349678"/>
                </a:lnTo>
                <a:lnTo>
                  <a:pt x="239738" y="2349699"/>
                </a:lnTo>
                <a:lnTo>
                  <a:pt x="242903" y="2349699"/>
                </a:lnTo>
                <a:lnTo>
                  <a:pt x="242903" y="2343015"/>
                </a:lnTo>
                <a:lnTo>
                  <a:pt x="246120" y="2343015"/>
                </a:lnTo>
                <a:lnTo>
                  <a:pt x="249362" y="2343036"/>
                </a:lnTo>
                <a:lnTo>
                  <a:pt x="252605" y="2343036"/>
                </a:lnTo>
                <a:lnTo>
                  <a:pt x="252605" y="2339715"/>
                </a:lnTo>
                <a:lnTo>
                  <a:pt x="255795" y="2339715"/>
                </a:lnTo>
                <a:lnTo>
                  <a:pt x="255795" y="2336373"/>
                </a:lnTo>
                <a:lnTo>
                  <a:pt x="259064" y="2336373"/>
                </a:lnTo>
                <a:lnTo>
                  <a:pt x="262280" y="2336373"/>
                </a:lnTo>
                <a:lnTo>
                  <a:pt x="265523" y="2336373"/>
                </a:lnTo>
                <a:lnTo>
                  <a:pt x="265523" y="2333009"/>
                </a:lnTo>
                <a:lnTo>
                  <a:pt x="268739" y="2333009"/>
                </a:lnTo>
                <a:lnTo>
                  <a:pt x="271982" y="2333009"/>
                </a:lnTo>
                <a:lnTo>
                  <a:pt x="275225" y="2333030"/>
                </a:lnTo>
                <a:lnTo>
                  <a:pt x="278467" y="2333030"/>
                </a:lnTo>
                <a:lnTo>
                  <a:pt x="281684" y="2333030"/>
                </a:lnTo>
                <a:lnTo>
                  <a:pt x="281684" y="2329709"/>
                </a:lnTo>
                <a:lnTo>
                  <a:pt x="284848" y="2329730"/>
                </a:lnTo>
                <a:lnTo>
                  <a:pt x="288065" y="2329730"/>
                </a:lnTo>
                <a:lnTo>
                  <a:pt x="291308" y="2329730"/>
                </a:lnTo>
                <a:lnTo>
                  <a:pt x="294550" y="2329730"/>
                </a:lnTo>
                <a:lnTo>
                  <a:pt x="297767" y="2329730"/>
                </a:lnTo>
                <a:lnTo>
                  <a:pt x="301009" y="2329730"/>
                </a:lnTo>
                <a:lnTo>
                  <a:pt x="304252" y="2329730"/>
                </a:lnTo>
                <a:lnTo>
                  <a:pt x="307468" y="2329730"/>
                </a:lnTo>
                <a:lnTo>
                  <a:pt x="310711" y="2329730"/>
                </a:lnTo>
                <a:lnTo>
                  <a:pt x="313928" y="2329752"/>
                </a:lnTo>
                <a:lnTo>
                  <a:pt x="317170" y="2329752"/>
                </a:lnTo>
                <a:lnTo>
                  <a:pt x="320387" y="2329752"/>
                </a:lnTo>
                <a:lnTo>
                  <a:pt x="323603" y="2329752"/>
                </a:lnTo>
                <a:lnTo>
                  <a:pt x="326794" y="2329752"/>
                </a:lnTo>
                <a:lnTo>
                  <a:pt x="326794" y="2323067"/>
                </a:lnTo>
                <a:lnTo>
                  <a:pt x="330037" y="2323067"/>
                </a:lnTo>
                <a:lnTo>
                  <a:pt x="333253" y="2323067"/>
                </a:lnTo>
                <a:lnTo>
                  <a:pt x="336496" y="2323067"/>
                </a:lnTo>
                <a:lnTo>
                  <a:pt x="339713" y="2323067"/>
                </a:lnTo>
                <a:lnTo>
                  <a:pt x="339713" y="2319725"/>
                </a:lnTo>
                <a:lnTo>
                  <a:pt x="342955" y="2319746"/>
                </a:lnTo>
                <a:lnTo>
                  <a:pt x="342955" y="2316425"/>
                </a:lnTo>
                <a:lnTo>
                  <a:pt x="346198" y="2316425"/>
                </a:lnTo>
                <a:lnTo>
                  <a:pt x="346198" y="2313062"/>
                </a:lnTo>
                <a:lnTo>
                  <a:pt x="349388" y="2313083"/>
                </a:lnTo>
                <a:lnTo>
                  <a:pt x="349388" y="2309762"/>
                </a:lnTo>
                <a:lnTo>
                  <a:pt x="352657" y="2309762"/>
                </a:lnTo>
                <a:lnTo>
                  <a:pt x="355847" y="2309762"/>
                </a:lnTo>
                <a:lnTo>
                  <a:pt x="359116" y="2309762"/>
                </a:lnTo>
                <a:lnTo>
                  <a:pt x="359116" y="2306420"/>
                </a:lnTo>
                <a:lnTo>
                  <a:pt x="362332" y="2306420"/>
                </a:lnTo>
                <a:lnTo>
                  <a:pt x="365471" y="2306420"/>
                </a:lnTo>
                <a:lnTo>
                  <a:pt x="365471" y="2303120"/>
                </a:lnTo>
                <a:lnTo>
                  <a:pt x="368739" y="2303120"/>
                </a:lnTo>
                <a:lnTo>
                  <a:pt x="368739" y="2299757"/>
                </a:lnTo>
                <a:lnTo>
                  <a:pt x="371956" y="2299757"/>
                </a:lnTo>
                <a:lnTo>
                  <a:pt x="375199" y="2299757"/>
                </a:lnTo>
                <a:lnTo>
                  <a:pt x="378441" y="2299757"/>
                </a:lnTo>
                <a:lnTo>
                  <a:pt x="378441" y="2296393"/>
                </a:lnTo>
                <a:lnTo>
                  <a:pt x="381632" y="2296414"/>
                </a:lnTo>
                <a:lnTo>
                  <a:pt x="381632" y="2293073"/>
                </a:lnTo>
                <a:lnTo>
                  <a:pt x="384900" y="2293093"/>
                </a:lnTo>
                <a:lnTo>
                  <a:pt x="384900" y="2286430"/>
                </a:lnTo>
                <a:lnTo>
                  <a:pt x="388143" y="2286430"/>
                </a:lnTo>
                <a:lnTo>
                  <a:pt x="388143" y="2279746"/>
                </a:lnTo>
                <a:lnTo>
                  <a:pt x="391360" y="2279767"/>
                </a:lnTo>
                <a:lnTo>
                  <a:pt x="394602" y="2279767"/>
                </a:lnTo>
                <a:lnTo>
                  <a:pt x="397845" y="2279767"/>
                </a:lnTo>
                <a:lnTo>
                  <a:pt x="401061" y="2279767"/>
                </a:lnTo>
                <a:lnTo>
                  <a:pt x="404304" y="2279767"/>
                </a:lnTo>
                <a:lnTo>
                  <a:pt x="407443" y="2279767"/>
                </a:lnTo>
                <a:lnTo>
                  <a:pt x="407443" y="2276404"/>
                </a:lnTo>
                <a:lnTo>
                  <a:pt x="410659" y="2276404"/>
                </a:lnTo>
                <a:lnTo>
                  <a:pt x="413928" y="2276404"/>
                </a:lnTo>
                <a:lnTo>
                  <a:pt x="413928" y="2273062"/>
                </a:lnTo>
                <a:lnTo>
                  <a:pt x="417118" y="2273062"/>
                </a:lnTo>
                <a:lnTo>
                  <a:pt x="420387" y="2273062"/>
                </a:lnTo>
                <a:lnTo>
                  <a:pt x="420387" y="2269762"/>
                </a:lnTo>
                <a:lnTo>
                  <a:pt x="423578" y="2269783"/>
                </a:lnTo>
                <a:lnTo>
                  <a:pt x="426846" y="2269783"/>
                </a:lnTo>
                <a:lnTo>
                  <a:pt x="426846" y="2266399"/>
                </a:lnTo>
                <a:lnTo>
                  <a:pt x="430063" y="2266399"/>
                </a:lnTo>
                <a:lnTo>
                  <a:pt x="433305" y="2266399"/>
                </a:lnTo>
                <a:lnTo>
                  <a:pt x="436548" y="2266420"/>
                </a:lnTo>
                <a:lnTo>
                  <a:pt x="436548" y="2259756"/>
                </a:lnTo>
                <a:lnTo>
                  <a:pt x="439764" y="2259756"/>
                </a:lnTo>
                <a:lnTo>
                  <a:pt x="443007" y="2259756"/>
                </a:lnTo>
                <a:lnTo>
                  <a:pt x="446249" y="2259756"/>
                </a:lnTo>
                <a:lnTo>
                  <a:pt x="449388" y="2259756"/>
                </a:lnTo>
                <a:lnTo>
                  <a:pt x="452631" y="2259756"/>
                </a:lnTo>
                <a:lnTo>
                  <a:pt x="452631" y="2253093"/>
                </a:lnTo>
                <a:lnTo>
                  <a:pt x="455873" y="2253093"/>
                </a:lnTo>
                <a:lnTo>
                  <a:pt x="459090" y="2253093"/>
                </a:lnTo>
                <a:lnTo>
                  <a:pt x="459090" y="2249751"/>
                </a:lnTo>
                <a:lnTo>
                  <a:pt x="462332" y="2249751"/>
                </a:lnTo>
                <a:lnTo>
                  <a:pt x="465549" y="2249751"/>
                </a:lnTo>
                <a:lnTo>
                  <a:pt x="468792" y="2249751"/>
                </a:lnTo>
                <a:lnTo>
                  <a:pt x="472034" y="2249751"/>
                </a:lnTo>
                <a:lnTo>
                  <a:pt x="475225" y="2249772"/>
                </a:lnTo>
                <a:lnTo>
                  <a:pt x="475225" y="2246409"/>
                </a:lnTo>
                <a:lnTo>
                  <a:pt x="478493" y="2246409"/>
                </a:lnTo>
                <a:lnTo>
                  <a:pt x="478493" y="2243109"/>
                </a:lnTo>
                <a:lnTo>
                  <a:pt x="481710" y="2243109"/>
                </a:lnTo>
                <a:lnTo>
                  <a:pt x="484926" y="2243109"/>
                </a:lnTo>
                <a:lnTo>
                  <a:pt x="484926" y="2236425"/>
                </a:lnTo>
                <a:lnTo>
                  <a:pt x="488169" y="2236425"/>
                </a:lnTo>
                <a:lnTo>
                  <a:pt x="491334" y="2236425"/>
                </a:lnTo>
                <a:lnTo>
                  <a:pt x="494577" y="2236425"/>
                </a:lnTo>
                <a:lnTo>
                  <a:pt x="497819" y="2236425"/>
                </a:lnTo>
                <a:lnTo>
                  <a:pt x="497819" y="2233082"/>
                </a:lnTo>
                <a:lnTo>
                  <a:pt x="501036" y="2233082"/>
                </a:lnTo>
                <a:lnTo>
                  <a:pt x="501036" y="2229740"/>
                </a:lnTo>
                <a:lnTo>
                  <a:pt x="504252" y="2229740"/>
                </a:lnTo>
                <a:lnTo>
                  <a:pt x="504252" y="2226419"/>
                </a:lnTo>
                <a:lnTo>
                  <a:pt x="507521" y="2226419"/>
                </a:lnTo>
                <a:lnTo>
                  <a:pt x="510711" y="2226440"/>
                </a:lnTo>
                <a:lnTo>
                  <a:pt x="513980" y="2226440"/>
                </a:lnTo>
                <a:lnTo>
                  <a:pt x="517171" y="2226440"/>
                </a:lnTo>
                <a:lnTo>
                  <a:pt x="520439" y="2226440"/>
                </a:lnTo>
                <a:lnTo>
                  <a:pt x="523656" y="2226440"/>
                </a:lnTo>
                <a:lnTo>
                  <a:pt x="526898" y="2226440"/>
                </a:lnTo>
                <a:lnTo>
                  <a:pt x="530115" y="2226440"/>
                </a:lnTo>
                <a:lnTo>
                  <a:pt x="530115" y="2223077"/>
                </a:lnTo>
                <a:lnTo>
                  <a:pt x="533254" y="2223077"/>
                </a:lnTo>
                <a:lnTo>
                  <a:pt x="536496" y="2223077"/>
                </a:lnTo>
                <a:lnTo>
                  <a:pt x="536496" y="2219714"/>
                </a:lnTo>
                <a:lnTo>
                  <a:pt x="539764" y="2219714"/>
                </a:lnTo>
                <a:lnTo>
                  <a:pt x="542955" y="2219714"/>
                </a:lnTo>
                <a:lnTo>
                  <a:pt x="546224" y="2219714"/>
                </a:lnTo>
                <a:lnTo>
                  <a:pt x="549466" y="2219735"/>
                </a:lnTo>
                <a:lnTo>
                  <a:pt x="552683" y="2219735"/>
                </a:lnTo>
                <a:lnTo>
                  <a:pt x="555925" y="2219735"/>
                </a:lnTo>
                <a:lnTo>
                  <a:pt x="555925" y="2216414"/>
                </a:lnTo>
                <a:lnTo>
                  <a:pt x="559142" y="2216435"/>
                </a:lnTo>
                <a:lnTo>
                  <a:pt x="562385" y="2216435"/>
                </a:lnTo>
                <a:lnTo>
                  <a:pt x="565627" y="2216435"/>
                </a:lnTo>
                <a:lnTo>
                  <a:pt x="565627" y="2209772"/>
                </a:lnTo>
                <a:lnTo>
                  <a:pt x="568818" y="2209772"/>
                </a:lnTo>
                <a:lnTo>
                  <a:pt x="568818" y="2206409"/>
                </a:lnTo>
                <a:lnTo>
                  <a:pt x="571982" y="2206409"/>
                </a:lnTo>
                <a:lnTo>
                  <a:pt x="575251" y="2206409"/>
                </a:lnTo>
                <a:lnTo>
                  <a:pt x="578442" y="2206409"/>
                </a:lnTo>
                <a:lnTo>
                  <a:pt x="581710" y="2206409"/>
                </a:lnTo>
                <a:lnTo>
                  <a:pt x="584901" y="2206430"/>
                </a:lnTo>
                <a:lnTo>
                  <a:pt x="588169" y="2206430"/>
                </a:lnTo>
                <a:lnTo>
                  <a:pt x="588169" y="2203045"/>
                </a:lnTo>
                <a:lnTo>
                  <a:pt x="591386" y="2203045"/>
                </a:lnTo>
                <a:lnTo>
                  <a:pt x="594602" y="2203045"/>
                </a:lnTo>
                <a:lnTo>
                  <a:pt x="597871" y="2203066"/>
                </a:lnTo>
                <a:lnTo>
                  <a:pt x="601062" y="2203066"/>
                </a:lnTo>
                <a:lnTo>
                  <a:pt x="601062" y="2196403"/>
                </a:lnTo>
                <a:lnTo>
                  <a:pt x="604330" y="2196425"/>
                </a:lnTo>
                <a:lnTo>
                  <a:pt x="607572" y="2196425"/>
                </a:lnTo>
                <a:lnTo>
                  <a:pt x="610789" y="2196425"/>
                </a:lnTo>
                <a:lnTo>
                  <a:pt x="613954" y="2196425"/>
                </a:lnTo>
                <a:lnTo>
                  <a:pt x="613954" y="2193061"/>
                </a:lnTo>
                <a:lnTo>
                  <a:pt x="617196" y="2193061"/>
                </a:lnTo>
                <a:lnTo>
                  <a:pt x="620413" y="2193061"/>
                </a:lnTo>
                <a:lnTo>
                  <a:pt x="623656" y="2193061"/>
                </a:lnTo>
                <a:lnTo>
                  <a:pt x="623656" y="2189761"/>
                </a:lnTo>
                <a:lnTo>
                  <a:pt x="626872" y="2189761"/>
                </a:lnTo>
                <a:lnTo>
                  <a:pt x="630089" y="2189761"/>
                </a:lnTo>
                <a:lnTo>
                  <a:pt x="630089" y="2186398"/>
                </a:lnTo>
                <a:lnTo>
                  <a:pt x="633357" y="2186398"/>
                </a:lnTo>
                <a:lnTo>
                  <a:pt x="633357" y="2183056"/>
                </a:lnTo>
                <a:lnTo>
                  <a:pt x="636548" y="2183077"/>
                </a:lnTo>
                <a:lnTo>
                  <a:pt x="639817" y="2183077"/>
                </a:lnTo>
                <a:lnTo>
                  <a:pt x="643033" y="2183077"/>
                </a:lnTo>
                <a:lnTo>
                  <a:pt x="646250" y="2183077"/>
                </a:lnTo>
                <a:lnTo>
                  <a:pt x="649492" y="2183077"/>
                </a:lnTo>
                <a:lnTo>
                  <a:pt x="649492" y="2179756"/>
                </a:lnTo>
                <a:lnTo>
                  <a:pt x="652735" y="2179756"/>
                </a:lnTo>
                <a:lnTo>
                  <a:pt x="655900" y="2179756"/>
                </a:lnTo>
                <a:lnTo>
                  <a:pt x="655900" y="2173029"/>
                </a:lnTo>
                <a:lnTo>
                  <a:pt x="659116" y="2173029"/>
                </a:lnTo>
                <a:lnTo>
                  <a:pt x="659116" y="2166387"/>
                </a:lnTo>
                <a:lnTo>
                  <a:pt x="662359" y="2166387"/>
                </a:lnTo>
                <a:lnTo>
                  <a:pt x="665575" y="2166387"/>
                </a:lnTo>
                <a:lnTo>
                  <a:pt x="668818" y="2166387"/>
                </a:lnTo>
                <a:lnTo>
                  <a:pt x="672034" y="2166387"/>
                </a:lnTo>
                <a:lnTo>
                  <a:pt x="675303" y="2166387"/>
                </a:lnTo>
                <a:lnTo>
                  <a:pt x="675303" y="2163024"/>
                </a:lnTo>
                <a:lnTo>
                  <a:pt x="678494" y="2163024"/>
                </a:lnTo>
                <a:lnTo>
                  <a:pt x="681762" y="2163045"/>
                </a:lnTo>
                <a:lnTo>
                  <a:pt x="684979" y="2163045"/>
                </a:lnTo>
                <a:lnTo>
                  <a:pt x="684979" y="2159724"/>
                </a:lnTo>
                <a:lnTo>
                  <a:pt x="688195" y="2159724"/>
                </a:lnTo>
                <a:lnTo>
                  <a:pt x="688195" y="2156361"/>
                </a:lnTo>
                <a:lnTo>
                  <a:pt x="691438" y="2156361"/>
                </a:lnTo>
                <a:lnTo>
                  <a:pt x="694655" y="2156361"/>
                </a:lnTo>
                <a:lnTo>
                  <a:pt x="697819" y="2156361"/>
                </a:lnTo>
                <a:lnTo>
                  <a:pt x="701088" y="2156361"/>
                </a:lnTo>
                <a:lnTo>
                  <a:pt x="701088" y="2153019"/>
                </a:lnTo>
                <a:lnTo>
                  <a:pt x="704278" y="2153019"/>
                </a:lnTo>
                <a:lnTo>
                  <a:pt x="707547" y="2153019"/>
                </a:lnTo>
                <a:lnTo>
                  <a:pt x="710764" y="2153019"/>
                </a:lnTo>
                <a:lnTo>
                  <a:pt x="714006" y="2153019"/>
                </a:lnTo>
                <a:lnTo>
                  <a:pt x="714006" y="2149719"/>
                </a:lnTo>
                <a:lnTo>
                  <a:pt x="717249" y="2149719"/>
                </a:lnTo>
                <a:lnTo>
                  <a:pt x="720465" y="2149740"/>
                </a:lnTo>
                <a:lnTo>
                  <a:pt x="723682" y="2149740"/>
                </a:lnTo>
                <a:lnTo>
                  <a:pt x="726950" y="2149740"/>
                </a:lnTo>
                <a:lnTo>
                  <a:pt x="730141" y="2149740"/>
                </a:lnTo>
                <a:lnTo>
                  <a:pt x="730141" y="2146376"/>
                </a:lnTo>
                <a:lnTo>
                  <a:pt x="733410" y="2146376"/>
                </a:lnTo>
                <a:lnTo>
                  <a:pt x="736600" y="2146376"/>
                </a:lnTo>
                <a:lnTo>
                  <a:pt x="736600" y="2143013"/>
                </a:lnTo>
                <a:lnTo>
                  <a:pt x="739765" y="2143013"/>
                </a:lnTo>
                <a:lnTo>
                  <a:pt x="743033" y="2143013"/>
                </a:lnTo>
                <a:lnTo>
                  <a:pt x="746224" y="2143013"/>
                </a:lnTo>
                <a:lnTo>
                  <a:pt x="749466" y="2143013"/>
                </a:lnTo>
                <a:lnTo>
                  <a:pt x="752709" y="2143013"/>
                </a:lnTo>
                <a:lnTo>
                  <a:pt x="755926" y="2143013"/>
                </a:lnTo>
                <a:lnTo>
                  <a:pt x="759194" y="2143034"/>
                </a:lnTo>
                <a:lnTo>
                  <a:pt x="762385" y="2143034"/>
                </a:lnTo>
                <a:lnTo>
                  <a:pt x="765653" y="2143034"/>
                </a:lnTo>
                <a:lnTo>
                  <a:pt x="768870" y="2143034"/>
                </a:lnTo>
                <a:lnTo>
                  <a:pt x="768870" y="2136392"/>
                </a:lnTo>
                <a:lnTo>
                  <a:pt x="772112" y="2136392"/>
                </a:lnTo>
                <a:lnTo>
                  <a:pt x="772112" y="2133029"/>
                </a:lnTo>
                <a:lnTo>
                  <a:pt x="775355" y="2133029"/>
                </a:lnTo>
                <a:lnTo>
                  <a:pt x="778494" y="2133029"/>
                </a:lnTo>
                <a:lnTo>
                  <a:pt x="778494" y="2129666"/>
                </a:lnTo>
                <a:lnTo>
                  <a:pt x="781736" y="2129666"/>
                </a:lnTo>
                <a:lnTo>
                  <a:pt x="781736" y="2126345"/>
                </a:lnTo>
                <a:lnTo>
                  <a:pt x="784953" y="2126345"/>
                </a:lnTo>
                <a:lnTo>
                  <a:pt x="784953" y="2122981"/>
                </a:lnTo>
                <a:lnTo>
                  <a:pt x="788196" y="2122981"/>
                </a:lnTo>
                <a:lnTo>
                  <a:pt x="791412" y="2122981"/>
                </a:lnTo>
                <a:lnTo>
                  <a:pt x="794681" y="2122981"/>
                </a:lnTo>
                <a:lnTo>
                  <a:pt x="794681" y="2116339"/>
                </a:lnTo>
                <a:lnTo>
                  <a:pt x="797871" y="2116339"/>
                </a:lnTo>
                <a:lnTo>
                  <a:pt x="801140" y="2116339"/>
                </a:lnTo>
                <a:lnTo>
                  <a:pt x="801140" y="2112976"/>
                </a:lnTo>
                <a:lnTo>
                  <a:pt x="804330" y="2112976"/>
                </a:lnTo>
                <a:lnTo>
                  <a:pt x="807599" y="2112997"/>
                </a:lnTo>
                <a:lnTo>
                  <a:pt x="810815" y="2112997"/>
                </a:lnTo>
                <a:lnTo>
                  <a:pt x="810815" y="2109613"/>
                </a:lnTo>
                <a:lnTo>
                  <a:pt x="814032" y="2109613"/>
                </a:lnTo>
                <a:lnTo>
                  <a:pt x="814032" y="2106313"/>
                </a:lnTo>
                <a:lnTo>
                  <a:pt x="817275" y="2106313"/>
                </a:lnTo>
                <a:lnTo>
                  <a:pt x="817275" y="2102970"/>
                </a:lnTo>
                <a:lnTo>
                  <a:pt x="820465" y="2102970"/>
                </a:lnTo>
                <a:lnTo>
                  <a:pt x="823682" y="2102970"/>
                </a:lnTo>
                <a:lnTo>
                  <a:pt x="826898" y="2102992"/>
                </a:lnTo>
                <a:lnTo>
                  <a:pt x="826898" y="2099628"/>
                </a:lnTo>
                <a:lnTo>
                  <a:pt x="830141" y="2099628"/>
                </a:lnTo>
                <a:lnTo>
                  <a:pt x="830141" y="2096265"/>
                </a:lnTo>
                <a:lnTo>
                  <a:pt x="833358" y="2096265"/>
                </a:lnTo>
                <a:lnTo>
                  <a:pt x="836626" y="2096265"/>
                </a:lnTo>
                <a:lnTo>
                  <a:pt x="839817" y="2096265"/>
                </a:lnTo>
                <a:lnTo>
                  <a:pt x="839817" y="2092944"/>
                </a:lnTo>
                <a:lnTo>
                  <a:pt x="843059" y="2092944"/>
                </a:lnTo>
                <a:lnTo>
                  <a:pt x="846302" y="2092944"/>
                </a:lnTo>
                <a:lnTo>
                  <a:pt x="849519" y="2092944"/>
                </a:lnTo>
                <a:lnTo>
                  <a:pt x="852761" y="2092965"/>
                </a:lnTo>
                <a:lnTo>
                  <a:pt x="852761" y="2089623"/>
                </a:lnTo>
                <a:lnTo>
                  <a:pt x="855978" y="2089644"/>
                </a:lnTo>
                <a:lnTo>
                  <a:pt x="859220" y="2089644"/>
                </a:lnTo>
                <a:lnTo>
                  <a:pt x="862385" y="2089644"/>
                </a:lnTo>
                <a:lnTo>
                  <a:pt x="865601" y="2089644"/>
                </a:lnTo>
                <a:lnTo>
                  <a:pt x="868844" y="2089644"/>
                </a:lnTo>
                <a:lnTo>
                  <a:pt x="868844" y="2086281"/>
                </a:lnTo>
                <a:lnTo>
                  <a:pt x="872061" y="2086281"/>
                </a:lnTo>
                <a:lnTo>
                  <a:pt x="875329" y="2086281"/>
                </a:lnTo>
                <a:lnTo>
                  <a:pt x="875329" y="2082917"/>
                </a:lnTo>
                <a:lnTo>
                  <a:pt x="878546" y="2082917"/>
                </a:lnTo>
                <a:lnTo>
                  <a:pt x="878546" y="2079596"/>
                </a:lnTo>
                <a:lnTo>
                  <a:pt x="881788" y="2079596"/>
                </a:lnTo>
                <a:lnTo>
                  <a:pt x="885005" y="2079596"/>
                </a:lnTo>
                <a:lnTo>
                  <a:pt x="885005" y="2076254"/>
                </a:lnTo>
                <a:lnTo>
                  <a:pt x="888274" y="2076254"/>
                </a:lnTo>
                <a:lnTo>
                  <a:pt x="891464" y="2076254"/>
                </a:lnTo>
                <a:lnTo>
                  <a:pt x="894733" y="2076254"/>
                </a:lnTo>
                <a:lnTo>
                  <a:pt x="897923" y="2076254"/>
                </a:lnTo>
                <a:lnTo>
                  <a:pt x="901192" y="2076254"/>
                </a:lnTo>
                <a:lnTo>
                  <a:pt x="901192" y="2072912"/>
                </a:lnTo>
                <a:lnTo>
                  <a:pt x="904330" y="2072912"/>
                </a:lnTo>
                <a:lnTo>
                  <a:pt x="904330" y="2069549"/>
                </a:lnTo>
                <a:lnTo>
                  <a:pt x="907547" y="2069549"/>
                </a:lnTo>
                <a:lnTo>
                  <a:pt x="907547" y="2066228"/>
                </a:lnTo>
                <a:lnTo>
                  <a:pt x="910790" y="2066228"/>
                </a:lnTo>
                <a:lnTo>
                  <a:pt x="914032" y="2066249"/>
                </a:lnTo>
                <a:lnTo>
                  <a:pt x="917249" y="2066249"/>
                </a:lnTo>
                <a:lnTo>
                  <a:pt x="917249" y="2062886"/>
                </a:lnTo>
                <a:lnTo>
                  <a:pt x="920517" y="2062886"/>
                </a:lnTo>
                <a:lnTo>
                  <a:pt x="920517" y="2056180"/>
                </a:lnTo>
                <a:lnTo>
                  <a:pt x="923708" y="2056180"/>
                </a:lnTo>
                <a:lnTo>
                  <a:pt x="926976" y="2056201"/>
                </a:lnTo>
                <a:lnTo>
                  <a:pt x="930193" y="2056201"/>
                </a:lnTo>
                <a:lnTo>
                  <a:pt x="930193" y="2049517"/>
                </a:lnTo>
                <a:lnTo>
                  <a:pt x="933436" y="2049517"/>
                </a:lnTo>
                <a:lnTo>
                  <a:pt x="933436" y="2042790"/>
                </a:lnTo>
                <a:lnTo>
                  <a:pt x="936652" y="2042811"/>
                </a:lnTo>
                <a:lnTo>
                  <a:pt x="936652" y="2039511"/>
                </a:lnTo>
                <a:lnTo>
                  <a:pt x="939895" y="2039511"/>
                </a:lnTo>
                <a:lnTo>
                  <a:pt x="943111" y="2039511"/>
                </a:lnTo>
                <a:lnTo>
                  <a:pt x="946276" y="2039511"/>
                </a:lnTo>
                <a:lnTo>
                  <a:pt x="949519" y="2039511"/>
                </a:lnTo>
                <a:lnTo>
                  <a:pt x="949519" y="2032785"/>
                </a:lnTo>
                <a:lnTo>
                  <a:pt x="952735" y="2032785"/>
                </a:lnTo>
                <a:lnTo>
                  <a:pt x="956004" y="2032785"/>
                </a:lnTo>
                <a:lnTo>
                  <a:pt x="959194" y="2032785"/>
                </a:lnTo>
                <a:lnTo>
                  <a:pt x="962437" y="2032785"/>
                </a:lnTo>
                <a:lnTo>
                  <a:pt x="965654" y="2032785"/>
                </a:lnTo>
                <a:lnTo>
                  <a:pt x="968896" y="2032806"/>
                </a:lnTo>
                <a:lnTo>
                  <a:pt x="968896" y="2029422"/>
                </a:lnTo>
                <a:lnTo>
                  <a:pt x="972139" y="2029422"/>
                </a:lnTo>
                <a:lnTo>
                  <a:pt x="975355" y="2029422"/>
                </a:lnTo>
                <a:lnTo>
                  <a:pt x="978598" y="2029422"/>
                </a:lnTo>
                <a:lnTo>
                  <a:pt x="978598" y="2026143"/>
                </a:lnTo>
                <a:lnTo>
                  <a:pt x="981840" y="2026143"/>
                </a:lnTo>
                <a:lnTo>
                  <a:pt x="985005" y="2026143"/>
                </a:lnTo>
                <a:lnTo>
                  <a:pt x="988222" y="2026143"/>
                </a:lnTo>
                <a:lnTo>
                  <a:pt x="991464" y="2026143"/>
                </a:lnTo>
                <a:lnTo>
                  <a:pt x="994681" y="2026143"/>
                </a:lnTo>
                <a:lnTo>
                  <a:pt x="997923" y="2026143"/>
                </a:lnTo>
                <a:lnTo>
                  <a:pt x="1001140" y="2026164"/>
                </a:lnTo>
                <a:lnTo>
                  <a:pt x="1001140" y="2022801"/>
                </a:lnTo>
                <a:lnTo>
                  <a:pt x="1004382" y="2022801"/>
                </a:lnTo>
                <a:lnTo>
                  <a:pt x="1007599" y="2022801"/>
                </a:lnTo>
                <a:lnTo>
                  <a:pt x="1010842" y="2022801"/>
                </a:lnTo>
                <a:lnTo>
                  <a:pt x="1014084" y="2022801"/>
                </a:lnTo>
                <a:lnTo>
                  <a:pt x="1014084" y="2019437"/>
                </a:lnTo>
                <a:lnTo>
                  <a:pt x="1017301" y="2019458"/>
                </a:lnTo>
                <a:lnTo>
                  <a:pt x="1020543" y="2019458"/>
                </a:lnTo>
                <a:lnTo>
                  <a:pt x="1020543" y="2016095"/>
                </a:lnTo>
                <a:lnTo>
                  <a:pt x="1023786" y="2016095"/>
                </a:lnTo>
                <a:lnTo>
                  <a:pt x="1023786" y="2012732"/>
                </a:lnTo>
                <a:lnTo>
                  <a:pt x="1026925" y="2012732"/>
                </a:lnTo>
                <a:lnTo>
                  <a:pt x="1030167" y="2012732"/>
                </a:lnTo>
                <a:lnTo>
                  <a:pt x="1030167" y="2009432"/>
                </a:lnTo>
                <a:lnTo>
                  <a:pt x="1033384" y="2009432"/>
                </a:lnTo>
                <a:lnTo>
                  <a:pt x="1033384" y="2006090"/>
                </a:lnTo>
                <a:lnTo>
                  <a:pt x="1036626" y="2006090"/>
                </a:lnTo>
                <a:lnTo>
                  <a:pt x="1039869" y="2006090"/>
                </a:lnTo>
                <a:lnTo>
                  <a:pt x="1043111" y="2006090"/>
                </a:lnTo>
                <a:lnTo>
                  <a:pt x="1046328" y="2006090"/>
                </a:lnTo>
                <a:lnTo>
                  <a:pt x="1046328" y="2002727"/>
                </a:lnTo>
                <a:lnTo>
                  <a:pt x="1049597" y="2002727"/>
                </a:lnTo>
                <a:lnTo>
                  <a:pt x="1052787" y="2002727"/>
                </a:lnTo>
                <a:lnTo>
                  <a:pt x="1056030" y="2002727"/>
                </a:lnTo>
                <a:lnTo>
                  <a:pt x="1059246" y="2002748"/>
                </a:lnTo>
                <a:lnTo>
                  <a:pt x="1062489" y="2002748"/>
                </a:lnTo>
                <a:lnTo>
                  <a:pt x="1065731" y="2002748"/>
                </a:lnTo>
                <a:lnTo>
                  <a:pt x="1068870" y="2002748"/>
                </a:lnTo>
                <a:lnTo>
                  <a:pt x="1072113" y="2002748"/>
                </a:lnTo>
                <a:lnTo>
                  <a:pt x="1072113" y="1999384"/>
                </a:lnTo>
                <a:lnTo>
                  <a:pt x="1075330" y="1999384"/>
                </a:lnTo>
                <a:lnTo>
                  <a:pt x="1078572" y="1999384"/>
                </a:lnTo>
                <a:lnTo>
                  <a:pt x="1081840" y="1999384"/>
                </a:lnTo>
                <a:lnTo>
                  <a:pt x="1081840" y="1996042"/>
                </a:lnTo>
                <a:lnTo>
                  <a:pt x="1085031" y="1996042"/>
                </a:lnTo>
                <a:lnTo>
                  <a:pt x="1088274" y="1996042"/>
                </a:lnTo>
                <a:lnTo>
                  <a:pt x="1091516" y="1996042"/>
                </a:lnTo>
                <a:lnTo>
                  <a:pt x="1094733" y="1996042"/>
                </a:lnTo>
                <a:lnTo>
                  <a:pt x="1094733" y="1992742"/>
                </a:lnTo>
                <a:lnTo>
                  <a:pt x="1097975" y="1992742"/>
                </a:lnTo>
                <a:lnTo>
                  <a:pt x="1097975" y="1989379"/>
                </a:lnTo>
                <a:lnTo>
                  <a:pt x="1101218" y="1989379"/>
                </a:lnTo>
                <a:lnTo>
                  <a:pt x="1101218" y="1986037"/>
                </a:lnTo>
                <a:lnTo>
                  <a:pt x="1104434" y="1986037"/>
                </a:lnTo>
                <a:lnTo>
                  <a:pt x="1107703" y="1986037"/>
                </a:lnTo>
                <a:lnTo>
                  <a:pt x="1110842" y="1986037"/>
                </a:lnTo>
                <a:lnTo>
                  <a:pt x="1114058" y="1986037"/>
                </a:lnTo>
                <a:lnTo>
                  <a:pt x="1117275" y="1986037"/>
                </a:lnTo>
                <a:lnTo>
                  <a:pt x="1120517" y="1986037"/>
                </a:lnTo>
                <a:lnTo>
                  <a:pt x="1123760" y="1986037"/>
                </a:lnTo>
                <a:lnTo>
                  <a:pt x="1126977" y="1986037"/>
                </a:lnTo>
                <a:lnTo>
                  <a:pt x="1126977" y="1982673"/>
                </a:lnTo>
                <a:lnTo>
                  <a:pt x="1130219" y="1982673"/>
                </a:lnTo>
                <a:lnTo>
                  <a:pt x="1133488" y="1982673"/>
                </a:lnTo>
                <a:lnTo>
                  <a:pt x="1136678" y="1982673"/>
                </a:lnTo>
                <a:lnTo>
                  <a:pt x="1139921" y="1982673"/>
                </a:lnTo>
                <a:lnTo>
                  <a:pt x="1139921" y="1979331"/>
                </a:lnTo>
                <a:lnTo>
                  <a:pt x="1143138" y="1979352"/>
                </a:lnTo>
                <a:lnTo>
                  <a:pt x="1146380" y="1979352"/>
                </a:lnTo>
                <a:lnTo>
                  <a:pt x="1146380" y="1975968"/>
                </a:lnTo>
                <a:lnTo>
                  <a:pt x="1149571" y="1975968"/>
                </a:lnTo>
                <a:lnTo>
                  <a:pt x="1152761" y="1975989"/>
                </a:lnTo>
                <a:lnTo>
                  <a:pt x="1156004" y="1975989"/>
                </a:lnTo>
                <a:lnTo>
                  <a:pt x="1159246" y="1975989"/>
                </a:lnTo>
                <a:lnTo>
                  <a:pt x="1162463" y="1975989"/>
                </a:lnTo>
                <a:lnTo>
                  <a:pt x="1165706" y="1975989"/>
                </a:lnTo>
                <a:lnTo>
                  <a:pt x="1168922" y="1975989"/>
                </a:lnTo>
                <a:lnTo>
                  <a:pt x="1168922" y="1972647"/>
                </a:lnTo>
                <a:lnTo>
                  <a:pt x="1172165" y="1972647"/>
                </a:lnTo>
                <a:lnTo>
                  <a:pt x="1175408" y="1972647"/>
                </a:lnTo>
                <a:lnTo>
                  <a:pt x="1178624" y="1972647"/>
                </a:lnTo>
                <a:lnTo>
                  <a:pt x="1178624" y="1969284"/>
                </a:lnTo>
                <a:lnTo>
                  <a:pt x="1181866" y="1969284"/>
                </a:lnTo>
                <a:lnTo>
                  <a:pt x="1185083" y="1969284"/>
                </a:lnTo>
                <a:lnTo>
                  <a:pt x="1188325" y="1969284"/>
                </a:lnTo>
                <a:lnTo>
                  <a:pt x="1188325" y="1965920"/>
                </a:lnTo>
                <a:lnTo>
                  <a:pt x="1191490" y="1965920"/>
                </a:lnTo>
                <a:lnTo>
                  <a:pt x="1194707" y="1965920"/>
                </a:lnTo>
                <a:lnTo>
                  <a:pt x="1197949" y="1965941"/>
                </a:lnTo>
                <a:lnTo>
                  <a:pt x="1197949" y="1959278"/>
                </a:lnTo>
                <a:lnTo>
                  <a:pt x="1201192" y="1959278"/>
                </a:lnTo>
                <a:lnTo>
                  <a:pt x="1204434" y="1959278"/>
                </a:lnTo>
                <a:lnTo>
                  <a:pt x="1207651" y="1959278"/>
                </a:lnTo>
                <a:lnTo>
                  <a:pt x="1207651" y="1955915"/>
                </a:lnTo>
                <a:lnTo>
                  <a:pt x="1210868" y="1955915"/>
                </a:lnTo>
                <a:lnTo>
                  <a:pt x="1214110" y="1955915"/>
                </a:lnTo>
                <a:lnTo>
                  <a:pt x="1217353" y="1955915"/>
                </a:lnTo>
                <a:lnTo>
                  <a:pt x="1217353" y="1952573"/>
                </a:lnTo>
                <a:lnTo>
                  <a:pt x="1220570" y="1952573"/>
                </a:lnTo>
                <a:lnTo>
                  <a:pt x="1223812" y="1952573"/>
                </a:lnTo>
                <a:lnTo>
                  <a:pt x="1227055" y="1952573"/>
                </a:lnTo>
                <a:lnTo>
                  <a:pt x="1227055" y="1949231"/>
                </a:lnTo>
                <a:lnTo>
                  <a:pt x="1230271" y="1949231"/>
                </a:lnTo>
                <a:lnTo>
                  <a:pt x="1233436" y="1949231"/>
                </a:lnTo>
                <a:lnTo>
                  <a:pt x="1233436" y="1945867"/>
                </a:lnTo>
                <a:lnTo>
                  <a:pt x="1236653" y="1945867"/>
                </a:lnTo>
                <a:lnTo>
                  <a:pt x="1236653" y="1942525"/>
                </a:lnTo>
                <a:lnTo>
                  <a:pt x="1239895" y="1942525"/>
                </a:lnTo>
                <a:lnTo>
                  <a:pt x="1239895" y="1939162"/>
                </a:lnTo>
                <a:lnTo>
                  <a:pt x="1243138" y="1939162"/>
                </a:lnTo>
                <a:lnTo>
                  <a:pt x="1246354" y="1939162"/>
                </a:lnTo>
                <a:lnTo>
                  <a:pt x="1246354" y="1935799"/>
                </a:lnTo>
                <a:lnTo>
                  <a:pt x="1249597" y="1935799"/>
                </a:lnTo>
                <a:lnTo>
                  <a:pt x="1249597" y="1929093"/>
                </a:lnTo>
                <a:lnTo>
                  <a:pt x="1252813" y="1929093"/>
                </a:lnTo>
                <a:lnTo>
                  <a:pt x="1256056" y="1929093"/>
                </a:lnTo>
                <a:lnTo>
                  <a:pt x="1259298" y="1929093"/>
                </a:lnTo>
                <a:lnTo>
                  <a:pt x="1262541" y="1929093"/>
                </a:lnTo>
                <a:lnTo>
                  <a:pt x="1262541" y="1922366"/>
                </a:lnTo>
                <a:lnTo>
                  <a:pt x="1265757" y="1922366"/>
                </a:lnTo>
                <a:lnTo>
                  <a:pt x="1269026" y="1922366"/>
                </a:lnTo>
                <a:lnTo>
                  <a:pt x="1272217" y="1922366"/>
                </a:lnTo>
                <a:lnTo>
                  <a:pt x="1272217" y="1915682"/>
                </a:lnTo>
                <a:lnTo>
                  <a:pt x="1275381" y="1915682"/>
                </a:lnTo>
                <a:lnTo>
                  <a:pt x="1278598" y="1915682"/>
                </a:lnTo>
                <a:lnTo>
                  <a:pt x="1281841" y="1915682"/>
                </a:lnTo>
                <a:lnTo>
                  <a:pt x="1285083" y="1915682"/>
                </a:lnTo>
                <a:lnTo>
                  <a:pt x="1288300" y="1915682"/>
                </a:lnTo>
                <a:lnTo>
                  <a:pt x="1291542" y="1915682"/>
                </a:lnTo>
                <a:lnTo>
                  <a:pt x="1294811" y="1915682"/>
                </a:lnTo>
                <a:lnTo>
                  <a:pt x="1298001" y="1915682"/>
                </a:lnTo>
                <a:lnTo>
                  <a:pt x="1301244" y="1915703"/>
                </a:lnTo>
                <a:lnTo>
                  <a:pt x="1304461" y="1915703"/>
                </a:lnTo>
                <a:lnTo>
                  <a:pt x="1307677" y="1915703"/>
                </a:lnTo>
                <a:lnTo>
                  <a:pt x="1310946" y="1915703"/>
                </a:lnTo>
                <a:lnTo>
                  <a:pt x="1310946" y="1912340"/>
                </a:lnTo>
                <a:lnTo>
                  <a:pt x="1314163" y="1912340"/>
                </a:lnTo>
                <a:lnTo>
                  <a:pt x="1317327" y="1912340"/>
                </a:lnTo>
                <a:lnTo>
                  <a:pt x="1320544" y="1912340"/>
                </a:lnTo>
                <a:lnTo>
                  <a:pt x="1320544" y="1908977"/>
                </a:lnTo>
                <a:lnTo>
                  <a:pt x="1323786" y="1908977"/>
                </a:lnTo>
                <a:lnTo>
                  <a:pt x="1323786" y="1905613"/>
                </a:lnTo>
                <a:lnTo>
                  <a:pt x="1327029" y="1905613"/>
                </a:lnTo>
                <a:lnTo>
                  <a:pt x="1330245" y="1905613"/>
                </a:lnTo>
                <a:lnTo>
                  <a:pt x="1333488" y="1905613"/>
                </a:lnTo>
                <a:lnTo>
                  <a:pt x="1333488" y="1902292"/>
                </a:lnTo>
                <a:lnTo>
                  <a:pt x="1336731" y="1902292"/>
                </a:lnTo>
                <a:lnTo>
                  <a:pt x="1339947" y="1902292"/>
                </a:lnTo>
                <a:lnTo>
                  <a:pt x="1343164" y="1902292"/>
                </a:lnTo>
                <a:lnTo>
                  <a:pt x="1346406" y="1902292"/>
                </a:lnTo>
                <a:lnTo>
                  <a:pt x="1346406" y="1895566"/>
                </a:lnTo>
                <a:lnTo>
                  <a:pt x="1349649" y="1895587"/>
                </a:lnTo>
                <a:lnTo>
                  <a:pt x="1352891" y="1895587"/>
                </a:lnTo>
                <a:lnTo>
                  <a:pt x="1352891" y="1892202"/>
                </a:lnTo>
                <a:lnTo>
                  <a:pt x="1356030" y="1892202"/>
                </a:lnTo>
                <a:lnTo>
                  <a:pt x="1356030" y="1888839"/>
                </a:lnTo>
                <a:lnTo>
                  <a:pt x="1359273" y="1888860"/>
                </a:lnTo>
                <a:lnTo>
                  <a:pt x="1359273" y="1882133"/>
                </a:lnTo>
                <a:lnTo>
                  <a:pt x="1362515" y="1882133"/>
                </a:lnTo>
                <a:lnTo>
                  <a:pt x="1365732" y="1882133"/>
                </a:lnTo>
                <a:lnTo>
                  <a:pt x="1365732" y="1878791"/>
                </a:lnTo>
                <a:lnTo>
                  <a:pt x="1368974" y="1878791"/>
                </a:lnTo>
                <a:lnTo>
                  <a:pt x="1372191" y="1878813"/>
                </a:lnTo>
                <a:lnTo>
                  <a:pt x="1375434" y="1878813"/>
                </a:lnTo>
                <a:lnTo>
                  <a:pt x="1375434" y="1875428"/>
                </a:lnTo>
                <a:lnTo>
                  <a:pt x="1378676" y="1875428"/>
                </a:lnTo>
                <a:lnTo>
                  <a:pt x="1381893" y="1875428"/>
                </a:lnTo>
                <a:lnTo>
                  <a:pt x="1385135" y="1875449"/>
                </a:lnTo>
                <a:lnTo>
                  <a:pt x="1388352" y="1875449"/>
                </a:lnTo>
                <a:lnTo>
                  <a:pt x="1391594" y="1875449"/>
                </a:lnTo>
                <a:lnTo>
                  <a:pt x="1394837" y="1875449"/>
                </a:lnTo>
                <a:lnTo>
                  <a:pt x="1394837" y="1872086"/>
                </a:lnTo>
                <a:lnTo>
                  <a:pt x="1397976" y="1872086"/>
                </a:lnTo>
                <a:lnTo>
                  <a:pt x="1401218" y="1872086"/>
                </a:lnTo>
                <a:lnTo>
                  <a:pt x="1401218" y="1868743"/>
                </a:lnTo>
                <a:lnTo>
                  <a:pt x="1404461" y="1868743"/>
                </a:lnTo>
                <a:lnTo>
                  <a:pt x="1404461" y="1862017"/>
                </a:lnTo>
                <a:lnTo>
                  <a:pt x="1407677" y="1862017"/>
                </a:lnTo>
                <a:lnTo>
                  <a:pt x="1410920" y="1862017"/>
                </a:lnTo>
                <a:lnTo>
                  <a:pt x="1414136" y="1862017"/>
                </a:lnTo>
                <a:lnTo>
                  <a:pt x="1414136" y="1858654"/>
                </a:lnTo>
                <a:lnTo>
                  <a:pt x="1417379" y="1858654"/>
                </a:lnTo>
                <a:lnTo>
                  <a:pt x="1420621" y="1858654"/>
                </a:lnTo>
                <a:lnTo>
                  <a:pt x="1420621" y="1855311"/>
                </a:lnTo>
                <a:lnTo>
                  <a:pt x="1423838" y="1855311"/>
                </a:lnTo>
                <a:lnTo>
                  <a:pt x="1423838" y="1848606"/>
                </a:lnTo>
                <a:lnTo>
                  <a:pt x="1427081" y="1848606"/>
                </a:lnTo>
                <a:lnTo>
                  <a:pt x="1430323" y="1848606"/>
                </a:lnTo>
                <a:lnTo>
                  <a:pt x="1430323" y="1845243"/>
                </a:lnTo>
                <a:lnTo>
                  <a:pt x="1433540" y="1845243"/>
                </a:lnTo>
                <a:lnTo>
                  <a:pt x="1436782" y="1845243"/>
                </a:lnTo>
                <a:lnTo>
                  <a:pt x="1439921" y="1845243"/>
                </a:lnTo>
                <a:lnTo>
                  <a:pt x="1439921" y="1841900"/>
                </a:lnTo>
                <a:lnTo>
                  <a:pt x="1443164" y="1841900"/>
                </a:lnTo>
                <a:lnTo>
                  <a:pt x="1446406" y="1841900"/>
                </a:lnTo>
                <a:lnTo>
                  <a:pt x="1449623" y="1841900"/>
                </a:lnTo>
                <a:lnTo>
                  <a:pt x="1452865" y="1841900"/>
                </a:lnTo>
                <a:lnTo>
                  <a:pt x="1456082" y="1841900"/>
                </a:lnTo>
                <a:lnTo>
                  <a:pt x="1459325" y="1841922"/>
                </a:lnTo>
                <a:lnTo>
                  <a:pt x="1462541" y="1841922"/>
                </a:lnTo>
                <a:lnTo>
                  <a:pt x="1465784" y="1841922"/>
                </a:lnTo>
                <a:lnTo>
                  <a:pt x="1469000" y="1841922"/>
                </a:lnTo>
                <a:lnTo>
                  <a:pt x="1472269" y="1841922"/>
                </a:lnTo>
                <a:lnTo>
                  <a:pt x="1475486" y="1841922"/>
                </a:lnTo>
                <a:lnTo>
                  <a:pt x="1478728" y="1841922"/>
                </a:lnTo>
                <a:lnTo>
                  <a:pt x="1481867" y="1841922"/>
                </a:lnTo>
                <a:lnTo>
                  <a:pt x="1481867" y="1838579"/>
                </a:lnTo>
                <a:lnTo>
                  <a:pt x="1485109" y="1838579"/>
                </a:lnTo>
                <a:lnTo>
                  <a:pt x="1485109" y="1835216"/>
                </a:lnTo>
                <a:lnTo>
                  <a:pt x="1488352" y="1835216"/>
                </a:lnTo>
                <a:lnTo>
                  <a:pt x="1491568" y="1835216"/>
                </a:lnTo>
                <a:lnTo>
                  <a:pt x="1494811" y="1835216"/>
                </a:lnTo>
                <a:lnTo>
                  <a:pt x="1498028" y="1835237"/>
                </a:lnTo>
                <a:lnTo>
                  <a:pt x="1501270" y="1835237"/>
                </a:lnTo>
                <a:lnTo>
                  <a:pt x="1504487" y="1835237"/>
                </a:lnTo>
                <a:lnTo>
                  <a:pt x="1504487" y="1828489"/>
                </a:lnTo>
                <a:lnTo>
                  <a:pt x="1507729" y="1828511"/>
                </a:lnTo>
                <a:lnTo>
                  <a:pt x="1507729" y="1825147"/>
                </a:lnTo>
                <a:lnTo>
                  <a:pt x="1510972" y="1825147"/>
                </a:lnTo>
                <a:lnTo>
                  <a:pt x="1510972" y="1821784"/>
                </a:lnTo>
                <a:lnTo>
                  <a:pt x="1514214" y="1821805"/>
                </a:lnTo>
                <a:lnTo>
                  <a:pt x="1517431" y="1821805"/>
                </a:lnTo>
                <a:lnTo>
                  <a:pt x="1520674" y="1821805"/>
                </a:lnTo>
                <a:lnTo>
                  <a:pt x="1520674" y="1818463"/>
                </a:lnTo>
                <a:lnTo>
                  <a:pt x="1523813" y="1818463"/>
                </a:lnTo>
                <a:lnTo>
                  <a:pt x="1523813" y="1815079"/>
                </a:lnTo>
                <a:lnTo>
                  <a:pt x="1527055" y="1815079"/>
                </a:lnTo>
                <a:lnTo>
                  <a:pt x="1530298" y="1815100"/>
                </a:lnTo>
                <a:lnTo>
                  <a:pt x="1533514" y="1815100"/>
                </a:lnTo>
                <a:lnTo>
                  <a:pt x="1536757" y="1815100"/>
                </a:lnTo>
                <a:lnTo>
                  <a:pt x="1536757" y="1811673"/>
                </a:lnTo>
                <a:lnTo>
                  <a:pt x="1539999" y="1811694"/>
                </a:lnTo>
                <a:lnTo>
                  <a:pt x="1539999" y="1804967"/>
                </a:lnTo>
                <a:lnTo>
                  <a:pt x="1543216" y="1804967"/>
                </a:lnTo>
                <a:lnTo>
                  <a:pt x="1546458" y="1804989"/>
                </a:lnTo>
                <a:lnTo>
                  <a:pt x="1546458" y="1801625"/>
                </a:lnTo>
                <a:lnTo>
                  <a:pt x="1549675" y="1801625"/>
                </a:lnTo>
                <a:lnTo>
                  <a:pt x="1549675" y="1794898"/>
                </a:lnTo>
                <a:lnTo>
                  <a:pt x="1552918" y="1794898"/>
                </a:lnTo>
                <a:lnTo>
                  <a:pt x="1552918" y="1791535"/>
                </a:lnTo>
                <a:lnTo>
                  <a:pt x="1556134" y="1791535"/>
                </a:lnTo>
                <a:lnTo>
                  <a:pt x="1559377" y="1791556"/>
                </a:lnTo>
                <a:lnTo>
                  <a:pt x="1562541" y="1791556"/>
                </a:lnTo>
                <a:lnTo>
                  <a:pt x="1565784" y="1791556"/>
                </a:lnTo>
                <a:lnTo>
                  <a:pt x="1569000" y="1791556"/>
                </a:lnTo>
                <a:lnTo>
                  <a:pt x="1572243" y="1791556"/>
                </a:lnTo>
                <a:lnTo>
                  <a:pt x="1575460" y="1791556"/>
                </a:lnTo>
                <a:lnTo>
                  <a:pt x="1578702" y="1791556"/>
                </a:lnTo>
                <a:lnTo>
                  <a:pt x="1581945" y="1791556"/>
                </a:lnTo>
                <a:lnTo>
                  <a:pt x="1585161" y="1791556"/>
                </a:lnTo>
                <a:lnTo>
                  <a:pt x="1588404" y="1791599"/>
                </a:lnTo>
                <a:lnTo>
                  <a:pt x="1591620" y="1791599"/>
                </a:lnTo>
                <a:lnTo>
                  <a:pt x="1594863" y="1791599"/>
                </a:lnTo>
                <a:lnTo>
                  <a:pt x="1598105" y="1791599"/>
                </a:lnTo>
                <a:lnTo>
                  <a:pt x="1601322" y="1791599"/>
                </a:lnTo>
                <a:lnTo>
                  <a:pt x="1604487" y="1791599"/>
                </a:lnTo>
                <a:lnTo>
                  <a:pt x="1604487" y="1784872"/>
                </a:lnTo>
                <a:lnTo>
                  <a:pt x="1607729" y="1784872"/>
                </a:lnTo>
                <a:lnTo>
                  <a:pt x="1610946" y="1784872"/>
                </a:lnTo>
                <a:lnTo>
                  <a:pt x="1610946" y="1781445"/>
                </a:lnTo>
                <a:lnTo>
                  <a:pt x="1614189" y="1781445"/>
                </a:lnTo>
                <a:lnTo>
                  <a:pt x="1617379" y="1781445"/>
                </a:lnTo>
                <a:lnTo>
                  <a:pt x="1620648" y="1781466"/>
                </a:lnTo>
                <a:lnTo>
                  <a:pt x="1623891" y="1781466"/>
                </a:lnTo>
                <a:lnTo>
                  <a:pt x="1623891" y="1778103"/>
                </a:lnTo>
                <a:lnTo>
                  <a:pt x="1627107" y="1778103"/>
                </a:lnTo>
                <a:lnTo>
                  <a:pt x="1630323" y="1778103"/>
                </a:lnTo>
                <a:lnTo>
                  <a:pt x="1633592" y="1778103"/>
                </a:lnTo>
                <a:lnTo>
                  <a:pt x="1636783" y="1778103"/>
                </a:lnTo>
                <a:lnTo>
                  <a:pt x="1640051" y="1778103"/>
                </a:lnTo>
                <a:lnTo>
                  <a:pt x="1643268" y="1778103"/>
                </a:lnTo>
                <a:lnTo>
                  <a:pt x="1646432" y="1778124"/>
                </a:lnTo>
                <a:lnTo>
                  <a:pt x="1646432" y="1771419"/>
                </a:lnTo>
                <a:lnTo>
                  <a:pt x="1649675" y="1771419"/>
                </a:lnTo>
                <a:lnTo>
                  <a:pt x="1652866" y="1771419"/>
                </a:lnTo>
                <a:lnTo>
                  <a:pt x="1656134" y="1771419"/>
                </a:lnTo>
                <a:lnTo>
                  <a:pt x="1659325" y="1771419"/>
                </a:lnTo>
                <a:lnTo>
                  <a:pt x="1662593" y="1771440"/>
                </a:lnTo>
                <a:lnTo>
                  <a:pt x="1665810" y="1771440"/>
                </a:lnTo>
                <a:lnTo>
                  <a:pt x="1669053" y="1771440"/>
                </a:lnTo>
                <a:lnTo>
                  <a:pt x="1672295" y="1771440"/>
                </a:lnTo>
                <a:lnTo>
                  <a:pt x="1675538" y="1771440"/>
                </a:lnTo>
                <a:lnTo>
                  <a:pt x="1678754" y="1771440"/>
                </a:lnTo>
                <a:lnTo>
                  <a:pt x="1678754" y="1768076"/>
                </a:lnTo>
                <a:lnTo>
                  <a:pt x="1681971" y="1768076"/>
                </a:lnTo>
                <a:lnTo>
                  <a:pt x="1685213" y="1768076"/>
                </a:lnTo>
                <a:lnTo>
                  <a:pt x="1688378" y="1768076"/>
                </a:lnTo>
                <a:lnTo>
                  <a:pt x="1691621" y="1768098"/>
                </a:lnTo>
                <a:lnTo>
                  <a:pt x="1691621" y="1764671"/>
                </a:lnTo>
                <a:lnTo>
                  <a:pt x="1694837" y="1764671"/>
                </a:lnTo>
                <a:lnTo>
                  <a:pt x="1698080" y="1764671"/>
                </a:lnTo>
                <a:lnTo>
                  <a:pt x="1698080" y="1761308"/>
                </a:lnTo>
                <a:lnTo>
                  <a:pt x="1701296" y="1761308"/>
                </a:lnTo>
                <a:lnTo>
                  <a:pt x="1701296" y="1757965"/>
                </a:lnTo>
                <a:lnTo>
                  <a:pt x="1704539" y="1757965"/>
                </a:lnTo>
                <a:lnTo>
                  <a:pt x="1707782" y="1757965"/>
                </a:lnTo>
                <a:lnTo>
                  <a:pt x="1707782" y="1754623"/>
                </a:lnTo>
                <a:lnTo>
                  <a:pt x="1710972" y="1754623"/>
                </a:lnTo>
                <a:lnTo>
                  <a:pt x="1710972" y="1751260"/>
                </a:lnTo>
                <a:lnTo>
                  <a:pt x="1714241" y="1751260"/>
                </a:lnTo>
                <a:lnTo>
                  <a:pt x="1714241" y="1747854"/>
                </a:lnTo>
                <a:lnTo>
                  <a:pt x="1717457" y="1747854"/>
                </a:lnTo>
                <a:lnTo>
                  <a:pt x="1717457" y="1744491"/>
                </a:lnTo>
                <a:lnTo>
                  <a:pt x="1720700" y="1744491"/>
                </a:lnTo>
                <a:lnTo>
                  <a:pt x="1723916" y="1744491"/>
                </a:lnTo>
                <a:lnTo>
                  <a:pt x="1727159" y="1744491"/>
                </a:lnTo>
                <a:lnTo>
                  <a:pt x="1730324" y="1744491"/>
                </a:lnTo>
                <a:lnTo>
                  <a:pt x="1730324" y="1737743"/>
                </a:lnTo>
                <a:lnTo>
                  <a:pt x="1733566" y="1737743"/>
                </a:lnTo>
                <a:lnTo>
                  <a:pt x="1736757" y="1737743"/>
                </a:lnTo>
                <a:lnTo>
                  <a:pt x="1736757" y="1734380"/>
                </a:lnTo>
                <a:lnTo>
                  <a:pt x="1740025" y="1734380"/>
                </a:lnTo>
                <a:lnTo>
                  <a:pt x="1743242" y="1734380"/>
                </a:lnTo>
                <a:lnTo>
                  <a:pt x="1746484" y="1734380"/>
                </a:lnTo>
                <a:lnTo>
                  <a:pt x="1749727" y="1734380"/>
                </a:lnTo>
                <a:lnTo>
                  <a:pt x="1752944" y="1734380"/>
                </a:lnTo>
                <a:lnTo>
                  <a:pt x="1756186" y="1734401"/>
                </a:lnTo>
                <a:lnTo>
                  <a:pt x="1759429" y="1734401"/>
                </a:lnTo>
                <a:lnTo>
                  <a:pt x="1762646" y="1734401"/>
                </a:lnTo>
                <a:lnTo>
                  <a:pt x="1765888" y="1734401"/>
                </a:lnTo>
                <a:lnTo>
                  <a:pt x="1769027" y="1734401"/>
                </a:lnTo>
                <a:lnTo>
                  <a:pt x="1769027" y="1731038"/>
                </a:lnTo>
                <a:lnTo>
                  <a:pt x="1772243" y="1731038"/>
                </a:lnTo>
                <a:lnTo>
                  <a:pt x="1772243" y="1727695"/>
                </a:lnTo>
                <a:lnTo>
                  <a:pt x="1775512" y="1727695"/>
                </a:lnTo>
                <a:lnTo>
                  <a:pt x="1778702" y="1727695"/>
                </a:lnTo>
                <a:lnTo>
                  <a:pt x="1781971" y="1727695"/>
                </a:lnTo>
                <a:lnTo>
                  <a:pt x="1785214" y="1727695"/>
                </a:lnTo>
                <a:lnTo>
                  <a:pt x="1785214" y="1724290"/>
                </a:lnTo>
                <a:lnTo>
                  <a:pt x="1788430" y="1724290"/>
                </a:lnTo>
                <a:lnTo>
                  <a:pt x="1791646" y="1724290"/>
                </a:lnTo>
                <a:lnTo>
                  <a:pt x="1794889" y="1724311"/>
                </a:lnTo>
                <a:lnTo>
                  <a:pt x="1794889" y="1720948"/>
                </a:lnTo>
                <a:lnTo>
                  <a:pt x="1798106" y="1720948"/>
                </a:lnTo>
                <a:lnTo>
                  <a:pt x="1801374" y="1720948"/>
                </a:lnTo>
                <a:lnTo>
                  <a:pt x="1804565" y="1720948"/>
                </a:lnTo>
                <a:lnTo>
                  <a:pt x="1804565" y="1717584"/>
                </a:lnTo>
                <a:lnTo>
                  <a:pt x="1807833" y="1717584"/>
                </a:lnTo>
                <a:lnTo>
                  <a:pt x="1810998" y="1717584"/>
                </a:lnTo>
                <a:lnTo>
                  <a:pt x="1810998" y="1714179"/>
                </a:lnTo>
                <a:lnTo>
                  <a:pt x="1814189" y="1714179"/>
                </a:lnTo>
                <a:lnTo>
                  <a:pt x="1817457" y="1714179"/>
                </a:lnTo>
                <a:lnTo>
                  <a:pt x="1820648" y="1714179"/>
                </a:lnTo>
                <a:lnTo>
                  <a:pt x="1823917" y="1714179"/>
                </a:lnTo>
                <a:lnTo>
                  <a:pt x="1827133" y="1714179"/>
                </a:lnTo>
                <a:lnTo>
                  <a:pt x="1827133" y="1707495"/>
                </a:lnTo>
                <a:lnTo>
                  <a:pt x="1830376" y="1707495"/>
                </a:lnTo>
                <a:lnTo>
                  <a:pt x="1833592" y="1707495"/>
                </a:lnTo>
                <a:lnTo>
                  <a:pt x="1833592" y="1704131"/>
                </a:lnTo>
                <a:lnTo>
                  <a:pt x="1836809" y="1704131"/>
                </a:lnTo>
                <a:lnTo>
                  <a:pt x="1840077" y="1704131"/>
                </a:lnTo>
                <a:lnTo>
                  <a:pt x="1843294" y="1704131"/>
                </a:lnTo>
                <a:lnTo>
                  <a:pt x="1843294" y="1700725"/>
                </a:lnTo>
                <a:lnTo>
                  <a:pt x="1846537" y="1700725"/>
                </a:lnTo>
                <a:lnTo>
                  <a:pt x="1846537" y="1697362"/>
                </a:lnTo>
                <a:lnTo>
                  <a:pt x="1849753" y="1697362"/>
                </a:lnTo>
                <a:lnTo>
                  <a:pt x="1852944" y="1697362"/>
                </a:lnTo>
                <a:lnTo>
                  <a:pt x="1856160" y="1697362"/>
                </a:lnTo>
                <a:lnTo>
                  <a:pt x="1859403" y="1697362"/>
                </a:lnTo>
                <a:lnTo>
                  <a:pt x="1862619" y="1697362"/>
                </a:lnTo>
                <a:lnTo>
                  <a:pt x="1865836" y="1697362"/>
                </a:lnTo>
                <a:lnTo>
                  <a:pt x="1869105" y="1697362"/>
                </a:lnTo>
                <a:lnTo>
                  <a:pt x="1872295" y="1697383"/>
                </a:lnTo>
                <a:lnTo>
                  <a:pt x="1872295" y="1694041"/>
                </a:lnTo>
                <a:lnTo>
                  <a:pt x="1875564" y="1694041"/>
                </a:lnTo>
                <a:lnTo>
                  <a:pt x="1878780" y="1694041"/>
                </a:lnTo>
                <a:lnTo>
                  <a:pt x="1882023" y="1694041"/>
                </a:lnTo>
                <a:lnTo>
                  <a:pt x="1882023" y="1687251"/>
                </a:lnTo>
                <a:lnTo>
                  <a:pt x="1885239" y="1687272"/>
                </a:lnTo>
                <a:lnTo>
                  <a:pt x="1888482" y="1687272"/>
                </a:lnTo>
                <a:lnTo>
                  <a:pt x="1891724" y="1687272"/>
                </a:lnTo>
                <a:lnTo>
                  <a:pt x="1894889" y="1687272"/>
                </a:lnTo>
                <a:lnTo>
                  <a:pt x="1894889" y="1683867"/>
                </a:lnTo>
                <a:lnTo>
                  <a:pt x="1898080" y="1683867"/>
                </a:lnTo>
                <a:lnTo>
                  <a:pt x="1901348" y="1683867"/>
                </a:lnTo>
                <a:lnTo>
                  <a:pt x="1901348" y="1680503"/>
                </a:lnTo>
                <a:lnTo>
                  <a:pt x="1904539" y="1680503"/>
                </a:lnTo>
                <a:lnTo>
                  <a:pt x="1907808" y="1680503"/>
                </a:lnTo>
                <a:lnTo>
                  <a:pt x="1907808" y="1677161"/>
                </a:lnTo>
                <a:lnTo>
                  <a:pt x="1911050" y="1677182"/>
                </a:lnTo>
                <a:lnTo>
                  <a:pt x="1911050" y="1673756"/>
                </a:lnTo>
                <a:lnTo>
                  <a:pt x="1914267" y="1673756"/>
                </a:lnTo>
                <a:lnTo>
                  <a:pt x="1917510" y="1673776"/>
                </a:lnTo>
                <a:lnTo>
                  <a:pt x="1920752" y="1673776"/>
                </a:lnTo>
                <a:lnTo>
                  <a:pt x="1923942" y="1673776"/>
                </a:lnTo>
                <a:lnTo>
                  <a:pt x="1927211" y="1673776"/>
                </a:lnTo>
                <a:lnTo>
                  <a:pt x="1930402" y="1673776"/>
                </a:lnTo>
                <a:lnTo>
                  <a:pt x="1933566" y="1673776"/>
                </a:lnTo>
                <a:lnTo>
                  <a:pt x="1936835" y="1673776"/>
                </a:lnTo>
                <a:lnTo>
                  <a:pt x="1940025" y="1673776"/>
                </a:lnTo>
                <a:lnTo>
                  <a:pt x="1943294" y="1673776"/>
                </a:lnTo>
                <a:lnTo>
                  <a:pt x="1946537" y="1673798"/>
                </a:lnTo>
                <a:lnTo>
                  <a:pt x="1949753" y="1673798"/>
                </a:lnTo>
                <a:lnTo>
                  <a:pt x="1952970" y="1673798"/>
                </a:lnTo>
                <a:lnTo>
                  <a:pt x="1956187" y="1673798"/>
                </a:lnTo>
                <a:lnTo>
                  <a:pt x="1956187" y="1670413"/>
                </a:lnTo>
                <a:lnTo>
                  <a:pt x="1959429" y="1670434"/>
                </a:lnTo>
                <a:lnTo>
                  <a:pt x="1962672" y="1670434"/>
                </a:lnTo>
                <a:lnTo>
                  <a:pt x="1962672" y="1667071"/>
                </a:lnTo>
                <a:lnTo>
                  <a:pt x="1965888" y="1667071"/>
                </a:lnTo>
                <a:lnTo>
                  <a:pt x="1969157" y="1667071"/>
                </a:lnTo>
                <a:lnTo>
                  <a:pt x="1969157" y="1663644"/>
                </a:lnTo>
                <a:lnTo>
                  <a:pt x="1972347" y="1663644"/>
                </a:lnTo>
                <a:lnTo>
                  <a:pt x="1975512" y="1663644"/>
                </a:lnTo>
                <a:lnTo>
                  <a:pt x="1978781" y="1663665"/>
                </a:lnTo>
                <a:lnTo>
                  <a:pt x="1981971" y="1663665"/>
                </a:lnTo>
                <a:lnTo>
                  <a:pt x="1985214" y="1663665"/>
                </a:lnTo>
                <a:lnTo>
                  <a:pt x="1985214" y="1656918"/>
                </a:lnTo>
                <a:lnTo>
                  <a:pt x="1988456" y="1656918"/>
                </a:lnTo>
                <a:lnTo>
                  <a:pt x="1988456" y="1653554"/>
                </a:lnTo>
                <a:lnTo>
                  <a:pt x="1991673" y="1653554"/>
                </a:lnTo>
                <a:lnTo>
                  <a:pt x="1994916" y="1653554"/>
                </a:lnTo>
                <a:lnTo>
                  <a:pt x="1998132" y="1653575"/>
                </a:lnTo>
                <a:lnTo>
                  <a:pt x="2001401" y="1653575"/>
                </a:lnTo>
                <a:lnTo>
                  <a:pt x="2004617" y="1653575"/>
                </a:lnTo>
                <a:lnTo>
                  <a:pt x="2007860" y="1653575"/>
                </a:lnTo>
                <a:lnTo>
                  <a:pt x="2011076" y="1653575"/>
                </a:lnTo>
                <a:lnTo>
                  <a:pt x="2014319" y="1653575"/>
                </a:lnTo>
                <a:lnTo>
                  <a:pt x="2017484" y="1653575"/>
                </a:lnTo>
                <a:lnTo>
                  <a:pt x="2017484" y="1650149"/>
                </a:lnTo>
                <a:lnTo>
                  <a:pt x="2020700" y="1650149"/>
                </a:lnTo>
                <a:lnTo>
                  <a:pt x="2023943" y="1650149"/>
                </a:lnTo>
                <a:lnTo>
                  <a:pt x="2023943" y="1646807"/>
                </a:lnTo>
                <a:lnTo>
                  <a:pt x="2027159" y="1646807"/>
                </a:lnTo>
                <a:lnTo>
                  <a:pt x="2030428" y="1646807"/>
                </a:lnTo>
                <a:lnTo>
                  <a:pt x="2033618" y="1646807"/>
                </a:lnTo>
                <a:lnTo>
                  <a:pt x="2036887" y="1646807"/>
                </a:lnTo>
                <a:lnTo>
                  <a:pt x="2040078" y="1646807"/>
                </a:lnTo>
                <a:lnTo>
                  <a:pt x="2043346" y="1646807"/>
                </a:lnTo>
                <a:lnTo>
                  <a:pt x="2046563" y="1646807"/>
                </a:lnTo>
                <a:lnTo>
                  <a:pt x="2049780" y="1646828"/>
                </a:lnTo>
                <a:lnTo>
                  <a:pt x="2053048" y="1646828"/>
                </a:lnTo>
                <a:lnTo>
                  <a:pt x="2056265" y="1646828"/>
                </a:lnTo>
                <a:lnTo>
                  <a:pt x="2056265" y="1643443"/>
                </a:lnTo>
                <a:lnTo>
                  <a:pt x="2059403" y="1643443"/>
                </a:lnTo>
                <a:lnTo>
                  <a:pt x="2059403" y="1640080"/>
                </a:lnTo>
                <a:lnTo>
                  <a:pt x="2062672" y="1640080"/>
                </a:lnTo>
                <a:lnTo>
                  <a:pt x="2062672" y="1633247"/>
                </a:lnTo>
                <a:lnTo>
                  <a:pt x="2065862" y="1633247"/>
                </a:lnTo>
                <a:lnTo>
                  <a:pt x="2069131" y="1633247"/>
                </a:lnTo>
                <a:lnTo>
                  <a:pt x="2069131" y="1623136"/>
                </a:lnTo>
                <a:lnTo>
                  <a:pt x="2072374" y="1623136"/>
                </a:lnTo>
                <a:lnTo>
                  <a:pt x="2072374" y="1616304"/>
                </a:lnTo>
                <a:lnTo>
                  <a:pt x="2075590" y="1616304"/>
                </a:lnTo>
                <a:lnTo>
                  <a:pt x="2078806" y="1616304"/>
                </a:lnTo>
                <a:lnTo>
                  <a:pt x="2082075" y="1616304"/>
                </a:lnTo>
                <a:lnTo>
                  <a:pt x="2082075" y="1609577"/>
                </a:lnTo>
                <a:lnTo>
                  <a:pt x="2085265" y="1609577"/>
                </a:lnTo>
                <a:lnTo>
                  <a:pt x="2085265" y="1606150"/>
                </a:lnTo>
                <a:lnTo>
                  <a:pt x="2088534" y="1606150"/>
                </a:lnTo>
                <a:lnTo>
                  <a:pt x="2091725" y="1606150"/>
                </a:lnTo>
                <a:lnTo>
                  <a:pt x="2091725" y="1602808"/>
                </a:lnTo>
                <a:lnTo>
                  <a:pt x="2094993" y="1602808"/>
                </a:lnTo>
                <a:lnTo>
                  <a:pt x="2098210" y="1602808"/>
                </a:lnTo>
                <a:lnTo>
                  <a:pt x="2101349" y="1602808"/>
                </a:lnTo>
                <a:lnTo>
                  <a:pt x="2104617" y="1602808"/>
                </a:lnTo>
                <a:lnTo>
                  <a:pt x="2107834" y="1602808"/>
                </a:lnTo>
                <a:lnTo>
                  <a:pt x="2111051" y="1602808"/>
                </a:lnTo>
                <a:lnTo>
                  <a:pt x="2114319" y="1602808"/>
                </a:lnTo>
                <a:lnTo>
                  <a:pt x="2114319" y="1596039"/>
                </a:lnTo>
                <a:lnTo>
                  <a:pt x="2117510" y="1596039"/>
                </a:lnTo>
                <a:lnTo>
                  <a:pt x="2117510" y="1592655"/>
                </a:lnTo>
                <a:lnTo>
                  <a:pt x="2120752" y="1592655"/>
                </a:lnTo>
                <a:lnTo>
                  <a:pt x="2123995" y="1592655"/>
                </a:lnTo>
                <a:lnTo>
                  <a:pt x="2123995" y="1589228"/>
                </a:lnTo>
                <a:lnTo>
                  <a:pt x="2127211" y="1589228"/>
                </a:lnTo>
                <a:lnTo>
                  <a:pt x="2127211" y="1585865"/>
                </a:lnTo>
                <a:lnTo>
                  <a:pt x="2130480" y="1585865"/>
                </a:lnTo>
                <a:lnTo>
                  <a:pt x="2130480" y="1582459"/>
                </a:lnTo>
                <a:lnTo>
                  <a:pt x="2133671" y="1582459"/>
                </a:lnTo>
                <a:lnTo>
                  <a:pt x="2136939" y="1582459"/>
                </a:lnTo>
                <a:lnTo>
                  <a:pt x="2140078" y="1582480"/>
                </a:lnTo>
                <a:lnTo>
                  <a:pt x="2140078" y="1579074"/>
                </a:lnTo>
                <a:lnTo>
                  <a:pt x="2143294" y="1579074"/>
                </a:lnTo>
                <a:lnTo>
                  <a:pt x="2146537" y="1579074"/>
                </a:lnTo>
                <a:lnTo>
                  <a:pt x="2149779" y="1579074"/>
                </a:lnTo>
                <a:lnTo>
                  <a:pt x="2149779" y="1575711"/>
                </a:lnTo>
                <a:lnTo>
                  <a:pt x="2152996" y="1575711"/>
                </a:lnTo>
                <a:lnTo>
                  <a:pt x="2156239" y="1575711"/>
                </a:lnTo>
                <a:lnTo>
                  <a:pt x="2156239" y="1572327"/>
                </a:lnTo>
                <a:lnTo>
                  <a:pt x="2159455" y="1572327"/>
                </a:lnTo>
                <a:lnTo>
                  <a:pt x="2162724" y="1572327"/>
                </a:lnTo>
                <a:lnTo>
                  <a:pt x="2162724" y="1568963"/>
                </a:lnTo>
                <a:lnTo>
                  <a:pt x="2165940" y="1568963"/>
                </a:lnTo>
                <a:lnTo>
                  <a:pt x="2165940" y="1565558"/>
                </a:lnTo>
                <a:lnTo>
                  <a:pt x="2169157" y="1565558"/>
                </a:lnTo>
                <a:lnTo>
                  <a:pt x="2172399" y="1565558"/>
                </a:lnTo>
                <a:lnTo>
                  <a:pt x="2175616" y="1565558"/>
                </a:lnTo>
                <a:lnTo>
                  <a:pt x="2178858" y="1565558"/>
                </a:lnTo>
                <a:lnTo>
                  <a:pt x="2178858" y="1562173"/>
                </a:lnTo>
                <a:lnTo>
                  <a:pt x="2182023" y="1562173"/>
                </a:lnTo>
                <a:lnTo>
                  <a:pt x="2185266" y="1562173"/>
                </a:lnTo>
                <a:lnTo>
                  <a:pt x="2188482" y="1562173"/>
                </a:lnTo>
                <a:lnTo>
                  <a:pt x="2188482" y="1555405"/>
                </a:lnTo>
                <a:lnTo>
                  <a:pt x="2191751" y="1555405"/>
                </a:lnTo>
                <a:lnTo>
                  <a:pt x="2194942" y="1555405"/>
                </a:lnTo>
                <a:lnTo>
                  <a:pt x="2198210" y="1555405"/>
                </a:lnTo>
                <a:lnTo>
                  <a:pt x="2201401" y="1555405"/>
                </a:lnTo>
                <a:lnTo>
                  <a:pt x="2201401" y="1551999"/>
                </a:lnTo>
                <a:lnTo>
                  <a:pt x="2204644" y="1551999"/>
                </a:lnTo>
                <a:lnTo>
                  <a:pt x="2207886" y="1551999"/>
                </a:lnTo>
                <a:lnTo>
                  <a:pt x="2211103" y="1551999"/>
                </a:lnTo>
                <a:lnTo>
                  <a:pt x="2214371" y="1551999"/>
                </a:lnTo>
                <a:lnTo>
                  <a:pt x="2214371" y="1548593"/>
                </a:lnTo>
                <a:lnTo>
                  <a:pt x="2217588" y="1548593"/>
                </a:lnTo>
                <a:lnTo>
                  <a:pt x="2220830" y="1548593"/>
                </a:lnTo>
                <a:lnTo>
                  <a:pt x="2220830" y="1545251"/>
                </a:lnTo>
                <a:lnTo>
                  <a:pt x="2223995" y="1545251"/>
                </a:lnTo>
                <a:lnTo>
                  <a:pt x="2227185" y="1545251"/>
                </a:lnTo>
                <a:lnTo>
                  <a:pt x="2230428" y="1545251"/>
                </a:lnTo>
                <a:lnTo>
                  <a:pt x="2233671" y="1545251"/>
                </a:lnTo>
                <a:lnTo>
                  <a:pt x="2236913" y="1545251"/>
                </a:lnTo>
                <a:lnTo>
                  <a:pt x="2240130" y="1545251"/>
                </a:lnTo>
                <a:lnTo>
                  <a:pt x="2243372" y="1545251"/>
                </a:lnTo>
                <a:lnTo>
                  <a:pt x="2243372" y="1541845"/>
                </a:lnTo>
                <a:lnTo>
                  <a:pt x="2246589" y="1541845"/>
                </a:lnTo>
                <a:lnTo>
                  <a:pt x="2249857" y="1541845"/>
                </a:lnTo>
                <a:lnTo>
                  <a:pt x="2253048" y="1541845"/>
                </a:lnTo>
                <a:lnTo>
                  <a:pt x="2253048" y="1538440"/>
                </a:lnTo>
                <a:lnTo>
                  <a:pt x="2256317" y="1538440"/>
                </a:lnTo>
                <a:lnTo>
                  <a:pt x="2256317" y="1535055"/>
                </a:lnTo>
                <a:lnTo>
                  <a:pt x="2259533" y="1535055"/>
                </a:lnTo>
                <a:lnTo>
                  <a:pt x="2262750" y="1535055"/>
                </a:lnTo>
                <a:lnTo>
                  <a:pt x="2265915" y="1535055"/>
                </a:lnTo>
                <a:lnTo>
                  <a:pt x="2269157" y="1535055"/>
                </a:lnTo>
                <a:lnTo>
                  <a:pt x="2272374" y="1535055"/>
                </a:lnTo>
                <a:lnTo>
                  <a:pt x="2272374" y="1531628"/>
                </a:lnTo>
                <a:lnTo>
                  <a:pt x="2275642" y="1531628"/>
                </a:lnTo>
                <a:lnTo>
                  <a:pt x="2278833" y="1531628"/>
                </a:lnTo>
                <a:lnTo>
                  <a:pt x="2282075" y="1531628"/>
                </a:lnTo>
                <a:lnTo>
                  <a:pt x="2285318" y="1531628"/>
                </a:lnTo>
                <a:lnTo>
                  <a:pt x="2285318" y="1528244"/>
                </a:lnTo>
                <a:lnTo>
                  <a:pt x="2288535" y="1528244"/>
                </a:lnTo>
                <a:lnTo>
                  <a:pt x="2291803" y="1528244"/>
                </a:lnTo>
                <a:lnTo>
                  <a:pt x="2294994" y="1528244"/>
                </a:lnTo>
                <a:lnTo>
                  <a:pt x="2298236" y="1528244"/>
                </a:lnTo>
                <a:lnTo>
                  <a:pt x="2301479" y="1528244"/>
                </a:lnTo>
                <a:lnTo>
                  <a:pt x="2304695" y="1528265"/>
                </a:lnTo>
                <a:lnTo>
                  <a:pt x="2307860" y="1528265"/>
                </a:lnTo>
                <a:lnTo>
                  <a:pt x="2311077" y="1528265"/>
                </a:lnTo>
                <a:lnTo>
                  <a:pt x="2314319" y="1528265"/>
                </a:lnTo>
                <a:lnTo>
                  <a:pt x="2317562" y="1528265"/>
                </a:lnTo>
                <a:lnTo>
                  <a:pt x="2320778" y="1528265"/>
                </a:lnTo>
                <a:lnTo>
                  <a:pt x="2324021" y="1528265"/>
                </a:lnTo>
                <a:lnTo>
                  <a:pt x="2327263" y="1528265"/>
                </a:lnTo>
                <a:lnTo>
                  <a:pt x="2330480" y="1528265"/>
                </a:lnTo>
                <a:lnTo>
                  <a:pt x="2333722" y="1528265"/>
                </a:lnTo>
                <a:lnTo>
                  <a:pt x="2336939" y="1528286"/>
                </a:lnTo>
                <a:lnTo>
                  <a:pt x="2336939" y="1524860"/>
                </a:lnTo>
                <a:lnTo>
                  <a:pt x="2340182" y="1524860"/>
                </a:lnTo>
                <a:lnTo>
                  <a:pt x="2343424" y="1524881"/>
                </a:lnTo>
                <a:lnTo>
                  <a:pt x="2343424" y="1521433"/>
                </a:lnTo>
                <a:lnTo>
                  <a:pt x="2346589" y="1521433"/>
                </a:lnTo>
                <a:lnTo>
                  <a:pt x="2349806" y="1521433"/>
                </a:lnTo>
                <a:lnTo>
                  <a:pt x="2353023" y="1521433"/>
                </a:lnTo>
                <a:lnTo>
                  <a:pt x="2353023" y="1518006"/>
                </a:lnTo>
                <a:lnTo>
                  <a:pt x="2356265" y="1518006"/>
                </a:lnTo>
                <a:lnTo>
                  <a:pt x="2359508" y="1518006"/>
                </a:lnTo>
                <a:lnTo>
                  <a:pt x="2359508" y="1514537"/>
                </a:lnTo>
                <a:lnTo>
                  <a:pt x="2362724" y="1514537"/>
                </a:lnTo>
                <a:lnTo>
                  <a:pt x="2365967" y="1514558"/>
                </a:lnTo>
                <a:lnTo>
                  <a:pt x="2369209" y="1514558"/>
                </a:lnTo>
                <a:lnTo>
                  <a:pt x="2372426" y="1514558"/>
                </a:lnTo>
                <a:lnTo>
                  <a:pt x="2375694" y="1514558"/>
                </a:lnTo>
                <a:lnTo>
                  <a:pt x="2375694" y="1511174"/>
                </a:lnTo>
                <a:lnTo>
                  <a:pt x="2378885" y="1511174"/>
                </a:lnTo>
                <a:lnTo>
                  <a:pt x="2378885" y="1507704"/>
                </a:lnTo>
                <a:lnTo>
                  <a:pt x="2382127" y="1507704"/>
                </a:lnTo>
                <a:lnTo>
                  <a:pt x="2385370" y="1507704"/>
                </a:lnTo>
                <a:lnTo>
                  <a:pt x="2385370" y="1504235"/>
                </a:lnTo>
                <a:lnTo>
                  <a:pt x="2388508" y="1504257"/>
                </a:lnTo>
                <a:lnTo>
                  <a:pt x="2388508" y="1500788"/>
                </a:lnTo>
                <a:lnTo>
                  <a:pt x="2391751" y="1500788"/>
                </a:lnTo>
                <a:lnTo>
                  <a:pt x="2394994" y="1500788"/>
                </a:lnTo>
                <a:lnTo>
                  <a:pt x="2398236" y="1500788"/>
                </a:lnTo>
                <a:lnTo>
                  <a:pt x="2401453" y="1500788"/>
                </a:lnTo>
                <a:lnTo>
                  <a:pt x="2404695" y="1500809"/>
                </a:lnTo>
                <a:lnTo>
                  <a:pt x="2407912" y="1500809"/>
                </a:lnTo>
                <a:lnTo>
                  <a:pt x="2411180" y="1500809"/>
                </a:lnTo>
                <a:lnTo>
                  <a:pt x="2414371" y="1500809"/>
                </a:lnTo>
                <a:lnTo>
                  <a:pt x="2414371" y="1497339"/>
                </a:lnTo>
                <a:lnTo>
                  <a:pt x="2417614" y="1497339"/>
                </a:lnTo>
                <a:lnTo>
                  <a:pt x="2420856" y="1497361"/>
                </a:lnTo>
                <a:lnTo>
                  <a:pt x="2420856" y="1490443"/>
                </a:lnTo>
                <a:lnTo>
                  <a:pt x="2424073" y="1490443"/>
                </a:lnTo>
                <a:lnTo>
                  <a:pt x="2427315" y="1490443"/>
                </a:lnTo>
                <a:lnTo>
                  <a:pt x="2430480" y="1490443"/>
                </a:lnTo>
                <a:lnTo>
                  <a:pt x="2430480" y="1486996"/>
                </a:lnTo>
                <a:lnTo>
                  <a:pt x="2433697" y="1486996"/>
                </a:lnTo>
                <a:lnTo>
                  <a:pt x="2436965" y="1486996"/>
                </a:lnTo>
                <a:lnTo>
                  <a:pt x="2440156" y="1486996"/>
                </a:lnTo>
                <a:lnTo>
                  <a:pt x="2443424" y="1486996"/>
                </a:lnTo>
                <a:lnTo>
                  <a:pt x="2446615" y="1486996"/>
                </a:lnTo>
                <a:lnTo>
                  <a:pt x="2446615" y="1483484"/>
                </a:lnTo>
                <a:lnTo>
                  <a:pt x="2449858" y="1483506"/>
                </a:lnTo>
                <a:lnTo>
                  <a:pt x="2449858" y="1479973"/>
                </a:lnTo>
                <a:lnTo>
                  <a:pt x="2453100" y="1479973"/>
                </a:lnTo>
                <a:lnTo>
                  <a:pt x="2456317" y="1479973"/>
                </a:lnTo>
                <a:lnTo>
                  <a:pt x="2459559" y="1479973"/>
                </a:lnTo>
                <a:lnTo>
                  <a:pt x="2462802" y="1479973"/>
                </a:lnTo>
                <a:lnTo>
                  <a:pt x="2466018" y="1479973"/>
                </a:lnTo>
                <a:lnTo>
                  <a:pt x="2466018" y="1476525"/>
                </a:lnTo>
                <a:lnTo>
                  <a:pt x="2469235" y="1476525"/>
                </a:lnTo>
                <a:lnTo>
                  <a:pt x="2469235" y="1472971"/>
                </a:lnTo>
                <a:lnTo>
                  <a:pt x="2472374" y="1472971"/>
                </a:lnTo>
                <a:lnTo>
                  <a:pt x="2475642" y="1472971"/>
                </a:lnTo>
                <a:lnTo>
                  <a:pt x="2478859" y="1472971"/>
                </a:lnTo>
                <a:lnTo>
                  <a:pt x="2478859" y="1469481"/>
                </a:lnTo>
                <a:lnTo>
                  <a:pt x="2482101" y="1469502"/>
                </a:lnTo>
                <a:lnTo>
                  <a:pt x="2485344" y="1469502"/>
                </a:lnTo>
                <a:lnTo>
                  <a:pt x="2485344" y="1465970"/>
                </a:lnTo>
                <a:lnTo>
                  <a:pt x="2488561" y="1465970"/>
                </a:lnTo>
                <a:lnTo>
                  <a:pt x="2491804" y="1465970"/>
                </a:lnTo>
                <a:lnTo>
                  <a:pt x="2495046" y="1465970"/>
                </a:lnTo>
                <a:lnTo>
                  <a:pt x="2498263" y="1465970"/>
                </a:lnTo>
                <a:lnTo>
                  <a:pt x="2501479" y="1465991"/>
                </a:lnTo>
                <a:lnTo>
                  <a:pt x="2504748" y="1465991"/>
                </a:lnTo>
                <a:lnTo>
                  <a:pt x="2504748" y="1462416"/>
                </a:lnTo>
                <a:lnTo>
                  <a:pt x="2507964" y="1462437"/>
                </a:lnTo>
                <a:lnTo>
                  <a:pt x="2511233" y="1462437"/>
                </a:lnTo>
                <a:lnTo>
                  <a:pt x="2514372" y="1462437"/>
                </a:lnTo>
                <a:lnTo>
                  <a:pt x="2514372" y="1458883"/>
                </a:lnTo>
                <a:lnTo>
                  <a:pt x="2517588" y="1458883"/>
                </a:lnTo>
                <a:lnTo>
                  <a:pt x="2520857" y="1458883"/>
                </a:lnTo>
                <a:lnTo>
                  <a:pt x="2524047" y="1458883"/>
                </a:lnTo>
                <a:lnTo>
                  <a:pt x="2527290" y="1458883"/>
                </a:lnTo>
                <a:lnTo>
                  <a:pt x="2530532" y="1458883"/>
                </a:lnTo>
                <a:lnTo>
                  <a:pt x="2530532" y="1455308"/>
                </a:lnTo>
                <a:lnTo>
                  <a:pt x="2533749" y="1455308"/>
                </a:lnTo>
                <a:lnTo>
                  <a:pt x="2533749" y="1451776"/>
                </a:lnTo>
                <a:lnTo>
                  <a:pt x="2537017" y="1451776"/>
                </a:lnTo>
                <a:lnTo>
                  <a:pt x="2540208" y="1451776"/>
                </a:lnTo>
                <a:lnTo>
                  <a:pt x="2543476" y="1451797"/>
                </a:lnTo>
                <a:lnTo>
                  <a:pt x="2543476" y="1448222"/>
                </a:lnTo>
                <a:lnTo>
                  <a:pt x="2546693" y="1448243"/>
                </a:lnTo>
                <a:lnTo>
                  <a:pt x="2546693" y="1444605"/>
                </a:lnTo>
                <a:lnTo>
                  <a:pt x="2549935" y="1444605"/>
                </a:lnTo>
                <a:lnTo>
                  <a:pt x="2553075" y="1444605"/>
                </a:lnTo>
                <a:lnTo>
                  <a:pt x="2556291" y="1444626"/>
                </a:lnTo>
                <a:lnTo>
                  <a:pt x="2559534" y="1444626"/>
                </a:lnTo>
                <a:lnTo>
                  <a:pt x="2559534" y="1441009"/>
                </a:lnTo>
                <a:lnTo>
                  <a:pt x="2562776" y="1441009"/>
                </a:lnTo>
                <a:lnTo>
                  <a:pt x="2565993" y="1441009"/>
                </a:lnTo>
                <a:lnTo>
                  <a:pt x="2569235" y="1441030"/>
                </a:lnTo>
                <a:lnTo>
                  <a:pt x="2572478" y="1441030"/>
                </a:lnTo>
                <a:lnTo>
                  <a:pt x="2575694" y="1441030"/>
                </a:lnTo>
                <a:lnTo>
                  <a:pt x="2578937" y="1441030"/>
                </a:lnTo>
                <a:lnTo>
                  <a:pt x="2578937" y="1437413"/>
                </a:lnTo>
                <a:lnTo>
                  <a:pt x="2582153" y="1437413"/>
                </a:lnTo>
                <a:lnTo>
                  <a:pt x="2582153" y="1433796"/>
                </a:lnTo>
                <a:lnTo>
                  <a:pt x="2585396" y="1433796"/>
                </a:lnTo>
                <a:lnTo>
                  <a:pt x="2588638" y="1433817"/>
                </a:lnTo>
                <a:lnTo>
                  <a:pt x="2588638" y="1430221"/>
                </a:lnTo>
                <a:lnTo>
                  <a:pt x="2591856" y="1430221"/>
                </a:lnTo>
                <a:lnTo>
                  <a:pt x="2591856" y="1426562"/>
                </a:lnTo>
                <a:lnTo>
                  <a:pt x="2595020" y="1426562"/>
                </a:lnTo>
                <a:lnTo>
                  <a:pt x="2598262" y="1426562"/>
                </a:lnTo>
                <a:lnTo>
                  <a:pt x="2598262" y="1422944"/>
                </a:lnTo>
                <a:lnTo>
                  <a:pt x="2601479" y="1422944"/>
                </a:lnTo>
                <a:lnTo>
                  <a:pt x="2604721" y="1422944"/>
                </a:lnTo>
                <a:lnTo>
                  <a:pt x="2607938" y="1422944"/>
                </a:lnTo>
                <a:lnTo>
                  <a:pt x="2607938" y="1419285"/>
                </a:lnTo>
                <a:lnTo>
                  <a:pt x="2611155" y="1419285"/>
                </a:lnTo>
                <a:lnTo>
                  <a:pt x="2614423" y="1419285"/>
                </a:lnTo>
                <a:lnTo>
                  <a:pt x="2617640" y="1419285"/>
                </a:lnTo>
                <a:lnTo>
                  <a:pt x="2620882" y="1419285"/>
                </a:lnTo>
                <a:lnTo>
                  <a:pt x="2624099" y="1419285"/>
                </a:lnTo>
                <a:lnTo>
                  <a:pt x="2627341" y="1419285"/>
                </a:lnTo>
                <a:lnTo>
                  <a:pt x="2630584" y="1419306"/>
                </a:lnTo>
                <a:lnTo>
                  <a:pt x="2633801" y="1419306"/>
                </a:lnTo>
                <a:lnTo>
                  <a:pt x="2636965" y="1419306"/>
                </a:lnTo>
                <a:lnTo>
                  <a:pt x="2636965" y="1411987"/>
                </a:lnTo>
                <a:lnTo>
                  <a:pt x="2640208" y="1411987"/>
                </a:lnTo>
                <a:lnTo>
                  <a:pt x="2640208" y="1408286"/>
                </a:lnTo>
                <a:lnTo>
                  <a:pt x="2643424" y="1408286"/>
                </a:lnTo>
                <a:lnTo>
                  <a:pt x="2643424" y="1404626"/>
                </a:lnTo>
                <a:lnTo>
                  <a:pt x="2646667" y="1404626"/>
                </a:lnTo>
                <a:lnTo>
                  <a:pt x="2646667" y="1400988"/>
                </a:lnTo>
                <a:lnTo>
                  <a:pt x="2649884" y="1400988"/>
                </a:lnTo>
                <a:lnTo>
                  <a:pt x="2649884" y="1393605"/>
                </a:lnTo>
                <a:lnTo>
                  <a:pt x="2653127" y="1393605"/>
                </a:lnTo>
                <a:lnTo>
                  <a:pt x="2656369" y="1393605"/>
                </a:lnTo>
                <a:lnTo>
                  <a:pt x="2659586" y="1393605"/>
                </a:lnTo>
                <a:lnTo>
                  <a:pt x="2662828" y="1393605"/>
                </a:lnTo>
                <a:lnTo>
                  <a:pt x="2666071" y="1393626"/>
                </a:lnTo>
                <a:lnTo>
                  <a:pt x="2669287" y="1393626"/>
                </a:lnTo>
                <a:lnTo>
                  <a:pt x="2672530" y="1393626"/>
                </a:lnTo>
                <a:lnTo>
                  <a:pt x="2675746" y="1393626"/>
                </a:lnTo>
                <a:lnTo>
                  <a:pt x="2678911" y="1393626"/>
                </a:lnTo>
                <a:lnTo>
                  <a:pt x="2682154" y="1393626"/>
                </a:lnTo>
                <a:lnTo>
                  <a:pt x="2685345" y="1393626"/>
                </a:lnTo>
                <a:lnTo>
                  <a:pt x="2688613" y="1393626"/>
                </a:lnTo>
                <a:lnTo>
                  <a:pt x="2691804" y="1393626"/>
                </a:lnTo>
                <a:lnTo>
                  <a:pt x="2695072" y="1393648"/>
                </a:lnTo>
                <a:lnTo>
                  <a:pt x="2698315" y="1393648"/>
                </a:lnTo>
                <a:lnTo>
                  <a:pt x="2698315" y="1389882"/>
                </a:lnTo>
                <a:lnTo>
                  <a:pt x="2701531" y="1389882"/>
                </a:lnTo>
                <a:lnTo>
                  <a:pt x="2704774" y="1389882"/>
                </a:lnTo>
                <a:lnTo>
                  <a:pt x="2708016" y="1389882"/>
                </a:lnTo>
                <a:lnTo>
                  <a:pt x="2711233" y="1389882"/>
                </a:lnTo>
                <a:lnTo>
                  <a:pt x="2714449" y="1389904"/>
                </a:lnTo>
                <a:lnTo>
                  <a:pt x="2717588" y="1389904"/>
                </a:lnTo>
                <a:lnTo>
                  <a:pt x="2720857" y="1389904"/>
                </a:lnTo>
                <a:lnTo>
                  <a:pt x="2724099" y="1389904"/>
                </a:lnTo>
                <a:lnTo>
                  <a:pt x="2727342" y="1389904"/>
                </a:lnTo>
                <a:lnTo>
                  <a:pt x="2730558" y="1389904"/>
                </a:lnTo>
                <a:lnTo>
                  <a:pt x="2730558" y="1386138"/>
                </a:lnTo>
                <a:lnTo>
                  <a:pt x="2733827" y="1386138"/>
                </a:lnTo>
                <a:lnTo>
                  <a:pt x="2737017" y="1386138"/>
                </a:lnTo>
                <a:lnTo>
                  <a:pt x="2737017" y="1382373"/>
                </a:lnTo>
                <a:lnTo>
                  <a:pt x="2740260" y="1382373"/>
                </a:lnTo>
                <a:lnTo>
                  <a:pt x="2743476" y="1382373"/>
                </a:lnTo>
                <a:lnTo>
                  <a:pt x="2746719" y="1382373"/>
                </a:lnTo>
                <a:lnTo>
                  <a:pt x="2749961" y="1382373"/>
                </a:lnTo>
                <a:lnTo>
                  <a:pt x="2753179" y="1382373"/>
                </a:lnTo>
                <a:lnTo>
                  <a:pt x="2753179" y="1378566"/>
                </a:lnTo>
                <a:lnTo>
                  <a:pt x="2756421" y="1378587"/>
                </a:lnTo>
                <a:lnTo>
                  <a:pt x="2756421" y="1374779"/>
                </a:lnTo>
                <a:lnTo>
                  <a:pt x="2759586" y="1374779"/>
                </a:lnTo>
                <a:lnTo>
                  <a:pt x="2762802" y="1374779"/>
                </a:lnTo>
                <a:lnTo>
                  <a:pt x="2766045" y="1374779"/>
                </a:lnTo>
                <a:lnTo>
                  <a:pt x="2769261" y="1374779"/>
                </a:lnTo>
                <a:lnTo>
                  <a:pt x="2772504" y="1374779"/>
                </a:lnTo>
                <a:lnTo>
                  <a:pt x="2772504" y="1370993"/>
                </a:lnTo>
                <a:lnTo>
                  <a:pt x="2775746" y="1370993"/>
                </a:lnTo>
                <a:lnTo>
                  <a:pt x="2778937" y="1370993"/>
                </a:lnTo>
                <a:lnTo>
                  <a:pt x="2778937" y="1367185"/>
                </a:lnTo>
                <a:lnTo>
                  <a:pt x="2782205" y="1367185"/>
                </a:lnTo>
                <a:lnTo>
                  <a:pt x="2785397" y="1367185"/>
                </a:lnTo>
                <a:lnTo>
                  <a:pt x="2785397" y="1363378"/>
                </a:lnTo>
                <a:lnTo>
                  <a:pt x="2788664" y="1363378"/>
                </a:lnTo>
                <a:lnTo>
                  <a:pt x="2791882" y="1363378"/>
                </a:lnTo>
                <a:lnTo>
                  <a:pt x="2791882" y="1355699"/>
                </a:lnTo>
                <a:lnTo>
                  <a:pt x="2795124" y="1355720"/>
                </a:lnTo>
                <a:lnTo>
                  <a:pt x="2798341" y="1355720"/>
                </a:lnTo>
                <a:lnTo>
                  <a:pt x="2798341" y="1351849"/>
                </a:lnTo>
                <a:lnTo>
                  <a:pt x="2801505" y="1351849"/>
                </a:lnTo>
                <a:lnTo>
                  <a:pt x="2801505" y="1348042"/>
                </a:lnTo>
                <a:lnTo>
                  <a:pt x="2804722" y="1348042"/>
                </a:lnTo>
                <a:lnTo>
                  <a:pt x="2804722" y="1344192"/>
                </a:lnTo>
                <a:lnTo>
                  <a:pt x="2807990" y="1344192"/>
                </a:lnTo>
                <a:lnTo>
                  <a:pt x="2811181" y="1344192"/>
                </a:lnTo>
                <a:lnTo>
                  <a:pt x="2814450" y="1344192"/>
                </a:lnTo>
                <a:lnTo>
                  <a:pt x="2817666" y="1344192"/>
                </a:lnTo>
                <a:lnTo>
                  <a:pt x="2820909" y="1344192"/>
                </a:lnTo>
                <a:lnTo>
                  <a:pt x="2824125" y="1344192"/>
                </a:lnTo>
                <a:lnTo>
                  <a:pt x="2827368" y="1344213"/>
                </a:lnTo>
                <a:lnTo>
                  <a:pt x="2827368" y="1340342"/>
                </a:lnTo>
                <a:lnTo>
                  <a:pt x="2830585" y="1340342"/>
                </a:lnTo>
                <a:lnTo>
                  <a:pt x="2830585" y="1336408"/>
                </a:lnTo>
                <a:lnTo>
                  <a:pt x="2833853" y="1336429"/>
                </a:lnTo>
                <a:lnTo>
                  <a:pt x="2833853" y="1332558"/>
                </a:lnTo>
                <a:lnTo>
                  <a:pt x="2837070" y="1332558"/>
                </a:lnTo>
                <a:lnTo>
                  <a:pt x="2837070" y="1328687"/>
                </a:lnTo>
                <a:lnTo>
                  <a:pt x="2840312" y="1328687"/>
                </a:lnTo>
                <a:lnTo>
                  <a:pt x="2843477" y="1328687"/>
                </a:lnTo>
                <a:lnTo>
                  <a:pt x="2846693" y="1328687"/>
                </a:lnTo>
                <a:lnTo>
                  <a:pt x="2849936" y="1328687"/>
                </a:lnTo>
                <a:lnTo>
                  <a:pt x="2853153" y="1328687"/>
                </a:lnTo>
                <a:lnTo>
                  <a:pt x="2856395" y="1328687"/>
                </a:lnTo>
                <a:lnTo>
                  <a:pt x="2856395" y="1324774"/>
                </a:lnTo>
                <a:lnTo>
                  <a:pt x="2859663" y="1324774"/>
                </a:lnTo>
                <a:lnTo>
                  <a:pt x="2862854" y="1324774"/>
                </a:lnTo>
                <a:lnTo>
                  <a:pt x="2866097" y="1324774"/>
                </a:lnTo>
                <a:lnTo>
                  <a:pt x="2869339" y="1324774"/>
                </a:lnTo>
                <a:lnTo>
                  <a:pt x="2872556" y="1324795"/>
                </a:lnTo>
                <a:lnTo>
                  <a:pt x="2875798" y="1324795"/>
                </a:lnTo>
                <a:lnTo>
                  <a:pt x="2875798" y="1320881"/>
                </a:lnTo>
                <a:lnTo>
                  <a:pt x="2879015" y="1320881"/>
                </a:lnTo>
                <a:lnTo>
                  <a:pt x="2882257" y="1320881"/>
                </a:lnTo>
                <a:lnTo>
                  <a:pt x="2885422" y="1320881"/>
                </a:lnTo>
                <a:lnTo>
                  <a:pt x="2888639" y="1320881"/>
                </a:lnTo>
                <a:lnTo>
                  <a:pt x="2891881" y="1320881"/>
                </a:lnTo>
                <a:lnTo>
                  <a:pt x="2895098" y="1320881"/>
                </a:lnTo>
                <a:lnTo>
                  <a:pt x="2898315" y="1320881"/>
                </a:lnTo>
                <a:lnTo>
                  <a:pt x="2901584" y="1320881"/>
                </a:lnTo>
                <a:lnTo>
                  <a:pt x="2904774" y="1320903"/>
                </a:lnTo>
                <a:lnTo>
                  <a:pt x="2908043" y="1320903"/>
                </a:lnTo>
                <a:lnTo>
                  <a:pt x="2911259" y="1320903"/>
                </a:lnTo>
                <a:lnTo>
                  <a:pt x="2914502" y="1320903"/>
                </a:lnTo>
                <a:lnTo>
                  <a:pt x="2917718" y="1320903"/>
                </a:lnTo>
                <a:lnTo>
                  <a:pt x="2917718" y="1316841"/>
                </a:lnTo>
                <a:lnTo>
                  <a:pt x="2920960" y="1316841"/>
                </a:lnTo>
                <a:lnTo>
                  <a:pt x="2924125" y="1316841"/>
                </a:lnTo>
                <a:lnTo>
                  <a:pt x="2927368" y="1316841"/>
                </a:lnTo>
                <a:lnTo>
                  <a:pt x="2927368" y="1312843"/>
                </a:lnTo>
                <a:lnTo>
                  <a:pt x="2930559" y="1312843"/>
                </a:lnTo>
                <a:lnTo>
                  <a:pt x="2930559" y="1308803"/>
                </a:lnTo>
                <a:lnTo>
                  <a:pt x="2933827" y="1308803"/>
                </a:lnTo>
                <a:lnTo>
                  <a:pt x="2937044" y="1308803"/>
                </a:lnTo>
                <a:lnTo>
                  <a:pt x="2937044" y="1304742"/>
                </a:lnTo>
                <a:lnTo>
                  <a:pt x="2940287" y="1304742"/>
                </a:lnTo>
                <a:lnTo>
                  <a:pt x="2943529" y="1304742"/>
                </a:lnTo>
                <a:lnTo>
                  <a:pt x="2946745" y="1304742"/>
                </a:lnTo>
                <a:lnTo>
                  <a:pt x="2949987" y="1304742"/>
                </a:lnTo>
                <a:lnTo>
                  <a:pt x="2953230" y="1304742"/>
                </a:lnTo>
                <a:lnTo>
                  <a:pt x="2953230" y="1300638"/>
                </a:lnTo>
                <a:lnTo>
                  <a:pt x="2956447" y="1300638"/>
                </a:lnTo>
                <a:lnTo>
                  <a:pt x="2959690" y="1300638"/>
                </a:lnTo>
                <a:lnTo>
                  <a:pt x="2962906" y="1300638"/>
                </a:lnTo>
                <a:lnTo>
                  <a:pt x="2962906" y="1296513"/>
                </a:lnTo>
                <a:lnTo>
                  <a:pt x="2966071" y="1296513"/>
                </a:lnTo>
                <a:lnTo>
                  <a:pt x="2969314" y="1296513"/>
                </a:lnTo>
                <a:lnTo>
                  <a:pt x="2972530" y="1296534"/>
                </a:lnTo>
                <a:lnTo>
                  <a:pt x="2975773" y="1296534"/>
                </a:lnTo>
                <a:lnTo>
                  <a:pt x="2975773" y="1292431"/>
                </a:lnTo>
                <a:lnTo>
                  <a:pt x="2979015" y="1292431"/>
                </a:lnTo>
                <a:lnTo>
                  <a:pt x="2982232" y="1292431"/>
                </a:lnTo>
                <a:lnTo>
                  <a:pt x="2985474" y="1292431"/>
                </a:lnTo>
                <a:lnTo>
                  <a:pt x="2988691" y="1292431"/>
                </a:lnTo>
                <a:lnTo>
                  <a:pt x="2988691" y="1288264"/>
                </a:lnTo>
                <a:lnTo>
                  <a:pt x="2991908" y="1288264"/>
                </a:lnTo>
                <a:lnTo>
                  <a:pt x="2995176" y="1288264"/>
                </a:lnTo>
                <a:lnTo>
                  <a:pt x="2998367" y="1288264"/>
                </a:lnTo>
                <a:lnTo>
                  <a:pt x="2998367" y="1284075"/>
                </a:lnTo>
                <a:lnTo>
                  <a:pt x="3001635" y="1284075"/>
                </a:lnTo>
                <a:lnTo>
                  <a:pt x="3004852" y="1284075"/>
                </a:lnTo>
                <a:lnTo>
                  <a:pt x="3004852" y="1279908"/>
                </a:lnTo>
                <a:lnTo>
                  <a:pt x="3008017" y="1279908"/>
                </a:lnTo>
                <a:lnTo>
                  <a:pt x="3011259" y="1279908"/>
                </a:lnTo>
                <a:lnTo>
                  <a:pt x="3014476" y="1279908"/>
                </a:lnTo>
                <a:lnTo>
                  <a:pt x="3017718" y="1279908"/>
                </a:lnTo>
                <a:lnTo>
                  <a:pt x="3020961" y="1279908"/>
                </a:lnTo>
                <a:lnTo>
                  <a:pt x="3024151" y="1279908"/>
                </a:lnTo>
                <a:lnTo>
                  <a:pt x="3027420" y="1279929"/>
                </a:lnTo>
                <a:lnTo>
                  <a:pt x="3030611" y="1279929"/>
                </a:lnTo>
                <a:lnTo>
                  <a:pt x="3033879" y="1279929"/>
                </a:lnTo>
                <a:lnTo>
                  <a:pt x="3037096" y="1279929"/>
                </a:lnTo>
                <a:lnTo>
                  <a:pt x="3040339" y="1279929"/>
                </a:lnTo>
                <a:lnTo>
                  <a:pt x="3043555" y="1279929"/>
                </a:lnTo>
                <a:lnTo>
                  <a:pt x="3046824" y="1279929"/>
                </a:lnTo>
                <a:lnTo>
                  <a:pt x="3049962" y="1279929"/>
                </a:lnTo>
                <a:lnTo>
                  <a:pt x="3053230" y="1279929"/>
                </a:lnTo>
                <a:lnTo>
                  <a:pt x="3053230" y="1275678"/>
                </a:lnTo>
                <a:lnTo>
                  <a:pt x="3056421" y="1275678"/>
                </a:lnTo>
                <a:lnTo>
                  <a:pt x="3059689" y="1275678"/>
                </a:lnTo>
                <a:lnTo>
                  <a:pt x="3062907" y="1275678"/>
                </a:lnTo>
                <a:lnTo>
                  <a:pt x="3066149" y="1275678"/>
                </a:lnTo>
                <a:lnTo>
                  <a:pt x="3069366" y="1275678"/>
                </a:lnTo>
                <a:lnTo>
                  <a:pt x="3072608" y="1275678"/>
                </a:lnTo>
                <a:lnTo>
                  <a:pt x="3075825" y="1275699"/>
                </a:lnTo>
                <a:lnTo>
                  <a:pt x="3079067" y="1275699"/>
                </a:lnTo>
                <a:lnTo>
                  <a:pt x="3082284" y="1275699"/>
                </a:lnTo>
                <a:lnTo>
                  <a:pt x="3085501" y="1275699"/>
                </a:lnTo>
                <a:lnTo>
                  <a:pt x="3085501" y="1271404"/>
                </a:lnTo>
                <a:lnTo>
                  <a:pt x="3088769" y="1271404"/>
                </a:lnTo>
                <a:lnTo>
                  <a:pt x="3091907" y="1271404"/>
                </a:lnTo>
                <a:lnTo>
                  <a:pt x="3091907" y="1267089"/>
                </a:lnTo>
                <a:lnTo>
                  <a:pt x="3095125" y="1267089"/>
                </a:lnTo>
                <a:lnTo>
                  <a:pt x="3098367" y="1267111"/>
                </a:lnTo>
                <a:lnTo>
                  <a:pt x="3101610" y="1267111"/>
                </a:lnTo>
                <a:lnTo>
                  <a:pt x="3101610" y="1258374"/>
                </a:lnTo>
                <a:lnTo>
                  <a:pt x="3104852" y="1258396"/>
                </a:lnTo>
                <a:lnTo>
                  <a:pt x="3104852" y="1254017"/>
                </a:lnTo>
                <a:lnTo>
                  <a:pt x="3108069" y="1254017"/>
                </a:lnTo>
                <a:lnTo>
                  <a:pt x="3111311" y="1254017"/>
                </a:lnTo>
                <a:lnTo>
                  <a:pt x="3114554" y="1254017"/>
                </a:lnTo>
                <a:lnTo>
                  <a:pt x="3117744" y="1254017"/>
                </a:lnTo>
                <a:lnTo>
                  <a:pt x="3121013" y="1254017"/>
                </a:lnTo>
                <a:lnTo>
                  <a:pt x="3124203" y="1254017"/>
                </a:lnTo>
                <a:lnTo>
                  <a:pt x="3124203" y="1249596"/>
                </a:lnTo>
                <a:lnTo>
                  <a:pt x="3127472" y="1249617"/>
                </a:lnTo>
                <a:lnTo>
                  <a:pt x="3127472" y="1245217"/>
                </a:lnTo>
                <a:lnTo>
                  <a:pt x="3130611" y="1245217"/>
                </a:lnTo>
                <a:lnTo>
                  <a:pt x="3130611" y="1240796"/>
                </a:lnTo>
                <a:lnTo>
                  <a:pt x="3133828" y="1240796"/>
                </a:lnTo>
                <a:lnTo>
                  <a:pt x="3137070" y="1240796"/>
                </a:lnTo>
                <a:lnTo>
                  <a:pt x="3140287" y="1240796"/>
                </a:lnTo>
                <a:lnTo>
                  <a:pt x="3143529" y="1240796"/>
                </a:lnTo>
                <a:lnTo>
                  <a:pt x="3146772" y="1240796"/>
                </a:lnTo>
                <a:lnTo>
                  <a:pt x="3149962" y="1240817"/>
                </a:lnTo>
                <a:lnTo>
                  <a:pt x="3153231" y="1240817"/>
                </a:lnTo>
                <a:lnTo>
                  <a:pt x="3156473" y="1240817"/>
                </a:lnTo>
                <a:lnTo>
                  <a:pt x="3156473" y="1236418"/>
                </a:lnTo>
                <a:lnTo>
                  <a:pt x="3159716" y="1236418"/>
                </a:lnTo>
                <a:lnTo>
                  <a:pt x="3162958" y="1236418"/>
                </a:lnTo>
                <a:lnTo>
                  <a:pt x="3166201" y="1236418"/>
                </a:lnTo>
                <a:lnTo>
                  <a:pt x="3166201" y="1231954"/>
                </a:lnTo>
                <a:lnTo>
                  <a:pt x="3169417" y="1231954"/>
                </a:lnTo>
                <a:lnTo>
                  <a:pt x="3172582" y="1231954"/>
                </a:lnTo>
                <a:lnTo>
                  <a:pt x="3175799" y="1231954"/>
                </a:lnTo>
                <a:lnTo>
                  <a:pt x="3179041" y="1231954"/>
                </a:lnTo>
                <a:lnTo>
                  <a:pt x="3182258" y="1231954"/>
                </a:lnTo>
                <a:lnTo>
                  <a:pt x="3185500" y="1231975"/>
                </a:lnTo>
                <a:lnTo>
                  <a:pt x="3188717" y="1231975"/>
                </a:lnTo>
                <a:lnTo>
                  <a:pt x="3188717" y="1227512"/>
                </a:lnTo>
                <a:lnTo>
                  <a:pt x="3191959" y="1227512"/>
                </a:lnTo>
                <a:lnTo>
                  <a:pt x="3195176" y="1227512"/>
                </a:lnTo>
                <a:lnTo>
                  <a:pt x="3198444" y="1227512"/>
                </a:lnTo>
                <a:lnTo>
                  <a:pt x="3198444" y="1223007"/>
                </a:lnTo>
                <a:lnTo>
                  <a:pt x="3201635" y="1223007"/>
                </a:lnTo>
                <a:lnTo>
                  <a:pt x="3204904" y="1223007"/>
                </a:lnTo>
                <a:lnTo>
                  <a:pt x="3208094" y="1223007"/>
                </a:lnTo>
                <a:lnTo>
                  <a:pt x="3211363" y="1223007"/>
                </a:lnTo>
                <a:lnTo>
                  <a:pt x="3214502" y="1223007"/>
                </a:lnTo>
                <a:lnTo>
                  <a:pt x="3217744" y="1223007"/>
                </a:lnTo>
                <a:lnTo>
                  <a:pt x="3220961" y="1223007"/>
                </a:lnTo>
                <a:lnTo>
                  <a:pt x="3220961" y="1213911"/>
                </a:lnTo>
                <a:lnTo>
                  <a:pt x="3224230" y="1213911"/>
                </a:lnTo>
                <a:lnTo>
                  <a:pt x="3224230" y="1209342"/>
                </a:lnTo>
                <a:lnTo>
                  <a:pt x="3227420" y="1209342"/>
                </a:lnTo>
                <a:lnTo>
                  <a:pt x="3230689" y="1209342"/>
                </a:lnTo>
                <a:lnTo>
                  <a:pt x="3233880" y="1209342"/>
                </a:lnTo>
                <a:lnTo>
                  <a:pt x="3237122" y="1209342"/>
                </a:lnTo>
                <a:lnTo>
                  <a:pt x="3240365" y="1209342"/>
                </a:lnTo>
                <a:lnTo>
                  <a:pt x="3243581" y="1209342"/>
                </a:lnTo>
                <a:lnTo>
                  <a:pt x="3246824" y="1209342"/>
                </a:lnTo>
                <a:lnTo>
                  <a:pt x="3250040" y="1209363"/>
                </a:lnTo>
                <a:lnTo>
                  <a:pt x="3253283" y="1209363"/>
                </a:lnTo>
                <a:lnTo>
                  <a:pt x="3256473" y="1209363"/>
                </a:lnTo>
                <a:lnTo>
                  <a:pt x="3259664" y="1209363"/>
                </a:lnTo>
                <a:lnTo>
                  <a:pt x="3262907" y="1209363"/>
                </a:lnTo>
                <a:lnTo>
                  <a:pt x="3262907" y="1204730"/>
                </a:lnTo>
                <a:lnTo>
                  <a:pt x="3266175" y="1204752"/>
                </a:lnTo>
                <a:lnTo>
                  <a:pt x="3266175" y="1200140"/>
                </a:lnTo>
                <a:lnTo>
                  <a:pt x="3269392" y="1200140"/>
                </a:lnTo>
                <a:lnTo>
                  <a:pt x="3272634" y="1200140"/>
                </a:lnTo>
                <a:lnTo>
                  <a:pt x="3275825" y="1200140"/>
                </a:lnTo>
                <a:lnTo>
                  <a:pt x="3275825" y="1195486"/>
                </a:lnTo>
                <a:lnTo>
                  <a:pt x="3279093" y="1195486"/>
                </a:lnTo>
                <a:lnTo>
                  <a:pt x="3282310" y="1195486"/>
                </a:lnTo>
                <a:lnTo>
                  <a:pt x="3282310" y="1190875"/>
                </a:lnTo>
                <a:lnTo>
                  <a:pt x="3285553" y="1190875"/>
                </a:lnTo>
                <a:lnTo>
                  <a:pt x="3288769" y="1190875"/>
                </a:lnTo>
                <a:lnTo>
                  <a:pt x="3292038" y="1190875"/>
                </a:lnTo>
                <a:lnTo>
                  <a:pt x="3295228" y="1190896"/>
                </a:lnTo>
                <a:lnTo>
                  <a:pt x="3298419" y="1190896"/>
                </a:lnTo>
                <a:lnTo>
                  <a:pt x="3301610" y="1190896"/>
                </a:lnTo>
                <a:lnTo>
                  <a:pt x="3301610" y="1186179"/>
                </a:lnTo>
                <a:lnTo>
                  <a:pt x="3304878" y="1186179"/>
                </a:lnTo>
                <a:lnTo>
                  <a:pt x="3308095" y="1186179"/>
                </a:lnTo>
                <a:lnTo>
                  <a:pt x="3311337" y="1186179"/>
                </a:lnTo>
                <a:lnTo>
                  <a:pt x="3314554" y="1186179"/>
                </a:lnTo>
                <a:lnTo>
                  <a:pt x="3314554" y="1181483"/>
                </a:lnTo>
                <a:lnTo>
                  <a:pt x="3317822" y="1181483"/>
                </a:lnTo>
                <a:lnTo>
                  <a:pt x="3321013" y="1181483"/>
                </a:lnTo>
                <a:lnTo>
                  <a:pt x="3324281" y="1181483"/>
                </a:lnTo>
                <a:lnTo>
                  <a:pt x="3327472" y="1181483"/>
                </a:lnTo>
                <a:lnTo>
                  <a:pt x="3330714" y="1181483"/>
                </a:lnTo>
                <a:lnTo>
                  <a:pt x="3330714" y="1176724"/>
                </a:lnTo>
                <a:lnTo>
                  <a:pt x="3333957" y="1176724"/>
                </a:lnTo>
                <a:lnTo>
                  <a:pt x="3337122" y="1176724"/>
                </a:lnTo>
                <a:lnTo>
                  <a:pt x="3340339" y="1176724"/>
                </a:lnTo>
                <a:lnTo>
                  <a:pt x="3343582" y="1176724"/>
                </a:lnTo>
                <a:lnTo>
                  <a:pt x="3346797" y="1176724"/>
                </a:lnTo>
                <a:lnTo>
                  <a:pt x="3350067" y="1176745"/>
                </a:lnTo>
                <a:lnTo>
                  <a:pt x="3350067" y="1171985"/>
                </a:lnTo>
                <a:lnTo>
                  <a:pt x="3353257" y="1171985"/>
                </a:lnTo>
                <a:lnTo>
                  <a:pt x="3356499" y="1171985"/>
                </a:lnTo>
                <a:lnTo>
                  <a:pt x="3359742" y="1171985"/>
                </a:lnTo>
                <a:lnTo>
                  <a:pt x="3359742" y="1167163"/>
                </a:lnTo>
                <a:lnTo>
                  <a:pt x="3362958" y="1167163"/>
                </a:lnTo>
                <a:lnTo>
                  <a:pt x="3366201" y="1167184"/>
                </a:lnTo>
                <a:lnTo>
                  <a:pt x="3369417" y="1167184"/>
                </a:lnTo>
                <a:lnTo>
                  <a:pt x="3372660" y="1167184"/>
                </a:lnTo>
                <a:lnTo>
                  <a:pt x="3372660" y="1162319"/>
                </a:lnTo>
                <a:lnTo>
                  <a:pt x="3375903" y="1162319"/>
                </a:lnTo>
                <a:lnTo>
                  <a:pt x="3379067" y="1162319"/>
                </a:lnTo>
                <a:lnTo>
                  <a:pt x="3379067" y="1157496"/>
                </a:lnTo>
                <a:lnTo>
                  <a:pt x="3382336" y="1157496"/>
                </a:lnTo>
                <a:lnTo>
                  <a:pt x="3385553" y="1157517"/>
                </a:lnTo>
                <a:lnTo>
                  <a:pt x="3388770" y="1157517"/>
                </a:lnTo>
                <a:lnTo>
                  <a:pt x="3392012" y="1157517"/>
                </a:lnTo>
                <a:lnTo>
                  <a:pt x="3392012" y="1152609"/>
                </a:lnTo>
                <a:lnTo>
                  <a:pt x="3395228" y="1152609"/>
                </a:lnTo>
                <a:lnTo>
                  <a:pt x="3398471" y="1152609"/>
                </a:lnTo>
                <a:lnTo>
                  <a:pt x="3401713" y="1152609"/>
                </a:lnTo>
                <a:lnTo>
                  <a:pt x="3404930" y="1152609"/>
                </a:lnTo>
                <a:lnTo>
                  <a:pt x="3408173" y="1152609"/>
                </a:lnTo>
                <a:lnTo>
                  <a:pt x="3411389" y="1152609"/>
                </a:lnTo>
                <a:lnTo>
                  <a:pt x="3411389" y="1147744"/>
                </a:lnTo>
                <a:lnTo>
                  <a:pt x="3414606" y="1147744"/>
                </a:lnTo>
                <a:lnTo>
                  <a:pt x="3417874" y="1147766"/>
                </a:lnTo>
                <a:lnTo>
                  <a:pt x="3420987" y="1147766"/>
                </a:lnTo>
                <a:lnTo>
                  <a:pt x="3420987" y="1142837"/>
                </a:lnTo>
                <a:lnTo>
                  <a:pt x="3424256" y="1142858"/>
                </a:lnTo>
                <a:lnTo>
                  <a:pt x="3427472" y="1142858"/>
                </a:lnTo>
                <a:lnTo>
                  <a:pt x="3430715" y="1142858"/>
                </a:lnTo>
                <a:lnTo>
                  <a:pt x="3433931" y="1142858"/>
                </a:lnTo>
                <a:lnTo>
                  <a:pt x="3433931" y="1137971"/>
                </a:lnTo>
                <a:lnTo>
                  <a:pt x="3437174" y="1137971"/>
                </a:lnTo>
                <a:lnTo>
                  <a:pt x="3440391" y="1137971"/>
                </a:lnTo>
                <a:lnTo>
                  <a:pt x="3443659" y="1137971"/>
                </a:lnTo>
                <a:lnTo>
                  <a:pt x="3446850" y="1137971"/>
                </a:lnTo>
                <a:lnTo>
                  <a:pt x="3446850" y="1133064"/>
                </a:lnTo>
                <a:lnTo>
                  <a:pt x="3450092" y="1133064"/>
                </a:lnTo>
                <a:lnTo>
                  <a:pt x="3453335" y="1133064"/>
                </a:lnTo>
                <a:lnTo>
                  <a:pt x="3456551" y="1133064"/>
                </a:lnTo>
                <a:lnTo>
                  <a:pt x="3459794" y="1133064"/>
                </a:lnTo>
                <a:lnTo>
                  <a:pt x="3459794" y="1128072"/>
                </a:lnTo>
                <a:lnTo>
                  <a:pt x="3462933" y="1128072"/>
                </a:lnTo>
                <a:lnTo>
                  <a:pt x="3466149" y="1128093"/>
                </a:lnTo>
                <a:lnTo>
                  <a:pt x="3469418" y="1128093"/>
                </a:lnTo>
                <a:lnTo>
                  <a:pt x="3472609" y="1128093"/>
                </a:lnTo>
                <a:lnTo>
                  <a:pt x="3475877" y="1128093"/>
                </a:lnTo>
                <a:lnTo>
                  <a:pt x="3479094" y="1128093"/>
                </a:lnTo>
                <a:lnTo>
                  <a:pt x="3482337" y="1128093"/>
                </a:lnTo>
                <a:lnTo>
                  <a:pt x="3485604" y="1128093"/>
                </a:lnTo>
                <a:lnTo>
                  <a:pt x="3488822" y="1128093"/>
                </a:lnTo>
                <a:lnTo>
                  <a:pt x="3488822" y="1123101"/>
                </a:lnTo>
                <a:lnTo>
                  <a:pt x="3492064" y="1123101"/>
                </a:lnTo>
                <a:lnTo>
                  <a:pt x="3495307" y="1123122"/>
                </a:lnTo>
                <a:lnTo>
                  <a:pt x="3498522" y="1123122"/>
                </a:lnTo>
                <a:lnTo>
                  <a:pt x="3501687" y="1123122"/>
                </a:lnTo>
                <a:lnTo>
                  <a:pt x="3504878" y="1123122"/>
                </a:lnTo>
                <a:lnTo>
                  <a:pt x="3504878" y="1118045"/>
                </a:lnTo>
                <a:lnTo>
                  <a:pt x="3508147" y="1118045"/>
                </a:lnTo>
                <a:lnTo>
                  <a:pt x="3511364" y="1118045"/>
                </a:lnTo>
                <a:lnTo>
                  <a:pt x="3514580" y="1118045"/>
                </a:lnTo>
                <a:lnTo>
                  <a:pt x="3517822" y="1118045"/>
                </a:lnTo>
                <a:lnTo>
                  <a:pt x="3517822" y="1112947"/>
                </a:lnTo>
                <a:lnTo>
                  <a:pt x="3521040" y="1112969"/>
                </a:lnTo>
                <a:lnTo>
                  <a:pt x="3524282" y="1112969"/>
                </a:lnTo>
                <a:lnTo>
                  <a:pt x="3527525" y="1112969"/>
                </a:lnTo>
                <a:lnTo>
                  <a:pt x="3530740" y="1112969"/>
                </a:lnTo>
                <a:lnTo>
                  <a:pt x="3534010" y="1112969"/>
                </a:lnTo>
                <a:lnTo>
                  <a:pt x="3537252" y="1112969"/>
                </a:lnTo>
                <a:lnTo>
                  <a:pt x="3540468" y="1112969"/>
                </a:lnTo>
                <a:lnTo>
                  <a:pt x="3543608" y="1112969"/>
                </a:lnTo>
                <a:lnTo>
                  <a:pt x="3543608" y="1107807"/>
                </a:lnTo>
                <a:lnTo>
                  <a:pt x="3546824" y="1107807"/>
                </a:lnTo>
                <a:lnTo>
                  <a:pt x="3546824" y="1102688"/>
                </a:lnTo>
                <a:lnTo>
                  <a:pt x="3550067" y="1102688"/>
                </a:lnTo>
                <a:lnTo>
                  <a:pt x="3553309" y="1102688"/>
                </a:lnTo>
                <a:lnTo>
                  <a:pt x="3556526" y="1102688"/>
                </a:lnTo>
                <a:lnTo>
                  <a:pt x="3559768" y="1102688"/>
                </a:lnTo>
                <a:lnTo>
                  <a:pt x="3563011" y="1102688"/>
                </a:lnTo>
                <a:lnTo>
                  <a:pt x="3566227" y="1102710"/>
                </a:lnTo>
                <a:lnTo>
                  <a:pt x="3569470" y="1102710"/>
                </a:lnTo>
                <a:lnTo>
                  <a:pt x="3572686" y="1102710"/>
                </a:lnTo>
                <a:lnTo>
                  <a:pt x="3572686" y="1097485"/>
                </a:lnTo>
                <a:lnTo>
                  <a:pt x="3575929" y="1097506"/>
                </a:lnTo>
                <a:lnTo>
                  <a:pt x="3579146" y="1097506"/>
                </a:lnTo>
                <a:lnTo>
                  <a:pt x="3582362" y="1097506"/>
                </a:lnTo>
                <a:lnTo>
                  <a:pt x="3585553" y="1097506"/>
                </a:lnTo>
                <a:lnTo>
                  <a:pt x="3585553" y="1092302"/>
                </a:lnTo>
                <a:lnTo>
                  <a:pt x="3588769" y="1092302"/>
                </a:lnTo>
                <a:lnTo>
                  <a:pt x="3592012" y="1092302"/>
                </a:lnTo>
                <a:lnTo>
                  <a:pt x="3595281" y="1092302"/>
                </a:lnTo>
                <a:lnTo>
                  <a:pt x="3598471" y="1092302"/>
                </a:lnTo>
                <a:lnTo>
                  <a:pt x="3601739" y="1092302"/>
                </a:lnTo>
                <a:lnTo>
                  <a:pt x="3604956" y="1092302"/>
                </a:lnTo>
                <a:lnTo>
                  <a:pt x="3608173" y="1092302"/>
                </a:lnTo>
                <a:lnTo>
                  <a:pt x="3611415" y="1092302"/>
                </a:lnTo>
                <a:lnTo>
                  <a:pt x="3614632" y="1092302"/>
                </a:lnTo>
                <a:lnTo>
                  <a:pt x="3614632" y="1087099"/>
                </a:lnTo>
                <a:lnTo>
                  <a:pt x="3617874" y="1087120"/>
                </a:lnTo>
                <a:lnTo>
                  <a:pt x="3621117" y="1087120"/>
                </a:lnTo>
                <a:lnTo>
                  <a:pt x="3624334" y="1087120"/>
                </a:lnTo>
                <a:lnTo>
                  <a:pt x="3627524" y="1087120"/>
                </a:lnTo>
                <a:lnTo>
                  <a:pt x="3630741" y="1087120"/>
                </a:lnTo>
                <a:lnTo>
                  <a:pt x="3633983" y="1087120"/>
                </a:lnTo>
                <a:lnTo>
                  <a:pt x="3637200" y="1087120"/>
                </a:lnTo>
                <a:lnTo>
                  <a:pt x="3640417" y="1087120"/>
                </a:lnTo>
                <a:lnTo>
                  <a:pt x="3643660" y="1087120"/>
                </a:lnTo>
                <a:lnTo>
                  <a:pt x="3646902" y="1087141"/>
                </a:lnTo>
                <a:lnTo>
                  <a:pt x="3650119" y="1087141"/>
                </a:lnTo>
                <a:lnTo>
                  <a:pt x="3653361" y="1087141"/>
                </a:lnTo>
                <a:lnTo>
                  <a:pt x="3656577" y="1087141"/>
                </a:lnTo>
                <a:lnTo>
                  <a:pt x="3659820" y="1087141"/>
                </a:lnTo>
                <a:lnTo>
                  <a:pt x="3663063" y="1087141"/>
                </a:lnTo>
                <a:lnTo>
                  <a:pt x="3666280" y="1087141"/>
                </a:lnTo>
                <a:lnTo>
                  <a:pt x="3669444" y="1087141"/>
                </a:lnTo>
                <a:lnTo>
                  <a:pt x="3672687" y="1087141"/>
                </a:lnTo>
                <a:lnTo>
                  <a:pt x="3675903" y="1087141"/>
                </a:lnTo>
                <a:lnTo>
                  <a:pt x="3679145" y="1087162"/>
                </a:lnTo>
                <a:lnTo>
                  <a:pt x="3682363" y="1087162"/>
                </a:lnTo>
                <a:lnTo>
                  <a:pt x="3685605" y="1087162"/>
                </a:lnTo>
                <a:lnTo>
                  <a:pt x="3688848" y="1087162"/>
                </a:lnTo>
                <a:lnTo>
                  <a:pt x="3692064" y="1087162"/>
                </a:lnTo>
                <a:lnTo>
                  <a:pt x="3695307" y="1087162"/>
                </a:lnTo>
                <a:lnTo>
                  <a:pt x="3698549" y="1087162"/>
                </a:lnTo>
                <a:lnTo>
                  <a:pt x="3701766" y="1087162"/>
                </a:lnTo>
                <a:lnTo>
                  <a:pt x="3705008" y="1087162"/>
                </a:lnTo>
                <a:lnTo>
                  <a:pt x="3708173" y="1087183"/>
                </a:lnTo>
                <a:lnTo>
                  <a:pt x="3711416" y="1087183"/>
                </a:lnTo>
                <a:lnTo>
                  <a:pt x="3714658" y="1087183"/>
                </a:lnTo>
                <a:lnTo>
                  <a:pt x="3714658" y="1081641"/>
                </a:lnTo>
                <a:lnTo>
                  <a:pt x="3717875" y="1081641"/>
                </a:lnTo>
                <a:lnTo>
                  <a:pt x="3721117" y="1081641"/>
                </a:lnTo>
                <a:lnTo>
                  <a:pt x="3724334" y="1081662"/>
                </a:lnTo>
                <a:lnTo>
                  <a:pt x="3727576" y="1081662"/>
                </a:lnTo>
                <a:lnTo>
                  <a:pt x="3730819" y="1081662"/>
                </a:lnTo>
                <a:lnTo>
                  <a:pt x="3734009" y="1081662"/>
                </a:lnTo>
                <a:lnTo>
                  <a:pt x="3737252" y="1081662"/>
                </a:lnTo>
                <a:lnTo>
                  <a:pt x="3740494" y="1081662"/>
                </a:lnTo>
                <a:lnTo>
                  <a:pt x="3743711" y="1081662"/>
                </a:lnTo>
                <a:lnTo>
                  <a:pt x="3746954" y="1081662"/>
                </a:lnTo>
                <a:lnTo>
                  <a:pt x="3750119" y="1081662"/>
                </a:lnTo>
                <a:lnTo>
                  <a:pt x="3753361" y="1081662"/>
                </a:lnTo>
                <a:lnTo>
                  <a:pt x="3756578" y="1081662"/>
                </a:lnTo>
                <a:lnTo>
                  <a:pt x="3759794" y="1081662"/>
                </a:lnTo>
                <a:lnTo>
                  <a:pt x="3763037" y="1081662"/>
                </a:lnTo>
                <a:lnTo>
                  <a:pt x="3766279" y="1081662"/>
                </a:lnTo>
                <a:lnTo>
                  <a:pt x="3769497" y="1081704"/>
                </a:lnTo>
                <a:lnTo>
                  <a:pt x="3769497" y="1064951"/>
                </a:lnTo>
                <a:lnTo>
                  <a:pt x="3772739" y="1064951"/>
                </a:lnTo>
                <a:lnTo>
                  <a:pt x="3775955" y="1064951"/>
                </a:lnTo>
                <a:lnTo>
                  <a:pt x="3779197" y="1064951"/>
                </a:lnTo>
                <a:lnTo>
                  <a:pt x="3782440" y="1064973"/>
                </a:lnTo>
                <a:lnTo>
                  <a:pt x="3782440" y="1059325"/>
                </a:lnTo>
                <a:lnTo>
                  <a:pt x="3785657" y="1059346"/>
                </a:lnTo>
                <a:lnTo>
                  <a:pt x="3788900" y="1059346"/>
                </a:lnTo>
                <a:lnTo>
                  <a:pt x="3792038" y="1059346"/>
                </a:lnTo>
                <a:lnTo>
                  <a:pt x="3795255" y="1059346"/>
                </a:lnTo>
                <a:lnTo>
                  <a:pt x="3798497" y="1059346"/>
                </a:lnTo>
                <a:lnTo>
                  <a:pt x="3801714" y="1059346"/>
                </a:lnTo>
                <a:lnTo>
                  <a:pt x="3801714" y="1048071"/>
                </a:lnTo>
                <a:lnTo>
                  <a:pt x="3804983" y="1048071"/>
                </a:lnTo>
                <a:lnTo>
                  <a:pt x="3804983" y="1042423"/>
                </a:lnTo>
                <a:lnTo>
                  <a:pt x="3808225" y="1042423"/>
                </a:lnTo>
                <a:lnTo>
                  <a:pt x="3811468" y="1042423"/>
                </a:lnTo>
                <a:lnTo>
                  <a:pt x="3814710" y="1042423"/>
                </a:lnTo>
                <a:lnTo>
                  <a:pt x="3817927" y="1042423"/>
                </a:lnTo>
                <a:lnTo>
                  <a:pt x="3821169" y="1042423"/>
                </a:lnTo>
                <a:lnTo>
                  <a:pt x="3824412" y="1042423"/>
                </a:lnTo>
                <a:lnTo>
                  <a:pt x="3827603" y="1042423"/>
                </a:lnTo>
                <a:lnTo>
                  <a:pt x="3830871" y="1042423"/>
                </a:lnTo>
                <a:lnTo>
                  <a:pt x="3834010" y="1042423"/>
                </a:lnTo>
                <a:lnTo>
                  <a:pt x="3837226" y="1042445"/>
                </a:lnTo>
                <a:lnTo>
                  <a:pt x="3840468" y="1042445"/>
                </a:lnTo>
                <a:lnTo>
                  <a:pt x="3843686" y="1042445"/>
                </a:lnTo>
                <a:lnTo>
                  <a:pt x="3846928" y="1042445"/>
                </a:lnTo>
                <a:lnTo>
                  <a:pt x="3850171" y="1042445"/>
                </a:lnTo>
                <a:lnTo>
                  <a:pt x="3853387" y="1042445"/>
                </a:lnTo>
                <a:lnTo>
                  <a:pt x="3856656" y="1042445"/>
                </a:lnTo>
                <a:lnTo>
                  <a:pt x="3859846" y="1042445"/>
                </a:lnTo>
                <a:lnTo>
                  <a:pt x="3863115" y="1042445"/>
                </a:lnTo>
                <a:lnTo>
                  <a:pt x="3866331" y="1042466"/>
                </a:lnTo>
                <a:lnTo>
                  <a:pt x="3869574" y="1042466"/>
                </a:lnTo>
                <a:lnTo>
                  <a:pt x="3872791" y="1042466"/>
                </a:lnTo>
                <a:lnTo>
                  <a:pt x="3872791" y="1036585"/>
                </a:lnTo>
                <a:lnTo>
                  <a:pt x="3875955" y="1036585"/>
                </a:lnTo>
                <a:lnTo>
                  <a:pt x="3879172" y="1036606"/>
                </a:lnTo>
                <a:lnTo>
                  <a:pt x="3882414" y="1036606"/>
                </a:lnTo>
                <a:lnTo>
                  <a:pt x="3885631" y="1036606"/>
                </a:lnTo>
                <a:lnTo>
                  <a:pt x="3885631" y="1024824"/>
                </a:lnTo>
                <a:lnTo>
                  <a:pt x="3888874" y="1024824"/>
                </a:lnTo>
                <a:lnTo>
                  <a:pt x="3892090" y="1024824"/>
                </a:lnTo>
                <a:lnTo>
                  <a:pt x="3895333" y="1024824"/>
                </a:lnTo>
                <a:lnTo>
                  <a:pt x="3898549" y="1024824"/>
                </a:lnTo>
                <a:lnTo>
                  <a:pt x="3898549" y="1018922"/>
                </a:lnTo>
                <a:lnTo>
                  <a:pt x="3901818" y="1018922"/>
                </a:lnTo>
                <a:lnTo>
                  <a:pt x="3905009" y="1018922"/>
                </a:lnTo>
                <a:lnTo>
                  <a:pt x="3908252" y="1018944"/>
                </a:lnTo>
                <a:lnTo>
                  <a:pt x="3911494" y="1018944"/>
                </a:lnTo>
                <a:lnTo>
                  <a:pt x="3914658" y="1018944"/>
                </a:lnTo>
                <a:lnTo>
                  <a:pt x="3917901" y="1018944"/>
                </a:lnTo>
                <a:lnTo>
                  <a:pt x="3917901" y="1012957"/>
                </a:lnTo>
                <a:lnTo>
                  <a:pt x="3921117" y="1012957"/>
                </a:lnTo>
                <a:lnTo>
                  <a:pt x="3924360" y="1012979"/>
                </a:lnTo>
                <a:lnTo>
                  <a:pt x="3924360" y="1006950"/>
                </a:lnTo>
                <a:lnTo>
                  <a:pt x="3927577" y="1006950"/>
                </a:lnTo>
                <a:lnTo>
                  <a:pt x="3927577" y="1001006"/>
                </a:lnTo>
                <a:lnTo>
                  <a:pt x="3930820" y="1001006"/>
                </a:lnTo>
                <a:lnTo>
                  <a:pt x="3934062" y="1001006"/>
                </a:lnTo>
                <a:lnTo>
                  <a:pt x="3934062" y="994977"/>
                </a:lnTo>
                <a:lnTo>
                  <a:pt x="3937278" y="994977"/>
                </a:lnTo>
                <a:lnTo>
                  <a:pt x="3940520" y="994999"/>
                </a:lnTo>
                <a:lnTo>
                  <a:pt x="3943763" y="994999"/>
                </a:lnTo>
                <a:lnTo>
                  <a:pt x="3943763" y="988991"/>
                </a:lnTo>
                <a:lnTo>
                  <a:pt x="3946980" y="988991"/>
                </a:lnTo>
                <a:lnTo>
                  <a:pt x="3950223" y="988991"/>
                </a:lnTo>
                <a:lnTo>
                  <a:pt x="3953413" y="988991"/>
                </a:lnTo>
                <a:lnTo>
                  <a:pt x="3956604" y="988991"/>
                </a:lnTo>
                <a:lnTo>
                  <a:pt x="3959847" y="988991"/>
                </a:lnTo>
                <a:lnTo>
                  <a:pt x="3963063" y="988991"/>
                </a:lnTo>
                <a:lnTo>
                  <a:pt x="3966306" y="989012"/>
                </a:lnTo>
                <a:lnTo>
                  <a:pt x="3969548" y="989012"/>
                </a:lnTo>
                <a:lnTo>
                  <a:pt x="3972765" y="989012"/>
                </a:lnTo>
                <a:lnTo>
                  <a:pt x="3976008" y="989012"/>
                </a:lnTo>
                <a:lnTo>
                  <a:pt x="3979223" y="989012"/>
                </a:lnTo>
                <a:lnTo>
                  <a:pt x="3979223" y="982920"/>
                </a:lnTo>
                <a:lnTo>
                  <a:pt x="3982466" y="982920"/>
                </a:lnTo>
                <a:lnTo>
                  <a:pt x="3985683" y="982920"/>
                </a:lnTo>
                <a:lnTo>
                  <a:pt x="3988926" y="982941"/>
                </a:lnTo>
                <a:lnTo>
                  <a:pt x="3992142" y="982941"/>
                </a:lnTo>
                <a:lnTo>
                  <a:pt x="3995385" y="982941"/>
                </a:lnTo>
                <a:lnTo>
                  <a:pt x="3995385" y="976828"/>
                </a:lnTo>
                <a:lnTo>
                  <a:pt x="3998549" y="976828"/>
                </a:lnTo>
                <a:lnTo>
                  <a:pt x="4001791" y="976849"/>
                </a:lnTo>
                <a:lnTo>
                  <a:pt x="4005009" y="976849"/>
                </a:lnTo>
                <a:lnTo>
                  <a:pt x="4005009" y="970673"/>
                </a:lnTo>
                <a:lnTo>
                  <a:pt x="4008251" y="970673"/>
                </a:lnTo>
                <a:lnTo>
                  <a:pt x="4011468" y="970673"/>
                </a:lnTo>
                <a:lnTo>
                  <a:pt x="4011468" y="964496"/>
                </a:lnTo>
                <a:lnTo>
                  <a:pt x="4014710" y="964517"/>
                </a:lnTo>
                <a:lnTo>
                  <a:pt x="4017927" y="964517"/>
                </a:lnTo>
                <a:lnTo>
                  <a:pt x="4021169" y="964517"/>
                </a:lnTo>
                <a:lnTo>
                  <a:pt x="4021169" y="958362"/>
                </a:lnTo>
                <a:lnTo>
                  <a:pt x="4024386" y="958362"/>
                </a:lnTo>
                <a:lnTo>
                  <a:pt x="4027654" y="958362"/>
                </a:lnTo>
                <a:lnTo>
                  <a:pt x="4030871" y="958362"/>
                </a:lnTo>
                <a:lnTo>
                  <a:pt x="4034139" y="958362"/>
                </a:lnTo>
                <a:lnTo>
                  <a:pt x="4037357" y="958362"/>
                </a:lnTo>
                <a:lnTo>
                  <a:pt x="4040522" y="958362"/>
                </a:lnTo>
                <a:lnTo>
                  <a:pt x="4043737" y="958362"/>
                </a:lnTo>
                <a:lnTo>
                  <a:pt x="4046980" y="958362"/>
                </a:lnTo>
                <a:lnTo>
                  <a:pt x="4050197" y="958362"/>
                </a:lnTo>
                <a:lnTo>
                  <a:pt x="4053465" y="958362"/>
                </a:lnTo>
                <a:lnTo>
                  <a:pt x="4053465" y="952121"/>
                </a:lnTo>
                <a:lnTo>
                  <a:pt x="4056656" y="952121"/>
                </a:lnTo>
                <a:lnTo>
                  <a:pt x="4059925" y="952121"/>
                </a:lnTo>
                <a:lnTo>
                  <a:pt x="4063115" y="952121"/>
                </a:lnTo>
                <a:lnTo>
                  <a:pt x="4066357" y="952121"/>
                </a:lnTo>
                <a:lnTo>
                  <a:pt x="4069600" y="952121"/>
                </a:lnTo>
                <a:lnTo>
                  <a:pt x="4072817" y="952121"/>
                </a:lnTo>
                <a:lnTo>
                  <a:pt x="4076060" y="952121"/>
                </a:lnTo>
                <a:lnTo>
                  <a:pt x="4079275" y="952121"/>
                </a:lnTo>
                <a:lnTo>
                  <a:pt x="4082440" y="952143"/>
                </a:lnTo>
                <a:lnTo>
                  <a:pt x="4085683" y="952143"/>
                </a:lnTo>
                <a:lnTo>
                  <a:pt x="4088900" y="952143"/>
                </a:lnTo>
                <a:lnTo>
                  <a:pt x="4088900" y="939345"/>
                </a:lnTo>
                <a:lnTo>
                  <a:pt x="4092143" y="939345"/>
                </a:lnTo>
                <a:lnTo>
                  <a:pt x="4095385" y="939345"/>
                </a:lnTo>
                <a:lnTo>
                  <a:pt x="4098602" y="939366"/>
                </a:lnTo>
                <a:lnTo>
                  <a:pt x="4101844" y="939366"/>
                </a:lnTo>
                <a:lnTo>
                  <a:pt x="4105061" y="939366"/>
                </a:lnTo>
                <a:lnTo>
                  <a:pt x="4108303" y="939366"/>
                </a:lnTo>
                <a:lnTo>
                  <a:pt x="4111520" y="939366"/>
                </a:lnTo>
                <a:lnTo>
                  <a:pt x="4114763" y="939366"/>
                </a:lnTo>
                <a:lnTo>
                  <a:pt x="4114763" y="932851"/>
                </a:lnTo>
                <a:lnTo>
                  <a:pt x="4117978" y="932851"/>
                </a:lnTo>
                <a:lnTo>
                  <a:pt x="4121143" y="932851"/>
                </a:lnTo>
                <a:lnTo>
                  <a:pt x="4124386" y="932851"/>
                </a:lnTo>
                <a:lnTo>
                  <a:pt x="4127629" y="932851"/>
                </a:lnTo>
                <a:lnTo>
                  <a:pt x="4127629" y="926294"/>
                </a:lnTo>
                <a:lnTo>
                  <a:pt x="4130819" y="926294"/>
                </a:lnTo>
                <a:lnTo>
                  <a:pt x="4134088" y="926294"/>
                </a:lnTo>
                <a:lnTo>
                  <a:pt x="4137331" y="926294"/>
                </a:lnTo>
                <a:lnTo>
                  <a:pt x="4140573" y="926315"/>
                </a:lnTo>
                <a:lnTo>
                  <a:pt x="4143789" y="926315"/>
                </a:lnTo>
                <a:lnTo>
                  <a:pt x="4147058" y="926315"/>
                </a:lnTo>
                <a:lnTo>
                  <a:pt x="4150249" y="926315"/>
                </a:lnTo>
                <a:lnTo>
                  <a:pt x="4153517" y="926315"/>
                </a:lnTo>
                <a:lnTo>
                  <a:pt x="4156708" y="926315"/>
                </a:lnTo>
                <a:lnTo>
                  <a:pt x="4156708" y="919673"/>
                </a:lnTo>
                <a:lnTo>
                  <a:pt x="4159950" y="919673"/>
                </a:lnTo>
                <a:lnTo>
                  <a:pt x="4163115" y="919694"/>
                </a:lnTo>
                <a:lnTo>
                  <a:pt x="4166332" y="919694"/>
                </a:lnTo>
                <a:lnTo>
                  <a:pt x="4169549" y="919694"/>
                </a:lnTo>
                <a:lnTo>
                  <a:pt x="4169549" y="912988"/>
                </a:lnTo>
                <a:lnTo>
                  <a:pt x="4172791" y="912988"/>
                </a:lnTo>
                <a:lnTo>
                  <a:pt x="4176007" y="912988"/>
                </a:lnTo>
                <a:lnTo>
                  <a:pt x="4179302" y="913010"/>
                </a:lnTo>
                <a:lnTo>
                  <a:pt x="4179302" y="906283"/>
                </a:lnTo>
                <a:lnTo>
                  <a:pt x="4182492" y="906283"/>
                </a:lnTo>
                <a:lnTo>
                  <a:pt x="4185762" y="906283"/>
                </a:lnTo>
                <a:lnTo>
                  <a:pt x="4185762" y="899514"/>
                </a:lnTo>
                <a:lnTo>
                  <a:pt x="4188977" y="899535"/>
                </a:lnTo>
                <a:lnTo>
                  <a:pt x="4192194" y="899535"/>
                </a:lnTo>
                <a:lnTo>
                  <a:pt x="4195437" y="899535"/>
                </a:lnTo>
                <a:lnTo>
                  <a:pt x="4198653" y="899535"/>
                </a:lnTo>
                <a:lnTo>
                  <a:pt x="4201896" y="899535"/>
                </a:lnTo>
                <a:lnTo>
                  <a:pt x="4205061" y="899535"/>
                </a:lnTo>
                <a:lnTo>
                  <a:pt x="4205061" y="892703"/>
                </a:lnTo>
                <a:lnTo>
                  <a:pt x="4208251" y="892703"/>
                </a:lnTo>
                <a:lnTo>
                  <a:pt x="4211520" y="892703"/>
                </a:lnTo>
                <a:lnTo>
                  <a:pt x="4214736" y="892703"/>
                </a:lnTo>
                <a:lnTo>
                  <a:pt x="4214736" y="885786"/>
                </a:lnTo>
                <a:lnTo>
                  <a:pt x="4217979" y="885786"/>
                </a:lnTo>
                <a:lnTo>
                  <a:pt x="4221195" y="885807"/>
                </a:lnTo>
                <a:lnTo>
                  <a:pt x="4224413" y="885807"/>
                </a:lnTo>
                <a:lnTo>
                  <a:pt x="4227655" y="885807"/>
                </a:lnTo>
                <a:lnTo>
                  <a:pt x="4230898" y="885807"/>
                </a:lnTo>
                <a:lnTo>
                  <a:pt x="4234140" y="885807"/>
                </a:lnTo>
                <a:lnTo>
                  <a:pt x="4237357" y="885807"/>
                </a:lnTo>
                <a:lnTo>
                  <a:pt x="4240625" y="885807"/>
                </a:lnTo>
                <a:lnTo>
                  <a:pt x="4243816" y="885807"/>
                </a:lnTo>
                <a:lnTo>
                  <a:pt x="4247006" y="885807"/>
                </a:lnTo>
                <a:lnTo>
                  <a:pt x="4247006" y="878826"/>
                </a:lnTo>
                <a:lnTo>
                  <a:pt x="4250223" y="878826"/>
                </a:lnTo>
                <a:lnTo>
                  <a:pt x="4253466" y="878826"/>
                </a:lnTo>
                <a:lnTo>
                  <a:pt x="4256708" y="878826"/>
                </a:lnTo>
                <a:lnTo>
                  <a:pt x="4259925" y="878826"/>
                </a:lnTo>
                <a:lnTo>
                  <a:pt x="4263141" y="878826"/>
                </a:lnTo>
                <a:lnTo>
                  <a:pt x="4263141" y="871655"/>
                </a:lnTo>
                <a:lnTo>
                  <a:pt x="4266384" y="871655"/>
                </a:lnTo>
                <a:lnTo>
                  <a:pt x="4269601" y="871655"/>
                </a:lnTo>
                <a:lnTo>
                  <a:pt x="4272869" y="871655"/>
                </a:lnTo>
                <a:lnTo>
                  <a:pt x="4276060" y="871655"/>
                </a:lnTo>
                <a:lnTo>
                  <a:pt x="4276060" y="864379"/>
                </a:lnTo>
                <a:lnTo>
                  <a:pt x="4279328" y="864379"/>
                </a:lnTo>
                <a:lnTo>
                  <a:pt x="4279328" y="857145"/>
                </a:lnTo>
                <a:lnTo>
                  <a:pt x="4282545" y="857145"/>
                </a:lnTo>
                <a:lnTo>
                  <a:pt x="4285709" y="857145"/>
                </a:lnTo>
                <a:lnTo>
                  <a:pt x="4288926" y="857145"/>
                </a:lnTo>
                <a:lnTo>
                  <a:pt x="4292169" y="857145"/>
                </a:lnTo>
                <a:lnTo>
                  <a:pt x="4295385" y="857145"/>
                </a:lnTo>
                <a:lnTo>
                  <a:pt x="4295385" y="849762"/>
                </a:lnTo>
                <a:lnTo>
                  <a:pt x="4298654" y="849762"/>
                </a:lnTo>
                <a:lnTo>
                  <a:pt x="4301844" y="849762"/>
                </a:lnTo>
                <a:lnTo>
                  <a:pt x="4305113" y="849762"/>
                </a:lnTo>
                <a:lnTo>
                  <a:pt x="4308329" y="849762"/>
                </a:lnTo>
                <a:lnTo>
                  <a:pt x="4311572" y="849783"/>
                </a:lnTo>
                <a:lnTo>
                  <a:pt x="4314789" y="849783"/>
                </a:lnTo>
                <a:lnTo>
                  <a:pt x="4318005" y="849783"/>
                </a:lnTo>
                <a:lnTo>
                  <a:pt x="4318005" y="842316"/>
                </a:lnTo>
                <a:lnTo>
                  <a:pt x="4321247" y="842316"/>
                </a:lnTo>
                <a:lnTo>
                  <a:pt x="4321247" y="834849"/>
                </a:lnTo>
                <a:lnTo>
                  <a:pt x="4324490" y="834849"/>
                </a:lnTo>
                <a:lnTo>
                  <a:pt x="4324490" y="827340"/>
                </a:lnTo>
                <a:lnTo>
                  <a:pt x="4327629" y="827340"/>
                </a:lnTo>
                <a:lnTo>
                  <a:pt x="4330897" y="827340"/>
                </a:lnTo>
                <a:lnTo>
                  <a:pt x="4334088" y="827340"/>
                </a:lnTo>
                <a:lnTo>
                  <a:pt x="4337357" y="827340"/>
                </a:lnTo>
                <a:lnTo>
                  <a:pt x="4340573" y="827340"/>
                </a:lnTo>
                <a:lnTo>
                  <a:pt x="4340573" y="819767"/>
                </a:lnTo>
                <a:lnTo>
                  <a:pt x="4343816" y="819767"/>
                </a:lnTo>
                <a:lnTo>
                  <a:pt x="4347032" y="819767"/>
                </a:lnTo>
                <a:lnTo>
                  <a:pt x="4350275" y="819788"/>
                </a:lnTo>
                <a:lnTo>
                  <a:pt x="4353492" y="819788"/>
                </a:lnTo>
                <a:lnTo>
                  <a:pt x="4356760" y="819788"/>
                </a:lnTo>
                <a:lnTo>
                  <a:pt x="4359977" y="819788"/>
                </a:lnTo>
                <a:lnTo>
                  <a:pt x="4363220" y="819788"/>
                </a:lnTo>
                <a:lnTo>
                  <a:pt x="4366462" y="819788"/>
                </a:lnTo>
                <a:lnTo>
                  <a:pt x="4366462" y="812110"/>
                </a:lnTo>
                <a:lnTo>
                  <a:pt x="4369627" y="812110"/>
                </a:lnTo>
                <a:lnTo>
                  <a:pt x="4372843" y="812131"/>
                </a:lnTo>
                <a:lnTo>
                  <a:pt x="4376085" y="812131"/>
                </a:lnTo>
                <a:lnTo>
                  <a:pt x="4376085" y="804410"/>
                </a:lnTo>
                <a:lnTo>
                  <a:pt x="4379303" y="804410"/>
                </a:lnTo>
                <a:lnTo>
                  <a:pt x="4382545" y="804410"/>
                </a:lnTo>
                <a:lnTo>
                  <a:pt x="4385761" y="804410"/>
                </a:lnTo>
                <a:lnTo>
                  <a:pt x="4389003" y="804410"/>
                </a:lnTo>
                <a:lnTo>
                  <a:pt x="4392246" y="804431"/>
                </a:lnTo>
                <a:lnTo>
                  <a:pt x="4395437" y="804431"/>
                </a:lnTo>
                <a:lnTo>
                  <a:pt x="4398706" y="804431"/>
                </a:lnTo>
                <a:lnTo>
                  <a:pt x="4401896" y="804431"/>
                </a:lnTo>
                <a:lnTo>
                  <a:pt x="4401896" y="796541"/>
                </a:lnTo>
                <a:lnTo>
                  <a:pt x="4405165" y="796541"/>
                </a:lnTo>
                <a:lnTo>
                  <a:pt x="4408381" y="796541"/>
                </a:lnTo>
                <a:lnTo>
                  <a:pt x="4408381" y="788651"/>
                </a:lnTo>
                <a:lnTo>
                  <a:pt x="4411546" y="788651"/>
                </a:lnTo>
                <a:lnTo>
                  <a:pt x="4414763" y="788651"/>
                </a:lnTo>
                <a:lnTo>
                  <a:pt x="4418031" y="788651"/>
                </a:lnTo>
                <a:lnTo>
                  <a:pt x="4421221" y="788651"/>
                </a:lnTo>
                <a:lnTo>
                  <a:pt x="4424491" y="788651"/>
                </a:lnTo>
                <a:lnTo>
                  <a:pt x="4427681" y="788651"/>
                </a:lnTo>
                <a:lnTo>
                  <a:pt x="4430949" y="788651"/>
                </a:lnTo>
                <a:lnTo>
                  <a:pt x="4434166" y="788672"/>
                </a:lnTo>
                <a:lnTo>
                  <a:pt x="4437409" y="788672"/>
                </a:lnTo>
                <a:lnTo>
                  <a:pt x="4440625" y="788672"/>
                </a:lnTo>
                <a:lnTo>
                  <a:pt x="4443842" y="788672"/>
                </a:lnTo>
                <a:lnTo>
                  <a:pt x="4447084" y="788672"/>
                </a:lnTo>
                <a:lnTo>
                  <a:pt x="4450327" y="788672"/>
                </a:lnTo>
                <a:lnTo>
                  <a:pt x="4453466" y="788672"/>
                </a:lnTo>
                <a:lnTo>
                  <a:pt x="4456734" y="788672"/>
                </a:lnTo>
                <a:lnTo>
                  <a:pt x="4459977" y="788672"/>
                </a:lnTo>
                <a:lnTo>
                  <a:pt x="4463219" y="788672"/>
                </a:lnTo>
                <a:lnTo>
                  <a:pt x="4466436" y="788694"/>
                </a:lnTo>
                <a:lnTo>
                  <a:pt x="4469652" y="788694"/>
                </a:lnTo>
                <a:lnTo>
                  <a:pt x="4472895" y="788694"/>
                </a:lnTo>
                <a:lnTo>
                  <a:pt x="4476137" y="788694"/>
                </a:lnTo>
                <a:lnTo>
                  <a:pt x="4479355" y="788694"/>
                </a:lnTo>
                <a:lnTo>
                  <a:pt x="4482597" y="788694"/>
                </a:lnTo>
                <a:lnTo>
                  <a:pt x="4485840" y="788694"/>
                </a:lnTo>
                <a:lnTo>
                  <a:pt x="4489056" y="788694"/>
                </a:lnTo>
                <a:lnTo>
                  <a:pt x="4492195" y="788694"/>
                </a:lnTo>
                <a:lnTo>
                  <a:pt x="4495437" y="788715"/>
                </a:lnTo>
                <a:lnTo>
                  <a:pt x="4498654" y="788715"/>
                </a:lnTo>
                <a:lnTo>
                  <a:pt x="4501923" y="788715"/>
                </a:lnTo>
                <a:lnTo>
                  <a:pt x="4505139" y="788715"/>
                </a:lnTo>
                <a:lnTo>
                  <a:pt x="4508382" y="788715"/>
                </a:lnTo>
                <a:lnTo>
                  <a:pt x="4511598" y="788715"/>
                </a:lnTo>
                <a:lnTo>
                  <a:pt x="4514840" y="788715"/>
                </a:lnTo>
                <a:lnTo>
                  <a:pt x="4518083" y="788715"/>
                </a:lnTo>
                <a:lnTo>
                  <a:pt x="4521300" y="788715"/>
                </a:lnTo>
                <a:lnTo>
                  <a:pt x="4524543" y="788715"/>
                </a:lnTo>
                <a:lnTo>
                  <a:pt x="4524543" y="780021"/>
                </a:lnTo>
                <a:lnTo>
                  <a:pt x="4527785" y="780021"/>
                </a:lnTo>
                <a:lnTo>
                  <a:pt x="4531001" y="780021"/>
                </a:lnTo>
                <a:lnTo>
                  <a:pt x="4534141" y="780021"/>
                </a:lnTo>
                <a:lnTo>
                  <a:pt x="4534141" y="771137"/>
                </a:lnTo>
                <a:lnTo>
                  <a:pt x="4537357" y="771137"/>
                </a:lnTo>
                <a:lnTo>
                  <a:pt x="4540600" y="771137"/>
                </a:lnTo>
                <a:lnTo>
                  <a:pt x="4543842" y="771137"/>
                </a:lnTo>
                <a:lnTo>
                  <a:pt x="4547059" y="771137"/>
                </a:lnTo>
                <a:lnTo>
                  <a:pt x="4550301" y="771137"/>
                </a:lnTo>
                <a:lnTo>
                  <a:pt x="4553544" y="771137"/>
                </a:lnTo>
                <a:lnTo>
                  <a:pt x="4556761" y="771137"/>
                </a:lnTo>
                <a:lnTo>
                  <a:pt x="4560003" y="771137"/>
                </a:lnTo>
                <a:lnTo>
                  <a:pt x="4560003" y="762125"/>
                </a:lnTo>
                <a:lnTo>
                  <a:pt x="4563219" y="762125"/>
                </a:lnTo>
                <a:lnTo>
                  <a:pt x="4566462" y="762125"/>
                </a:lnTo>
                <a:lnTo>
                  <a:pt x="4569704" y="762125"/>
                </a:lnTo>
                <a:lnTo>
                  <a:pt x="4572921" y="762125"/>
                </a:lnTo>
                <a:lnTo>
                  <a:pt x="4576112" y="762125"/>
                </a:lnTo>
                <a:lnTo>
                  <a:pt x="4579302" y="762125"/>
                </a:lnTo>
                <a:lnTo>
                  <a:pt x="4582571" y="762125"/>
                </a:lnTo>
                <a:lnTo>
                  <a:pt x="4585787" y="762125"/>
                </a:lnTo>
                <a:lnTo>
                  <a:pt x="4589030" y="762125"/>
                </a:lnTo>
                <a:lnTo>
                  <a:pt x="4592247" y="762146"/>
                </a:lnTo>
                <a:lnTo>
                  <a:pt x="4595515" y="762146"/>
                </a:lnTo>
                <a:lnTo>
                  <a:pt x="4595515" y="752924"/>
                </a:lnTo>
                <a:lnTo>
                  <a:pt x="4598706" y="752924"/>
                </a:lnTo>
                <a:lnTo>
                  <a:pt x="4601948" y="752924"/>
                </a:lnTo>
                <a:lnTo>
                  <a:pt x="4605165" y="752924"/>
                </a:lnTo>
                <a:lnTo>
                  <a:pt x="4608407" y="752945"/>
                </a:lnTo>
                <a:lnTo>
                  <a:pt x="4611676" y="752945"/>
                </a:lnTo>
                <a:lnTo>
                  <a:pt x="4614892" y="752945"/>
                </a:lnTo>
                <a:lnTo>
                  <a:pt x="4614892" y="743574"/>
                </a:lnTo>
                <a:lnTo>
                  <a:pt x="4618032" y="743574"/>
                </a:lnTo>
                <a:lnTo>
                  <a:pt x="4621300" y="743574"/>
                </a:lnTo>
                <a:lnTo>
                  <a:pt x="4624490" y="743595"/>
                </a:lnTo>
                <a:lnTo>
                  <a:pt x="4624490" y="734161"/>
                </a:lnTo>
                <a:lnTo>
                  <a:pt x="4627733" y="734161"/>
                </a:lnTo>
                <a:lnTo>
                  <a:pt x="4630950" y="734161"/>
                </a:lnTo>
                <a:lnTo>
                  <a:pt x="4634192" y="734161"/>
                </a:lnTo>
                <a:lnTo>
                  <a:pt x="4637435" y="734161"/>
                </a:lnTo>
                <a:lnTo>
                  <a:pt x="4640651" y="734182"/>
                </a:lnTo>
                <a:lnTo>
                  <a:pt x="4643894" y="734182"/>
                </a:lnTo>
                <a:lnTo>
                  <a:pt x="4647110" y="734182"/>
                </a:lnTo>
                <a:lnTo>
                  <a:pt x="4650353" y="734182"/>
                </a:lnTo>
                <a:lnTo>
                  <a:pt x="4653595" y="734182"/>
                </a:lnTo>
                <a:lnTo>
                  <a:pt x="4656813" y="734182"/>
                </a:lnTo>
                <a:lnTo>
                  <a:pt x="4656813" y="724410"/>
                </a:lnTo>
                <a:lnTo>
                  <a:pt x="4659977" y="724410"/>
                </a:lnTo>
                <a:lnTo>
                  <a:pt x="4663219" y="724410"/>
                </a:lnTo>
                <a:lnTo>
                  <a:pt x="4666436" y="724410"/>
                </a:lnTo>
                <a:lnTo>
                  <a:pt x="4669678" y="724410"/>
                </a:lnTo>
                <a:lnTo>
                  <a:pt x="4672896" y="724410"/>
                </a:lnTo>
                <a:lnTo>
                  <a:pt x="4676138" y="724410"/>
                </a:lnTo>
                <a:lnTo>
                  <a:pt x="4679381" y="724410"/>
                </a:lnTo>
                <a:lnTo>
                  <a:pt x="4682623" y="724410"/>
                </a:lnTo>
                <a:lnTo>
                  <a:pt x="4682623" y="714404"/>
                </a:lnTo>
                <a:lnTo>
                  <a:pt x="4685866" y="714404"/>
                </a:lnTo>
                <a:lnTo>
                  <a:pt x="4689108" y="714404"/>
                </a:lnTo>
                <a:lnTo>
                  <a:pt x="4692325" y="714404"/>
                </a:lnTo>
                <a:lnTo>
                  <a:pt x="4695541" y="714404"/>
                </a:lnTo>
                <a:lnTo>
                  <a:pt x="4695541" y="704293"/>
                </a:lnTo>
                <a:lnTo>
                  <a:pt x="4698706" y="704293"/>
                </a:lnTo>
                <a:lnTo>
                  <a:pt x="4701949" y="704293"/>
                </a:lnTo>
                <a:lnTo>
                  <a:pt x="4705191" y="704293"/>
                </a:lnTo>
                <a:lnTo>
                  <a:pt x="4708408" y="704293"/>
                </a:lnTo>
                <a:lnTo>
                  <a:pt x="4708408" y="694013"/>
                </a:lnTo>
                <a:lnTo>
                  <a:pt x="4711650" y="694013"/>
                </a:lnTo>
                <a:lnTo>
                  <a:pt x="4714867" y="694013"/>
                </a:lnTo>
                <a:lnTo>
                  <a:pt x="4718109" y="694013"/>
                </a:lnTo>
                <a:lnTo>
                  <a:pt x="4721326" y="694013"/>
                </a:lnTo>
                <a:lnTo>
                  <a:pt x="4721326" y="683648"/>
                </a:lnTo>
                <a:lnTo>
                  <a:pt x="4724542" y="683648"/>
                </a:lnTo>
                <a:lnTo>
                  <a:pt x="4727785" y="683648"/>
                </a:lnTo>
                <a:lnTo>
                  <a:pt x="4731027" y="683648"/>
                </a:lnTo>
                <a:lnTo>
                  <a:pt x="4734244" y="683648"/>
                </a:lnTo>
                <a:lnTo>
                  <a:pt x="4737487" y="683669"/>
                </a:lnTo>
                <a:lnTo>
                  <a:pt x="4740652" y="683669"/>
                </a:lnTo>
                <a:lnTo>
                  <a:pt x="4743868" y="683669"/>
                </a:lnTo>
                <a:lnTo>
                  <a:pt x="4747111" y="683669"/>
                </a:lnTo>
                <a:lnTo>
                  <a:pt x="4750327" y="683669"/>
                </a:lnTo>
                <a:lnTo>
                  <a:pt x="4753570" y="683669"/>
                </a:lnTo>
                <a:lnTo>
                  <a:pt x="4756812" y="683669"/>
                </a:lnTo>
                <a:lnTo>
                  <a:pt x="4760030" y="683669"/>
                </a:lnTo>
                <a:lnTo>
                  <a:pt x="4763272" y="683669"/>
                </a:lnTo>
                <a:lnTo>
                  <a:pt x="4766488" y="683669"/>
                </a:lnTo>
                <a:lnTo>
                  <a:pt x="4769730" y="683690"/>
                </a:lnTo>
                <a:lnTo>
                  <a:pt x="4772973" y="683690"/>
                </a:lnTo>
                <a:lnTo>
                  <a:pt x="4776190" y="683690"/>
                </a:lnTo>
                <a:lnTo>
                  <a:pt x="4776190" y="672881"/>
                </a:lnTo>
                <a:lnTo>
                  <a:pt x="4779433" y="672881"/>
                </a:lnTo>
                <a:lnTo>
                  <a:pt x="4782571" y="672881"/>
                </a:lnTo>
                <a:lnTo>
                  <a:pt x="4785840" y="672881"/>
                </a:lnTo>
                <a:lnTo>
                  <a:pt x="4789083" y="672902"/>
                </a:lnTo>
                <a:lnTo>
                  <a:pt x="4792298" y="672902"/>
                </a:lnTo>
                <a:lnTo>
                  <a:pt x="4795541" y="672902"/>
                </a:lnTo>
                <a:lnTo>
                  <a:pt x="4798783" y="672902"/>
                </a:lnTo>
                <a:lnTo>
                  <a:pt x="4802001" y="672902"/>
                </a:lnTo>
                <a:lnTo>
                  <a:pt x="4805243" y="672902"/>
                </a:lnTo>
                <a:lnTo>
                  <a:pt x="4808460" y="672902"/>
                </a:lnTo>
                <a:lnTo>
                  <a:pt x="4811702" y="672902"/>
                </a:lnTo>
                <a:lnTo>
                  <a:pt x="4814918" y="672902"/>
                </a:lnTo>
                <a:lnTo>
                  <a:pt x="4818161" y="672923"/>
                </a:lnTo>
                <a:lnTo>
                  <a:pt x="4821378" y="672923"/>
                </a:lnTo>
                <a:lnTo>
                  <a:pt x="4824543" y="672923"/>
                </a:lnTo>
                <a:lnTo>
                  <a:pt x="4827786" y="672923"/>
                </a:lnTo>
                <a:lnTo>
                  <a:pt x="4831028" y="672923"/>
                </a:lnTo>
                <a:lnTo>
                  <a:pt x="4834244" y="672923"/>
                </a:lnTo>
                <a:lnTo>
                  <a:pt x="4837486" y="672923"/>
                </a:lnTo>
                <a:lnTo>
                  <a:pt x="4840729" y="672923"/>
                </a:lnTo>
                <a:lnTo>
                  <a:pt x="4843946" y="672923"/>
                </a:lnTo>
                <a:lnTo>
                  <a:pt x="4847163" y="672923"/>
                </a:lnTo>
                <a:lnTo>
                  <a:pt x="4850405" y="672944"/>
                </a:lnTo>
                <a:lnTo>
                  <a:pt x="4853622" y="672944"/>
                </a:lnTo>
                <a:lnTo>
                  <a:pt x="4856890" y="672944"/>
                </a:lnTo>
                <a:lnTo>
                  <a:pt x="4860081" y="672944"/>
                </a:lnTo>
                <a:lnTo>
                  <a:pt x="4863349" y="672944"/>
                </a:lnTo>
                <a:lnTo>
                  <a:pt x="4863349" y="661162"/>
                </a:lnTo>
                <a:lnTo>
                  <a:pt x="4866488" y="661162"/>
                </a:lnTo>
                <a:lnTo>
                  <a:pt x="4869705" y="661162"/>
                </a:lnTo>
                <a:lnTo>
                  <a:pt x="4872947" y="661162"/>
                </a:lnTo>
                <a:lnTo>
                  <a:pt x="4876164" y="661162"/>
                </a:lnTo>
                <a:lnTo>
                  <a:pt x="4879407" y="661162"/>
                </a:lnTo>
                <a:lnTo>
                  <a:pt x="4882649" y="661162"/>
                </a:lnTo>
                <a:lnTo>
                  <a:pt x="4885866" y="661162"/>
                </a:lnTo>
                <a:lnTo>
                  <a:pt x="4889108" y="661162"/>
                </a:lnTo>
                <a:lnTo>
                  <a:pt x="4892325" y="661162"/>
                </a:lnTo>
                <a:lnTo>
                  <a:pt x="4895567" y="661183"/>
                </a:lnTo>
                <a:lnTo>
                  <a:pt x="4898810" y="661183"/>
                </a:lnTo>
                <a:lnTo>
                  <a:pt x="4902052" y="661183"/>
                </a:lnTo>
                <a:lnTo>
                  <a:pt x="4905217" y="661183"/>
                </a:lnTo>
                <a:lnTo>
                  <a:pt x="4908434" y="661183"/>
                </a:lnTo>
                <a:lnTo>
                  <a:pt x="4911650" y="661183"/>
                </a:lnTo>
                <a:lnTo>
                  <a:pt x="4914893" y="661183"/>
                </a:lnTo>
                <a:lnTo>
                  <a:pt x="4918110" y="661183"/>
                </a:lnTo>
                <a:lnTo>
                  <a:pt x="4918110" y="648640"/>
                </a:lnTo>
                <a:lnTo>
                  <a:pt x="4921353" y="648640"/>
                </a:lnTo>
                <a:lnTo>
                  <a:pt x="4924595" y="648640"/>
                </a:lnTo>
                <a:lnTo>
                  <a:pt x="4927812" y="648640"/>
                </a:lnTo>
                <a:lnTo>
                  <a:pt x="4931054" y="648640"/>
                </a:lnTo>
                <a:lnTo>
                  <a:pt x="4934323" y="648640"/>
                </a:lnTo>
                <a:lnTo>
                  <a:pt x="4937539" y="648661"/>
                </a:lnTo>
                <a:lnTo>
                  <a:pt x="4940756" y="648661"/>
                </a:lnTo>
                <a:lnTo>
                  <a:pt x="4940756" y="635927"/>
                </a:lnTo>
                <a:lnTo>
                  <a:pt x="4943998" y="635927"/>
                </a:lnTo>
                <a:lnTo>
                  <a:pt x="4947137" y="635927"/>
                </a:lnTo>
                <a:lnTo>
                  <a:pt x="4950379" y="635948"/>
                </a:lnTo>
                <a:lnTo>
                  <a:pt x="4953596" y="635948"/>
                </a:lnTo>
                <a:lnTo>
                  <a:pt x="4953596" y="623002"/>
                </a:lnTo>
                <a:lnTo>
                  <a:pt x="4956838" y="623002"/>
                </a:lnTo>
                <a:lnTo>
                  <a:pt x="4960081" y="623002"/>
                </a:lnTo>
                <a:lnTo>
                  <a:pt x="4963298" y="623023"/>
                </a:lnTo>
                <a:lnTo>
                  <a:pt x="4966541" y="623023"/>
                </a:lnTo>
                <a:lnTo>
                  <a:pt x="4969756" y="623023"/>
                </a:lnTo>
                <a:lnTo>
                  <a:pt x="4972974" y="623023"/>
                </a:lnTo>
                <a:lnTo>
                  <a:pt x="4976241" y="623023"/>
                </a:lnTo>
                <a:lnTo>
                  <a:pt x="4979433" y="623023"/>
                </a:lnTo>
                <a:lnTo>
                  <a:pt x="4982701" y="623023"/>
                </a:lnTo>
                <a:lnTo>
                  <a:pt x="4985892" y="623023"/>
                </a:lnTo>
                <a:lnTo>
                  <a:pt x="4989083" y="623023"/>
                </a:lnTo>
                <a:lnTo>
                  <a:pt x="4992325" y="623044"/>
                </a:lnTo>
                <a:lnTo>
                  <a:pt x="4995542" y="623044"/>
                </a:lnTo>
                <a:lnTo>
                  <a:pt x="4998784" y="623044"/>
                </a:lnTo>
                <a:lnTo>
                  <a:pt x="4998784" y="609507"/>
                </a:lnTo>
                <a:lnTo>
                  <a:pt x="5002027" y="609507"/>
                </a:lnTo>
                <a:lnTo>
                  <a:pt x="5005244" y="609507"/>
                </a:lnTo>
                <a:lnTo>
                  <a:pt x="5008512" y="609507"/>
                </a:lnTo>
                <a:lnTo>
                  <a:pt x="5011702" y="609507"/>
                </a:lnTo>
                <a:lnTo>
                  <a:pt x="5014972" y="609507"/>
                </a:lnTo>
                <a:lnTo>
                  <a:pt x="5018187" y="609507"/>
                </a:lnTo>
                <a:lnTo>
                  <a:pt x="5021430" y="609528"/>
                </a:lnTo>
                <a:lnTo>
                  <a:pt x="5024647" y="609528"/>
                </a:lnTo>
                <a:lnTo>
                  <a:pt x="5024647" y="595630"/>
                </a:lnTo>
                <a:lnTo>
                  <a:pt x="5027863" y="595630"/>
                </a:lnTo>
                <a:lnTo>
                  <a:pt x="5031028" y="595630"/>
                </a:lnTo>
                <a:lnTo>
                  <a:pt x="5034297" y="595630"/>
                </a:lnTo>
                <a:lnTo>
                  <a:pt x="5037487" y="595630"/>
                </a:lnTo>
                <a:lnTo>
                  <a:pt x="5040755" y="595630"/>
                </a:lnTo>
                <a:lnTo>
                  <a:pt x="5043972" y="595651"/>
                </a:lnTo>
                <a:lnTo>
                  <a:pt x="5047189" y="595651"/>
                </a:lnTo>
                <a:lnTo>
                  <a:pt x="5050431" y="595651"/>
                </a:lnTo>
                <a:lnTo>
                  <a:pt x="5053648" y="595651"/>
                </a:lnTo>
                <a:lnTo>
                  <a:pt x="5056890" y="595651"/>
                </a:lnTo>
                <a:lnTo>
                  <a:pt x="5060133" y="595651"/>
                </a:lnTo>
                <a:lnTo>
                  <a:pt x="5063350" y="595651"/>
                </a:lnTo>
                <a:lnTo>
                  <a:pt x="5066567" y="595651"/>
                </a:lnTo>
                <a:lnTo>
                  <a:pt x="5069758" y="595651"/>
                </a:lnTo>
                <a:lnTo>
                  <a:pt x="5072973" y="595673"/>
                </a:lnTo>
                <a:lnTo>
                  <a:pt x="5076216" y="595673"/>
                </a:lnTo>
                <a:lnTo>
                  <a:pt x="5079433" y="595673"/>
                </a:lnTo>
                <a:lnTo>
                  <a:pt x="5082676" y="595673"/>
                </a:lnTo>
                <a:lnTo>
                  <a:pt x="5085918" y="595673"/>
                </a:lnTo>
                <a:lnTo>
                  <a:pt x="5089135" y="595673"/>
                </a:lnTo>
                <a:lnTo>
                  <a:pt x="5092351" y="595673"/>
                </a:lnTo>
                <a:lnTo>
                  <a:pt x="5095593" y="595673"/>
                </a:lnTo>
                <a:lnTo>
                  <a:pt x="5098811" y="595673"/>
                </a:lnTo>
                <a:lnTo>
                  <a:pt x="5102079" y="595673"/>
                </a:lnTo>
                <a:lnTo>
                  <a:pt x="5105269" y="595694"/>
                </a:lnTo>
                <a:lnTo>
                  <a:pt x="5108538" y="595694"/>
                </a:lnTo>
                <a:lnTo>
                  <a:pt x="5111729" y="595694"/>
                </a:lnTo>
                <a:lnTo>
                  <a:pt x="5114945" y="595694"/>
                </a:lnTo>
                <a:lnTo>
                  <a:pt x="5118188" y="595694"/>
                </a:lnTo>
                <a:lnTo>
                  <a:pt x="5118188" y="580506"/>
                </a:lnTo>
                <a:lnTo>
                  <a:pt x="5121404" y="580527"/>
                </a:lnTo>
                <a:lnTo>
                  <a:pt x="5124621" y="580527"/>
                </a:lnTo>
                <a:lnTo>
                  <a:pt x="5127889" y="580527"/>
                </a:lnTo>
                <a:lnTo>
                  <a:pt x="5131080" y="580527"/>
                </a:lnTo>
                <a:lnTo>
                  <a:pt x="5134349" y="580527"/>
                </a:lnTo>
                <a:lnTo>
                  <a:pt x="5137565" y="580527"/>
                </a:lnTo>
                <a:lnTo>
                  <a:pt x="5140808" y="580527"/>
                </a:lnTo>
                <a:lnTo>
                  <a:pt x="5144024" y="580527"/>
                </a:lnTo>
                <a:lnTo>
                  <a:pt x="5147267" y="580527"/>
                </a:lnTo>
                <a:lnTo>
                  <a:pt x="5150484" y="580527"/>
                </a:lnTo>
                <a:lnTo>
                  <a:pt x="5153674" y="580548"/>
                </a:lnTo>
                <a:lnTo>
                  <a:pt x="5156865" y="580548"/>
                </a:lnTo>
                <a:lnTo>
                  <a:pt x="5160133" y="580548"/>
                </a:lnTo>
                <a:lnTo>
                  <a:pt x="5163350" y="580548"/>
                </a:lnTo>
                <a:lnTo>
                  <a:pt x="5166592" y="580548"/>
                </a:lnTo>
                <a:lnTo>
                  <a:pt x="5169809" y="580548"/>
                </a:lnTo>
                <a:lnTo>
                  <a:pt x="5173052" y="580548"/>
                </a:lnTo>
                <a:lnTo>
                  <a:pt x="5176268" y="580548"/>
                </a:lnTo>
                <a:lnTo>
                  <a:pt x="5176268" y="564408"/>
                </a:lnTo>
                <a:lnTo>
                  <a:pt x="5179510" y="564408"/>
                </a:lnTo>
                <a:lnTo>
                  <a:pt x="5182727" y="564408"/>
                </a:lnTo>
                <a:lnTo>
                  <a:pt x="5185970" y="564430"/>
                </a:lnTo>
                <a:lnTo>
                  <a:pt x="5189186" y="564430"/>
                </a:lnTo>
                <a:lnTo>
                  <a:pt x="5192403" y="564430"/>
                </a:lnTo>
                <a:lnTo>
                  <a:pt x="5195568" y="564430"/>
                </a:lnTo>
                <a:lnTo>
                  <a:pt x="5198810" y="564430"/>
                </a:lnTo>
                <a:lnTo>
                  <a:pt x="5202028" y="564430"/>
                </a:lnTo>
                <a:lnTo>
                  <a:pt x="5205295" y="564430"/>
                </a:lnTo>
                <a:lnTo>
                  <a:pt x="5205295" y="547697"/>
                </a:lnTo>
                <a:lnTo>
                  <a:pt x="5208513" y="547697"/>
                </a:lnTo>
                <a:lnTo>
                  <a:pt x="5211755" y="547697"/>
                </a:lnTo>
                <a:lnTo>
                  <a:pt x="5214971" y="547697"/>
                </a:lnTo>
                <a:lnTo>
                  <a:pt x="5218188" y="547697"/>
                </a:lnTo>
                <a:lnTo>
                  <a:pt x="5221456" y="547697"/>
                </a:lnTo>
                <a:lnTo>
                  <a:pt x="5224673" y="547697"/>
                </a:lnTo>
                <a:lnTo>
                  <a:pt x="5227941" y="547697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2" name="legend_finerenone">
            <a:extLst>
              <a:ext uri="{FF2B5EF4-FFF2-40B4-BE49-F238E27FC236}">
                <a16:creationId xmlns:a16="http://schemas.microsoft.com/office/drawing/2014/main" id="{B3607424-8707-4922-8B35-DCECF9FFA532}"/>
              </a:ext>
            </a:extLst>
          </p:cNvPr>
          <p:cNvSpPr>
            <a:spLocks noGrp="1"/>
          </p:cNvSpPr>
          <p:nvPr/>
        </p:nvSpPr>
        <p:spPr>
          <a:xfrm>
            <a:off x="1041400" y="2745176"/>
            <a:ext cx="266700" cy="86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legend_finerenone_label">
            <a:extLst>
              <a:ext uri="{FF2B5EF4-FFF2-40B4-BE49-F238E27FC236}">
                <a16:creationId xmlns:a16="http://schemas.microsoft.com/office/drawing/2014/main" id="{4C4862C3-B8D9-4112-9897-1886B0F29E4E}"/>
              </a:ext>
            </a:extLst>
          </p:cNvPr>
          <p:cNvSpPr>
            <a:spLocks noGrp="1"/>
          </p:cNvSpPr>
          <p:nvPr/>
        </p:nvSpPr>
        <p:spPr>
          <a:xfrm>
            <a:off x="1371600" y="2632484"/>
            <a:ext cx="1219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54" name="legend_placebo">
            <a:extLst>
              <a:ext uri="{FF2B5EF4-FFF2-40B4-BE49-F238E27FC236}">
                <a16:creationId xmlns:a16="http://schemas.microsoft.com/office/drawing/2014/main" id="{73D8235D-1E13-43A3-BB2D-B0E01E22209A}"/>
              </a:ext>
            </a:extLst>
          </p:cNvPr>
          <p:cNvSpPr>
            <a:spLocks noGrp="1"/>
          </p:cNvSpPr>
          <p:nvPr/>
        </p:nvSpPr>
        <p:spPr>
          <a:xfrm>
            <a:off x="2514600" y="2745176"/>
            <a:ext cx="266700" cy="86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legend_placebo_label">
            <a:extLst>
              <a:ext uri="{FF2B5EF4-FFF2-40B4-BE49-F238E27FC236}">
                <a16:creationId xmlns:a16="http://schemas.microsoft.com/office/drawing/2014/main" id="{0E4129A2-31B5-44EB-82FD-0C6C3A7FF191}"/>
              </a:ext>
            </a:extLst>
          </p:cNvPr>
          <p:cNvSpPr>
            <a:spLocks noGrp="1"/>
          </p:cNvSpPr>
          <p:nvPr/>
        </p:nvSpPr>
        <p:spPr>
          <a:xfrm>
            <a:off x="2844800" y="2632484"/>
            <a:ext cx="10096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56" name="x_axis_title">
            <a:extLst>
              <a:ext uri="{FF2B5EF4-FFF2-40B4-BE49-F238E27FC236}">
                <a16:creationId xmlns:a16="http://schemas.microsoft.com/office/drawing/2014/main" id="{9651992F-61B9-45DB-B5A9-5509DE1596A7}"/>
              </a:ext>
            </a:extLst>
          </p:cNvPr>
          <p:cNvSpPr>
            <a:spLocks noGrp="1"/>
          </p:cNvSpPr>
          <p:nvPr/>
        </p:nvSpPr>
        <p:spPr>
          <a:xfrm>
            <a:off x="863600" y="5651891"/>
            <a:ext cx="4038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12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Pitt B, et al. N Engl J Med. 2021;385:2252–2263.</a:t>
            </a:r>
            <a:endParaRPr lang="ru-RU" sz="800" b="0" dirty="0"/>
          </a:p>
        </p:txBody>
      </p:sp>
      <p:pic>
        <p:nvPicPr>
          <p:cNvPr id="12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25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СН: сердечная недостаточность; ЧБНЛ: число пациентов, которых нужно лечить, чтобы предотвратить 1 событие;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126" name="Полоса_результат"/>
          <p:cNvSpPr/>
          <p:nvPr/>
        </p:nvSpPr>
        <p:spPr>
          <a:xfrm>
            <a:off x="5232400" y="2133600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Результат</a:t>
            </a:r>
          </a:p>
        </p:txBody>
      </p:sp>
      <p:sp>
        <p:nvSpPr>
          <p:cNvPr id="133" name="Карточка_результат"/>
          <p:cNvSpPr/>
          <p:nvPr/>
        </p:nvSpPr>
        <p:spPr>
          <a:xfrm>
            <a:off x="5232400" y="2463800"/>
            <a:ext cx="6502400" cy="2116328"/>
          </a:xfrm>
          <a:prstGeom prst="roundRect">
            <a:avLst>
              <a:gd name="adj" fmla="val 48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7" name="Подпись_доли"/>
          <p:cNvSpPr txBox="1"/>
          <p:nvPr/>
        </p:nvSpPr>
        <p:spPr>
          <a:xfrm>
            <a:off x="5359400" y="2540000"/>
            <a:ext cx="6248400" cy="20942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пациентов с событием за всё исследование</a:t>
            </a:r>
          </a:p>
        </p:txBody>
      </p:sp>
      <p:sp>
        <p:nvSpPr>
          <p:cNvPr id="128" name="Доля_финеренон"/>
          <p:cNvSpPr txBox="1"/>
          <p:nvPr/>
        </p:nvSpPr>
        <p:spPr>
          <a:xfrm>
            <a:off x="53594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  Финеренон</a:t>
            </a:r>
          </a:p>
        </p:txBody>
      </p:sp>
      <p:sp>
        <p:nvSpPr>
          <p:cNvPr id="129" name="Доля_плацебо"/>
          <p:cNvSpPr txBox="1"/>
          <p:nvPr/>
        </p:nvSpPr>
        <p:spPr>
          <a:xfrm>
            <a:off x="8483600" y="2749423"/>
            <a:ext cx="312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  Плацебо</a:t>
            </a:r>
          </a:p>
        </p:txBody>
      </p:sp>
      <p:sp>
        <p:nvSpPr>
          <p:cNvPr id="130" name="Текст_результат"/>
          <p:cNvSpPr txBox="1"/>
          <p:nvPr/>
        </p:nvSpPr>
        <p:spPr>
          <a:xfrm>
            <a:off x="5359400" y="3206623"/>
            <a:ext cx="6248400" cy="6155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13%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0,87 (95% ДИ 0,76–0,98), p=0,03.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ЧБНЛ: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чтобы предотвратить 1 событие за 3,5 года, лечат 47 пациентов.</a:t>
            </a:r>
          </a:p>
        </p:txBody>
      </p:sp>
      <p:sp>
        <p:nvSpPr>
          <p:cNvPr id="131" name="Госпитализации_по_СН_число"/>
          <p:cNvSpPr txBox="1"/>
          <p:nvPr/>
        </p:nvSpPr>
        <p:spPr>
          <a:xfrm>
            <a:off x="5359400" y="3872992"/>
            <a:ext cx="9906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−29%</a:t>
            </a:r>
          </a:p>
        </p:txBody>
      </p:sp>
      <p:sp>
        <p:nvSpPr>
          <p:cNvPr id="132" name="Госпитализации_по_СН_текст"/>
          <p:cNvSpPr txBox="1"/>
          <p:nvPr/>
        </p:nvSpPr>
        <p:spPr>
          <a:xfrm>
            <a:off x="6375400" y="3872992"/>
            <a:ext cx="5232400" cy="656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Основной вклад дали госпитализации по поводу сердечной недостаточности (компонент первичного исхода): риск ниже на 29%, отношение рисков 0,71 (95% ДИ 0,56–0,90).</a:t>
            </a:r>
          </a:p>
        </p:txBody>
      </p:sp>
      <p:sp>
        <p:nvSpPr>
          <p:cNvPr id="134" name="Полоса_калий"/>
          <p:cNvSpPr/>
          <p:nvPr/>
        </p:nvSpPr>
        <p:spPr>
          <a:xfrm>
            <a:off x="5232400" y="4681728"/>
            <a:ext cx="65024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136" name="Карточка_калий"/>
          <p:cNvSpPr/>
          <p:nvPr/>
        </p:nvSpPr>
        <p:spPr>
          <a:xfrm>
            <a:off x="5232400" y="5011928"/>
            <a:ext cx="6502400" cy="1110615"/>
          </a:xfrm>
          <a:prstGeom prst="roundRect">
            <a:avLst>
              <a:gd name="adj" fmla="val 914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5" name="Текст_калий"/>
          <p:cNvSpPr txBox="1"/>
          <p:nvPr/>
        </p:nvSpPr>
        <p:spPr>
          <a:xfrm>
            <a:off x="5359400" y="5088128"/>
            <a:ext cx="6248400" cy="98361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10,8% на финереноне, 5,3% на плацебо.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Окончательная отмена из-за неё: 1,2% и 0,4%.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Смертельных исходов гиперкалиемии не было.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до начала, через 4 недели после начала или повышения дозы, далее периодически.</a:t>
            </a:r>
          </a:p>
        </p:txBody>
      </p:sp>
    </p:spTree>
    <p:extLst>
      <p:ext uri="{BB962C8B-B14F-4D97-AF65-F5344CB8AC3E}">
        <p14:creationId xmlns:p14="http://schemas.microsoft.com/office/powerpoint/2010/main" val="1072145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Карточка_renal_результат"/>
          <p:cNvSpPr/>
          <p:nvPr/>
        </p:nvSpPr>
        <p:spPr>
          <a:xfrm>
            <a:off x="6248400" y="1562100"/>
            <a:ext cx="5486400" cy="3772154"/>
          </a:xfrm>
          <a:prstGeom prst="roundRect">
            <a:avLst>
              <a:gd name="adj" fmla="val 26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8" name="Карточка_cv_результат"/>
          <p:cNvSpPr/>
          <p:nvPr/>
        </p:nvSpPr>
        <p:spPr>
          <a:xfrm>
            <a:off x="457200" y="1562100"/>
            <a:ext cx="5486400" cy="3772154"/>
          </a:xfrm>
          <a:prstGeom prst="roundRect">
            <a:avLst>
              <a:gd name="adj" fmla="val 26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B37C2FE-9BDB-4C0A-B713-14BAFF5A805B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FIDELITY: у 13 026 пациентов риск сердечно-сосудистых событий ниже на 14%, а почечных исходов ниже на 23% по сравнению с плацебо</a:t>
            </a:r>
            <a:endParaRPr lang="ru-RU" sz="2000" b="0" dirty="0"/>
          </a:p>
        </p:txBody>
      </p:sp>
      <p:sp>
        <p:nvSpPr>
          <p:cNvPr id="23" name="study_population">
            <a:extLst>
              <a:ext uri="{FF2B5EF4-FFF2-40B4-BE49-F238E27FC236}">
                <a16:creationId xmlns:a16="http://schemas.microsoft.com/office/drawing/2014/main" id="{1F13DC36-1E36-4E44-BD38-C4DF3C616CF4}"/>
              </a:ext>
            </a:extLst>
          </p:cNvPr>
          <p:cNvSpPr>
            <a:spLocks noGrp="1"/>
          </p:cNvSpPr>
          <p:nvPr/>
        </p:nvSpPr>
        <p:spPr>
          <a:xfrm>
            <a:off x="457200" y="838200"/>
            <a:ext cx="112776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13 026 пациентов с ХБП и диабетом 2 типа из FIDELIO-DKD и FIGARO-DKD, медиана наблюдения 3,0 года. Заранее запланированный объединённый анализ данных каждого пациента. Результат согласуется в подгруппах, в том числе у 877 пациентов (6,7%), получавших иНГЛТ2.</a:t>
            </a:r>
            <a:endParaRPr lang="ru-RU" sz="1400"/>
          </a:p>
        </p:txBody>
      </p:sp>
      <p:sp>
        <p:nvSpPr>
          <p:cNvPr id="25" name="cv_definition">
            <a:extLst>
              <a:ext uri="{FF2B5EF4-FFF2-40B4-BE49-F238E27FC236}">
                <a16:creationId xmlns:a16="http://schemas.microsoft.com/office/drawing/2014/main" id="{CC9B654C-C03B-4C4C-B089-568C564365AE}"/>
              </a:ext>
            </a:extLst>
          </p:cNvPr>
          <p:cNvSpPr>
            <a:spLocks noGrp="1"/>
          </p:cNvSpPr>
          <p:nvPr/>
        </p:nvSpPr>
        <p:spPr>
          <a:xfrm>
            <a:off x="584200" y="1625600"/>
            <a:ext cx="5232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Сердечно-сосудистая смерть, нефатальный инфаркт, нефатальный инсульт или госпитализация по поводу сердечной недостаточности.</a:t>
            </a:r>
          </a:p>
        </p:txBody>
      </p:sp>
      <p:sp>
        <p:nvSpPr>
          <p:cNvPr id="26" name="cv_y_axis_title">
            <a:extLst>
              <a:ext uri="{FF2B5EF4-FFF2-40B4-BE49-F238E27FC236}">
                <a16:creationId xmlns:a16="http://schemas.microsoft.com/office/drawing/2014/main" id="{B2E88527-9466-4CB5-BFC4-AD348B22CCC2}"/>
              </a:ext>
            </a:extLst>
          </p:cNvPr>
          <p:cNvSpPr>
            <a:spLocks noGrp="1"/>
          </p:cNvSpPr>
          <p:nvPr/>
        </p:nvSpPr>
        <p:spPr>
          <a:xfrm>
            <a:off x="584200" y="205740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27" name="cv_tick_y_0">
            <a:extLst>
              <a:ext uri="{FF2B5EF4-FFF2-40B4-BE49-F238E27FC236}">
                <a16:creationId xmlns:a16="http://schemas.microsoft.com/office/drawing/2014/main" id="{0AA445D6-E9EB-4E78-B742-B511771D0C4F}"/>
              </a:ext>
            </a:extLst>
          </p:cNvPr>
          <p:cNvSpPr>
            <a:spLocks noGrp="1"/>
          </p:cNvSpPr>
          <p:nvPr/>
        </p:nvSpPr>
        <p:spPr>
          <a:xfrm>
            <a:off x="942975" y="353597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8" name="cv_y_0">
            <a:extLst>
              <a:ext uri="{FF2B5EF4-FFF2-40B4-BE49-F238E27FC236}">
                <a16:creationId xmlns:a16="http://schemas.microsoft.com/office/drawing/2014/main" id="{E4773DEC-7072-4A6E-AF1D-63A41C176499}"/>
              </a:ext>
            </a:extLst>
          </p:cNvPr>
          <p:cNvSpPr>
            <a:spLocks noGrp="1"/>
          </p:cNvSpPr>
          <p:nvPr/>
        </p:nvSpPr>
        <p:spPr>
          <a:xfrm>
            <a:off x="600075" y="3421596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29" name="cv_grid_5">
            <a:extLst>
              <a:ext uri="{FF2B5EF4-FFF2-40B4-BE49-F238E27FC236}">
                <a16:creationId xmlns:a16="http://schemas.microsoft.com/office/drawing/2014/main" id="{4DC00A90-176D-46FF-B445-754C9AA39B20}"/>
              </a:ext>
            </a:extLst>
          </p:cNvPr>
          <p:cNvSpPr>
            <a:spLocks noGrp="1"/>
          </p:cNvSpPr>
          <p:nvPr/>
        </p:nvSpPr>
        <p:spPr>
          <a:xfrm>
            <a:off x="990600" y="330283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cv_tick_y_5">
            <a:extLst>
              <a:ext uri="{FF2B5EF4-FFF2-40B4-BE49-F238E27FC236}">
                <a16:creationId xmlns:a16="http://schemas.microsoft.com/office/drawing/2014/main" id="{013CE0F5-E574-4E38-BF82-5DBB47DBBD91}"/>
              </a:ext>
            </a:extLst>
          </p:cNvPr>
          <p:cNvSpPr>
            <a:spLocks noGrp="1"/>
          </p:cNvSpPr>
          <p:nvPr/>
        </p:nvSpPr>
        <p:spPr>
          <a:xfrm>
            <a:off x="942975" y="330283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cv_y_5">
            <a:extLst>
              <a:ext uri="{FF2B5EF4-FFF2-40B4-BE49-F238E27FC236}">
                <a16:creationId xmlns:a16="http://schemas.microsoft.com/office/drawing/2014/main" id="{3C48EFDA-5E9D-4227-8B09-B9922B4C8091}"/>
              </a:ext>
            </a:extLst>
          </p:cNvPr>
          <p:cNvSpPr>
            <a:spLocks noGrp="1"/>
          </p:cNvSpPr>
          <p:nvPr/>
        </p:nvSpPr>
        <p:spPr>
          <a:xfrm>
            <a:off x="600075" y="3188455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32" name="cv_grid_10">
            <a:extLst>
              <a:ext uri="{FF2B5EF4-FFF2-40B4-BE49-F238E27FC236}">
                <a16:creationId xmlns:a16="http://schemas.microsoft.com/office/drawing/2014/main" id="{95CA9955-2524-4FCF-B976-958CBC50FC9D}"/>
              </a:ext>
            </a:extLst>
          </p:cNvPr>
          <p:cNvSpPr>
            <a:spLocks noGrp="1"/>
          </p:cNvSpPr>
          <p:nvPr/>
        </p:nvSpPr>
        <p:spPr>
          <a:xfrm>
            <a:off x="990600" y="306969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cv_tick_y_10">
            <a:extLst>
              <a:ext uri="{FF2B5EF4-FFF2-40B4-BE49-F238E27FC236}">
                <a16:creationId xmlns:a16="http://schemas.microsoft.com/office/drawing/2014/main" id="{E06FAFD2-839D-4BD9-B3FC-68FA543F1273}"/>
              </a:ext>
            </a:extLst>
          </p:cNvPr>
          <p:cNvSpPr>
            <a:spLocks noGrp="1"/>
          </p:cNvSpPr>
          <p:nvPr/>
        </p:nvSpPr>
        <p:spPr>
          <a:xfrm>
            <a:off x="942975" y="306969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4" name="cv_y_10">
            <a:extLst>
              <a:ext uri="{FF2B5EF4-FFF2-40B4-BE49-F238E27FC236}">
                <a16:creationId xmlns:a16="http://schemas.microsoft.com/office/drawing/2014/main" id="{D0A85F6D-A368-4100-BF8B-911958CF22A1}"/>
              </a:ext>
            </a:extLst>
          </p:cNvPr>
          <p:cNvSpPr>
            <a:spLocks noGrp="1"/>
          </p:cNvSpPr>
          <p:nvPr/>
        </p:nvSpPr>
        <p:spPr>
          <a:xfrm>
            <a:off x="600075" y="2955314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35" name="cv_grid_15">
            <a:extLst>
              <a:ext uri="{FF2B5EF4-FFF2-40B4-BE49-F238E27FC236}">
                <a16:creationId xmlns:a16="http://schemas.microsoft.com/office/drawing/2014/main" id="{F7C5DF81-9B31-46AA-A47C-D892C5A82958}"/>
              </a:ext>
            </a:extLst>
          </p:cNvPr>
          <p:cNvSpPr>
            <a:spLocks noGrp="1"/>
          </p:cNvSpPr>
          <p:nvPr/>
        </p:nvSpPr>
        <p:spPr>
          <a:xfrm>
            <a:off x="990600" y="2836548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6" name="cv_tick_y_15">
            <a:extLst>
              <a:ext uri="{FF2B5EF4-FFF2-40B4-BE49-F238E27FC236}">
                <a16:creationId xmlns:a16="http://schemas.microsoft.com/office/drawing/2014/main" id="{D3F5BB17-4E75-4320-9B9F-1A3D96BFDDEC}"/>
              </a:ext>
            </a:extLst>
          </p:cNvPr>
          <p:cNvSpPr>
            <a:spLocks noGrp="1"/>
          </p:cNvSpPr>
          <p:nvPr/>
        </p:nvSpPr>
        <p:spPr>
          <a:xfrm>
            <a:off x="942975" y="2836548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cv_y_15">
            <a:extLst>
              <a:ext uri="{FF2B5EF4-FFF2-40B4-BE49-F238E27FC236}">
                <a16:creationId xmlns:a16="http://schemas.microsoft.com/office/drawing/2014/main" id="{6518AC5D-E89E-4A03-B2FD-43A0ADD91E09}"/>
              </a:ext>
            </a:extLst>
          </p:cNvPr>
          <p:cNvSpPr>
            <a:spLocks noGrp="1"/>
          </p:cNvSpPr>
          <p:nvPr/>
        </p:nvSpPr>
        <p:spPr>
          <a:xfrm>
            <a:off x="600075" y="2722173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38" name="cv_grid_20">
            <a:extLst>
              <a:ext uri="{FF2B5EF4-FFF2-40B4-BE49-F238E27FC236}">
                <a16:creationId xmlns:a16="http://schemas.microsoft.com/office/drawing/2014/main" id="{4A922427-930C-4512-A533-FCF7B0EFA01E}"/>
              </a:ext>
            </a:extLst>
          </p:cNvPr>
          <p:cNvSpPr>
            <a:spLocks noGrp="1"/>
          </p:cNvSpPr>
          <p:nvPr/>
        </p:nvSpPr>
        <p:spPr>
          <a:xfrm>
            <a:off x="990600" y="260340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cv_tick_y_20">
            <a:extLst>
              <a:ext uri="{FF2B5EF4-FFF2-40B4-BE49-F238E27FC236}">
                <a16:creationId xmlns:a16="http://schemas.microsoft.com/office/drawing/2014/main" id="{F5938F2E-E68A-4E9B-A6F9-AAD9D688CBB2}"/>
              </a:ext>
            </a:extLst>
          </p:cNvPr>
          <p:cNvSpPr>
            <a:spLocks noGrp="1"/>
          </p:cNvSpPr>
          <p:nvPr/>
        </p:nvSpPr>
        <p:spPr>
          <a:xfrm>
            <a:off x="942975" y="260340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0" name="cv_y_20">
            <a:extLst>
              <a:ext uri="{FF2B5EF4-FFF2-40B4-BE49-F238E27FC236}">
                <a16:creationId xmlns:a16="http://schemas.microsoft.com/office/drawing/2014/main" id="{EFE20440-CB82-41CE-A9CD-C8336F91C2F6}"/>
              </a:ext>
            </a:extLst>
          </p:cNvPr>
          <p:cNvSpPr>
            <a:spLocks noGrp="1"/>
          </p:cNvSpPr>
          <p:nvPr/>
        </p:nvSpPr>
        <p:spPr>
          <a:xfrm>
            <a:off x="600075" y="248903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41" name="cv_grid_25">
            <a:extLst>
              <a:ext uri="{FF2B5EF4-FFF2-40B4-BE49-F238E27FC236}">
                <a16:creationId xmlns:a16="http://schemas.microsoft.com/office/drawing/2014/main" id="{87934A55-6F81-43E8-8337-510D3D52EA93}"/>
              </a:ext>
            </a:extLst>
          </p:cNvPr>
          <p:cNvSpPr>
            <a:spLocks noGrp="1"/>
          </p:cNvSpPr>
          <p:nvPr/>
        </p:nvSpPr>
        <p:spPr>
          <a:xfrm>
            <a:off x="990600" y="237026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2" name="cv_tick_y_25">
            <a:extLst>
              <a:ext uri="{FF2B5EF4-FFF2-40B4-BE49-F238E27FC236}">
                <a16:creationId xmlns:a16="http://schemas.microsoft.com/office/drawing/2014/main" id="{AD8E7D92-0133-4F29-83FD-E3FC70B67FE8}"/>
              </a:ext>
            </a:extLst>
          </p:cNvPr>
          <p:cNvSpPr>
            <a:spLocks noGrp="1"/>
          </p:cNvSpPr>
          <p:nvPr/>
        </p:nvSpPr>
        <p:spPr>
          <a:xfrm>
            <a:off x="942975" y="237026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cv_y_25">
            <a:extLst>
              <a:ext uri="{FF2B5EF4-FFF2-40B4-BE49-F238E27FC236}">
                <a16:creationId xmlns:a16="http://schemas.microsoft.com/office/drawing/2014/main" id="{C50F08EF-3343-490C-8437-664E0BC6A12F}"/>
              </a:ext>
            </a:extLst>
          </p:cNvPr>
          <p:cNvSpPr>
            <a:spLocks noGrp="1"/>
          </p:cNvSpPr>
          <p:nvPr/>
        </p:nvSpPr>
        <p:spPr>
          <a:xfrm>
            <a:off x="600075" y="225589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25</a:t>
            </a:r>
          </a:p>
        </p:txBody>
      </p:sp>
      <p:sp>
        <p:nvSpPr>
          <p:cNvPr id="44" name="cv_y_axis">
            <a:extLst>
              <a:ext uri="{FF2B5EF4-FFF2-40B4-BE49-F238E27FC236}">
                <a16:creationId xmlns:a16="http://schemas.microsoft.com/office/drawing/2014/main" id="{62C0F3D7-25C8-4AFE-BB1C-676EA189A336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95" cy="1165704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cv_x_axis">
            <a:extLst>
              <a:ext uri="{FF2B5EF4-FFF2-40B4-BE49-F238E27FC236}">
                <a16:creationId xmlns:a16="http://schemas.microsoft.com/office/drawing/2014/main" id="{567E716F-CC6A-4AF5-B34C-11E9ECA6878E}"/>
              </a:ext>
            </a:extLst>
          </p:cNvPr>
          <p:cNvSpPr>
            <a:spLocks noGrp="1"/>
          </p:cNvSpPr>
          <p:nvPr/>
        </p:nvSpPr>
        <p:spPr>
          <a:xfrm>
            <a:off x="990600" y="3531616"/>
            <a:ext cx="4571999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6" name="cv_tick_x_0">
            <a:extLst>
              <a:ext uri="{FF2B5EF4-FFF2-40B4-BE49-F238E27FC236}">
                <a16:creationId xmlns:a16="http://schemas.microsoft.com/office/drawing/2014/main" id="{B639A337-10CB-47DE-80D6-20D81A529302}"/>
              </a:ext>
            </a:extLst>
          </p:cNvPr>
          <p:cNvSpPr>
            <a:spLocks noGrp="1"/>
          </p:cNvSpPr>
          <p:nvPr/>
        </p:nvSpPr>
        <p:spPr>
          <a:xfrm>
            <a:off x="9832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cv_month_0">
            <a:extLst>
              <a:ext uri="{FF2B5EF4-FFF2-40B4-BE49-F238E27FC236}">
                <a16:creationId xmlns:a16="http://schemas.microsoft.com/office/drawing/2014/main" id="{D84F4BF7-3972-467C-B1C6-A881BE623050}"/>
              </a:ext>
            </a:extLst>
          </p:cNvPr>
          <p:cNvSpPr>
            <a:spLocks noGrp="1"/>
          </p:cNvSpPr>
          <p:nvPr/>
        </p:nvSpPr>
        <p:spPr>
          <a:xfrm>
            <a:off x="7832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48" name="cv_tick_x_6">
            <a:extLst>
              <a:ext uri="{FF2B5EF4-FFF2-40B4-BE49-F238E27FC236}">
                <a16:creationId xmlns:a16="http://schemas.microsoft.com/office/drawing/2014/main" id="{0C9D770E-64CF-4A20-94FE-1D0AB1465EE6}"/>
              </a:ext>
            </a:extLst>
          </p:cNvPr>
          <p:cNvSpPr>
            <a:spLocks noGrp="1"/>
          </p:cNvSpPr>
          <p:nvPr/>
        </p:nvSpPr>
        <p:spPr>
          <a:xfrm>
            <a:off x="1422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cv_month_6">
            <a:extLst>
              <a:ext uri="{FF2B5EF4-FFF2-40B4-BE49-F238E27FC236}">
                <a16:creationId xmlns:a16="http://schemas.microsoft.com/office/drawing/2014/main" id="{39BCA952-3AA3-4779-A3E5-40FBAC246C54}"/>
              </a:ext>
            </a:extLst>
          </p:cNvPr>
          <p:cNvSpPr>
            <a:spLocks noGrp="1"/>
          </p:cNvSpPr>
          <p:nvPr/>
        </p:nvSpPr>
        <p:spPr>
          <a:xfrm>
            <a:off x="1222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50" name="cv_tick_x_12">
            <a:extLst>
              <a:ext uri="{FF2B5EF4-FFF2-40B4-BE49-F238E27FC236}">
                <a16:creationId xmlns:a16="http://schemas.microsoft.com/office/drawing/2014/main" id="{AEC1C0A8-5AAB-456D-8961-9B5EEA457D0F}"/>
              </a:ext>
            </a:extLst>
          </p:cNvPr>
          <p:cNvSpPr>
            <a:spLocks noGrp="1"/>
          </p:cNvSpPr>
          <p:nvPr/>
        </p:nvSpPr>
        <p:spPr>
          <a:xfrm>
            <a:off x="1994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cv_month_12">
            <a:extLst>
              <a:ext uri="{FF2B5EF4-FFF2-40B4-BE49-F238E27FC236}">
                <a16:creationId xmlns:a16="http://schemas.microsoft.com/office/drawing/2014/main" id="{0E73D3E2-2492-4993-AF10-ABE3077F7731}"/>
              </a:ext>
            </a:extLst>
          </p:cNvPr>
          <p:cNvSpPr>
            <a:spLocks noGrp="1"/>
          </p:cNvSpPr>
          <p:nvPr/>
        </p:nvSpPr>
        <p:spPr>
          <a:xfrm>
            <a:off x="1794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52" name="cv_tick_x_18">
            <a:extLst>
              <a:ext uri="{FF2B5EF4-FFF2-40B4-BE49-F238E27FC236}">
                <a16:creationId xmlns:a16="http://schemas.microsoft.com/office/drawing/2014/main" id="{2F9AC574-A269-4661-8CF0-236A8D49867A}"/>
              </a:ext>
            </a:extLst>
          </p:cNvPr>
          <p:cNvSpPr>
            <a:spLocks noGrp="1"/>
          </p:cNvSpPr>
          <p:nvPr/>
        </p:nvSpPr>
        <p:spPr>
          <a:xfrm>
            <a:off x="2565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cv_month_18">
            <a:extLst>
              <a:ext uri="{FF2B5EF4-FFF2-40B4-BE49-F238E27FC236}">
                <a16:creationId xmlns:a16="http://schemas.microsoft.com/office/drawing/2014/main" id="{054E9582-F0B3-4C7E-AA15-23089E541E73}"/>
              </a:ext>
            </a:extLst>
          </p:cNvPr>
          <p:cNvSpPr>
            <a:spLocks noGrp="1"/>
          </p:cNvSpPr>
          <p:nvPr/>
        </p:nvSpPr>
        <p:spPr>
          <a:xfrm>
            <a:off x="2365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54" name="cv_tick_x_24">
            <a:extLst>
              <a:ext uri="{FF2B5EF4-FFF2-40B4-BE49-F238E27FC236}">
                <a16:creationId xmlns:a16="http://schemas.microsoft.com/office/drawing/2014/main" id="{353A238E-FFBF-48AF-8995-427DAB50B53B}"/>
              </a:ext>
            </a:extLst>
          </p:cNvPr>
          <p:cNvSpPr>
            <a:spLocks noGrp="1"/>
          </p:cNvSpPr>
          <p:nvPr/>
        </p:nvSpPr>
        <p:spPr>
          <a:xfrm>
            <a:off x="3137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cv_month_24">
            <a:extLst>
              <a:ext uri="{FF2B5EF4-FFF2-40B4-BE49-F238E27FC236}">
                <a16:creationId xmlns:a16="http://schemas.microsoft.com/office/drawing/2014/main" id="{0E96F753-D872-4847-890D-17E1AE10FCA2}"/>
              </a:ext>
            </a:extLst>
          </p:cNvPr>
          <p:cNvSpPr>
            <a:spLocks noGrp="1"/>
          </p:cNvSpPr>
          <p:nvPr/>
        </p:nvSpPr>
        <p:spPr>
          <a:xfrm>
            <a:off x="2937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56" name="cv_tick_x_30">
            <a:extLst>
              <a:ext uri="{FF2B5EF4-FFF2-40B4-BE49-F238E27FC236}">
                <a16:creationId xmlns:a16="http://schemas.microsoft.com/office/drawing/2014/main" id="{D062E7B0-0990-4F28-8F63-6C7D5E59975F}"/>
              </a:ext>
            </a:extLst>
          </p:cNvPr>
          <p:cNvSpPr>
            <a:spLocks noGrp="1"/>
          </p:cNvSpPr>
          <p:nvPr/>
        </p:nvSpPr>
        <p:spPr>
          <a:xfrm>
            <a:off x="3708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7" name="cv_month_30">
            <a:extLst>
              <a:ext uri="{FF2B5EF4-FFF2-40B4-BE49-F238E27FC236}">
                <a16:creationId xmlns:a16="http://schemas.microsoft.com/office/drawing/2014/main" id="{E48EDC8A-FC5E-4098-BD58-0D9BF6B6FFA3}"/>
              </a:ext>
            </a:extLst>
          </p:cNvPr>
          <p:cNvSpPr>
            <a:spLocks noGrp="1"/>
          </p:cNvSpPr>
          <p:nvPr/>
        </p:nvSpPr>
        <p:spPr>
          <a:xfrm>
            <a:off x="3508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58" name="cv_tick_x_36">
            <a:extLst>
              <a:ext uri="{FF2B5EF4-FFF2-40B4-BE49-F238E27FC236}">
                <a16:creationId xmlns:a16="http://schemas.microsoft.com/office/drawing/2014/main" id="{DD2E2661-CAE9-4B5A-9BA0-5EED8E273036}"/>
              </a:ext>
            </a:extLst>
          </p:cNvPr>
          <p:cNvSpPr>
            <a:spLocks noGrp="1"/>
          </p:cNvSpPr>
          <p:nvPr/>
        </p:nvSpPr>
        <p:spPr>
          <a:xfrm>
            <a:off x="4280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9" name="cv_month_36">
            <a:extLst>
              <a:ext uri="{FF2B5EF4-FFF2-40B4-BE49-F238E27FC236}">
                <a16:creationId xmlns:a16="http://schemas.microsoft.com/office/drawing/2014/main" id="{8E343563-03C9-433F-BF20-C8BFD3E1B70E}"/>
              </a:ext>
            </a:extLst>
          </p:cNvPr>
          <p:cNvSpPr>
            <a:spLocks noGrp="1"/>
          </p:cNvSpPr>
          <p:nvPr/>
        </p:nvSpPr>
        <p:spPr>
          <a:xfrm>
            <a:off x="4080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60" name="cv_tick_x_42">
            <a:extLst>
              <a:ext uri="{FF2B5EF4-FFF2-40B4-BE49-F238E27FC236}">
                <a16:creationId xmlns:a16="http://schemas.microsoft.com/office/drawing/2014/main" id="{482FAB19-DADA-4ED7-BBF1-2924C3FDCE22}"/>
              </a:ext>
            </a:extLst>
          </p:cNvPr>
          <p:cNvSpPr>
            <a:spLocks noGrp="1"/>
          </p:cNvSpPr>
          <p:nvPr/>
        </p:nvSpPr>
        <p:spPr>
          <a:xfrm>
            <a:off x="48518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1" name="cv_month_42">
            <a:extLst>
              <a:ext uri="{FF2B5EF4-FFF2-40B4-BE49-F238E27FC236}">
                <a16:creationId xmlns:a16="http://schemas.microsoft.com/office/drawing/2014/main" id="{B77A12FE-0A74-4A2B-9454-E0F996C4D9F1}"/>
              </a:ext>
            </a:extLst>
          </p:cNvPr>
          <p:cNvSpPr>
            <a:spLocks noGrp="1"/>
          </p:cNvSpPr>
          <p:nvPr/>
        </p:nvSpPr>
        <p:spPr>
          <a:xfrm>
            <a:off x="46518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62" name="cv_tick_x_48">
            <a:extLst>
              <a:ext uri="{FF2B5EF4-FFF2-40B4-BE49-F238E27FC236}">
                <a16:creationId xmlns:a16="http://schemas.microsoft.com/office/drawing/2014/main" id="{DC02CC9A-C19D-4211-ACE8-E3EEA3DE0095}"/>
              </a:ext>
            </a:extLst>
          </p:cNvPr>
          <p:cNvSpPr>
            <a:spLocks noGrp="1"/>
          </p:cNvSpPr>
          <p:nvPr/>
        </p:nvSpPr>
        <p:spPr>
          <a:xfrm>
            <a:off x="5423388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3" name="cv_month_48">
            <a:extLst>
              <a:ext uri="{FF2B5EF4-FFF2-40B4-BE49-F238E27FC236}">
                <a16:creationId xmlns:a16="http://schemas.microsoft.com/office/drawing/2014/main" id="{953B77A0-5330-4E77-B954-AB7BB042F8B6}"/>
              </a:ext>
            </a:extLst>
          </p:cNvPr>
          <p:cNvSpPr>
            <a:spLocks noGrp="1"/>
          </p:cNvSpPr>
          <p:nvPr/>
        </p:nvSpPr>
        <p:spPr>
          <a:xfrm>
            <a:off x="5223363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64" name="published_curve_cv_Плацебо">
            <a:extLst>
              <a:ext uri="{FF2B5EF4-FFF2-40B4-BE49-F238E27FC236}">
                <a16:creationId xmlns:a16="http://schemas.microsoft.com/office/drawing/2014/main" id="{7FF5BE60-9CDC-47A6-8176-F7ADEFCCEEE1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0" y="1178980"/>
                </a:moveTo>
                <a:lnTo>
                  <a:pt x="2717" y="1178980"/>
                </a:lnTo>
                <a:lnTo>
                  <a:pt x="2717" y="1178245"/>
                </a:lnTo>
                <a:lnTo>
                  <a:pt x="5434" y="1178245"/>
                </a:lnTo>
                <a:lnTo>
                  <a:pt x="5434" y="1176793"/>
                </a:lnTo>
                <a:lnTo>
                  <a:pt x="8151" y="1176793"/>
                </a:lnTo>
                <a:lnTo>
                  <a:pt x="8151" y="1176059"/>
                </a:lnTo>
                <a:lnTo>
                  <a:pt x="13553" y="1176059"/>
                </a:lnTo>
                <a:lnTo>
                  <a:pt x="13553" y="1175341"/>
                </a:lnTo>
                <a:lnTo>
                  <a:pt x="16270" y="1175341"/>
                </a:lnTo>
                <a:lnTo>
                  <a:pt x="16270" y="1174607"/>
                </a:lnTo>
                <a:lnTo>
                  <a:pt x="21704" y="1174607"/>
                </a:lnTo>
                <a:lnTo>
                  <a:pt x="21704" y="1173889"/>
                </a:lnTo>
                <a:lnTo>
                  <a:pt x="24421" y="1173889"/>
                </a:lnTo>
                <a:lnTo>
                  <a:pt x="24421" y="1172436"/>
                </a:lnTo>
                <a:lnTo>
                  <a:pt x="29855" y="1172436"/>
                </a:lnTo>
                <a:lnTo>
                  <a:pt x="29855" y="1171702"/>
                </a:lnTo>
                <a:lnTo>
                  <a:pt x="32572" y="1171702"/>
                </a:lnTo>
                <a:lnTo>
                  <a:pt x="32572" y="1170984"/>
                </a:lnTo>
                <a:lnTo>
                  <a:pt x="35289" y="1170984"/>
                </a:lnTo>
                <a:lnTo>
                  <a:pt x="35289" y="1170250"/>
                </a:lnTo>
                <a:lnTo>
                  <a:pt x="38006" y="1170250"/>
                </a:lnTo>
                <a:lnTo>
                  <a:pt x="38006" y="1168080"/>
                </a:lnTo>
                <a:lnTo>
                  <a:pt x="40723" y="1168080"/>
                </a:lnTo>
                <a:lnTo>
                  <a:pt x="40723" y="1166627"/>
                </a:lnTo>
                <a:lnTo>
                  <a:pt x="56994" y="1166627"/>
                </a:lnTo>
                <a:lnTo>
                  <a:pt x="56994" y="1165893"/>
                </a:lnTo>
                <a:lnTo>
                  <a:pt x="59710" y="1165893"/>
                </a:lnTo>
                <a:lnTo>
                  <a:pt x="59710" y="1163723"/>
                </a:lnTo>
                <a:lnTo>
                  <a:pt x="62428" y="1163723"/>
                </a:lnTo>
                <a:lnTo>
                  <a:pt x="62428" y="1162271"/>
                </a:lnTo>
                <a:lnTo>
                  <a:pt x="65144" y="1162271"/>
                </a:lnTo>
                <a:lnTo>
                  <a:pt x="65144" y="1161536"/>
                </a:lnTo>
                <a:lnTo>
                  <a:pt x="67829" y="1161536"/>
                </a:lnTo>
                <a:lnTo>
                  <a:pt x="67829" y="1160818"/>
                </a:lnTo>
                <a:lnTo>
                  <a:pt x="73264" y="1160818"/>
                </a:lnTo>
                <a:lnTo>
                  <a:pt x="73264" y="1158648"/>
                </a:lnTo>
                <a:lnTo>
                  <a:pt x="75981" y="1158648"/>
                </a:lnTo>
                <a:lnTo>
                  <a:pt x="75981" y="1157914"/>
                </a:lnTo>
                <a:lnTo>
                  <a:pt x="78698" y="1157914"/>
                </a:lnTo>
                <a:lnTo>
                  <a:pt x="78698" y="1156462"/>
                </a:lnTo>
                <a:lnTo>
                  <a:pt x="84132" y="1156462"/>
                </a:lnTo>
                <a:lnTo>
                  <a:pt x="84132" y="1155727"/>
                </a:lnTo>
                <a:lnTo>
                  <a:pt x="92282" y="1155727"/>
                </a:lnTo>
                <a:lnTo>
                  <a:pt x="92282" y="1155010"/>
                </a:lnTo>
                <a:lnTo>
                  <a:pt x="97717" y="1155010"/>
                </a:lnTo>
                <a:lnTo>
                  <a:pt x="97717" y="1154291"/>
                </a:lnTo>
                <a:lnTo>
                  <a:pt x="100402" y="1154291"/>
                </a:lnTo>
                <a:lnTo>
                  <a:pt x="100402" y="1153557"/>
                </a:lnTo>
                <a:lnTo>
                  <a:pt x="103119" y="1153557"/>
                </a:lnTo>
                <a:lnTo>
                  <a:pt x="103119" y="1152823"/>
                </a:lnTo>
                <a:lnTo>
                  <a:pt x="105836" y="1152823"/>
                </a:lnTo>
                <a:lnTo>
                  <a:pt x="105836" y="1152105"/>
                </a:lnTo>
                <a:lnTo>
                  <a:pt x="108553" y="1152105"/>
                </a:lnTo>
                <a:lnTo>
                  <a:pt x="108553" y="1151371"/>
                </a:lnTo>
                <a:lnTo>
                  <a:pt x="113987" y="1151371"/>
                </a:lnTo>
                <a:lnTo>
                  <a:pt x="113987" y="1149918"/>
                </a:lnTo>
                <a:lnTo>
                  <a:pt x="116704" y="1149918"/>
                </a:lnTo>
                <a:lnTo>
                  <a:pt x="116704" y="1149201"/>
                </a:lnTo>
                <a:lnTo>
                  <a:pt x="122138" y="1149201"/>
                </a:lnTo>
                <a:lnTo>
                  <a:pt x="122138" y="1148466"/>
                </a:lnTo>
                <a:lnTo>
                  <a:pt x="124823" y="1148466"/>
                </a:lnTo>
                <a:lnTo>
                  <a:pt x="124823" y="1147748"/>
                </a:lnTo>
                <a:lnTo>
                  <a:pt x="127572" y="1147748"/>
                </a:lnTo>
                <a:lnTo>
                  <a:pt x="127572" y="1147014"/>
                </a:lnTo>
                <a:lnTo>
                  <a:pt x="130257" y="1147014"/>
                </a:lnTo>
                <a:lnTo>
                  <a:pt x="130257" y="1146280"/>
                </a:lnTo>
                <a:lnTo>
                  <a:pt x="132974" y="1146280"/>
                </a:lnTo>
                <a:lnTo>
                  <a:pt x="132974" y="1145562"/>
                </a:lnTo>
                <a:lnTo>
                  <a:pt x="135691" y="1145562"/>
                </a:lnTo>
                <a:lnTo>
                  <a:pt x="135691" y="1144827"/>
                </a:lnTo>
                <a:lnTo>
                  <a:pt x="138408" y="1144827"/>
                </a:lnTo>
                <a:lnTo>
                  <a:pt x="138408" y="1144093"/>
                </a:lnTo>
                <a:lnTo>
                  <a:pt x="141125" y="1144093"/>
                </a:lnTo>
                <a:lnTo>
                  <a:pt x="141125" y="1143391"/>
                </a:lnTo>
                <a:lnTo>
                  <a:pt x="146559" y="1143391"/>
                </a:lnTo>
                <a:lnTo>
                  <a:pt x="146559" y="1142657"/>
                </a:lnTo>
                <a:lnTo>
                  <a:pt x="154710" y="1142657"/>
                </a:lnTo>
                <a:lnTo>
                  <a:pt x="154710" y="1141205"/>
                </a:lnTo>
                <a:lnTo>
                  <a:pt x="157395" y="1141205"/>
                </a:lnTo>
                <a:lnTo>
                  <a:pt x="157395" y="1140471"/>
                </a:lnTo>
                <a:lnTo>
                  <a:pt x="165546" y="1140471"/>
                </a:lnTo>
                <a:lnTo>
                  <a:pt x="165546" y="1139035"/>
                </a:lnTo>
                <a:lnTo>
                  <a:pt x="176414" y="1139035"/>
                </a:lnTo>
                <a:lnTo>
                  <a:pt x="176414" y="1138301"/>
                </a:lnTo>
                <a:lnTo>
                  <a:pt x="179131" y="1138301"/>
                </a:lnTo>
                <a:lnTo>
                  <a:pt x="179131" y="1135396"/>
                </a:lnTo>
                <a:lnTo>
                  <a:pt x="181816" y="1135396"/>
                </a:lnTo>
                <a:lnTo>
                  <a:pt x="181816" y="1134662"/>
                </a:lnTo>
                <a:lnTo>
                  <a:pt x="189967" y="1134662"/>
                </a:lnTo>
                <a:lnTo>
                  <a:pt x="189967" y="1133210"/>
                </a:lnTo>
                <a:lnTo>
                  <a:pt x="192684" y="1133210"/>
                </a:lnTo>
                <a:lnTo>
                  <a:pt x="192684" y="1131757"/>
                </a:lnTo>
                <a:lnTo>
                  <a:pt x="195402" y="1131757"/>
                </a:lnTo>
                <a:lnTo>
                  <a:pt x="195402" y="1131039"/>
                </a:lnTo>
                <a:lnTo>
                  <a:pt x="222540" y="1131039"/>
                </a:lnTo>
                <a:lnTo>
                  <a:pt x="222540" y="1129571"/>
                </a:lnTo>
                <a:lnTo>
                  <a:pt x="227974" y="1129571"/>
                </a:lnTo>
                <a:lnTo>
                  <a:pt x="227974" y="1128853"/>
                </a:lnTo>
                <a:lnTo>
                  <a:pt x="233408" y="1128853"/>
                </a:lnTo>
                <a:lnTo>
                  <a:pt x="233408" y="1128118"/>
                </a:lnTo>
                <a:lnTo>
                  <a:pt x="236124" y="1128118"/>
                </a:lnTo>
                <a:lnTo>
                  <a:pt x="236124" y="1127384"/>
                </a:lnTo>
                <a:lnTo>
                  <a:pt x="238810" y="1127384"/>
                </a:lnTo>
                <a:lnTo>
                  <a:pt x="238810" y="1126682"/>
                </a:lnTo>
                <a:lnTo>
                  <a:pt x="241559" y="1126682"/>
                </a:lnTo>
                <a:lnTo>
                  <a:pt x="241559" y="1124496"/>
                </a:lnTo>
                <a:lnTo>
                  <a:pt x="246961" y="1124496"/>
                </a:lnTo>
                <a:lnTo>
                  <a:pt x="246961" y="1123762"/>
                </a:lnTo>
                <a:lnTo>
                  <a:pt x="249678" y="1123762"/>
                </a:lnTo>
                <a:lnTo>
                  <a:pt x="249678" y="1123027"/>
                </a:lnTo>
                <a:lnTo>
                  <a:pt x="257829" y="1123027"/>
                </a:lnTo>
                <a:lnTo>
                  <a:pt x="257829" y="1122309"/>
                </a:lnTo>
                <a:lnTo>
                  <a:pt x="260546" y="1122309"/>
                </a:lnTo>
                <a:lnTo>
                  <a:pt x="260546" y="1120857"/>
                </a:lnTo>
                <a:lnTo>
                  <a:pt x="263263" y="1120857"/>
                </a:lnTo>
                <a:lnTo>
                  <a:pt x="263263" y="1119405"/>
                </a:lnTo>
                <a:lnTo>
                  <a:pt x="265980" y="1119405"/>
                </a:lnTo>
                <a:lnTo>
                  <a:pt x="265980" y="1118687"/>
                </a:lnTo>
                <a:lnTo>
                  <a:pt x="268697" y="1118687"/>
                </a:lnTo>
                <a:lnTo>
                  <a:pt x="268697" y="1116501"/>
                </a:lnTo>
                <a:lnTo>
                  <a:pt x="271382" y="1116501"/>
                </a:lnTo>
                <a:lnTo>
                  <a:pt x="271382" y="1115782"/>
                </a:lnTo>
                <a:lnTo>
                  <a:pt x="274099" y="1115782"/>
                </a:lnTo>
                <a:lnTo>
                  <a:pt x="274099" y="1115048"/>
                </a:lnTo>
                <a:lnTo>
                  <a:pt x="276816" y="1115048"/>
                </a:lnTo>
                <a:lnTo>
                  <a:pt x="276816" y="1113596"/>
                </a:lnTo>
                <a:lnTo>
                  <a:pt x="279533" y="1113596"/>
                </a:lnTo>
                <a:lnTo>
                  <a:pt x="279533" y="1112144"/>
                </a:lnTo>
                <a:lnTo>
                  <a:pt x="284967" y="1112144"/>
                </a:lnTo>
                <a:lnTo>
                  <a:pt x="284967" y="1111409"/>
                </a:lnTo>
                <a:lnTo>
                  <a:pt x="287684" y="1111409"/>
                </a:lnTo>
                <a:lnTo>
                  <a:pt x="287684" y="1110675"/>
                </a:lnTo>
                <a:lnTo>
                  <a:pt x="290401" y="1110675"/>
                </a:lnTo>
                <a:lnTo>
                  <a:pt x="290401" y="1109973"/>
                </a:lnTo>
                <a:lnTo>
                  <a:pt x="295803" y="1109973"/>
                </a:lnTo>
                <a:lnTo>
                  <a:pt x="295803" y="1109239"/>
                </a:lnTo>
                <a:lnTo>
                  <a:pt x="298552" y="1109239"/>
                </a:lnTo>
                <a:lnTo>
                  <a:pt x="298552" y="1108505"/>
                </a:lnTo>
                <a:lnTo>
                  <a:pt x="301237" y="1108505"/>
                </a:lnTo>
                <a:lnTo>
                  <a:pt x="301237" y="1107787"/>
                </a:lnTo>
                <a:lnTo>
                  <a:pt x="306671" y="1107787"/>
                </a:lnTo>
                <a:lnTo>
                  <a:pt x="306671" y="1107053"/>
                </a:lnTo>
                <a:lnTo>
                  <a:pt x="312105" y="1107053"/>
                </a:lnTo>
                <a:lnTo>
                  <a:pt x="312105" y="1106318"/>
                </a:lnTo>
                <a:lnTo>
                  <a:pt x="320256" y="1106318"/>
                </a:lnTo>
                <a:lnTo>
                  <a:pt x="320256" y="1105601"/>
                </a:lnTo>
                <a:lnTo>
                  <a:pt x="325690" y="1105601"/>
                </a:lnTo>
                <a:lnTo>
                  <a:pt x="325690" y="1104866"/>
                </a:lnTo>
                <a:lnTo>
                  <a:pt x="328375" y="1104866"/>
                </a:lnTo>
                <a:lnTo>
                  <a:pt x="328375" y="1102696"/>
                </a:lnTo>
                <a:lnTo>
                  <a:pt x="333809" y="1102696"/>
                </a:lnTo>
                <a:lnTo>
                  <a:pt x="333809" y="1101962"/>
                </a:lnTo>
                <a:lnTo>
                  <a:pt x="341960" y="1101962"/>
                </a:lnTo>
                <a:lnTo>
                  <a:pt x="341960" y="1101244"/>
                </a:lnTo>
                <a:lnTo>
                  <a:pt x="344678" y="1101244"/>
                </a:lnTo>
                <a:lnTo>
                  <a:pt x="344678" y="1100509"/>
                </a:lnTo>
                <a:lnTo>
                  <a:pt x="347394" y="1100509"/>
                </a:lnTo>
                <a:lnTo>
                  <a:pt x="347394" y="1098323"/>
                </a:lnTo>
                <a:lnTo>
                  <a:pt x="350112" y="1098323"/>
                </a:lnTo>
                <a:lnTo>
                  <a:pt x="350112" y="1097589"/>
                </a:lnTo>
                <a:lnTo>
                  <a:pt x="352828" y="1097589"/>
                </a:lnTo>
                <a:lnTo>
                  <a:pt x="352828" y="1096153"/>
                </a:lnTo>
                <a:lnTo>
                  <a:pt x="358231" y="1096153"/>
                </a:lnTo>
                <a:lnTo>
                  <a:pt x="358231" y="1095435"/>
                </a:lnTo>
                <a:lnTo>
                  <a:pt x="366382" y="1095435"/>
                </a:lnTo>
                <a:lnTo>
                  <a:pt x="366382" y="1094701"/>
                </a:lnTo>
                <a:lnTo>
                  <a:pt x="369099" y="1094701"/>
                </a:lnTo>
                <a:lnTo>
                  <a:pt x="369099" y="1093966"/>
                </a:lnTo>
                <a:lnTo>
                  <a:pt x="371816" y="1093966"/>
                </a:lnTo>
                <a:lnTo>
                  <a:pt x="371816" y="1092514"/>
                </a:lnTo>
                <a:lnTo>
                  <a:pt x="374533" y="1092514"/>
                </a:lnTo>
                <a:lnTo>
                  <a:pt x="374533" y="1091796"/>
                </a:lnTo>
                <a:lnTo>
                  <a:pt x="377250" y="1091796"/>
                </a:lnTo>
                <a:lnTo>
                  <a:pt x="377250" y="1091078"/>
                </a:lnTo>
                <a:lnTo>
                  <a:pt x="385369" y="1091078"/>
                </a:lnTo>
                <a:lnTo>
                  <a:pt x="385369" y="1090344"/>
                </a:lnTo>
                <a:lnTo>
                  <a:pt x="388086" y="1090344"/>
                </a:lnTo>
                <a:lnTo>
                  <a:pt x="388086" y="1089609"/>
                </a:lnTo>
                <a:lnTo>
                  <a:pt x="393520" y="1089609"/>
                </a:lnTo>
                <a:lnTo>
                  <a:pt x="393520" y="1088892"/>
                </a:lnTo>
                <a:lnTo>
                  <a:pt x="398954" y="1088892"/>
                </a:lnTo>
                <a:lnTo>
                  <a:pt x="398954" y="1088157"/>
                </a:lnTo>
                <a:lnTo>
                  <a:pt x="407105" y="1088157"/>
                </a:lnTo>
                <a:lnTo>
                  <a:pt x="407105" y="1087423"/>
                </a:lnTo>
                <a:lnTo>
                  <a:pt x="409790" y="1087423"/>
                </a:lnTo>
                <a:lnTo>
                  <a:pt x="409790" y="1086705"/>
                </a:lnTo>
                <a:lnTo>
                  <a:pt x="412539" y="1086705"/>
                </a:lnTo>
                <a:lnTo>
                  <a:pt x="412539" y="1085971"/>
                </a:lnTo>
                <a:lnTo>
                  <a:pt x="423375" y="1085971"/>
                </a:lnTo>
                <a:lnTo>
                  <a:pt x="423375" y="1084535"/>
                </a:lnTo>
                <a:lnTo>
                  <a:pt x="426092" y="1084535"/>
                </a:lnTo>
                <a:lnTo>
                  <a:pt x="426092" y="1081614"/>
                </a:lnTo>
                <a:lnTo>
                  <a:pt x="431526" y="1081614"/>
                </a:lnTo>
                <a:lnTo>
                  <a:pt x="431526" y="1080162"/>
                </a:lnTo>
                <a:lnTo>
                  <a:pt x="436960" y="1080162"/>
                </a:lnTo>
                <a:lnTo>
                  <a:pt x="436960" y="1079427"/>
                </a:lnTo>
                <a:lnTo>
                  <a:pt x="439645" y="1079427"/>
                </a:lnTo>
                <a:lnTo>
                  <a:pt x="439645" y="1078693"/>
                </a:lnTo>
                <a:lnTo>
                  <a:pt x="442362" y="1078693"/>
                </a:lnTo>
                <a:lnTo>
                  <a:pt x="442362" y="1077975"/>
                </a:lnTo>
                <a:lnTo>
                  <a:pt x="447796" y="1077975"/>
                </a:lnTo>
                <a:lnTo>
                  <a:pt x="447796" y="1077241"/>
                </a:lnTo>
                <a:lnTo>
                  <a:pt x="450513" y="1077241"/>
                </a:lnTo>
                <a:lnTo>
                  <a:pt x="450513" y="1076523"/>
                </a:lnTo>
                <a:lnTo>
                  <a:pt x="453230" y="1076523"/>
                </a:lnTo>
                <a:lnTo>
                  <a:pt x="453230" y="1075805"/>
                </a:lnTo>
                <a:lnTo>
                  <a:pt x="455947" y="1075805"/>
                </a:lnTo>
                <a:lnTo>
                  <a:pt x="455947" y="1075071"/>
                </a:lnTo>
                <a:lnTo>
                  <a:pt x="458664" y="1075071"/>
                </a:lnTo>
                <a:lnTo>
                  <a:pt x="458664" y="1074353"/>
                </a:lnTo>
                <a:lnTo>
                  <a:pt x="461381" y="1074353"/>
                </a:lnTo>
                <a:lnTo>
                  <a:pt x="461381" y="1073618"/>
                </a:lnTo>
                <a:lnTo>
                  <a:pt x="472217" y="1073618"/>
                </a:lnTo>
                <a:lnTo>
                  <a:pt x="472217" y="1072166"/>
                </a:lnTo>
                <a:lnTo>
                  <a:pt x="474934" y="1072166"/>
                </a:lnTo>
                <a:lnTo>
                  <a:pt x="474934" y="1070698"/>
                </a:lnTo>
                <a:lnTo>
                  <a:pt x="477651" y="1070698"/>
                </a:lnTo>
                <a:lnTo>
                  <a:pt x="477651" y="1068527"/>
                </a:lnTo>
                <a:lnTo>
                  <a:pt x="480368" y="1068527"/>
                </a:lnTo>
                <a:lnTo>
                  <a:pt x="480368" y="1067809"/>
                </a:lnTo>
                <a:lnTo>
                  <a:pt x="485802" y="1067809"/>
                </a:lnTo>
                <a:lnTo>
                  <a:pt x="485802" y="1067075"/>
                </a:lnTo>
                <a:lnTo>
                  <a:pt x="488520" y="1067075"/>
                </a:lnTo>
                <a:lnTo>
                  <a:pt x="488520" y="1066341"/>
                </a:lnTo>
                <a:lnTo>
                  <a:pt x="491236" y="1066341"/>
                </a:lnTo>
                <a:lnTo>
                  <a:pt x="491236" y="1065623"/>
                </a:lnTo>
                <a:lnTo>
                  <a:pt x="496639" y="1065623"/>
                </a:lnTo>
                <a:lnTo>
                  <a:pt x="496639" y="1064889"/>
                </a:lnTo>
                <a:lnTo>
                  <a:pt x="499355" y="1064889"/>
                </a:lnTo>
                <a:lnTo>
                  <a:pt x="499355" y="1064154"/>
                </a:lnTo>
                <a:lnTo>
                  <a:pt x="504790" y="1064154"/>
                </a:lnTo>
                <a:lnTo>
                  <a:pt x="504790" y="1061968"/>
                </a:lnTo>
                <a:lnTo>
                  <a:pt x="510224" y="1061968"/>
                </a:lnTo>
                <a:lnTo>
                  <a:pt x="510224" y="1060516"/>
                </a:lnTo>
                <a:lnTo>
                  <a:pt x="515658" y="1060516"/>
                </a:lnTo>
                <a:lnTo>
                  <a:pt x="515658" y="1059080"/>
                </a:lnTo>
                <a:lnTo>
                  <a:pt x="518375" y="1059080"/>
                </a:lnTo>
                <a:lnTo>
                  <a:pt x="518375" y="1056893"/>
                </a:lnTo>
                <a:lnTo>
                  <a:pt x="521092" y="1056893"/>
                </a:lnTo>
                <a:lnTo>
                  <a:pt x="521092" y="1055424"/>
                </a:lnTo>
                <a:lnTo>
                  <a:pt x="526526" y="1055424"/>
                </a:lnTo>
                <a:lnTo>
                  <a:pt x="526526" y="1053972"/>
                </a:lnTo>
                <a:lnTo>
                  <a:pt x="529211" y="1053972"/>
                </a:lnTo>
                <a:lnTo>
                  <a:pt x="529211" y="1051786"/>
                </a:lnTo>
                <a:lnTo>
                  <a:pt x="531928" y="1051786"/>
                </a:lnTo>
                <a:lnTo>
                  <a:pt x="531928" y="1051084"/>
                </a:lnTo>
                <a:lnTo>
                  <a:pt x="534645" y="1051084"/>
                </a:lnTo>
                <a:lnTo>
                  <a:pt x="534645" y="1049616"/>
                </a:lnTo>
                <a:lnTo>
                  <a:pt x="540079" y="1049616"/>
                </a:lnTo>
                <a:lnTo>
                  <a:pt x="540079" y="1048898"/>
                </a:lnTo>
                <a:lnTo>
                  <a:pt x="542796" y="1048898"/>
                </a:lnTo>
                <a:lnTo>
                  <a:pt x="542796" y="1048163"/>
                </a:lnTo>
                <a:lnTo>
                  <a:pt x="548230" y="1048163"/>
                </a:lnTo>
                <a:lnTo>
                  <a:pt x="548230" y="1046711"/>
                </a:lnTo>
                <a:lnTo>
                  <a:pt x="550947" y="1046711"/>
                </a:lnTo>
                <a:lnTo>
                  <a:pt x="550947" y="1044524"/>
                </a:lnTo>
                <a:lnTo>
                  <a:pt x="553632" y="1044524"/>
                </a:lnTo>
                <a:lnTo>
                  <a:pt x="553632" y="1043056"/>
                </a:lnTo>
                <a:lnTo>
                  <a:pt x="556349" y="1043056"/>
                </a:lnTo>
                <a:lnTo>
                  <a:pt x="556349" y="1041620"/>
                </a:lnTo>
                <a:lnTo>
                  <a:pt x="561783" y="1041620"/>
                </a:lnTo>
                <a:lnTo>
                  <a:pt x="561783" y="1040168"/>
                </a:lnTo>
                <a:lnTo>
                  <a:pt x="564500" y="1040168"/>
                </a:lnTo>
                <a:lnTo>
                  <a:pt x="564500" y="1039434"/>
                </a:lnTo>
                <a:lnTo>
                  <a:pt x="567217" y="1039434"/>
                </a:lnTo>
                <a:lnTo>
                  <a:pt x="567217" y="1037247"/>
                </a:lnTo>
                <a:lnTo>
                  <a:pt x="575368" y="1037247"/>
                </a:lnTo>
                <a:lnTo>
                  <a:pt x="575368" y="1036513"/>
                </a:lnTo>
                <a:lnTo>
                  <a:pt x="578085" y="1036513"/>
                </a:lnTo>
                <a:lnTo>
                  <a:pt x="578085" y="1035795"/>
                </a:lnTo>
                <a:lnTo>
                  <a:pt x="580802" y="1035795"/>
                </a:lnTo>
                <a:lnTo>
                  <a:pt x="580802" y="1035060"/>
                </a:lnTo>
                <a:lnTo>
                  <a:pt x="583519" y="1035060"/>
                </a:lnTo>
                <a:lnTo>
                  <a:pt x="583519" y="1034343"/>
                </a:lnTo>
                <a:lnTo>
                  <a:pt x="588921" y="1034343"/>
                </a:lnTo>
                <a:lnTo>
                  <a:pt x="588921" y="1033608"/>
                </a:lnTo>
                <a:lnTo>
                  <a:pt x="591638" y="1033608"/>
                </a:lnTo>
                <a:lnTo>
                  <a:pt x="591638" y="1032890"/>
                </a:lnTo>
                <a:lnTo>
                  <a:pt x="594355" y="1032890"/>
                </a:lnTo>
                <a:lnTo>
                  <a:pt x="594355" y="1032172"/>
                </a:lnTo>
                <a:lnTo>
                  <a:pt x="597072" y="1032172"/>
                </a:lnTo>
                <a:lnTo>
                  <a:pt x="597072" y="1029986"/>
                </a:lnTo>
                <a:lnTo>
                  <a:pt x="599789" y="1029986"/>
                </a:lnTo>
                <a:lnTo>
                  <a:pt x="599789" y="1029252"/>
                </a:lnTo>
                <a:lnTo>
                  <a:pt x="602506" y="1029252"/>
                </a:lnTo>
                <a:lnTo>
                  <a:pt x="602506" y="1027799"/>
                </a:lnTo>
                <a:lnTo>
                  <a:pt x="618777" y="1027799"/>
                </a:lnTo>
                <a:lnTo>
                  <a:pt x="618777" y="1027065"/>
                </a:lnTo>
                <a:lnTo>
                  <a:pt x="621494" y="1027065"/>
                </a:lnTo>
                <a:lnTo>
                  <a:pt x="621494" y="1025613"/>
                </a:lnTo>
                <a:lnTo>
                  <a:pt x="624210" y="1025613"/>
                </a:lnTo>
                <a:lnTo>
                  <a:pt x="624210" y="1024878"/>
                </a:lnTo>
                <a:lnTo>
                  <a:pt x="635078" y="1024878"/>
                </a:lnTo>
                <a:lnTo>
                  <a:pt x="635078" y="1024144"/>
                </a:lnTo>
                <a:lnTo>
                  <a:pt x="637763" y="1024144"/>
                </a:lnTo>
                <a:lnTo>
                  <a:pt x="637763" y="1022692"/>
                </a:lnTo>
                <a:lnTo>
                  <a:pt x="640512" y="1022692"/>
                </a:lnTo>
                <a:lnTo>
                  <a:pt x="640512" y="1021256"/>
                </a:lnTo>
                <a:lnTo>
                  <a:pt x="648632" y="1021256"/>
                </a:lnTo>
                <a:lnTo>
                  <a:pt x="648632" y="1019788"/>
                </a:lnTo>
                <a:lnTo>
                  <a:pt x="651349" y="1019788"/>
                </a:lnTo>
                <a:lnTo>
                  <a:pt x="651349" y="1019069"/>
                </a:lnTo>
                <a:lnTo>
                  <a:pt x="654066" y="1019069"/>
                </a:lnTo>
                <a:lnTo>
                  <a:pt x="654066" y="1018335"/>
                </a:lnTo>
                <a:lnTo>
                  <a:pt x="664934" y="1018335"/>
                </a:lnTo>
                <a:lnTo>
                  <a:pt x="664934" y="1016883"/>
                </a:lnTo>
                <a:lnTo>
                  <a:pt x="667619" y="1016883"/>
                </a:lnTo>
                <a:lnTo>
                  <a:pt x="667619" y="1015431"/>
                </a:lnTo>
                <a:lnTo>
                  <a:pt x="673053" y="1015431"/>
                </a:lnTo>
                <a:lnTo>
                  <a:pt x="673053" y="1014697"/>
                </a:lnTo>
                <a:lnTo>
                  <a:pt x="675770" y="1014697"/>
                </a:lnTo>
                <a:lnTo>
                  <a:pt x="675770" y="1013244"/>
                </a:lnTo>
                <a:lnTo>
                  <a:pt x="681204" y="1013244"/>
                </a:lnTo>
                <a:lnTo>
                  <a:pt x="681204" y="1012510"/>
                </a:lnTo>
                <a:lnTo>
                  <a:pt x="689355" y="1012510"/>
                </a:lnTo>
                <a:lnTo>
                  <a:pt x="689355" y="1011776"/>
                </a:lnTo>
                <a:lnTo>
                  <a:pt x="694789" y="1011776"/>
                </a:lnTo>
                <a:lnTo>
                  <a:pt x="694789" y="1010323"/>
                </a:lnTo>
                <a:lnTo>
                  <a:pt x="697474" y="1010323"/>
                </a:lnTo>
                <a:lnTo>
                  <a:pt x="697474" y="1009589"/>
                </a:lnTo>
                <a:lnTo>
                  <a:pt x="700191" y="1009589"/>
                </a:lnTo>
                <a:lnTo>
                  <a:pt x="700191" y="1008871"/>
                </a:lnTo>
                <a:lnTo>
                  <a:pt x="702908" y="1008871"/>
                </a:lnTo>
                <a:lnTo>
                  <a:pt x="702908" y="1008137"/>
                </a:lnTo>
                <a:lnTo>
                  <a:pt x="711059" y="1008137"/>
                </a:lnTo>
                <a:lnTo>
                  <a:pt x="711059" y="1007403"/>
                </a:lnTo>
                <a:lnTo>
                  <a:pt x="724612" y="1007403"/>
                </a:lnTo>
                <a:lnTo>
                  <a:pt x="724612" y="1006685"/>
                </a:lnTo>
                <a:lnTo>
                  <a:pt x="727361" y="1006685"/>
                </a:lnTo>
                <a:lnTo>
                  <a:pt x="727361" y="1005950"/>
                </a:lnTo>
                <a:lnTo>
                  <a:pt x="730046" y="1005950"/>
                </a:lnTo>
                <a:lnTo>
                  <a:pt x="730046" y="1005216"/>
                </a:lnTo>
                <a:lnTo>
                  <a:pt x="732763" y="1005216"/>
                </a:lnTo>
                <a:lnTo>
                  <a:pt x="732763" y="1003046"/>
                </a:lnTo>
                <a:lnTo>
                  <a:pt x="738197" y="1003046"/>
                </a:lnTo>
                <a:lnTo>
                  <a:pt x="738197" y="1002328"/>
                </a:lnTo>
                <a:lnTo>
                  <a:pt x="740914" y="1002328"/>
                </a:lnTo>
                <a:lnTo>
                  <a:pt x="740914" y="1001594"/>
                </a:lnTo>
                <a:lnTo>
                  <a:pt x="746348" y="1001594"/>
                </a:lnTo>
                <a:lnTo>
                  <a:pt x="746348" y="1000859"/>
                </a:lnTo>
                <a:lnTo>
                  <a:pt x="749066" y="1000859"/>
                </a:lnTo>
                <a:lnTo>
                  <a:pt x="749066" y="999407"/>
                </a:lnTo>
                <a:lnTo>
                  <a:pt x="751782" y="999407"/>
                </a:lnTo>
                <a:lnTo>
                  <a:pt x="751782" y="998689"/>
                </a:lnTo>
                <a:lnTo>
                  <a:pt x="754467" y="998689"/>
                </a:lnTo>
                <a:lnTo>
                  <a:pt x="754467" y="997955"/>
                </a:lnTo>
                <a:lnTo>
                  <a:pt x="757185" y="997955"/>
                </a:lnTo>
                <a:lnTo>
                  <a:pt x="757185" y="997220"/>
                </a:lnTo>
                <a:lnTo>
                  <a:pt x="759901" y="997220"/>
                </a:lnTo>
                <a:lnTo>
                  <a:pt x="759901" y="995034"/>
                </a:lnTo>
                <a:lnTo>
                  <a:pt x="762619" y="995034"/>
                </a:lnTo>
                <a:lnTo>
                  <a:pt x="762619" y="994316"/>
                </a:lnTo>
                <a:lnTo>
                  <a:pt x="765336" y="994316"/>
                </a:lnTo>
                <a:lnTo>
                  <a:pt x="765336" y="992848"/>
                </a:lnTo>
                <a:lnTo>
                  <a:pt x="776204" y="992848"/>
                </a:lnTo>
                <a:lnTo>
                  <a:pt x="776204" y="992129"/>
                </a:lnTo>
                <a:lnTo>
                  <a:pt x="787039" y="992129"/>
                </a:lnTo>
                <a:lnTo>
                  <a:pt x="787039" y="991395"/>
                </a:lnTo>
                <a:lnTo>
                  <a:pt x="792474" y="991395"/>
                </a:lnTo>
                <a:lnTo>
                  <a:pt x="792474" y="989943"/>
                </a:lnTo>
                <a:lnTo>
                  <a:pt x="808776" y="989943"/>
                </a:lnTo>
                <a:lnTo>
                  <a:pt x="808776" y="989209"/>
                </a:lnTo>
                <a:lnTo>
                  <a:pt x="814178" y="989209"/>
                </a:lnTo>
                <a:lnTo>
                  <a:pt x="814178" y="987757"/>
                </a:lnTo>
                <a:lnTo>
                  <a:pt x="816895" y="987757"/>
                </a:lnTo>
                <a:lnTo>
                  <a:pt x="816895" y="987022"/>
                </a:lnTo>
                <a:lnTo>
                  <a:pt x="819612" y="987022"/>
                </a:lnTo>
                <a:lnTo>
                  <a:pt x="819612" y="986304"/>
                </a:lnTo>
                <a:lnTo>
                  <a:pt x="822329" y="986304"/>
                </a:lnTo>
                <a:lnTo>
                  <a:pt x="822329" y="985570"/>
                </a:lnTo>
                <a:lnTo>
                  <a:pt x="830480" y="985570"/>
                </a:lnTo>
                <a:lnTo>
                  <a:pt x="830480" y="984118"/>
                </a:lnTo>
                <a:lnTo>
                  <a:pt x="833197" y="984118"/>
                </a:lnTo>
                <a:lnTo>
                  <a:pt x="833197" y="983400"/>
                </a:lnTo>
                <a:lnTo>
                  <a:pt x="835914" y="983400"/>
                </a:lnTo>
                <a:lnTo>
                  <a:pt x="835914" y="982665"/>
                </a:lnTo>
                <a:lnTo>
                  <a:pt x="838599" y="982665"/>
                </a:lnTo>
                <a:lnTo>
                  <a:pt x="838599" y="980479"/>
                </a:lnTo>
                <a:lnTo>
                  <a:pt x="844033" y="980479"/>
                </a:lnTo>
                <a:lnTo>
                  <a:pt x="844033" y="979027"/>
                </a:lnTo>
                <a:lnTo>
                  <a:pt x="846750" y="979027"/>
                </a:lnTo>
                <a:lnTo>
                  <a:pt x="846750" y="978292"/>
                </a:lnTo>
                <a:lnTo>
                  <a:pt x="857618" y="978292"/>
                </a:lnTo>
                <a:lnTo>
                  <a:pt x="857618" y="977574"/>
                </a:lnTo>
                <a:lnTo>
                  <a:pt x="863052" y="977574"/>
                </a:lnTo>
                <a:lnTo>
                  <a:pt x="863052" y="976106"/>
                </a:lnTo>
                <a:lnTo>
                  <a:pt x="873888" y="976106"/>
                </a:lnTo>
                <a:lnTo>
                  <a:pt x="873888" y="974654"/>
                </a:lnTo>
                <a:lnTo>
                  <a:pt x="876605" y="974654"/>
                </a:lnTo>
                <a:lnTo>
                  <a:pt x="876605" y="973919"/>
                </a:lnTo>
                <a:lnTo>
                  <a:pt x="879322" y="973919"/>
                </a:lnTo>
                <a:lnTo>
                  <a:pt x="879322" y="972467"/>
                </a:lnTo>
                <a:lnTo>
                  <a:pt x="882039" y="972467"/>
                </a:lnTo>
                <a:lnTo>
                  <a:pt x="882039" y="971733"/>
                </a:lnTo>
                <a:lnTo>
                  <a:pt x="884756" y="971733"/>
                </a:lnTo>
                <a:lnTo>
                  <a:pt x="884756" y="971015"/>
                </a:lnTo>
                <a:lnTo>
                  <a:pt x="892908" y="971015"/>
                </a:lnTo>
                <a:lnTo>
                  <a:pt x="892908" y="969563"/>
                </a:lnTo>
                <a:lnTo>
                  <a:pt x="895593" y="969563"/>
                </a:lnTo>
                <a:lnTo>
                  <a:pt x="895593" y="968828"/>
                </a:lnTo>
                <a:lnTo>
                  <a:pt x="898309" y="968828"/>
                </a:lnTo>
                <a:lnTo>
                  <a:pt x="898309" y="968094"/>
                </a:lnTo>
                <a:lnTo>
                  <a:pt x="901027" y="968094"/>
                </a:lnTo>
                <a:lnTo>
                  <a:pt x="901027" y="967376"/>
                </a:lnTo>
                <a:lnTo>
                  <a:pt x="906461" y="967376"/>
                </a:lnTo>
                <a:lnTo>
                  <a:pt x="906461" y="966642"/>
                </a:lnTo>
                <a:lnTo>
                  <a:pt x="914612" y="966642"/>
                </a:lnTo>
                <a:lnTo>
                  <a:pt x="914612" y="965908"/>
                </a:lnTo>
                <a:lnTo>
                  <a:pt x="920046" y="965908"/>
                </a:lnTo>
                <a:lnTo>
                  <a:pt x="920046" y="963721"/>
                </a:lnTo>
                <a:lnTo>
                  <a:pt x="925480" y="963721"/>
                </a:lnTo>
                <a:lnTo>
                  <a:pt x="925480" y="963003"/>
                </a:lnTo>
                <a:lnTo>
                  <a:pt x="928165" y="963003"/>
                </a:lnTo>
                <a:lnTo>
                  <a:pt x="928165" y="962269"/>
                </a:lnTo>
                <a:lnTo>
                  <a:pt x="930914" y="962269"/>
                </a:lnTo>
                <a:lnTo>
                  <a:pt x="930914" y="961534"/>
                </a:lnTo>
                <a:lnTo>
                  <a:pt x="933599" y="961534"/>
                </a:lnTo>
                <a:lnTo>
                  <a:pt x="933599" y="960817"/>
                </a:lnTo>
                <a:lnTo>
                  <a:pt x="936316" y="960817"/>
                </a:lnTo>
                <a:lnTo>
                  <a:pt x="936316" y="960082"/>
                </a:lnTo>
                <a:lnTo>
                  <a:pt x="939033" y="960082"/>
                </a:lnTo>
                <a:lnTo>
                  <a:pt x="939033" y="958630"/>
                </a:lnTo>
                <a:lnTo>
                  <a:pt x="944435" y="958630"/>
                </a:lnTo>
                <a:lnTo>
                  <a:pt x="944435" y="956443"/>
                </a:lnTo>
                <a:lnTo>
                  <a:pt x="947184" y="956443"/>
                </a:lnTo>
                <a:lnTo>
                  <a:pt x="947184" y="955709"/>
                </a:lnTo>
                <a:lnTo>
                  <a:pt x="949869" y="955709"/>
                </a:lnTo>
                <a:lnTo>
                  <a:pt x="949869" y="954991"/>
                </a:lnTo>
                <a:lnTo>
                  <a:pt x="952618" y="954991"/>
                </a:lnTo>
                <a:lnTo>
                  <a:pt x="952618" y="953523"/>
                </a:lnTo>
                <a:lnTo>
                  <a:pt x="963454" y="953523"/>
                </a:lnTo>
                <a:lnTo>
                  <a:pt x="963454" y="952070"/>
                </a:lnTo>
                <a:lnTo>
                  <a:pt x="966171" y="952070"/>
                </a:lnTo>
                <a:lnTo>
                  <a:pt x="966171" y="950618"/>
                </a:lnTo>
                <a:lnTo>
                  <a:pt x="968888" y="950618"/>
                </a:lnTo>
                <a:lnTo>
                  <a:pt x="968888" y="949884"/>
                </a:lnTo>
                <a:lnTo>
                  <a:pt x="971605" y="949884"/>
                </a:lnTo>
                <a:lnTo>
                  <a:pt x="971605" y="948448"/>
                </a:lnTo>
                <a:lnTo>
                  <a:pt x="974322" y="948448"/>
                </a:lnTo>
                <a:lnTo>
                  <a:pt x="974322" y="946979"/>
                </a:lnTo>
                <a:lnTo>
                  <a:pt x="977039" y="946979"/>
                </a:lnTo>
                <a:lnTo>
                  <a:pt x="977039" y="945527"/>
                </a:lnTo>
                <a:lnTo>
                  <a:pt x="979724" y="945527"/>
                </a:lnTo>
                <a:lnTo>
                  <a:pt x="979724" y="944793"/>
                </a:lnTo>
                <a:lnTo>
                  <a:pt x="982473" y="944793"/>
                </a:lnTo>
                <a:lnTo>
                  <a:pt x="982473" y="944075"/>
                </a:lnTo>
                <a:lnTo>
                  <a:pt x="985158" y="944075"/>
                </a:lnTo>
                <a:lnTo>
                  <a:pt x="985158" y="943324"/>
                </a:lnTo>
                <a:lnTo>
                  <a:pt x="987875" y="943324"/>
                </a:lnTo>
                <a:lnTo>
                  <a:pt x="987875" y="942590"/>
                </a:lnTo>
                <a:lnTo>
                  <a:pt x="990592" y="942590"/>
                </a:lnTo>
                <a:lnTo>
                  <a:pt x="990592" y="941154"/>
                </a:lnTo>
                <a:lnTo>
                  <a:pt x="993309" y="941154"/>
                </a:lnTo>
                <a:lnTo>
                  <a:pt x="993309" y="939702"/>
                </a:lnTo>
                <a:lnTo>
                  <a:pt x="996026" y="939702"/>
                </a:lnTo>
                <a:lnTo>
                  <a:pt x="996026" y="938249"/>
                </a:lnTo>
                <a:lnTo>
                  <a:pt x="998743" y="938249"/>
                </a:lnTo>
                <a:lnTo>
                  <a:pt x="998743" y="937515"/>
                </a:lnTo>
                <a:lnTo>
                  <a:pt x="1001428" y="937515"/>
                </a:lnTo>
                <a:lnTo>
                  <a:pt x="1001428" y="936063"/>
                </a:lnTo>
                <a:lnTo>
                  <a:pt x="1012328" y="936063"/>
                </a:lnTo>
                <a:lnTo>
                  <a:pt x="1012328" y="934594"/>
                </a:lnTo>
                <a:lnTo>
                  <a:pt x="1015013" y="934594"/>
                </a:lnTo>
                <a:lnTo>
                  <a:pt x="1015013" y="933877"/>
                </a:lnTo>
                <a:lnTo>
                  <a:pt x="1017762" y="933877"/>
                </a:lnTo>
                <a:lnTo>
                  <a:pt x="1017762" y="933142"/>
                </a:lnTo>
                <a:lnTo>
                  <a:pt x="1020447" y="933142"/>
                </a:lnTo>
                <a:lnTo>
                  <a:pt x="1020447" y="932408"/>
                </a:lnTo>
                <a:lnTo>
                  <a:pt x="1023164" y="932408"/>
                </a:lnTo>
                <a:lnTo>
                  <a:pt x="1023164" y="930956"/>
                </a:lnTo>
                <a:lnTo>
                  <a:pt x="1028598" y="930956"/>
                </a:lnTo>
                <a:lnTo>
                  <a:pt x="1028598" y="930222"/>
                </a:lnTo>
                <a:lnTo>
                  <a:pt x="1034032" y="930222"/>
                </a:lnTo>
                <a:lnTo>
                  <a:pt x="1034032" y="929503"/>
                </a:lnTo>
                <a:lnTo>
                  <a:pt x="1036717" y="929503"/>
                </a:lnTo>
                <a:lnTo>
                  <a:pt x="1036717" y="928769"/>
                </a:lnTo>
                <a:lnTo>
                  <a:pt x="1039435" y="928769"/>
                </a:lnTo>
                <a:lnTo>
                  <a:pt x="1039435" y="927317"/>
                </a:lnTo>
                <a:lnTo>
                  <a:pt x="1044869" y="927317"/>
                </a:lnTo>
                <a:lnTo>
                  <a:pt x="1044869" y="925848"/>
                </a:lnTo>
                <a:lnTo>
                  <a:pt x="1050303" y="925848"/>
                </a:lnTo>
                <a:lnTo>
                  <a:pt x="1050303" y="925130"/>
                </a:lnTo>
                <a:lnTo>
                  <a:pt x="1055737" y="925130"/>
                </a:lnTo>
                <a:lnTo>
                  <a:pt x="1055737" y="923678"/>
                </a:lnTo>
                <a:lnTo>
                  <a:pt x="1058453" y="923678"/>
                </a:lnTo>
                <a:lnTo>
                  <a:pt x="1058453" y="922944"/>
                </a:lnTo>
                <a:lnTo>
                  <a:pt x="1063888" y="922944"/>
                </a:lnTo>
                <a:lnTo>
                  <a:pt x="1063888" y="922210"/>
                </a:lnTo>
                <a:lnTo>
                  <a:pt x="1066573" y="922210"/>
                </a:lnTo>
                <a:lnTo>
                  <a:pt x="1066573" y="919305"/>
                </a:lnTo>
                <a:lnTo>
                  <a:pt x="1069322" y="919305"/>
                </a:lnTo>
                <a:lnTo>
                  <a:pt x="1069322" y="918571"/>
                </a:lnTo>
                <a:lnTo>
                  <a:pt x="1072007" y="918571"/>
                </a:lnTo>
                <a:lnTo>
                  <a:pt x="1072007" y="917119"/>
                </a:lnTo>
                <a:lnTo>
                  <a:pt x="1074724" y="917119"/>
                </a:lnTo>
                <a:lnTo>
                  <a:pt x="1074724" y="915650"/>
                </a:lnTo>
                <a:lnTo>
                  <a:pt x="1077441" y="915650"/>
                </a:lnTo>
                <a:lnTo>
                  <a:pt x="1077441" y="914198"/>
                </a:lnTo>
                <a:lnTo>
                  <a:pt x="1082843" y="914198"/>
                </a:lnTo>
                <a:lnTo>
                  <a:pt x="1082843" y="913463"/>
                </a:lnTo>
                <a:lnTo>
                  <a:pt x="1085592" y="913463"/>
                </a:lnTo>
                <a:lnTo>
                  <a:pt x="1085592" y="912746"/>
                </a:lnTo>
                <a:lnTo>
                  <a:pt x="1091026" y="912746"/>
                </a:lnTo>
                <a:lnTo>
                  <a:pt x="1091026" y="912011"/>
                </a:lnTo>
                <a:lnTo>
                  <a:pt x="1096428" y="912011"/>
                </a:lnTo>
                <a:lnTo>
                  <a:pt x="1096428" y="911277"/>
                </a:lnTo>
                <a:lnTo>
                  <a:pt x="1101862" y="911277"/>
                </a:lnTo>
                <a:lnTo>
                  <a:pt x="1101862" y="910559"/>
                </a:lnTo>
                <a:lnTo>
                  <a:pt x="1104579" y="910559"/>
                </a:lnTo>
                <a:lnTo>
                  <a:pt x="1104579" y="909825"/>
                </a:lnTo>
                <a:lnTo>
                  <a:pt x="1110013" y="909825"/>
                </a:lnTo>
                <a:lnTo>
                  <a:pt x="1110013" y="908372"/>
                </a:lnTo>
                <a:lnTo>
                  <a:pt x="1115447" y="908372"/>
                </a:lnTo>
                <a:lnTo>
                  <a:pt x="1115447" y="907638"/>
                </a:lnTo>
                <a:lnTo>
                  <a:pt x="1118132" y="907638"/>
                </a:lnTo>
                <a:lnTo>
                  <a:pt x="1118132" y="906920"/>
                </a:lnTo>
                <a:lnTo>
                  <a:pt x="1120881" y="906920"/>
                </a:lnTo>
                <a:lnTo>
                  <a:pt x="1120881" y="906186"/>
                </a:lnTo>
                <a:lnTo>
                  <a:pt x="1123566" y="906186"/>
                </a:lnTo>
                <a:lnTo>
                  <a:pt x="1123566" y="903999"/>
                </a:lnTo>
                <a:lnTo>
                  <a:pt x="1126283" y="903999"/>
                </a:lnTo>
                <a:lnTo>
                  <a:pt x="1126283" y="903265"/>
                </a:lnTo>
                <a:lnTo>
                  <a:pt x="1131717" y="903265"/>
                </a:lnTo>
                <a:lnTo>
                  <a:pt x="1131717" y="902547"/>
                </a:lnTo>
                <a:lnTo>
                  <a:pt x="1137151" y="902547"/>
                </a:lnTo>
                <a:lnTo>
                  <a:pt x="1137151" y="901079"/>
                </a:lnTo>
                <a:lnTo>
                  <a:pt x="1139868" y="901079"/>
                </a:lnTo>
                <a:lnTo>
                  <a:pt x="1139868" y="900361"/>
                </a:lnTo>
                <a:lnTo>
                  <a:pt x="1142585" y="900361"/>
                </a:lnTo>
                <a:lnTo>
                  <a:pt x="1142585" y="899626"/>
                </a:lnTo>
                <a:lnTo>
                  <a:pt x="1145302" y="899626"/>
                </a:lnTo>
                <a:lnTo>
                  <a:pt x="1145302" y="898892"/>
                </a:lnTo>
                <a:lnTo>
                  <a:pt x="1147987" y="898892"/>
                </a:lnTo>
                <a:lnTo>
                  <a:pt x="1147987" y="898174"/>
                </a:lnTo>
                <a:lnTo>
                  <a:pt x="1150736" y="898174"/>
                </a:lnTo>
                <a:lnTo>
                  <a:pt x="1150736" y="895988"/>
                </a:lnTo>
                <a:lnTo>
                  <a:pt x="1156170" y="895988"/>
                </a:lnTo>
                <a:lnTo>
                  <a:pt x="1156170" y="895253"/>
                </a:lnTo>
                <a:lnTo>
                  <a:pt x="1158855" y="895253"/>
                </a:lnTo>
                <a:lnTo>
                  <a:pt x="1158855" y="894535"/>
                </a:lnTo>
                <a:lnTo>
                  <a:pt x="1161573" y="894535"/>
                </a:lnTo>
                <a:lnTo>
                  <a:pt x="1161573" y="893801"/>
                </a:lnTo>
                <a:lnTo>
                  <a:pt x="1164289" y="893801"/>
                </a:lnTo>
                <a:lnTo>
                  <a:pt x="1164289" y="893067"/>
                </a:lnTo>
                <a:lnTo>
                  <a:pt x="1167006" y="893067"/>
                </a:lnTo>
                <a:lnTo>
                  <a:pt x="1167006" y="891615"/>
                </a:lnTo>
                <a:lnTo>
                  <a:pt x="1169692" y="891615"/>
                </a:lnTo>
                <a:lnTo>
                  <a:pt x="1169692" y="890880"/>
                </a:lnTo>
                <a:lnTo>
                  <a:pt x="1172440" y="890880"/>
                </a:lnTo>
                <a:lnTo>
                  <a:pt x="1172440" y="890162"/>
                </a:lnTo>
                <a:lnTo>
                  <a:pt x="1177874" y="890162"/>
                </a:lnTo>
                <a:lnTo>
                  <a:pt x="1177874" y="889428"/>
                </a:lnTo>
                <a:lnTo>
                  <a:pt x="1188711" y="889428"/>
                </a:lnTo>
                <a:lnTo>
                  <a:pt x="1188711" y="888694"/>
                </a:lnTo>
                <a:lnTo>
                  <a:pt x="1191460" y="888694"/>
                </a:lnTo>
                <a:lnTo>
                  <a:pt x="1191460" y="887976"/>
                </a:lnTo>
                <a:lnTo>
                  <a:pt x="1202295" y="887976"/>
                </a:lnTo>
                <a:lnTo>
                  <a:pt x="1202295" y="886507"/>
                </a:lnTo>
                <a:lnTo>
                  <a:pt x="1207730" y="886507"/>
                </a:lnTo>
                <a:lnTo>
                  <a:pt x="1207730" y="885055"/>
                </a:lnTo>
                <a:lnTo>
                  <a:pt x="1215849" y="885055"/>
                </a:lnTo>
                <a:lnTo>
                  <a:pt x="1215849" y="883603"/>
                </a:lnTo>
                <a:lnTo>
                  <a:pt x="1234868" y="883603"/>
                </a:lnTo>
                <a:lnTo>
                  <a:pt x="1234868" y="882134"/>
                </a:lnTo>
                <a:lnTo>
                  <a:pt x="1240270" y="882134"/>
                </a:lnTo>
                <a:lnTo>
                  <a:pt x="1240270" y="881416"/>
                </a:lnTo>
                <a:lnTo>
                  <a:pt x="1245704" y="881416"/>
                </a:lnTo>
                <a:lnTo>
                  <a:pt x="1245704" y="880682"/>
                </a:lnTo>
                <a:lnTo>
                  <a:pt x="1248421" y="880682"/>
                </a:lnTo>
                <a:lnTo>
                  <a:pt x="1248421" y="879948"/>
                </a:lnTo>
                <a:lnTo>
                  <a:pt x="1251138" y="879948"/>
                </a:lnTo>
                <a:lnTo>
                  <a:pt x="1251138" y="879230"/>
                </a:lnTo>
                <a:lnTo>
                  <a:pt x="1256572" y="879230"/>
                </a:lnTo>
                <a:lnTo>
                  <a:pt x="1256572" y="878495"/>
                </a:lnTo>
                <a:lnTo>
                  <a:pt x="1264723" y="878495"/>
                </a:lnTo>
                <a:lnTo>
                  <a:pt x="1264723" y="877043"/>
                </a:lnTo>
                <a:lnTo>
                  <a:pt x="1270125" y="877043"/>
                </a:lnTo>
                <a:lnTo>
                  <a:pt x="1270125" y="876309"/>
                </a:lnTo>
                <a:lnTo>
                  <a:pt x="1272874" y="876309"/>
                </a:lnTo>
                <a:lnTo>
                  <a:pt x="1272874" y="875591"/>
                </a:lnTo>
                <a:lnTo>
                  <a:pt x="1275559" y="875591"/>
                </a:lnTo>
                <a:lnTo>
                  <a:pt x="1275559" y="874857"/>
                </a:lnTo>
                <a:lnTo>
                  <a:pt x="1278308" y="874857"/>
                </a:lnTo>
                <a:lnTo>
                  <a:pt x="1278308" y="874122"/>
                </a:lnTo>
                <a:lnTo>
                  <a:pt x="1280993" y="874122"/>
                </a:lnTo>
                <a:lnTo>
                  <a:pt x="1280993" y="873404"/>
                </a:lnTo>
                <a:lnTo>
                  <a:pt x="1286427" y="873404"/>
                </a:lnTo>
                <a:lnTo>
                  <a:pt x="1286427" y="872670"/>
                </a:lnTo>
                <a:lnTo>
                  <a:pt x="1291829" y="872670"/>
                </a:lnTo>
                <a:lnTo>
                  <a:pt x="1291829" y="871936"/>
                </a:lnTo>
                <a:lnTo>
                  <a:pt x="1294578" y="871936"/>
                </a:lnTo>
                <a:lnTo>
                  <a:pt x="1294578" y="870483"/>
                </a:lnTo>
                <a:lnTo>
                  <a:pt x="1299980" y="870483"/>
                </a:lnTo>
                <a:lnTo>
                  <a:pt x="1299980" y="869031"/>
                </a:lnTo>
                <a:lnTo>
                  <a:pt x="1302697" y="869031"/>
                </a:lnTo>
                <a:lnTo>
                  <a:pt x="1302697" y="868297"/>
                </a:lnTo>
                <a:lnTo>
                  <a:pt x="1308131" y="868297"/>
                </a:lnTo>
                <a:lnTo>
                  <a:pt x="1308131" y="866845"/>
                </a:lnTo>
                <a:lnTo>
                  <a:pt x="1310849" y="866845"/>
                </a:lnTo>
                <a:lnTo>
                  <a:pt x="1310849" y="865376"/>
                </a:lnTo>
                <a:lnTo>
                  <a:pt x="1316282" y="865376"/>
                </a:lnTo>
                <a:lnTo>
                  <a:pt x="1316282" y="864658"/>
                </a:lnTo>
                <a:lnTo>
                  <a:pt x="1327119" y="864658"/>
                </a:lnTo>
                <a:lnTo>
                  <a:pt x="1327119" y="863924"/>
                </a:lnTo>
                <a:lnTo>
                  <a:pt x="1332553" y="863924"/>
                </a:lnTo>
                <a:lnTo>
                  <a:pt x="1332553" y="863206"/>
                </a:lnTo>
                <a:lnTo>
                  <a:pt x="1335269" y="863206"/>
                </a:lnTo>
                <a:lnTo>
                  <a:pt x="1335269" y="861737"/>
                </a:lnTo>
                <a:lnTo>
                  <a:pt x="1340704" y="861737"/>
                </a:lnTo>
                <a:lnTo>
                  <a:pt x="1340704" y="858099"/>
                </a:lnTo>
                <a:lnTo>
                  <a:pt x="1356974" y="858099"/>
                </a:lnTo>
                <a:lnTo>
                  <a:pt x="1356974" y="857365"/>
                </a:lnTo>
                <a:lnTo>
                  <a:pt x="1359723" y="857365"/>
                </a:lnTo>
                <a:lnTo>
                  <a:pt x="1359723" y="856646"/>
                </a:lnTo>
                <a:lnTo>
                  <a:pt x="1367842" y="856646"/>
                </a:lnTo>
                <a:lnTo>
                  <a:pt x="1367842" y="854460"/>
                </a:lnTo>
                <a:lnTo>
                  <a:pt x="1370559" y="854460"/>
                </a:lnTo>
                <a:lnTo>
                  <a:pt x="1370559" y="853726"/>
                </a:lnTo>
                <a:lnTo>
                  <a:pt x="1375993" y="853726"/>
                </a:lnTo>
                <a:lnTo>
                  <a:pt x="1375993" y="852273"/>
                </a:lnTo>
                <a:lnTo>
                  <a:pt x="1378678" y="852273"/>
                </a:lnTo>
                <a:lnTo>
                  <a:pt x="1378678" y="850821"/>
                </a:lnTo>
                <a:lnTo>
                  <a:pt x="1381427" y="850821"/>
                </a:lnTo>
                <a:lnTo>
                  <a:pt x="1381427" y="850087"/>
                </a:lnTo>
                <a:lnTo>
                  <a:pt x="1394980" y="850087"/>
                </a:lnTo>
                <a:lnTo>
                  <a:pt x="1394980" y="849353"/>
                </a:lnTo>
                <a:lnTo>
                  <a:pt x="1397697" y="849353"/>
                </a:lnTo>
                <a:lnTo>
                  <a:pt x="1397697" y="848635"/>
                </a:lnTo>
                <a:lnTo>
                  <a:pt x="1400414" y="848635"/>
                </a:lnTo>
                <a:lnTo>
                  <a:pt x="1400414" y="847150"/>
                </a:lnTo>
                <a:lnTo>
                  <a:pt x="1408533" y="847150"/>
                </a:lnTo>
                <a:lnTo>
                  <a:pt x="1408533" y="846432"/>
                </a:lnTo>
                <a:lnTo>
                  <a:pt x="1413967" y="846432"/>
                </a:lnTo>
                <a:lnTo>
                  <a:pt x="1413967" y="845697"/>
                </a:lnTo>
                <a:lnTo>
                  <a:pt x="1416684" y="845697"/>
                </a:lnTo>
                <a:lnTo>
                  <a:pt x="1416684" y="843511"/>
                </a:lnTo>
                <a:lnTo>
                  <a:pt x="1430237" y="843511"/>
                </a:lnTo>
                <a:lnTo>
                  <a:pt x="1430237" y="840590"/>
                </a:lnTo>
                <a:lnTo>
                  <a:pt x="1435671" y="840590"/>
                </a:lnTo>
                <a:lnTo>
                  <a:pt x="1435671" y="839872"/>
                </a:lnTo>
                <a:lnTo>
                  <a:pt x="1441138" y="839872"/>
                </a:lnTo>
                <a:lnTo>
                  <a:pt x="1441138" y="838420"/>
                </a:lnTo>
                <a:lnTo>
                  <a:pt x="1443822" y="838420"/>
                </a:lnTo>
                <a:lnTo>
                  <a:pt x="1443822" y="837669"/>
                </a:lnTo>
                <a:lnTo>
                  <a:pt x="1446572" y="837669"/>
                </a:lnTo>
                <a:lnTo>
                  <a:pt x="1446572" y="836935"/>
                </a:lnTo>
                <a:lnTo>
                  <a:pt x="1449257" y="836935"/>
                </a:lnTo>
                <a:lnTo>
                  <a:pt x="1449257" y="835483"/>
                </a:lnTo>
                <a:lnTo>
                  <a:pt x="1451973" y="835483"/>
                </a:lnTo>
                <a:lnTo>
                  <a:pt x="1451973" y="834748"/>
                </a:lnTo>
                <a:lnTo>
                  <a:pt x="1454691" y="834748"/>
                </a:lnTo>
                <a:lnTo>
                  <a:pt x="1454691" y="833296"/>
                </a:lnTo>
                <a:lnTo>
                  <a:pt x="1462841" y="833296"/>
                </a:lnTo>
                <a:lnTo>
                  <a:pt x="1462841" y="832562"/>
                </a:lnTo>
                <a:lnTo>
                  <a:pt x="1468276" y="832562"/>
                </a:lnTo>
                <a:lnTo>
                  <a:pt x="1468276" y="831844"/>
                </a:lnTo>
                <a:lnTo>
                  <a:pt x="1473678" y="831844"/>
                </a:lnTo>
                <a:lnTo>
                  <a:pt x="1473678" y="831110"/>
                </a:lnTo>
                <a:lnTo>
                  <a:pt x="1481797" y="831110"/>
                </a:lnTo>
                <a:lnTo>
                  <a:pt x="1481797" y="830376"/>
                </a:lnTo>
                <a:lnTo>
                  <a:pt x="1484546" y="830376"/>
                </a:lnTo>
                <a:lnTo>
                  <a:pt x="1484546" y="829641"/>
                </a:lnTo>
                <a:lnTo>
                  <a:pt x="1487263" y="829641"/>
                </a:lnTo>
                <a:lnTo>
                  <a:pt x="1487263" y="827455"/>
                </a:lnTo>
                <a:lnTo>
                  <a:pt x="1489979" y="827455"/>
                </a:lnTo>
                <a:lnTo>
                  <a:pt x="1489979" y="826720"/>
                </a:lnTo>
                <a:lnTo>
                  <a:pt x="1492697" y="826720"/>
                </a:lnTo>
                <a:lnTo>
                  <a:pt x="1492697" y="825986"/>
                </a:lnTo>
                <a:lnTo>
                  <a:pt x="1500816" y="825986"/>
                </a:lnTo>
                <a:lnTo>
                  <a:pt x="1500816" y="824518"/>
                </a:lnTo>
                <a:lnTo>
                  <a:pt x="1503533" y="824518"/>
                </a:lnTo>
                <a:lnTo>
                  <a:pt x="1503533" y="823800"/>
                </a:lnTo>
                <a:lnTo>
                  <a:pt x="1506250" y="823800"/>
                </a:lnTo>
                <a:lnTo>
                  <a:pt x="1506250" y="823065"/>
                </a:lnTo>
                <a:lnTo>
                  <a:pt x="1508967" y="823065"/>
                </a:lnTo>
                <a:lnTo>
                  <a:pt x="1508967" y="822331"/>
                </a:lnTo>
                <a:lnTo>
                  <a:pt x="1511652" y="822331"/>
                </a:lnTo>
                <a:lnTo>
                  <a:pt x="1511652" y="820862"/>
                </a:lnTo>
                <a:lnTo>
                  <a:pt x="1517086" y="820862"/>
                </a:lnTo>
                <a:lnTo>
                  <a:pt x="1517086" y="820128"/>
                </a:lnTo>
                <a:lnTo>
                  <a:pt x="1522520" y="820128"/>
                </a:lnTo>
                <a:lnTo>
                  <a:pt x="1522520" y="818676"/>
                </a:lnTo>
                <a:lnTo>
                  <a:pt x="1525237" y="818676"/>
                </a:lnTo>
                <a:lnTo>
                  <a:pt x="1525237" y="817942"/>
                </a:lnTo>
                <a:lnTo>
                  <a:pt x="1536105" y="817942"/>
                </a:lnTo>
                <a:lnTo>
                  <a:pt x="1536105" y="817207"/>
                </a:lnTo>
                <a:lnTo>
                  <a:pt x="1538822" y="817207"/>
                </a:lnTo>
                <a:lnTo>
                  <a:pt x="1538822" y="815739"/>
                </a:lnTo>
                <a:lnTo>
                  <a:pt x="1541539" y="815739"/>
                </a:lnTo>
                <a:lnTo>
                  <a:pt x="1541539" y="815005"/>
                </a:lnTo>
                <a:lnTo>
                  <a:pt x="1544256" y="815005"/>
                </a:lnTo>
                <a:lnTo>
                  <a:pt x="1544256" y="813536"/>
                </a:lnTo>
                <a:lnTo>
                  <a:pt x="1549690" y="813536"/>
                </a:lnTo>
                <a:lnTo>
                  <a:pt x="1549690" y="812802"/>
                </a:lnTo>
                <a:lnTo>
                  <a:pt x="1552375" y="812802"/>
                </a:lnTo>
                <a:lnTo>
                  <a:pt x="1552375" y="812068"/>
                </a:lnTo>
                <a:lnTo>
                  <a:pt x="1557809" y="812068"/>
                </a:lnTo>
                <a:lnTo>
                  <a:pt x="1557809" y="811333"/>
                </a:lnTo>
                <a:lnTo>
                  <a:pt x="1563243" y="811333"/>
                </a:lnTo>
                <a:lnTo>
                  <a:pt x="1563243" y="809848"/>
                </a:lnTo>
                <a:lnTo>
                  <a:pt x="1565960" y="809848"/>
                </a:lnTo>
                <a:lnTo>
                  <a:pt x="1565960" y="806911"/>
                </a:lnTo>
                <a:lnTo>
                  <a:pt x="1568645" y="806911"/>
                </a:lnTo>
                <a:lnTo>
                  <a:pt x="1568645" y="806177"/>
                </a:lnTo>
                <a:lnTo>
                  <a:pt x="1571394" y="806177"/>
                </a:lnTo>
                <a:lnTo>
                  <a:pt x="1571394" y="805443"/>
                </a:lnTo>
                <a:lnTo>
                  <a:pt x="1576796" y="805443"/>
                </a:lnTo>
                <a:lnTo>
                  <a:pt x="1576796" y="804708"/>
                </a:lnTo>
                <a:lnTo>
                  <a:pt x="1579545" y="804708"/>
                </a:lnTo>
                <a:lnTo>
                  <a:pt x="1579545" y="803974"/>
                </a:lnTo>
                <a:lnTo>
                  <a:pt x="1584980" y="803974"/>
                </a:lnTo>
                <a:lnTo>
                  <a:pt x="1584980" y="803240"/>
                </a:lnTo>
                <a:lnTo>
                  <a:pt x="1587664" y="803240"/>
                </a:lnTo>
                <a:lnTo>
                  <a:pt x="1587664" y="802489"/>
                </a:lnTo>
                <a:lnTo>
                  <a:pt x="1590381" y="802489"/>
                </a:lnTo>
                <a:lnTo>
                  <a:pt x="1590381" y="801755"/>
                </a:lnTo>
                <a:lnTo>
                  <a:pt x="1593099" y="801755"/>
                </a:lnTo>
                <a:lnTo>
                  <a:pt x="1593099" y="801021"/>
                </a:lnTo>
                <a:lnTo>
                  <a:pt x="1595815" y="801021"/>
                </a:lnTo>
                <a:lnTo>
                  <a:pt x="1595815" y="799552"/>
                </a:lnTo>
                <a:lnTo>
                  <a:pt x="1598500" y="799552"/>
                </a:lnTo>
                <a:lnTo>
                  <a:pt x="1598500" y="798801"/>
                </a:lnTo>
                <a:lnTo>
                  <a:pt x="1606683" y="798801"/>
                </a:lnTo>
                <a:lnTo>
                  <a:pt x="1606683" y="798067"/>
                </a:lnTo>
                <a:lnTo>
                  <a:pt x="1609369" y="798067"/>
                </a:lnTo>
                <a:lnTo>
                  <a:pt x="1609369" y="797317"/>
                </a:lnTo>
                <a:lnTo>
                  <a:pt x="1617520" y="797317"/>
                </a:lnTo>
                <a:lnTo>
                  <a:pt x="1617520" y="795848"/>
                </a:lnTo>
                <a:lnTo>
                  <a:pt x="1622954" y="795848"/>
                </a:lnTo>
                <a:lnTo>
                  <a:pt x="1622954" y="793612"/>
                </a:lnTo>
                <a:lnTo>
                  <a:pt x="1633790" y="793612"/>
                </a:lnTo>
                <a:lnTo>
                  <a:pt x="1633790" y="792878"/>
                </a:lnTo>
                <a:lnTo>
                  <a:pt x="1636539" y="792878"/>
                </a:lnTo>
                <a:lnTo>
                  <a:pt x="1636539" y="791377"/>
                </a:lnTo>
                <a:lnTo>
                  <a:pt x="1639224" y="791377"/>
                </a:lnTo>
                <a:lnTo>
                  <a:pt x="1639224" y="790626"/>
                </a:lnTo>
                <a:lnTo>
                  <a:pt x="1641941" y="790626"/>
                </a:lnTo>
                <a:lnTo>
                  <a:pt x="1641941" y="789892"/>
                </a:lnTo>
                <a:lnTo>
                  <a:pt x="1644658" y="789892"/>
                </a:lnTo>
                <a:lnTo>
                  <a:pt x="1644658" y="789141"/>
                </a:lnTo>
                <a:lnTo>
                  <a:pt x="1647375" y="789141"/>
                </a:lnTo>
                <a:lnTo>
                  <a:pt x="1647375" y="787640"/>
                </a:lnTo>
                <a:lnTo>
                  <a:pt x="1663645" y="787640"/>
                </a:lnTo>
                <a:lnTo>
                  <a:pt x="1663645" y="785388"/>
                </a:lnTo>
                <a:lnTo>
                  <a:pt x="1666394" y="785388"/>
                </a:lnTo>
                <a:lnTo>
                  <a:pt x="1666394" y="783137"/>
                </a:lnTo>
                <a:lnTo>
                  <a:pt x="1690783" y="783137"/>
                </a:lnTo>
                <a:lnTo>
                  <a:pt x="1690783" y="782386"/>
                </a:lnTo>
                <a:lnTo>
                  <a:pt x="1693532" y="782386"/>
                </a:lnTo>
                <a:lnTo>
                  <a:pt x="1693532" y="780869"/>
                </a:lnTo>
                <a:lnTo>
                  <a:pt x="1707117" y="780869"/>
                </a:lnTo>
                <a:lnTo>
                  <a:pt x="1707117" y="780102"/>
                </a:lnTo>
                <a:lnTo>
                  <a:pt x="1709802" y="780102"/>
                </a:lnTo>
                <a:lnTo>
                  <a:pt x="1709802" y="779351"/>
                </a:lnTo>
                <a:lnTo>
                  <a:pt x="1712519" y="779351"/>
                </a:lnTo>
                <a:lnTo>
                  <a:pt x="1712519" y="777834"/>
                </a:lnTo>
                <a:lnTo>
                  <a:pt x="1720638" y="777834"/>
                </a:lnTo>
                <a:lnTo>
                  <a:pt x="1720638" y="777083"/>
                </a:lnTo>
                <a:lnTo>
                  <a:pt x="1726073" y="777083"/>
                </a:lnTo>
                <a:lnTo>
                  <a:pt x="1726073" y="775549"/>
                </a:lnTo>
                <a:lnTo>
                  <a:pt x="1728822" y="775549"/>
                </a:lnTo>
                <a:lnTo>
                  <a:pt x="1728822" y="773265"/>
                </a:lnTo>
                <a:lnTo>
                  <a:pt x="1734223" y="773265"/>
                </a:lnTo>
                <a:lnTo>
                  <a:pt x="1734223" y="772498"/>
                </a:lnTo>
                <a:lnTo>
                  <a:pt x="1736941" y="772498"/>
                </a:lnTo>
                <a:lnTo>
                  <a:pt x="1736941" y="771747"/>
                </a:lnTo>
                <a:lnTo>
                  <a:pt x="1739657" y="771747"/>
                </a:lnTo>
                <a:lnTo>
                  <a:pt x="1739657" y="770980"/>
                </a:lnTo>
                <a:lnTo>
                  <a:pt x="1745092" y="770980"/>
                </a:lnTo>
                <a:lnTo>
                  <a:pt x="1745092" y="770213"/>
                </a:lnTo>
                <a:lnTo>
                  <a:pt x="1750525" y="770213"/>
                </a:lnTo>
                <a:lnTo>
                  <a:pt x="1750525" y="768679"/>
                </a:lnTo>
                <a:lnTo>
                  <a:pt x="1758677" y="768679"/>
                </a:lnTo>
                <a:lnTo>
                  <a:pt x="1758677" y="767913"/>
                </a:lnTo>
                <a:lnTo>
                  <a:pt x="1764079" y="767913"/>
                </a:lnTo>
                <a:lnTo>
                  <a:pt x="1764079" y="765612"/>
                </a:lnTo>
                <a:lnTo>
                  <a:pt x="1766796" y="765612"/>
                </a:lnTo>
                <a:lnTo>
                  <a:pt x="1766796" y="764845"/>
                </a:lnTo>
                <a:lnTo>
                  <a:pt x="1769513" y="764845"/>
                </a:lnTo>
                <a:lnTo>
                  <a:pt x="1769513" y="764062"/>
                </a:lnTo>
                <a:lnTo>
                  <a:pt x="1772230" y="764062"/>
                </a:lnTo>
                <a:lnTo>
                  <a:pt x="1772230" y="763295"/>
                </a:lnTo>
                <a:lnTo>
                  <a:pt x="1780381" y="763295"/>
                </a:lnTo>
                <a:lnTo>
                  <a:pt x="1780381" y="762528"/>
                </a:lnTo>
                <a:lnTo>
                  <a:pt x="1783066" y="762528"/>
                </a:lnTo>
                <a:lnTo>
                  <a:pt x="1783066" y="761761"/>
                </a:lnTo>
                <a:lnTo>
                  <a:pt x="1788500" y="761761"/>
                </a:lnTo>
                <a:lnTo>
                  <a:pt x="1788500" y="758661"/>
                </a:lnTo>
                <a:lnTo>
                  <a:pt x="1791217" y="758661"/>
                </a:lnTo>
                <a:lnTo>
                  <a:pt x="1791217" y="757894"/>
                </a:lnTo>
                <a:lnTo>
                  <a:pt x="1799368" y="757894"/>
                </a:lnTo>
                <a:lnTo>
                  <a:pt x="1799368" y="757110"/>
                </a:lnTo>
                <a:lnTo>
                  <a:pt x="1804802" y="757110"/>
                </a:lnTo>
                <a:lnTo>
                  <a:pt x="1804802" y="756344"/>
                </a:lnTo>
                <a:lnTo>
                  <a:pt x="1807487" y="756344"/>
                </a:lnTo>
                <a:lnTo>
                  <a:pt x="1807487" y="754793"/>
                </a:lnTo>
                <a:lnTo>
                  <a:pt x="1810236" y="754793"/>
                </a:lnTo>
                <a:lnTo>
                  <a:pt x="1810236" y="754010"/>
                </a:lnTo>
                <a:lnTo>
                  <a:pt x="1812921" y="754010"/>
                </a:lnTo>
                <a:lnTo>
                  <a:pt x="1812921" y="753243"/>
                </a:lnTo>
                <a:lnTo>
                  <a:pt x="1815638" y="753243"/>
                </a:lnTo>
                <a:lnTo>
                  <a:pt x="1815638" y="751677"/>
                </a:lnTo>
                <a:lnTo>
                  <a:pt x="1818355" y="751677"/>
                </a:lnTo>
                <a:lnTo>
                  <a:pt x="1818355" y="750127"/>
                </a:lnTo>
                <a:lnTo>
                  <a:pt x="1821072" y="750127"/>
                </a:lnTo>
                <a:lnTo>
                  <a:pt x="1821072" y="749360"/>
                </a:lnTo>
                <a:lnTo>
                  <a:pt x="1826506" y="749360"/>
                </a:lnTo>
                <a:lnTo>
                  <a:pt x="1826506" y="747810"/>
                </a:lnTo>
                <a:lnTo>
                  <a:pt x="1829191" y="747810"/>
                </a:lnTo>
                <a:lnTo>
                  <a:pt x="1829191" y="747026"/>
                </a:lnTo>
                <a:lnTo>
                  <a:pt x="1831940" y="747026"/>
                </a:lnTo>
                <a:lnTo>
                  <a:pt x="1831940" y="746243"/>
                </a:lnTo>
                <a:lnTo>
                  <a:pt x="1837342" y="746243"/>
                </a:lnTo>
                <a:lnTo>
                  <a:pt x="1837342" y="744693"/>
                </a:lnTo>
                <a:lnTo>
                  <a:pt x="1840091" y="744693"/>
                </a:lnTo>
                <a:lnTo>
                  <a:pt x="1840091" y="743910"/>
                </a:lnTo>
                <a:lnTo>
                  <a:pt x="1842777" y="743910"/>
                </a:lnTo>
                <a:lnTo>
                  <a:pt x="1842777" y="743143"/>
                </a:lnTo>
                <a:lnTo>
                  <a:pt x="1856361" y="743143"/>
                </a:lnTo>
                <a:lnTo>
                  <a:pt x="1856361" y="741576"/>
                </a:lnTo>
                <a:lnTo>
                  <a:pt x="1869915" y="741576"/>
                </a:lnTo>
                <a:lnTo>
                  <a:pt x="1869915" y="740793"/>
                </a:lnTo>
                <a:lnTo>
                  <a:pt x="1872631" y="740793"/>
                </a:lnTo>
                <a:lnTo>
                  <a:pt x="1872631" y="739210"/>
                </a:lnTo>
                <a:lnTo>
                  <a:pt x="1875348" y="739210"/>
                </a:lnTo>
                <a:lnTo>
                  <a:pt x="1875348" y="738427"/>
                </a:lnTo>
                <a:lnTo>
                  <a:pt x="1878065" y="738427"/>
                </a:lnTo>
                <a:lnTo>
                  <a:pt x="1878065" y="737644"/>
                </a:lnTo>
                <a:lnTo>
                  <a:pt x="1880783" y="737644"/>
                </a:lnTo>
                <a:lnTo>
                  <a:pt x="1880783" y="736861"/>
                </a:lnTo>
                <a:lnTo>
                  <a:pt x="1883499" y="736861"/>
                </a:lnTo>
                <a:lnTo>
                  <a:pt x="1883499" y="736077"/>
                </a:lnTo>
                <a:lnTo>
                  <a:pt x="1886217" y="736077"/>
                </a:lnTo>
                <a:lnTo>
                  <a:pt x="1886217" y="735278"/>
                </a:lnTo>
                <a:lnTo>
                  <a:pt x="1888902" y="735278"/>
                </a:lnTo>
                <a:lnTo>
                  <a:pt x="1888902" y="734495"/>
                </a:lnTo>
                <a:lnTo>
                  <a:pt x="1891651" y="734495"/>
                </a:lnTo>
                <a:lnTo>
                  <a:pt x="1891651" y="732912"/>
                </a:lnTo>
                <a:lnTo>
                  <a:pt x="1894336" y="732912"/>
                </a:lnTo>
                <a:lnTo>
                  <a:pt x="1894336" y="732129"/>
                </a:lnTo>
                <a:lnTo>
                  <a:pt x="1899770" y="732129"/>
                </a:lnTo>
                <a:lnTo>
                  <a:pt x="1899770" y="731345"/>
                </a:lnTo>
                <a:lnTo>
                  <a:pt x="1918789" y="731345"/>
                </a:lnTo>
                <a:lnTo>
                  <a:pt x="1918789" y="729746"/>
                </a:lnTo>
                <a:lnTo>
                  <a:pt x="1926940" y="729746"/>
                </a:lnTo>
                <a:lnTo>
                  <a:pt x="1926940" y="728963"/>
                </a:lnTo>
                <a:lnTo>
                  <a:pt x="1929625" y="728963"/>
                </a:lnTo>
                <a:lnTo>
                  <a:pt x="1929625" y="727364"/>
                </a:lnTo>
                <a:lnTo>
                  <a:pt x="1932342" y="727364"/>
                </a:lnTo>
                <a:lnTo>
                  <a:pt x="1932342" y="726564"/>
                </a:lnTo>
                <a:lnTo>
                  <a:pt x="1940493" y="726564"/>
                </a:lnTo>
                <a:lnTo>
                  <a:pt x="1940493" y="725765"/>
                </a:lnTo>
                <a:lnTo>
                  <a:pt x="1945895" y="725765"/>
                </a:lnTo>
                <a:lnTo>
                  <a:pt x="1945895" y="724965"/>
                </a:lnTo>
                <a:lnTo>
                  <a:pt x="1948644" y="724965"/>
                </a:lnTo>
                <a:lnTo>
                  <a:pt x="1948644" y="724166"/>
                </a:lnTo>
                <a:lnTo>
                  <a:pt x="1962197" y="724166"/>
                </a:lnTo>
                <a:lnTo>
                  <a:pt x="1962197" y="723350"/>
                </a:lnTo>
                <a:lnTo>
                  <a:pt x="1964914" y="723350"/>
                </a:lnTo>
                <a:lnTo>
                  <a:pt x="1964914" y="722550"/>
                </a:lnTo>
                <a:lnTo>
                  <a:pt x="1967631" y="722550"/>
                </a:lnTo>
                <a:lnTo>
                  <a:pt x="1967631" y="720935"/>
                </a:lnTo>
                <a:lnTo>
                  <a:pt x="1970348" y="720935"/>
                </a:lnTo>
                <a:lnTo>
                  <a:pt x="1970348" y="720119"/>
                </a:lnTo>
                <a:lnTo>
                  <a:pt x="1981184" y="720119"/>
                </a:lnTo>
                <a:lnTo>
                  <a:pt x="1981184" y="719320"/>
                </a:lnTo>
                <a:lnTo>
                  <a:pt x="1983933" y="719320"/>
                </a:lnTo>
                <a:lnTo>
                  <a:pt x="1983933" y="717688"/>
                </a:lnTo>
                <a:lnTo>
                  <a:pt x="1986619" y="717688"/>
                </a:lnTo>
                <a:lnTo>
                  <a:pt x="1986619" y="716072"/>
                </a:lnTo>
                <a:lnTo>
                  <a:pt x="1992052" y="716072"/>
                </a:lnTo>
                <a:lnTo>
                  <a:pt x="1992052" y="715256"/>
                </a:lnTo>
                <a:lnTo>
                  <a:pt x="1997454" y="715256"/>
                </a:lnTo>
                <a:lnTo>
                  <a:pt x="1997454" y="714441"/>
                </a:lnTo>
                <a:lnTo>
                  <a:pt x="2000203" y="714441"/>
                </a:lnTo>
                <a:lnTo>
                  <a:pt x="2000203" y="713641"/>
                </a:lnTo>
                <a:lnTo>
                  <a:pt x="2005606" y="713641"/>
                </a:lnTo>
                <a:lnTo>
                  <a:pt x="2005606" y="712825"/>
                </a:lnTo>
                <a:lnTo>
                  <a:pt x="2021907" y="712825"/>
                </a:lnTo>
                <a:lnTo>
                  <a:pt x="2021907" y="711993"/>
                </a:lnTo>
                <a:lnTo>
                  <a:pt x="2024625" y="711993"/>
                </a:lnTo>
                <a:lnTo>
                  <a:pt x="2024625" y="711177"/>
                </a:lnTo>
                <a:lnTo>
                  <a:pt x="2030059" y="711177"/>
                </a:lnTo>
                <a:lnTo>
                  <a:pt x="2030059" y="710361"/>
                </a:lnTo>
                <a:lnTo>
                  <a:pt x="2032744" y="710361"/>
                </a:lnTo>
                <a:lnTo>
                  <a:pt x="2032744" y="709545"/>
                </a:lnTo>
                <a:lnTo>
                  <a:pt x="2035493" y="709545"/>
                </a:lnTo>
                <a:lnTo>
                  <a:pt x="2035493" y="708713"/>
                </a:lnTo>
                <a:lnTo>
                  <a:pt x="2043612" y="708713"/>
                </a:lnTo>
                <a:lnTo>
                  <a:pt x="2043612" y="707065"/>
                </a:lnTo>
                <a:lnTo>
                  <a:pt x="2046328" y="707065"/>
                </a:lnTo>
                <a:lnTo>
                  <a:pt x="2046328" y="706249"/>
                </a:lnTo>
                <a:lnTo>
                  <a:pt x="2054480" y="706249"/>
                </a:lnTo>
                <a:lnTo>
                  <a:pt x="2054480" y="705417"/>
                </a:lnTo>
                <a:lnTo>
                  <a:pt x="2057197" y="705417"/>
                </a:lnTo>
                <a:lnTo>
                  <a:pt x="2057197" y="704585"/>
                </a:lnTo>
                <a:lnTo>
                  <a:pt x="2062599" y="704585"/>
                </a:lnTo>
                <a:lnTo>
                  <a:pt x="2062599" y="703753"/>
                </a:lnTo>
                <a:lnTo>
                  <a:pt x="2065348" y="703753"/>
                </a:lnTo>
                <a:lnTo>
                  <a:pt x="2065348" y="702920"/>
                </a:lnTo>
                <a:lnTo>
                  <a:pt x="2068033" y="702920"/>
                </a:lnTo>
                <a:lnTo>
                  <a:pt x="2068033" y="702088"/>
                </a:lnTo>
                <a:lnTo>
                  <a:pt x="2070750" y="702088"/>
                </a:lnTo>
                <a:lnTo>
                  <a:pt x="2070750" y="701256"/>
                </a:lnTo>
                <a:lnTo>
                  <a:pt x="2073467" y="701256"/>
                </a:lnTo>
                <a:lnTo>
                  <a:pt x="2073467" y="700424"/>
                </a:lnTo>
                <a:lnTo>
                  <a:pt x="2078901" y="700424"/>
                </a:lnTo>
                <a:lnTo>
                  <a:pt x="2078901" y="699592"/>
                </a:lnTo>
                <a:lnTo>
                  <a:pt x="2089737" y="699592"/>
                </a:lnTo>
                <a:lnTo>
                  <a:pt x="2089737" y="698760"/>
                </a:lnTo>
                <a:lnTo>
                  <a:pt x="2092454" y="698760"/>
                </a:lnTo>
                <a:lnTo>
                  <a:pt x="2092454" y="697911"/>
                </a:lnTo>
                <a:lnTo>
                  <a:pt x="2097888" y="697911"/>
                </a:lnTo>
                <a:lnTo>
                  <a:pt x="2097888" y="697079"/>
                </a:lnTo>
                <a:lnTo>
                  <a:pt x="2108756" y="697079"/>
                </a:lnTo>
                <a:lnTo>
                  <a:pt x="2108756" y="696231"/>
                </a:lnTo>
                <a:lnTo>
                  <a:pt x="2116907" y="696231"/>
                </a:lnTo>
                <a:lnTo>
                  <a:pt x="2116907" y="695382"/>
                </a:lnTo>
                <a:lnTo>
                  <a:pt x="2122342" y="695382"/>
                </a:lnTo>
                <a:lnTo>
                  <a:pt x="2122342" y="693685"/>
                </a:lnTo>
                <a:lnTo>
                  <a:pt x="2125026" y="693685"/>
                </a:lnTo>
                <a:lnTo>
                  <a:pt x="2125026" y="692853"/>
                </a:lnTo>
                <a:lnTo>
                  <a:pt x="2127743" y="692853"/>
                </a:lnTo>
                <a:lnTo>
                  <a:pt x="2127743" y="692004"/>
                </a:lnTo>
                <a:lnTo>
                  <a:pt x="2130461" y="692004"/>
                </a:lnTo>
                <a:lnTo>
                  <a:pt x="2130461" y="691156"/>
                </a:lnTo>
                <a:lnTo>
                  <a:pt x="2133177" y="691156"/>
                </a:lnTo>
                <a:lnTo>
                  <a:pt x="2133177" y="690307"/>
                </a:lnTo>
                <a:lnTo>
                  <a:pt x="2135862" y="690307"/>
                </a:lnTo>
                <a:lnTo>
                  <a:pt x="2135862" y="689442"/>
                </a:lnTo>
                <a:lnTo>
                  <a:pt x="2146763" y="689442"/>
                </a:lnTo>
                <a:lnTo>
                  <a:pt x="2146763" y="688594"/>
                </a:lnTo>
                <a:lnTo>
                  <a:pt x="2149448" y="688594"/>
                </a:lnTo>
                <a:lnTo>
                  <a:pt x="2149448" y="687745"/>
                </a:lnTo>
                <a:lnTo>
                  <a:pt x="2154882" y="687745"/>
                </a:lnTo>
                <a:lnTo>
                  <a:pt x="2154882" y="686880"/>
                </a:lnTo>
                <a:lnTo>
                  <a:pt x="2160316" y="686880"/>
                </a:lnTo>
                <a:lnTo>
                  <a:pt x="2160316" y="686016"/>
                </a:lnTo>
                <a:lnTo>
                  <a:pt x="2176586" y="686016"/>
                </a:lnTo>
                <a:lnTo>
                  <a:pt x="2176586" y="683438"/>
                </a:lnTo>
                <a:lnTo>
                  <a:pt x="2179335" y="683438"/>
                </a:lnTo>
                <a:lnTo>
                  <a:pt x="2179335" y="681708"/>
                </a:lnTo>
                <a:lnTo>
                  <a:pt x="2182020" y="681708"/>
                </a:lnTo>
                <a:lnTo>
                  <a:pt x="2182020" y="680843"/>
                </a:lnTo>
                <a:lnTo>
                  <a:pt x="2184737" y="680843"/>
                </a:lnTo>
                <a:lnTo>
                  <a:pt x="2184737" y="679978"/>
                </a:lnTo>
                <a:lnTo>
                  <a:pt x="2187486" y="679978"/>
                </a:lnTo>
                <a:lnTo>
                  <a:pt x="2187486" y="679113"/>
                </a:lnTo>
                <a:lnTo>
                  <a:pt x="2190170" y="679113"/>
                </a:lnTo>
                <a:lnTo>
                  <a:pt x="2190170" y="678232"/>
                </a:lnTo>
                <a:lnTo>
                  <a:pt x="2192888" y="678232"/>
                </a:lnTo>
                <a:lnTo>
                  <a:pt x="2192888" y="677368"/>
                </a:lnTo>
                <a:lnTo>
                  <a:pt x="2198322" y="677368"/>
                </a:lnTo>
                <a:lnTo>
                  <a:pt x="2198322" y="673892"/>
                </a:lnTo>
                <a:lnTo>
                  <a:pt x="2203756" y="673892"/>
                </a:lnTo>
                <a:lnTo>
                  <a:pt x="2203756" y="673027"/>
                </a:lnTo>
                <a:lnTo>
                  <a:pt x="2211875" y="673027"/>
                </a:lnTo>
                <a:lnTo>
                  <a:pt x="2211875" y="672146"/>
                </a:lnTo>
                <a:lnTo>
                  <a:pt x="2228177" y="672146"/>
                </a:lnTo>
                <a:lnTo>
                  <a:pt x="2228177" y="671265"/>
                </a:lnTo>
                <a:lnTo>
                  <a:pt x="2236296" y="671265"/>
                </a:lnTo>
                <a:lnTo>
                  <a:pt x="2236296" y="668638"/>
                </a:lnTo>
                <a:lnTo>
                  <a:pt x="2239045" y="668638"/>
                </a:lnTo>
                <a:lnTo>
                  <a:pt x="2239045" y="665994"/>
                </a:lnTo>
                <a:lnTo>
                  <a:pt x="2241730" y="665994"/>
                </a:lnTo>
                <a:lnTo>
                  <a:pt x="2241730" y="665113"/>
                </a:lnTo>
                <a:lnTo>
                  <a:pt x="2247165" y="665113"/>
                </a:lnTo>
                <a:lnTo>
                  <a:pt x="2247165" y="664216"/>
                </a:lnTo>
                <a:lnTo>
                  <a:pt x="2252598" y="664216"/>
                </a:lnTo>
                <a:lnTo>
                  <a:pt x="2252598" y="663335"/>
                </a:lnTo>
                <a:lnTo>
                  <a:pt x="2260749" y="663335"/>
                </a:lnTo>
                <a:lnTo>
                  <a:pt x="2260749" y="662437"/>
                </a:lnTo>
                <a:lnTo>
                  <a:pt x="2271585" y="662437"/>
                </a:lnTo>
                <a:lnTo>
                  <a:pt x="2271585" y="661540"/>
                </a:lnTo>
                <a:lnTo>
                  <a:pt x="2279736" y="661540"/>
                </a:lnTo>
                <a:lnTo>
                  <a:pt x="2279736" y="658864"/>
                </a:lnTo>
                <a:lnTo>
                  <a:pt x="2282453" y="658864"/>
                </a:lnTo>
                <a:lnTo>
                  <a:pt x="2282453" y="657966"/>
                </a:lnTo>
                <a:lnTo>
                  <a:pt x="2285171" y="657966"/>
                </a:lnTo>
                <a:lnTo>
                  <a:pt x="2285171" y="657053"/>
                </a:lnTo>
                <a:lnTo>
                  <a:pt x="2290605" y="657053"/>
                </a:lnTo>
                <a:lnTo>
                  <a:pt x="2290605" y="656155"/>
                </a:lnTo>
                <a:lnTo>
                  <a:pt x="2293290" y="656155"/>
                </a:lnTo>
                <a:lnTo>
                  <a:pt x="2293290" y="654344"/>
                </a:lnTo>
                <a:lnTo>
                  <a:pt x="2298724" y="654344"/>
                </a:lnTo>
                <a:lnTo>
                  <a:pt x="2298724" y="653430"/>
                </a:lnTo>
                <a:lnTo>
                  <a:pt x="2301441" y="653430"/>
                </a:lnTo>
                <a:lnTo>
                  <a:pt x="2301441" y="652533"/>
                </a:lnTo>
                <a:lnTo>
                  <a:pt x="2304158" y="652533"/>
                </a:lnTo>
                <a:lnTo>
                  <a:pt x="2304158" y="651619"/>
                </a:lnTo>
                <a:lnTo>
                  <a:pt x="2312309" y="651619"/>
                </a:lnTo>
                <a:lnTo>
                  <a:pt x="2312309" y="650705"/>
                </a:lnTo>
                <a:lnTo>
                  <a:pt x="2315026" y="650705"/>
                </a:lnTo>
                <a:lnTo>
                  <a:pt x="2315026" y="649791"/>
                </a:lnTo>
                <a:lnTo>
                  <a:pt x="2317743" y="649791"/>
                </a:lnTo>
                <a:lnTo>
                  <a:pt x="2317743" y="647964"/>
                </a:lnTo>
                <a:lnTo>
                  <a:pt x="2336730" y="647964"/>
                </a:lnTo>
                <a:lnTo>
                  <a:pt x="2336730" y="647050"/>
                </a:lnTo>
                <a:lnTo>
                  <a:pt x="2339447" y="647050"/>
                </a:lnTo>
                <a:lnTo>
                  <a:pt x="2339447" y="645206"/>
                </a:lnTo>
                <a:lnTo>
                  <a:pt x="2342164" y="645206"/>
                </a:lnTo>
                <a:lnTo>
                  <a:pt x="2342164" y="643378"/>
                </a:lnTo>
                <a:lnTo>
                  <a:pt x="2347598" y="643378"/>
                </a:lnTo>
                <a:lnTo>
                  <a:pt x="2347598" y="641518"/>
                </a:lnTo>
                <a:lnTo>
                  <a:pt x="2350283" y="641518"/>
                </a:lnTo>
                <a:lnTo>
                  <a:pt x="2350283" y="640604"/>
                </a:lnTo>
                <a:lnTo>
                  <a:pt x="2355717" y="640604"/>
                </a:lnTo>
                <a:lnTo>
                  <a:pt x="2355717" y="639675"/>
                </a:lnTo>
                <a:lnTo>
                  <a:pt x="2361151" y="639675"/>
                </a:lnTo>
                <a:lnTo>
                  <a:pt x="2361151" y="638761"/>
                </a:lnTo>
                <a:lnTo>
                  <a:pt x="2363868" y="638761"/>
                </a:lnTo>
                <a:lnTo>
                  <a:pt x="2363868" y="637831"/>
                </a:lnTo>
                <a:lnTo>
                  <a:pt x="2372019" y="637831"/>
                </a:lnTo>
                <a:lnTo>
                  <a:pt x="2372019" y="636884"/>
                </a:lnTo>
                <a:lnTo>
                  <a:pt x="2374704" y="636884"/>
                </a:lnTo>
                <a:lnTo>
                  <a:pt x="2374704" y="635024"/>
                </a:lnTo>
                <a:lnTo>
                  <a:pt x="2377453" y="635024"/>
                </a:lnTo>
                <a:lnTo>
                  <a:pt x="2377453" y="634094"/>
                </a:lnTo>
                <a:lnTo>
                  <a:pt x="2382855" y="634094"/>
                </a:lnTo>
                <a:lnTo>
                  <a:pt x="2382855" y="632217"/>
                </a:lnTo>
                <a:lnTo>
                  <a:pt x="2388289" y="632217"/>
                </a:lnTo>
                <a:lnTo>
                  <a:pt x="2388289" y="631287"/>
                </a:lnTo>
                <a:lnTo>
                  <a:pt x="2415427" y="631287"/>
                </a:lnTo>
                <a:lnTo>
                  <a:pt x="2415427" y="629378"/>
                </a:lnTo>
                <a:lnTo>
                  <a:pt x="2418145" y="629378"/>
                </a:lnTo>
                <a:lnTo>
                  <a:pt x="2418145" y="628432"/>
                </a:lnTo>
                <a:lnTo>
                  <a:pt x="2426264" y="628432"/>
                </a:lnTo>
                <a:lnTo>
                  <a:pt x="2426264" y="627469"/>
                </a:lnTo>
                <a:lnTo>
                  <a:pt x="2434447" y="627469"/>
                </a:lnTo>
                <a:lnTo>
                  <a:pt x="2434447" y="626506"/>
                </a:lnTo>
                <a:lnTo>
                  <a:pt x="2437132" y="626506"/>
                </a:lnTo>
                <a:lnTo>
                  <a:pt x="2437132" y="624581"/>
                </a:lnTo>
                <a:lnTo>
                  <a:pt x="2439848" y="624581"/>
                </a:lnTo>
                <a:lnTo>
                  <a:pt x="2439848" y="623618"/>
                </a:lnTo>
                <a:lnTo>
                  <a:pt x="2448000" y="623618"/>
                </a:lnTo>
                <a:lnTo>
                  <a:pt x="2448000" y="622656"/>
                </a:lnTo>
                <a:lnTo>
                  <a:pt x="2453434" y="622656"/>
                </a:lnTo>
                <a:lnTo>
                  <a:pt x="2453434" y="621677"/>
                </a:lnTo>
                <a:lnTo>
                  <a:pt x="2456151" y="621677"/>
                </a:lnTo>
                <a:lnTo>
                  <a:pt x="2456151" y="620714"/>
                </a:lnTo>
                <a:lnTo>
                  <a:pt x="2472421" y="620714"/>
                </a:lnTo>
                <a:lnTo>
                  <a:pt x="2472421" y="619735"/>
                </a:lnTo>
                <a:lnTo>
                  <a:pt x="2483257" y="619735"/>
                </a:lnTo>
                <a:lnTo>
                  <a:pt x="2483257" y="617760"/>
                </a:lnTo>
                <a:lnTo>
                  <a:pt x="2488691" y="617760"/>
                </a:lnTo>
                <a:lnTo>
                  <a:pt x="2488691" y="616765"/>
                </a:lnTo>
                <a:lnTo>
                  <a:pt x="2504993" y="616765"/>
                </a:lnTo>
                <a:lnTo>
                  <a:pt x="2504993" y="615753"/>
                </a:lnTo>
                <a:lnTo>
                  <a:pt x="2518546" y="615753"/>
                </a:lnTo>
                <a:lnTo>
                  <a:pt x="2518546" y="614742"/>
                </a:lnTo>
                <a:lnTo>
                  <a:pt x="2523980" y="614742"/>
                </a:lnTo>
                <a:lnTo>
                  <a:pt x="2523980" y="613730"/>
                </a:lnTo>
                <a:lnTo>
                  <a:pt x="2526697" y="613730"/>
                </a:lnTo>
                <a:lnTo>
                  <a:pt x="2526697" y="612718"/>
                </a:lnTo>
                <a:lnTo>
                  <a:pt x="2532131" y="612718"/>
                </a:lnTo>
                <a:lnTo>
                  <a:pt x="2532131" y="611690"/>
                </a:lnTo>
                <a:lnTo>
                  <a:pt x="2537565" y="611690"/>
                </a:lnTo>
                <a:lnTo>
                  <a:pt x="2537565" y="610678"/>
                </a:lnTo>
                <a:lnTo>
                  <a:pt x="2542968" y="610678"/>
                </a:lnTo>
                <a:lnTo>
                  <a:pt x="2542968" y="609651"/>
                </a:lnTo>
                <a:lnTo>
                  <a:pt x="2545717" y="609651"/>
                </a:lnTo>
                <a:lnTo>
                  <a:pt x="2545717" y="607611"/>
                </a:lnTo>
                <a:lnTo>
                  <a:pt x="2548401" y="607611"/>
                </a:lnTo>
                <a:lnTo>
                  <a:pt x="2548401" y="605555"/>
                </a:lnTo>
                <a:lnTo>
                  <a:pt x="2551150" y="605555"/>
                </a:lnTo>
                <a:lnTo>
                  <a:pt x="2551150" y="603499"/>
                </a:lnTo>
                <a:lnTo>
                  <a:pt x="2553836" y="603499"/>
                </a:lnTo>
                <a:lnTo>
                  <a:pt x="2553836" y="602471"/>
                </a:lnTo>
                <a:lnTo>
                  <a:pt x="2556552" y="602471"/>
                </a:lnTo>
                <a:lnTo>
                  <a:pt x="2556552" y="600398"/>
                </a:lnTo>
                <a:lnTo>
                  <a:pt x="2564671" y="600398"/>
                </a:lnTo>
                <a:lnTo>
                  <a:pt x="2564671" y="599371"/>
                </a:lnTo>
                <a:lnTo>
                  <a:pt x="2572855" y="599371"/>
                </a:lnTo>
                <a:lnTo>
                  <a:pt x="2572855" y="598326"/>
                </a:lnTo>
                <a:lnTo>
                  <a:pt x="2575539" y="598326"/>
                </a:lnTo>
                <a:lnTo>
                  <a:pt x="2575539" y="597298"/>
                </a:lnTo>
                <a:lnTo>
                  <a:pt x="2581006" y="597298"/>
                </a:lnTo>
                <a:lnTo>
                  <a:pt x="2581006" y="596254"/>
                </a:lnTo>
                <a:lnTo>
                  <a:pt x="2583690" y="596254"/>
                </a:lnTo>
                <a:lnTo>
                  <a:pt x="2583690" y="595210"/>
                </a:lnTo>
                <a:lnTo>
                  <a:pt x="2594558" y="595210"/>
                </a:lnTo>
                <a:lnTo>
                  <a:pt x="2594558" y="593088"/>
                </a:lnTo>
                <a:lnTo>
                  <a:pt x="2599961" y="593088"/>
                </a:lnTo>
                <a:lnTo>
                  <a:pt x="2599961" y="589923"/>
                </a:lnTo>
                <a:lnTo>
                  <a:pt x="2610829" y="589923"/>
                </a:lnTo>
                <a:lnTo>
                  <a:pt x="2610829" y="585631"/>
                </a:lnTo>
                <a:lnTo>
                  <a:pt x="2613546" y="585631"/>
                </a:lnTo>
                <a:lnTo>
                  <a:pt x="2613546" y="584571"/>
                </a:lnTo>
                <a:lnTo>
                  <a:pt x="2621697" y="584571"/>
                </a:lnTo>
                <a:lnTo>
                  <a:pt x="2621697" y="582417"/>
                </a:lnTo>
                <a:lnTo>
                  <a:pt x="2627131" y="582417"/>
                </a:lnTo>
                <a:lnTo>
                  <a:pt x="2627131" y="581340"/>
                </a:lnTo>
                <a:lnTo>
                  <a:pt x="2629848" y="581340"/>
                </a:lnTo>
                <a:lnTo>
                  <a:pt x="2629848" y="580263"/>
                </a:lnTo>
                <a:lnTo>
                  <a:pt x="2635250" y="580263"/>
                </a:lnTo>
                <a:lnTo>
                  <a:pt x="2635250" y="579186"/>
                </a:lnTo>
                <a:lnTo>
                  <a:pt x="2637999" y="579186"/>
                </a:lnTo>
                <a:lnTo>
                  <a:pt x="2637999" y="577016"/>
                </a:lnTo>
                <a:lnTo>
                  <a:pt x="2640684" y="577016"/>
                </a:lnTo>
                <a:lnTo>
                  <a:pt x="2640684" y="575939"/>
                </a:lnTo>
                <a:lnTo>
                  <a:pt x="2643401" y="575939"/>
                </a:lnTo>
                <a:lnTo>
                  <a:pt x="2643401" y="573769"/>
                </a:lnTo>
                <a:lnTo>
                  <a:pt x="2651552" y="573769"/>
                </a:lnTo>
                <a:lnTo>
                  <a:pt x="2651552" y="572675"/>
                </a:lnTo>
                <a:lnTo>
                  <a:pt x="2654269" y="572675"/>
                </a:lnTo>
                <a:lnTo>
                  <a:pt x="2654269" y="571582"/>
                </a:lnTo>
                <a:lnTo>
                  <a:pt x="2656954" y="571582"/>
                </a:lnTo>
                <a:lnTo>
                  <a:pt x="2656954" y="570489"/>
                </a:lnTo>
                <a:lnTo>
                  <a:pt x="2662388" y="570489"/>
                </a:lnTo>
                <a:lnTo>
                  <a:pt x="2662388" y="569396"/>
                </a:lnTo>
                <a:lnTo>
                  <a:pt x="2670539" y="569396"/>
                </a:lnTo>
                <a:lnTo>
                  <a:pt x="2670539" y="568286"/>
                </a:lnTo>
                <a:lnTo>
                  <a:pt x="2673288" y="568286"/>
                </a:lnTo>
                <a:lnTo>
                  <a:pt x="2673288" y="567193"/>
                </a:lnTo>
                <a:lnTo>
                  <a:pt x="2684124" y="567193"/>
                </a:lnTo>
                <a:lnTo>
                  <a:pt x="2684124" y="566083"/>
                </a:lnTo>
                <a:lnTo>
                  <a:pt x="2689559" y="566083"/>
                </a:lnTo>
                <a:lnTo>
                  <a:pt x="2689559" y="563848"/>
                </a:lnTo>
                <a:lnTo>
                  <a:pt x="2692243" y="563848"/>
                </a:lnTo>
                <a:lnTo>
                  <a:pt x="2692243" y="562738"/>
                </a:lnTo>
                <a:lnTo>
                  <a:pt x="2697678" y="562738"/>
                </a:lnTo>
                <a:lnTo>
                  <a:pt x="2697678" y="561612"/>
                </a:lnTo>
                <a:lnTo>
                  <a:pt x="2705829" y="561612"/>
                </a:lnTo>
                <a:lnTo>
                  <a:pt x="2705829" y="560486"/>
                </a:lnTo>
                <a:lnTo>
                  <a:pt x="2724848" y="560486"/>
                </a:lnTo>
                <a:lnTo>
                  <a:pt x="2724848" y="559360"/>
                </a:lnTo>
                <a:lnTo>
                  <a:pt x="2727532" y="559360"/>
                </a:lnTo>
                <a:lnTo>
                  <a:pt x="2727532" y="558218"/>
                </a:lnTo>
                <a:lnTo>
                  <a:pt x="2730250" y="558218"/>
                </a:lnTo>
                <a:lnTo>
                  <a:pt x="2730250" y="557076"/>
                </a:lnTo>
                <a:lnTo>
                  <a:pt x="2732967" y="557076"/>
                </a:lnTo>
                <a:lnTo>
                  <a:pt x="2732967" y="555934"/>
                </a:lnTo>
                <a:lnTo>
                  <a:pt x="2735684" y="555934"/>
                </a:lnTo>
                <a:lnTo>
                  <a:pt x="2735684" y="554792"/>
                </a:lnTo>
                <a:lnTo>
                  <a:pt x="2738369" y="554792"/>
                </a:lnTo>
                <a:lnTo>
                  <a:pt x="2738369" y="553649"/>
                </a:lnTo>
                <a:lnTo>
                  <a:pt x="2743803" y="553649"/>
                </a:lnTo>
                <a:lnTo>
                  <a:pt x="2743803" y="552491"/>
                </a:lnTo>
                <a:lnTo>
                  <a:pt x="2749237" y="552491"/>
                </a:lnTo>
                <a:lnTo>
                  <a:pt x="2749237" y="551348"/>
                </a:lnTo>
                <a:lnTo>
                  <a:pt x="2754703" y="551348"/>
                </a:lnTo>
                <a:lnTo>
                  <a:pt x="2754703" y="550190"/>
                </a:lnTo>
                <a:lnTo>
                  <a:pt x="2765539" y="550190"/>
                </a:lnTo>
                <a:lnTo>
                  <a:pt x="2765539" y="547856"/>
                </a:lnTo>
                <a:lnTo>
                  <a:pt x="2800828" y="547856"/>
                </a:lnTo>
                <a:lnTo>
                  <a:pt x="2800828" y="546665"/>
                </a:lnTo>
                <a:lnTo>
                  <a:pt x="2808947" y="546665"/>
                </a:lnTo>
                <a:lnTo>
                  <a:pt x="2808947" y="545474"/>
                </a:lnTo>
                <a:lnTo>
                  <a:pt x="2814381" y="545474"/>
                </a:lnTo>
                <a:lnTo>
                  <a:pt x="2814381" y="541868"/>
                </a:lnTo>
                <a:lnTo>
                  <a:pt x="2827966" y="541868"/>
                </a:lnTo>
                <a:lnTo>
                  <a:pt x="2827966" y="538246"/>
                </a:lnTo>
                <a:lnTo>
                  <a:pt x="2836085" y="538246"/>
                </a:lnTo>
                <a:lnTo>
                  <a:pt x="2836085" y="537038"/>
                </a:lnTo>
                <a:lnTo>
                  <a:pt x="2841552" y="537038"/>
                </a:lnTo>
                <a:lnTo>
                  <a:pt x="2841552" y="535814"/>
                </a:lnTo>
                <a:lnTo>
                  <a:pt x="2846954" y="535814"/>
                </a:lnTo>
                <a:lnTo>
                  <a:pt x="2846954" y="534591"/>
                </a:lnTo>
                <a:lnTo>
                  <a:pt x="2863256" y="534591"/>
                </a:lnTo>
                <a:lnTo>
                  <a:pt x="2863256" y="533367"/>
                </a:lnTo>
                <a:lnTo>
                  <a:pt x="2871375" y="533367"/>
                </a:lnTo>
                <a:lnTo>
                  <a:pt x="2871375" y="532127"/>
                </a:lnTo>
                <a:lnTo>
                  <a:pt x="2876777" y="532127"/>
                </a:lnTo>
                <a:lnTo>
                  <a:pt x="2876777" y="530887"/>
                </a:lnTo>
                <a:lnTo>
                  <a:pt x="2879526" y="530887"/>
                </a:lnTo>
                <a:lnTo>
                  <a:pt x="2879526" y="529663"/>
                </a:lnTo>
                <a:lnTo>
                  <a:pt x="2895796" y="529663"/>
                </a:lnTo>
                <a:lnTo>
                  <a:pt x="2895796" y="527166"/>
                </a:lnTo>
                <a:lnTo>
                  <a:pt x="2909381" y="527166"/>
                </a:lnTo>
                <a:lnTo>
                  <a:pt x="2909381" y="525910"/>
                </a:lnTo>
                <a:lnTo>
                  <a:pt x="2914815" y="525910"/>
                </a:lnTo>
                <a:lnTo>
                  <a:pt x="2914815" y="524653"/>
                </a:lnTo>
                <a:lnTo>
                  <a:pt x="2922934" y="524653"/>
                </a:lnTo>
                <a:lnTo>
                  <a:pt x="2922934" y="523380"/>
                </a:lnTo>
                <a:lnTo>
                  <a:pt x="2928400" y="523380"/>
                </a:lnTo>
                <a:lnTo>
                  <a:pt x="2928400" y="522108"/>
                </a:lnTo>
                <a:lnTo>
                  <a:pt x="2931085" y="522108"/>
                </a:lnTo>
                <a:lnTo>
                  <a:pt x="2931085" y="519546"/>
                </a:lnTo>
                <a:lnTo>
                  <a:pt x="2933802" y="519546"/>
                </a:lnTo>
                <a:lnTo>
                  <a:pt x="2933802" y="518273"/>
                </a:lnTo>
                <a:lnTo>
                  <a:pt x="2939237" y="518273"/>
                </a:lnTo>
                <a:lnTo>
                  <a:pt x="2939237" y="516984"/>
                </a:lnTo>
                <a:lnTo>
                  <a:pt x="2947356" y="516984"/>
                </a:lnTo>
                <a:lnTo>
                  <a:pt x="2947356" y="515695"/>
                </a:lnTo>
                <a:lnTo>
                  <a:pt x="2950104" y="515695"/>
                </a:lnTo>
                <a:lnTo>
                  <a:pt x="2950104" y="514406"/>
                </a:lnTo>
                <a:lnTo>
                  <a:pt x="2955506" y="514406"/>
                </a:lnTo>
                <a:lnTo>
                  <a:pt x="2955506" y="513101"/>
                </a:lnTo>
                <a:lnTo>
                  <a:pt x="2958223" y="513101"/>
                </a:lnTo>
                <a:lnTo>
                  <a:pt x="2958223" y="511795"/>
                </a:lnTo>
                <a:lnTo>
                  <a:pt x="2960940" y="511795"/>
                </a:lnTo>
                <a:lnTo>
                  <a:pt x="2960940" y="510474"/>
                </a:lnTo>
                <a:lnTo>
                  <a:pt x="2988078" y="510474"/>
                </a:lnTo>
                <a:lnTo>
                  <a:pt x="2988078" y="506508"/>
                </a:lnTo>
                <a:lnTo>
                  <a:pt x="2990796" y="506508"/>
                </a:lnTo>
                <a:lnTo>
                  <a:pt x="2990796" y="505187"/>
                </a:lnTo>
                <a:lnTo>
                  <a:pt x="2996230" y="505187"/>
                </a:lnTo>
                <a:lnTo>
                  <a:pt x="2996230" y="503849"/>
                </a:lnTo>
                <a:lnTo>
                  <a:pt x="2998915" y="503849"/>
                </a:lnTo>
                <a:lnTo>
                  <a:pt x="2998915" y="502527"/>
                </a:lnTo>
                <a:lnTo>
                  <a:pt x="3007065" y="502527"/>
                </a:lnTo>
                <a:lnTo>
                  <a:pt x="3007065" y="501189"/>
                </a:lnTo>
                <a:lnTo>
                  <a:pt x="3012500" y="501189"/>
                </a:lnTo>
                <a:lnTo>
                  <a:pt x="3012500" y="499851"/>
                </a:lnTo>
                <a:lnTo>
                  <a:pt x="3015217" y="499851"/>
                </a:lnTo>
                <a:lnTo>
                  <a:pt x="3015217" y="497175"/>
                </a:lnTo>
                <a:lnTo>
                  <a:pt x="3053223" y="497175"/>
                </a:lnTo>
                <a:lnTo>
                  <a:pt x="3053223" y="495788"/>
                </a:lnTo>
                <a:lnTo>
                  <a:pt x="3058625" y="495788"/>
                </a:lnTo>
                <a:lnTo>
                  <a:pt x="3058625" y="494417"/>
                </a:lnTo>
                <a:lnTo>
                  <a:pt x="3066808" y="494417"/>
                </a:lnTo>
                <a:lnTo>
                  <a:pt x="3066808" y="493014"/>
                </a:lnTo>
                <a:lnTo>
                  <a:pt x="3069493" y="493014"/>
                </a:lnTo>
                <a:lnTo>
                  <a:pt x="3069493" y="490240"/>
                </a:lnTo>
                <a:lnTo>
                  <a:pt x="3083079" y="490240"/>
                </a:lnTo>
                <a:lnTo>
                  <a:pt x="3083079" y="488837"/>
                </a:lnTo>
                <a:lnTo>
                  <a:pt x="3085763" y="488837"/>
                </a:lnTo>
                <a:lnTo>
                  <a:pt x="3085763" y="486014"/>
                </a:lnTo>
                <a:lnTo>
                  <a:pt x="3088512" y="486014"/>
                </a:lnTo>
                <a:lnTo>
                  <a:pt x="3088512" y="484610"/>
                </a:lnTo>
                <a:lnTo>
                  <a:pt x="3102097" y="484610"/>
                </a:lnTo>
                <a:lnTo>
                  <a:pt x="3102097" y="483191"/>
                </a:lnTo>
                <a:lnTo>
                  <a:pt x="3112933" y="483191"/>
                </a:lnTo>
                <a:lnTo>
                  <a:pt x="3112933" y="481755"/>
                </a:lnTo>
                <a:lnTo>
                  <a:pt x="3115618" y="481755"/>
                </a:lnTo>
                <a:lnTo>
                  <a:pt x="3115618" y="480319"/>
                </a:lnTo>
                <a:lnTo>
                  <a:pt x="3134638" y="480319"/>
                </a:lnTo>
                <a:lnTo>
                  <a:pt x="3134638" y="478867"/>
                </a:lnTo>
                <a:lnTo>
                  <a:pt x="3140072" y="478867"/>
                </a:lnTo>
                <a:lnTo>
                  <a:pt x="3140072" y="477415"/>
                </a:lnTo>
                <a:lnTo>
                  <a:pt x="3178046" y="477415"/>
                </a:lnTo>
                <a:lnTo>
                  <a:pt x="3178046" y="475930"/>
                </a:lnTo>
                <a:lnTo>
                  <a:pt x="3186197" y="475930"/>
                </a:lnTo>
                <a:lnTo>
                  <a:pt x="3186197" y="474428"/>
                </a:lnTo>
                <a:lnTo>
                  <a:pt x="3188914" y="474428"/>
                </a:lnTo>
                <a:lnTo>
                  <a:pt x="3188914" y="472927"/>
                </a:lnTo>
                <a:lnTo>
                  <a:pt x="3205216" y="472927"/>
                </a:lnTo>
                <a:lnTo>
                  <a:pt x="3205216" y="471426"/>
                </a:lnTo>
                <a:lnTo>
                  <a:pt x="3213335" y="471426"/>
                </a:lnTo>
                <a:lnTo>
                  <a:pt x="3213335" y="469909"/>
                </a:lnTo>
                <a:lnTo>
                  <a:pt x="3218769" y="469909"/>
                </a:lnTo>
                <a:lnTo>
                  <a:pt x="3218769" y="466874"/>
                </a:lnTo>
                <a:lnTo>
                  <a:pt x="3229605" y="466874"/>
                </a:lnTo>
                <a:lnTo>
                  <a:pt x="3229605" y="465356"/>
                </a:lnTo>
                <a:lnTo>
                  <a:pt x="3232322" y="465356"/>
                </a:lnTo>
                <a:lnTo>
                  <a:pt x="3232322" y="463822"/>
                </a:lnTo>
                <a:lnTo>
                  <a:pt x="3237756" y="463822"/>
                </a:lnTo>
                <a:lnTo>
                  <a:pt x="3237756" y="462288"/>
                </a:lnTo>
                <a:lnTo>
                  <a:pt x="3240505" y="462288"/>
                </a:lnTo>
                <a:lnTo>
                  <a:pt x="3240505" y="460755"/>
                </a:lnTo>
                <a:lnTo>
                  <a:pt x="3245908" y="460755"/>
                </a:lnTo>
                <a:lnTo>
                  <a:pt x="3245908" y="459221"/>
                </a:lnTo>
                <a:lnTo>
                  <a:pt x="3248624" y="459221"/>
                </a:lnTo>
                <a:lnTo>
                  <a:pt x="3248624" y="457687"/>
                </a:lnTo>
                <a:lnTo>
                  <a:pt x="3251342" y="457687"/>
                </a:lnTo>
                <a:lnTo>
                  <a:pt x="3251342" y="456137"/>
                </a:lnTo>
                <a:lnTo>
                  <a:pt x="3270328" y="456137"/>
                </a:lnTo>
                <a:lnTo>
                  <a:pt x="3270328" y="454570"/>
                </a:lnTo>
                <a:lnTo>
                  <a:pt x="3273046" y="454570"/>
                </a:lnTo>
                <a:lnTo>
                  <a:pt x="3273046" y="453004"/>
                </a:lnTo>
                <a:lnTo>
                  <a:pt x="3281197" y="453004"/>
                </a:lnTo>
                <a:lnTo>
                  <a:pt x="3281197" y="449838"/>
                </a:lnTo>
                <a:lnTo>
                  <a:pt x="3292065" y="449838"/>
                </a:lnTo>
                <a:lnTo>
                  <a:pt x="3292065" y="448239"/>
                </a:lnTo>
                <a:lnTo>
                  <a:pt x="3297467" y="448239"/>
                </a:lnTo>
                <a:lnTo>
                  <a:pt x="3297467" y="446640"/>
                </a:lnTo>
                <a:lnTo>
                  <a:pt x="3305618" y="446640"/>
                </a:lnTo>
                <a:lnTo>
                  <a:pt x="3305618" y="443425"/>
                </a:lnTo>
                <a:lnTo>
                  <a:pt x="3321920" y="443425"/>
                </a:lnTo>
                <a:lnTo>
                  <a:pt x="3321920" y="441810"/>
                </a:lnTo>
                <a:lnTo>
                  <a:pt x="3324605" y="441810"/>
                </a:lnTo>
                <a:lnTo>
                  <a:pt x="3324605" y="440178"/>
                </a:lnTo>
                <a:lnTo>
                  <a:pt x="3332756" y="440178"/>
                </a:lnTo>
                <a:lnTo>
                  <a:pt x="3332756" y="438547"/>
                </a:lnTo>
                <a:lnTo>
                  <a:pt x="3343624" y="438547"/>
                </a:lnTo>
                <a:lnTo>
                  <a:pt x="3343624" y="436899"/>
                </a:lnTo>
                <a:lnTo>
                  <a:pt x="3346309" y="436899"/>
                </a:lnTo>
                <a:lnTo>
                  <a:pt x="3346309" y="435267"/>
                </a:lnTo>
                <a:lnTo>
                  <a:pt x="3368045" y="435267"/>
                </a:lnTo>
                <a:lnTo>
                  <a:pt x="3368045" y="433586"/>
                </a:lnTo>
                <a:lnTo>
                  <a:pt x="3416888" y="433586"/>
                </a:lnTo>
                <a:lnTo>
                  <a:pt x="3416888" y="431873"/>
                </a:lnTo>
                <a:lnTo>
                  <a:pt x="3425039" y="431873"/>
                </a:lnTo>
                <a:lnTo>
                  <a:pt x="3425039" y="430127"/>
                </a:lnTo>
                <a:lnTo>
                  <a:pt x="3427724" y="430127"/>
                </a:lnTo>
                <a:lnTo>
                  <a:pt x="3427724" y="428381"/>
                </a:lnTo>
                <a:lnTo>
                  <a:pt x="3441309" y="428381"/>
                </a:lnTo>
                <a:lnTo>
                  <a:pt x="3441309" y="426602"/>
                </a:lnTo>
                <a:lnTo>
                  <a:pt x="3463013" y="426602"/>
                </a:lnTo>
                <a:lnTo>
                  <a:pt x="3463013" y="424824"/>
                </a:lnTo>
                <a:lnTo>
                  <a:pt x="3487434" y="424824"/>
                </a:lnTo>
                <a:lnTo>
                  <a:pt x="3487434" y="422996"/>
                </a:lnTo>
                <a:lnTo>
                  <a:pt x="3514572" y="422996"/>
                </a:lnTo>
                <a:lnTo>
                  <a:pt x="3514572" y="421136"/>
                </a:lnTo>
                <a:lnTo>
                  <a:pt x="3528157" y="421136"/>
                </a:lnTo>
                <a:lnTo>
                  <a:pt x="3528157" y="419260"/>
                </a:lnTo>
                <a:lnTo>
                  <a:pt x="3539026" y="419260"/>
                </a:lnTo>
                <a:lnTo>
                  <a:pt x="3539026" y="417350"/>
                </a:lnTo>
                <a:lnTo>
                  <a:pt x="3552611" y="417350"/>
                </a:lnTo>
                <a:lnTo>
                  <a:pt x="3552611" y="415425"/>
                </a:lnTo>
                <a:lnTo>
                  <a:pt x="3555295" y="415425"/>
                </a:lnTo>
                <a:lnTo>
                  <a:pt x="3555295" y="413499"/>
                </a:lnTo>
                <a:lnTo>
                  <a:pt x="3560730" y="413499"/>
                </a:lnTo>
                <a:lnTo>
                  <a:pt x="3560730" y="411558"/>
                </a:lnTo>
                <a:lnTo>
                  <a:pt x="3568881" y="411558"/>
                </a:lnTo>
                <a:lnTo>
                  <a:pt x="3568881" y="409583"/>
                </a:lnTo>
                <a:lnTo>
                  <a:pt x="3577000" y="409583"/>
                </a:lnTo>
                <a:lnTo>
                  <a:pt x="3577000" y="407593"/>
                </a:lnTo>
                <a:lnTo>
                  <a:pt x="3579717" y="407593"/>
                </a:lnTo>
                <a:lnTo>
                  <a:pt x="3579717" y="405585"/>
                </a:lnTo>
                <a:lnTo>
                  <a:pt x="3590585" y="405585"/>
                </a:lnTo>
                <a:lnTo>
                  <a:pt x="3590585" y="403562"/>
                </a:lnTo>
                <a:lnTo>
                  <a:pt x="3598736" y="403562"/>
                </a:lnTo>
                <a:lnTo>
                  <a:pt x="3598736" y="401506"/>
                </a:lnTo>
                <a:lnTo>
                  <a:pt x="3606855" y="401506"/>
                </a:lnTo>
                <a:lnTo>
                  <a:pt x="3606855" y="399434"/>
                </a:lnTo>
                <a:lnTo>
                  <a:pt x="3625874" y="399434"/>
                </a:lnTo>
                <a:lnTo>
                  <a:pt x="3625874" y="397296"/>
                </a:lnTo>
                <a:lnTo>
                  <a:pt x="3642144" y="397296"/>
                </a:lnTo>
                <a:lnTo>
                  <a:pt x="3642144" y="395126"/>
                </a:lnTo>
                <a:lnTo>
                  <a:pt x="3661163" y="395126"/>
                </a:lnTo>
                <a:lnTo>
                  <a:pt x="3661163" y="392907"/>
                </a:lnTo>
                <a:lnTo>
                  <a:pt x="3666566" y="392907"/>
                </a:lnTo>
                <a:lnTo>
                  <a:pt x="3666566" y="390688"/>
                </a:lnTo>
                <a:lnTo>
                  <a:pt x="3726276" y="390688"/>
                </a:lnTo>
                <a:lnTo>
                  <a:pt x="3726276" y="388306"/>
                </a:lnTo>
                <a:lnTo>
                  <a:pt x="3750697" y="388306"/>
                </a:lnTo>
                <a:lnTo>
                  <a:pt x="3750697" y="385842"/>
                </a:lnTo>
                <a:lnTo>
                  <a:pt x="3785986" y="385842"/>
                </a:lnTo>
                <a:lnTo>
                  <a:pt x="3785986" y="383263"/>
                </a:lnTo>
                <a:lnTo>
                  <a:pt x="3802289" y="383263"/>
                </a:lnTo>
                <a:lnTo>
                  <a:pt x="3802289" y="380603"/>
                </a:lnTo>
                <a:lnTo>
                  <a:pt x="3821243" y="380603"/>
                </a:lnTo>
                <a:lnTo>
                  <a:pt x="3821243" y="377879"/>
                </a:lnTo>
                <a:lnTo>
                  <a:pt x="3826678" y="377879"/>
                </a:lnTo>
                <a:lnTo>
                  <a:pt x="3826678" y="375137"/>
                </a:lnTo>
                <a:lnTo>
                  <a:pt x="3856533" y="375137"/>
                </a:lnTo>
                <a:lnTo>
                  <a:pt x="3856533" y="372298"/>
                </a:lnTo>
                <a:lnTo>
                  <a:pt x="3861967" y="372298"/>
                </a:lnTo>
                <a:lnTo>
                  <a:pt x="3861967" y="369443"/>
                </a:lnTo>
                <a:lnTo>
                  <a:pt x="3878237" y="369443"/>
                </a:lnTo>
                <a:lnTo>
                  <a:pt x="3878237" y="366506"/>
                </a:lnTo>
                <a:lnTo>
                  <a:pt x="3886388" y="366506"/>
                </a:lnTo>
                <a:lnTo>
                  <a:pt x="3886388" y="363552"/>
                </a:lnTo>
                <a:lnTo>
                  <a:pt x="3913526" y="363552"/>
                </a:lnTo>
                <a:lnTo>
                  <a:pt x="3913526" y="360435"/>
                </a:lnTo>
                <a:lnTo>
                  <a:pt x="3932545" y="360435"/>
                </a:lnTo>
                <a:lnTo>
                  <a:pt x="3932545" y="357172"/>
                </a:lnTo>
                <a:lnTo>
                  <a:pt x="3946131" y="357172"/>
                </a:lnTo>
                <a:lnTo>
                  <a:pt x="3946131" y="353843"/>
                </a:lnTo>
                <a:lnTo>
                  <a:pt x="3962400" y="353843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5" name="published_curve_cv_Финеренон">
            <a:extLst>
              <a:ext uri="{FF2B5EF4-FFF2-40B4-BE49-F238E27FC236}">
                <a16:creationId xmlns:a16="http://schemas.microsoft.com/office/drawing/2014/main" id="{674455AD-2D15-4648-AA2B-CC16317A6F02}"/>
              </a:ext>
            </a:extLst>
          </p:cNvPr>
          <p:cNvSpPr>
            <a:spLocks noGrp="1"/>
          </p:cNvSpPr>
          <p:nvPr/>
        </p:nvSpPr>
        <p:spPr>
          <a:xfrm>
            <a:off x="9906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0" y="1178980"/>
                </a:moveTo>
                <a:lnTo>
                  <a:pt x="2717" y="1178980"/>
                </a:lnTo>
                <a:lnTo>
                  <a:pt x="2717" y="1178245"/>
                </a:lnTo>
                <a:lnTo>
                  <a:pt x="8151" y="1178245"/>
                </a:lnTo>
                <a:lnTo>
                  <a:pt x="8151" y="1177527"/>
                </a:lnTo>
                <a:lnTo>
                  <a:pt x="13553" y="1177527"/>
                </a:lnTo>
                <a:lnTo>
                  <a:pt x="13553" y="1176793"/>
                </a:lnTo>
                <a:lnTo>
                  <a:pt x="21704" y="1176793"/>
                </a:lnTo>
                <a:lnTo>
                  <a:pt x="21704" y="1176059"/>
                </a:lnTo>
                <a:lnTo>
                  <a:pt x="27138" y="1176059"/>
                </a:lnTo>
                <a:lnTo>
                  <a:pt x="27138" y="1175357"/>
                </a:lnTo>
                <a:lnTo>
                  <a:pt x="32572" y="1175357"/>
                </a:lnTo>
                <a:lnTo>
                  <a:pt x="32572" y="1173187"/>
                </a:lnTo>
                <a:lnTo>
                  <a:pt x="35289" y="1173187"/>
                </a:lnTo>
                <a:lnTo>
                  <a:pt x="35289" y="1171718"/>
                </a:lnTo>
                <a:lnTo>
                  <a:pt x="46125" y="1171718"/>
                </a:lnTo>
                <a:lnTo>
                  <a:pt x="46125" y="1171000"/>
                </a:lnTo>
                <a:lnTo>
                  <a:pt x="48842" y="1171000"/>
                </a:lnTo>
                <a:lnTo>
                  <a:pt x="48842" y="1170266"/>
                </a:lnTo>
                <a:lnTo>
                  <a:pt x="54276" y="1170266"/>
                </a:lnTo>
                <a:lnTo>
                  <a:pt x="54276" y="1168830"/>
                </a:lnTo>
                <a:lnTo>
                  <a:pt x="62428" y="1168830"/>
                </a:lnTo>
                <a:lnTo>
                  <a:pt x="62428" y="1168096"/>
                </a:lnTo>
                <a:lnTo>
                  <a:pt x="67829" y="1168096"/>
                </a:lnTo>
                <a:lnTo>
                  <a:pt x="67829" y="1166660"/>
                </a:lnTo>
                <a:lnTo>
                  <a:pt x="70578" y="1166660"/>
                </a:lnTo>
                <a:lnTo>
                  <a:pt x="70578" y="1165191"/>
                </a:lnTo>
                <a:lnTo>
                  <a:pt x="73264" y="1165191"/>
                </a:lnTo>
                <a:lnTo>
                  <a:pt x="73264" y="1164473"/>
                </a:lnTo>
                <a:lnTo>
                  <a:pt x="78698" y="1164473"/>
                </a:lnTo>
                <a:lnTo>
                  <a:pt x="78698" y="1163021"/>
                </a:lnTo>
                <a:lnTo>
                  <a:pt x="81414" y="1163021"/>
                </a:lnTo>
                <a:lnTo>
                  <a:pt x="81414" y="1161569"/>
                </a:lnTo>
                <a:lnTo>
                  <a:pt x="89566" y="1161569"/>
                </a:lnTo>
                <a:lnTo>
                  <a:pt x="89566" y="1160851"/>
                </a:lnTo>
                <a:lnTo>
                  <a:pt x="92282" y="1160851"/>
                </a:lnTo>
                <a:lnTo>
                  <a:pt x="92282" y="1160133"/>
                </a:lnTo>
                <a:lnTo>
                  <a:pt x="95000" y="1160133"/>
                </a:lnTo>
                <a:lnTo>
                  <a:pt x="95000" y="1159399"/>
                </a:lnTo>
                <a:lnTo>
                  <a:pt x="97717" y="1159399"/>
                </a:lnTo>
                <a:lnTo>
                  <a:pt x="97717" y="1157229"/>
                </a:lnTo>
                <a:lnTo>
                  <a:pt x="100402" y="1157229"/>
                </a:lnTo>
                <a:lnTo>
                  <a:pt x="100402" y="1156494"/>
                </a:lnTo>
                <a:lnTo>
                  <a:pt x="105836" y="1156494"/>
                </a:lnTo>
                <a:lnTo>
                  <a:pt x="105836" y="1155776"/>
                </a:lnTo>
                <a:lnTo>
                  <a:pt x="132974" y="1155776"/>
                </a:lnTo>
                <a:lnTo>
                  <a:pt x="132974" y="1153606"/>
                </a:lnTo>
                <a:lnTo>
                  <a:pt x="143842" y="1153606"/>
                </a:lnTo>
                <a:lnTo>
                  <a:pt x="143842" y="1152872"/>
                </a:lnTo>
                <a:lnTo>
                  <a:pt x="146559" y="1152872"/>
                </a:lnTo>
                <a:lnTo>
                  <a:pt x="146559" y="1152154"/>
                </a:lnTo>
                <a:lnTo>
                  <a:pt x="149276" y="1152154"/>
                </a:lnTo>
                <a:lnTo>
                  <a:pt x="149276" y="1151420"/>
                </a:lnTo>
                <a:lnTo>
                  <a:pt x="154710" y="1151420"/>
                </a:lnTo>
                <a:lnTo>
                  <a:pt x="154710" y="1150702"/>
                </a:lnTo>
                <a:lnTo>
                  <a:pt x="157395" y="1150702"/>
                </a:lnTo>
                <a:lnTo>
                  <a:pt x="157395" y="1149984"/>
                </a:lnTo>
                <a:lnTo>
                  <a:pt x="160112" y="1149984"/>
                </a:lnTo>
                <a:lnTo>
                  <a:pt x="160112" y="1149249"/>
                </a:lnTo>
                <a:lnTo>
                  <a:pt x="165546" y="1149249"/>
                </a:lnTo>
                <a:lnTo>
                  <a:pt x="165546" y="1147797"/>
                </a:lnTo>
                <a:lnTo>
                  <a:pt x="168263" y="1147797"/>
                </a:lnTo>
                <a:lnTo>
                  <a:pt x="168263" y="1147079"/>
                </a:lnTo>
                <a:lnTo>
                  <a:pt x="170980" y="1147079"/>
                </a:lnTo>
                <a:lnTo>
                  <a:pt x="170980" y="1146345"/>
                </a:lnTo>
                <a:lnTo>
                  <a:pt x="176414" y="1146345"/>
                </a:lnTo>
                <a:lnTo>
                  <a:pt x="176414" y="1144893"/>
                </a:lnTo>
                <a:lnTo>
                  <a:pt x="189967" y="1144893"/>
                </a:lnTo>
                <a:lnTo>
                  <a:pt x="189967" y="1144158"/>
                </a:lnTo>
                <a:lnTo>
                  <a:pt x="192684" y="1144158"/>
                </a:lnTo>
                <a:lnTo>
                  <a:pt x="192684" y="1143457"/>
                </a:lnTo>
                <a:lnTo>
                  <a:pt x="198118" y="1143457"/>
                </a:lnTo>
                <a:lnTo>
                  <a:pt x="198118" y="1142722"/>
                </a:lnTo>
                <a:lnTo>
                  <a:pt x="203552" y="1142722"/>
                </a:lnTo>
                <a:lnTo>
                  <a:pt x="203552" y="1141270"/>
                </a:lnTo>
                <a:lnTo>
                  <a:pt x="211704" y="1141270"/>
                </a:lnTo>
                <a:lnTo>
                  <a:pt x="211704" y="1139100"/>
                </a:lnTo>
                <a:lnTo>
                  <a:pt x="214389" y="1139100"/>
                </a:lnTo>
                <a:lnTo>
                  <a:pt x="214389" y="1137632"/>
                </a:lnTo>
                <a:lnTo>
                  <a:pt x="217106" y="1137632"/>
                </a:lnTo>
                <a:lnTo>
                  <a:pt x="217106" y="1136930"/>
                </a:lnTo>
                <a:lnTo>
                  <a:pt x="219823" y="1136930"/>
                </a:lnTo>
                <a:lnTo>
                  <a:pt x="219823" y="1135461"/>
                </a:lnTo>
                <a:lnTo>
                  <a:pt x="222540" y="1135461"/>
                </a:lnTo>
                <a:lnTo>
                  <a:pt x="222540" y="1134743"/>
                </a:lnTo>
                <a:lnTo>
                  <a:pt x="236124" y="1134743"/>
                </a:lnTo>
                <a:lnTo>
                  <a:pt x="236124" y="1134025"/>
                </a:lnTo>
                <a:lnTo>
                  <a:pt x="238842" y="1134025"/>
                </a:lnTo>
                <a:lnTo>
                  <a:pt x="238842" y="1133291"/>
                </a:lnTo>
                <a:lnTo>
                  <a:pt x="249678" y="1133291"/>
                </a:lnTo>
                <a:lnTo>
                  <a:pt x="249678" y="1132573"/>
                </a:lnTo>
                <a:lnTo>
                  <a:pt x="271382" y="1132573"/>
                </a:lnTo>
                <a:lnTo>
                  <a:pt x="271382" y="1131839"/>
                </a:lnTo>
                <a:lnTo>
                  <a:pt x="274099" y="1131839"/>
                </a:lnTo>
                <a:lnTo>
                  <a:pt x="274099" y="1129669"/>
                </a:lnTo>
                <a:lnTo>
                  <a:pt x="284967" y="1129669"/>
                </a:lnTo>
                <a:lnTo>
                  <a:pt x="284967" y="1128934"/>
                </a:lnTo>
                <a:lnTo>
                  <a:pt x="287684" y="1128934"/>
                </a:lnTo>
                <a:lnTo>
                  <a:pt x="287684" y="1128216"/>
                </a:lnTo>
                <a:lnTo>
                  <a:pt x="290401" y="1128216"/>
                </a:lnTo>
                <a:lnTo>
                  <a:pt x="290401" y="1127482"/>
                </a:lnTo>
                <a:lnTo>
                  <a:pt x="293118" y="1127482"/>
                </a:lnTo>
                <a:lnTo>
                  <a:pt x="293118" y="1126748"/>
                </a:lnTo>
                <a:lnTo>
                  <a:pt x="295803" y="1126748"/>
                </a:lnTo>
                <a:lnTo>
                  <a:pt x="295803" y="1125312"/>
                </a:lnTo>
                <a:lnTo>
                  <a:pt x="301237" y="1125312"/>
                </a:lnTo>
                <a:lnTo>
                  <a:pt x="301237" y="1124578"/>
                </a:lnTo>
                <a:lnTo>
                  <a:pt x="306671" y="1124578"/>
                </a:lnTo>
                <a:lnTo>
                  <a:pt x="306671" y="1123860"/>
                </a:lnTo>
                <a:lnTo>
                  <a:pt x="309388" y="1123860"/>
                </a:lnTo>
                <a:lnTo>
                  <a:pt x="309388" y="1122407"/>
                </a:lnTo>
                <a:lnTo>
                  <a:pt x="312105" y="1122407"/>
                </a:lnTo>
                <a:lnTo>
                  <a:pt x="312105" y="1121689"/>
                </a:lnTo>
                <a:lnTo>
                  <a:pt x="314822" y="1121689"/>
                </a:lnTo>
                <a:lnTo>
                  <a:pt x="314822" y="1120955"/>
                </a:lnTo>
                <a:lnTo>
                  <a:pt x="317539" y="1120955"/>
                </a:lnTo>
                <a:lnTo>
                  <a:pt x="317539" y="1120221"/>
                </a:lnTo>
                <a:lnTo>
                  <a:pt x="320256" y="1120221"/>
                </a:lnTo>
                <a:lnTo>
                  <a:pt x="320256" y="1119519"/>
                </a:lnTo>
                <a:lnTo>
                  <a:pt x="322973" y="1119519"/>
                </a:lnTo>
                <a:lnTo>
                  <a:pt x="322973" y="1118051"/>
                </a:lnTo>
                <a:lnTo>
                  <a:pt x="325690" y="1118051"/>
                </a:lnTo>
                <a:lnTo>
                  <a:pt x="325690" y="1115880"/>
                </a:lnTo>
                <a:lnTo>
                  <a:pt x="328375" y="1115880"/>
                </a:lnTo>
                <a:lnTo>
                  <a:pt x="328375" y="1115163"/>
                </a:lnTo>
                <a:lnTo>
                  <a:pt x="331092" y="1115163"/>
                </a:lnTo>
                <a:lnTo>
                  <a:pt x="331092" y="1114428"/>
                </a:lnTo>
                <a:lnTo>
                  <a:pt x="339244" y="1114428"/>
                </a:lnTo>
                <a:lnTo>
                  <a:pt x="339244" y="1113710"/>
                </a:lnTo>
                <a:lnTo>
                  <a:pt x="341960" y="1113710"/>
                </a:lnTo>
                <a:lnTo>
                  <a:pt x="341960" y="1111540"/>
                </a:lnTo>
                <a:lnTo>
                  <a:pt x="347394" y="1111540"/>
                </a:lnTo>
                <a:lnTo>
                  <a:pt x="347394" y="1110806"/>
                </a:lnTo>
                <a:lnTo>
                  <a:pt x="352828" y="1110806"/>
                </a:lnTo>
                <a:lnTo>
                  <a:pt x="352828" y="1110071"/>
                </a:lnTo>
                <a:lnTo>
                  <a:pt x="358231" y="1110071"/>
                </a:lnTo>
                <a:lnTo>
                  <a:pt x="358231" y="1109353"/>
                </a:lnTo>
                <a:lnTo>
                  <a:pt x="363665" y="1109353"/>
                </a:lnTo>
                <a:lnTo>
                  <a:pt x="363665" y="1108635"/>
                </a:lnTo>
                <a:lnTo>
                  <a:pt x="366382" y="1108635"/>
                </a:lnTo>
                <a:lnTo>
                  <a:pt x="366382" y="1106449"/>
                </a:lnTo>
                <a:lnTo>
                  <a:pt x="371816" y="1106449"/>
                </a:lnTo>
                <a:lnTo>
                  <a:pt x="371816" y="1104997"/>
                </a:lnTo>
                <a:lnTo>
                  <a:pt x="379967" y="1104997"/>
                </a:lnTo>
                <a:lnTo>
                  <a:pt x="379967" y="1102827"/>
                </a:lnTo>
                <a:lnTo>
                  <a:pt x="385369" y="1102827"/>
                </a:lnTo>
                <a:lnTo>
                  <a:pt x="385369" y="1102092"/>
                </a:lnTo>
                <a:lnTo>
                  <a:pt x="388086" y="1102092"/>
                </a:lnTo>
                <a:lnTo>
                  <a:pt x="388086" y="1101358"/>
                </a:lnTo>
                <a:lnTo>
                  <a:pt x="396237" y="1101358"/>
                </a:lnTo>
                <a:lnTo>
                  <a:pt x="396237" y="1100640"/>
                </a:lnTo>
                <a:lnTo>
                  <a:pt x="398954" y="1100640"/>
                </a:lnTo>
                <a:lnTo>
                  <a:pt x="398954" y="1099922"/>
                </a:lnTo>
                <a:lnTo>
                  <a:pt x="401671" y="1099922"/>
                </a:lnTo>
                <a:lnTo>
                  <a:pt x="401671" y="1098470"/>
                </a:lnTo>
                <a:lnTo>
                  <a:pt x="407105" y="1098470"/>
                </a:lnTo>
                <a:lnTo>
                  <a:pt x="407105" y="1097001"/>
                </a:lnTo>
                <a:lnTo>
                  <a:pt x="409790" y="1097001"/>
                </a:lnTo>
                <a:lnTo>
                  <a:pt x="409790" y="1095565"/>
                </a:lnTo>
                <a:lnTo>
                  <a:pt x="412539" y="1095565"/>
                </a:lnTo>
                <a:lnTo>
                  <a:pt x="412539" y="1093379"/>
                </a:lnTo>
                <a:lnTo>
                  <a:pt x="417941" y="1093379"/>
                </a:lnTo>
                <a:lnTo>
                  <a:pt x="417941" y="1092644"/>
                </a:lnTo>
                <a:lnTo>
                  <a:pt x="420658" y="1092644"/>
                </a:lnTo>
                <a:lnTo>
                  <a:pt x="420658" y="1091926"/>
                </a:lnTo>
                <a:lnTo>
                  <a:pt x="423375" y="1091926"/>
                </a:lnTo>
                <a:lnTo>
                  <a:pt x="423375" y="1091209"/>
                </a:lnTo>
                <a:lnTo>
                  <a:pt x="428809" y="1091209"/>
                </a:lnTo>
                <a:lnTo>
                  <a:pt x="428809" y="1089756"/>
                </a:lnTo>
                <a:lnTo>
                  <a:pt x="442362" y="1089756"/>
                </a:lnTo>
                <a:lnTo>
                  <a:pt x="442362" y="1088304"/>
                </a:lnTo>
                <a:lnTo>
                  <a:pt x="445079" y="1088304"/>
                </a:lnTo>
                <a:lnTo>
                  <a:pt x="445079" y="1087586"/>
                </a:lnTo>
                <a:lnTo>
                  <a:pt x="450513" y="1087586"/>
                </a:lnTo>
                <a:lnTo>
                  <a:pt x="450513" y="1086852"/>
                </a:lnTo>
                <a:lnTo>
                  <a:pt x="453230" y="1086852"/>
                </a:lnTo>
                <a:lnTo>
                  <a:pt x="453230" y="1086118"/>
                </a:lnTo>
                <a:lnTo>
                  <a:pt x="458664" y="1086118"/>
                </a:lnTo>
                <a:lnTo>
                  <a:pt x="458664" y="1085400"/>
                </a:lnTo>
                <a:lnTo>
                  <a:pt x="466815" y="1085400"/>
                </a:lnTo>
                <a:lnTo>
                  <a:pt x="466815" y="1084665"/>
                </a:lnTo>
                <a:lnTo>
                  <a:pt x="474934" y="1084665"/>
                </a:lnTo>
                <a:lnTo>
                  <a:pt x="474934" y="1083213"/>
                </a:lnTo>
                <a:lnTo>
                  <a:pt x="477651" y="1083213"/>
                </a:lnTo>
                <a:lnTo>
                  <a:pt x="477651" y="1082495"/>
                </a:lnTo>
                <a:lnTo>
                  <a:pt x="483086" y="1082495"/>
                </a:lnTo>
                <a:lnTo>
                  <a:pt x="483086" y="1081777"/>
                </a:lnTo>
                <a:lnTo>
                  <a:pt x="493954" y="1081777"/>
                </a:lnTo>
                <a:lnTo>
                  <a:pt x="493954" y="1081043"/>
                </a:lnTo>
                <a:lnTo>
                  <a:pt x="502073" y="1081043"/>
                </a:lnTo>
                <a:lnTo>
                  <a:pt x="502073" y="1079591"/>
                </a:lnTo>
                <a:lnTo>
                  <a:pt x="504790" y="1079591"/>
                </a:lnTo>
                <a:lnTo>
                  <a:pt x="504790" y="1078138"/>
                </a:lnTo>
                <a:lnTo>
                  <a:pt x="512941" y="1078138"/>
                </a:lnTo>
                <a:lnTo>
                  <a:pt x="512941" y="1077420"/>
                </a:lnTo>
                <a:lnTo>
                  <a:pt x="515658" y="1077420"/>
                </a:lnTo>
                <a:lnTo>
                  <a:pt x="515658" y="1075952"/>
                </a:lnTo>
                <a:lnTo>
                  <a:pt x="518375" y="1075952"/>
                </a:lnTo>
                <a:lnTo>
                  <a:pt x="518375" y="1075234"/>
                </a:lnTo>
                <a:lnTo>
                  <a:pt x="521092" y="1075234"/>
                </a:lnTo>
                <a:lnTo>
                  <a:pt x="521092" y="1074500"/>
                </a:lnTo>
                <a:lnTo>
                  <a:pt x="523809" y="1074500"/>
                </a:lnTo>
                <a:lnTo>
                  <a:pt x="523809" y="1073782"/>
                </a:lnTo>
                <a:lnTo>
                  <a:pt x="529211" y="1073782"/>
                </a:lnTo>
                <a:lnTo>
                  <a:pt x="529211" y="1072329"/>
                </a:lnTo>
                <a:lnTo>
                  <a:pt x="531928" y="1072329"/>
                </a:lnTo>
                <a:lnTo>
                  <a:pt x="531928" y="1070143"/>
                </a:lnTo>
                <a:lnTo>
                  <a:pt x="545513" y="1070143"/>
                </a:lnTo>
                <a:lnTo>
                  <a:pt x="545513" y="1069425"/>
                </a:lnTo>
                <a:lnTo>
                  <a:pt x="550947" y="1069425"/>
                </a:lnTo>
                <a:lnTo>
                  <a:pt x="550947" y="1067973"/>
                </a:lnTo>
                <a:lnTo>
                  <a:pt x="553632" y="1067973"/>
                </a:lnTo>
                <a:lnTo>
                  <a:pt x="553632" y="1066520"/>
                </a:lnTo>
                <a:lnTo>
                  <a:pt x="559066" y="1066520"/>
                </a:lnTo>
                <a:lnTo>
                  <a:pt x="559066" y="1065052"/>
                </a:lnTo>
                <a:lnTo>
                  <a:pt x="567217" y="1065052"/>
                </a:lnTo>
                <a:lnTo>
                  <a:pt x="567217" y="1064350"/>
                </a:lnTo>
                <a:lnTo>
                  <a:pt x="575368" y="1064350"/>
                </a:lnTo>
                <a:lnTo>
                  <a:pt x="575368" y="1063616"/>
                </a:lnTo>
                <a:lnTo>
                  <a:pt x="578085" y="1063616"/>
                </a:lnTo>
                <a:lnTo>
                  <a:pt x="578085" y="1062164"/>
                </a:lnTo>
                <a:lnTo>
                  <a:pt x="580802" y="1062164"/>
                </a:lnTo>
                <a:lnTo>
                  <a:pt x="580802" y="1061429"/>
                </a:lnTo>
                <a:lnTo>
                  <a:pt x="588921" y="1061429"/>
                </a:lnTo>
                <a:lnTo>
                  <a:pt x="588921" y="1059994"/>
                </a:lnTo>
                <a:lnTo>
                  <a:pt x="591638" y="1059994"/>
                </a:lnTo>
                <a:lnTo>
                  <a:pt x="591638" y="1059259"/>
                </a:lnTo>
                <a:lnTo>
                  <a:pt x="594355" y="1059259"/>
                </a:lnTo>
                <a:lnTo>
                  <a:pt x="594355" y="1057807"/>
                </a:lnTo>
                <a:lnTo>
                  <a:pt x="599789" y="1057807"/>
                </a:lnTo>
                <a:lnTo>
                  <a:pt x="599789" y="1057073"/>
                </a:lnTo>
                <a:lnTo>
                  <a:pt x="610625" y="1057073"/>
                </a:lnTo>
                <a:lnTo>
                  <a:pt x="610625" y="1056355"/>
                </a:lnTo>
                <a:lnTo>
                  <a:pt x="613374" y="1056355"/>
                </a:lnTo>
                <a:lnTo>
                  <a:pt x="613374" y="1055637"/>
                </a:lnTo>
                <a:lnTo>
                  <a:pt x="618777" y="1055637"/>
                </a:lnTo>
                <a:lnTo>
                  <a:pt x="618777" y="1054185"/>
                </a:lnTo>
                <a:lnTo>
                  <a:pt x="624210" y="1054185"/>
                </a:lnTo>
                <a:lnTo>
                  <a:pt x="624210" y="1053450"/>
                </a:lnTo>
                <a:lnTo>
                  <a:pt x="629644" y="1053450"/>
                </a:lnTo>
                <a:lnTo>
                  <a:pt x="629644" y="1052716"/>
                </a:lnTo>
                <a:lnTo>
                  <a:pt x="640512" y="1052716"/>
                </a:lnTo>
                <a:lnTo>
                  <a:pt x="640512" y="1052014"/>
                </a:lnTo>
                <a:lnTo>
                  <a:pt x="643197" y="1052014"/>
                </a:lnTo>
                <a:lnTo>
                  <a:pt x="643197" y="1050546"/>
                </a:lnTo>
                <a:lnTo>
                  <a:pt x="645915" y="1050546"/>
                </a:lnTo>
                <a:lnTo>
                  <a:pt x="645915" y="1048359"/>
                </a:lnTo>
                <a:lnTo>
                  <a:pt x="648632" y="1048359"/>
                </a:lnTo>
                <a:lnTo>
                  <a:pt x="648632" y="1046923"/>
                </a:lnTo>
                <a:lnTo>
                  <a:pt x="654066" y="1046923"/>
                </a:lnTo>
                <a:lnTo>
                  <a:pt x="654066" y="1046189"/>
                </a:lnTo>
                <a:lnTo>
                  <a:pt x="656783" y="1046189"/>
                </a:lnTo>
                <a:lnTo>
                  <a:pt x="656783" y="1045471"/>
                </a:lnTo>
                <a:lnTo>
                  <a:pt x="659500" y="1045471"/>
                </a:lnTo>
                <a:lnTo>
                  <a:pt x="659500" y="1044737"/>
                </a:lnTo>
                <a:lnTo>
                  <a:pt x="667619" y="1044737"/>
                </a:lnTo>
                <a:lnTo>
                  <a:pt x="667619" y="1042550"/>
                </a:lnTo>
                <a:lnTo>
                  <a:pt x="670336" y="1042550"/>
                </a:lnTo>
                <a:lnTo>
                  <a:pt x="670336" y="1041816"/>
                </a:lnTo>
                <a:lnTo>
                  <a:pt x="673053" y="1041816"/>
                </a:lnTo>
                <a:lnTo>
                  <a:pt x="673053" y="1041114"/>
                </a:lnTo>
                <a:lnTo>
                  <a:pt x="681204" y="1041114"/>
                </a:lnTo>
                <a:lnTo>
                  <a:pt x="681204" y="1040380"/>
                </a:lnTo>
                <a:lnTo>
                  <a:pt x="683921" y="1040380"/>
                </a:lnTo>
                <a:lnTo>
                  <a:pt x="683921" y="1039646"/>
                </a:lnTo>
                <a:lnTo>
                  <a:pt x="686638" y="1039646"/>
                </a:lnTo>
                <a:lnTo>
                  <a:pt x="686638" y="1038928"/>
                </a:lnTo>
                <a:lnTo>
                  <a:pt x="694789" y="1038928"/>
                </a:lnTo>
                <a:lnTo>
                  <a:pt x="694789" y="1038193"/>
                </a:lnTo>
                <a:lnTo>
                  <a:pt x="697474" y="1038193"/>
                </a:lnTo>
                <a:lnTo>
                  <a:pt x="697474" y="1037459"/>
                </a:lnTo>
                <a:lnTo>
                  <a:pt x="705625" y="1037459"/>
                </a:lnTo>
                <a:lnTo>
                  <a:pt x="705625" y="1036757"/>
                </a:lnTo>
                <a:lnTo>
                  <a:pt x="713776" y="1036757"/>
                </a:lnTo>
                <a:lnTo>
                  <a:pt x="713776" y="1036023"/>
                </a:lnTo>
                <a:lnTo>
                  <a:pt x="716493" y="1036023"/>
                </a:lnTo>
                <a:lnTo>
                  <a:pt x="716493" y="1034571"/>
                </a:lnTo>
                <a:lnTo>
                  <a:pt x="721927" y="1034571"/>
                </a:lnTo>
                <a:lnTo>
                  <a:pt x="721927" y="1033837"/>
                </a:lnTo>
                <a:lnTo>
                  <a:pt x="730046" y="1033837"/>
                </a:lnTo>
                <a:lnTo>
                  <a:pt x="730046" y="1033102"/>
                </a:lnTo>
                <a:lnTo>
                  <a:pt x="732763" y="1033102"/>
                </a:lnTo>
                <a:lnTo>
                  <a:pt x="732763" y="1032385"/>
                </a:lnTo>
                <a:lnTo>
                  <a:pt x="735480" y="1032385"/>
                </a:lnTo>
                <a:lnTo>
                  <a:pt x="735480" y="1030932"/>
                </a:lnTo>
                <a:lnTo>
                  <a:pt x="738197" y="1030932"/>
                </a:lnTo>
                <a:lnTo>
                  <a:pt x="738197" y="1030214"/>
                </a:lnTo>
                <a:lnTo>
                  <a:pt x="743631" y="1030214"/>
                </a:lnTo>
                <a:lnTo>
                  <a:pt x="743631" y="1029480"/>
                </a:lnTo>
                <a:lnTo>
                  <a:pt x="757185" y="1029480"/>
                </a:lnTo>
                <a:lnTo>
                  <a:pt x="757185" y="1028762"/>
                </a:lnTo>
                <a:lnTo>
                  <a:pt x="759901" y="1028762"/>
                </a:lnTo>
                <a:lnTo>
                  <a:pt x="759901" y="1028028"/>
                </a:lnTo>
                <a:lnTo>
                  <a:pt x="762619" y="1028028"/>
                </a:lnTo>
                <a:lnTo>
                  <a:pt x="762619" y="1026576"/>
                </a:lnTo>
                <a:lnTo>
                  <a:pt x="770770" y="1026576"/>
                </a:lnTo>
                <a:lnTo>
                  <a:pt x="770770" y="1025123"/>
                </a:lnTo>
                <a:lnTo>
                  <a:pt x="773487" y="1025123"/>
                </a:lnTo>
                <a:lnTo>
                  <a:pt x="773487" y="1023671"/>
                </a:lnTo>
                <a:lnTo>
                  <a:pt x="781606" y="1023671"/>
                </a:lnTo>
                <a:lnTo>
                  <a:pt x="781606" y="1022219"/>
                </a:lnTo>
                <a:lnTo>
                  <a:pt x="784323" y="1022219"/>
                </a:lnTo>
                <a:lnTo>
                  <a:pt x="784323" y="1020048"/>
                </a:lnTo>
                <a:lnTo>
                  <a:pt x="787039" y="1020048"/>
                </a:lnTo>
                <a:lnTo>
                  <a:pt x="787039" y="1019314"/>
                </a:lnTo>
                <a:lnTo>
                  <a:pt x="797908" y="1019314"/>
                </a:lnTo>
                <a:lnTo>
                  <a:pt x="797908" y="1017128"/>
                </a:lnTo>
                <a:lnTo>
                  <a:pt x="814178" y="1017128"/>
                </a:lnTo>
                <a:lnTo>
                  <a:pt x="814178" y="1015692"/>
                </a:lnTo>
                <a:lnTo>
                  <a:pt x="819612" y="1015692"/>
                </a:lnTo>
                <a:lnTo>
                  <a:pt x="819612" y="1014957"/>
                </a:lnTo>
                <a:lnTo>
                  <a:pt x="822329" y="1014957"/>
                </a:lnTo>
                <a:lnTo>
                  <a:pt x="822329" y="1014223"/>
                </a:lnTo>
                <a:lnTo>
                  <a:pt x="841348" y="1014223"/>
                </a:lnTo>
                <a:lnTo>
                  <a:pt x="841348" y="1013505"/>
                </a:lnTo>
                <a:lnTo>
                  <a:pt x="852184" y="1013505"/>
                </a:lnTo>
                <a:lnTo>
                  <a:pt x="852184" y="1012771"/>
                </a:lnTo>
                <a:lnTo>
                  <a:pt x="854901" y="1012771"/>
                </a:lnTo>
                <a:lnTo>
                  <a:pt x="854901" y="1012037"/>
                </a:lnTo>
                <a:lnTo>
                  <a:pt x="857618" y="1012037"/>
                </a:lnTo>
                <a:lnTo>
                  <a:pt x="857618" y="1010584"/>
                </a:lnTo>
                <a:lnTo>
                  <a:pt x="860335" y="1010584"/>
                </a:lnTo>
                <a:lnTo>
                  <a:pt x="860335" y="1009867"/>
                </a:lnTo>
                <a:lnTo>
                  <a:pt x="865769" y="1009867"/>
                </a:lnTo>
                <a:lnTo>
                  <a:pt x="865769" y="1009148"/>
                </a:lnTo>
                <a:lnTo>
                  <a:pt x="868454" y="1009148"/>
                </a:lnTo>
                <a:lnTo>
                  <a:pt x="868454" y="1008414"/>
                </a:lnTo>
                <a:lnTo>
                  <a:pt x="873888" y="1008414"/>
                </a:lnTo>
                <a:lnTo>
                  <a:pt x="873888" y="1007696"/>
                </a:lnTo>
                <a:lnTo>
                  <a:pt x="876605" y="1007696"/>
                </a:lnTo>
                <a:lnTo>
                  <a:pt x="876605" y="1006962"/>
                </a:lnTo>
                <a:lnTo>
                  <a:pt x="879322" y="1006962"/>
                </a:lnTo>
                <a:lnTo>
                  <a:pt x="879322" y="1006228"/>
                </a:lnTo>
                <a:lnTo>
                  <a:pt x="890190" y="1006228"/>
                </a:lnTo>
                <a:lnTo>
                  <a:pt x="890190" y="1005510"/>
                </a:lnTo>
                <a:lnTo>
                  <a:pt x="898309" y="1005510"/>
                </a:lnTo>
                <a:lnTo>
                  <a:pt x="898309" y="1004776"/>
                </a:lnTo>
                <a:lnTo>
                  <a:pt x="901027" y="1004776"/>
                </a:lnTo>
                <a:lnTo>
                  <a:pt x="901027" y="1004057"/>
                </a:lnTo>
                <a:lnTo>
                  <a:pt x="909178" y="1004057"/>
                </a:lnTo>
                <a:lnTo>
                  <a:pt x="909178" y="1001871"/>
                </a:lnTo>
                <a:lnTo>
                  <a:pt x="911895" y="1001871"/>
                </a:lnTo>
                <a:lnTo>
                  <a:pt x="911895" y="1001153"/>
                </a:lnTo>
                <a:lnTo>
                  <a:pt x="920046" y="1001153"/>
                </a:lnTo>
                <a:lnTo>
                  <a:pt x="920046" y="1000419"/>
                </a:lnTo>
                <a:lnTo>
                  <a:pt x="922731" y="1000419"/>
                </a:lnTo>
                <a:lnTo>
                  <a:pt x="922731" y="999701"/>
                </a:lnTo>
                <a:lnTo>
                  <a:pt x="925480" y="999701"/>
                </a:lnTo>
                <a:lnTo>
                  <a:pt x="925480" y="998248"/>
                </a:lnTo>
                <a:lnTo>
                  <a:pt x="928165" y="998248"/>
                </a:lnTo>
                <a:lnTo>
                  <a:pt x="928165" y="996062"/>
                </a:lnTo>
                <a:lnTo>
                  <a:pt x="933599" y="996062"/>
                </a:lnTo>
                <a:lnTo>
                  <a:pt x="933599" y="995328"/>
                </a:lnTo>
                <a:lnTo>
                  <a:pt x="936316" y="995328"/>
                </a:lnTo>
                <a:lnTo>
                  <a:pt x="936316" y="994610"/>
                </a:lnTo>
                <a:lnTo>
                  <a:pt x="941750" y="994610"/>
                </a:lnTo>
                <a:lnTo>
                  <a:pt x="941750" y="993892"/>
                </a:lnTo>
                <a:lnTo>
                  <a:pt x="947184" y="993892"/>
                </a:lnTo>
                <a:lnTo>
                  <a:pt x="947184" y="993157"/>
                </a:lnTo>
                <a:lnTo>
                  <a:pt x="949869" y="993157"/>
                </a:lnTo>
                <a:lnTo>
                  <a:pt x="949869" y="992439"/>
                </a:lnTo>
                <a:lnTo>
                  <a:pt x="955303" y="992439"/>
                </a:lnTo>
                <a:lnTo>
                  <a:pt x="955303" y="991705"/>
                </a:lnTo>
                <a:lnTo>
                  <a:pt x="958020" y="991705"/>
                </a:lnTo>
                <a:lnTo>
                  <a:pt x="958020" y="990971"/>
                </a:lnTo>
                <a:lnTo>
                  <a:pt x="960737" y="990971"/>
                </a:lnTo>
                <a:lnTo>
                  <a:pt x="960737" y="990253"/>
                </a:lnTo>
                <a:lnTo>
                  <a:pt x="963454" y="990253"/>
                </a:lnTo>
                <a:lnTo>
                  <a:pt x="963454" y="989519"/>
                </a:lnTo>
                <a:lnTo>
                  <a:pt x="977039" y="989519"/>
                </a:lnTo>
                <a:lnTo>
                  <a:pt x="977039" y="988784"/>
                </a:lnTo>
                <a:lnTo>
                  <a:pt x="982473" y="988784"/>
                </a:lnTo>
                <a:lnTo>
                  <a:pt x="982473" y="988083"/>
                </a:lnTo>
                <a:lnTo>
                  <a:pt x="990592" y="988083"/>
                </a:lnTo>
                <a:lnTo>
                  <a:pt x="990592" y="986614"/>
                </a:lnTo>
                <a:lnTo>
                  <a:pt x="993309" y="986614"/>
                </a:lnTo>
                <a:lnTo>
                  <a:pt x="993309" y="985896"/>
                </a:lnTo>
                <a:lnTo>
                  <a:pt x="998743" y="985896"/>
                </a:lnTo>
                <a:lnTo>
                  <a:pt x="998743" y="985162"/>
                </a:lnTo>
                <a:lnTo>
                  <a:pt x="1006894" y="985162"/>
                </a:lnTo>
                <a:lnTo>
                  <a:pt x="1006894" y="983710"/>
                </a:lnTo>
                <a:lnTo>
                  <a:pt x="1009579" y="983710"/>
                </a:lnTo>
                <a:lnTo>
                  <a:pt x="1009579" y="982992"/>
                </a:lnTo>
                <a:lnTo>
                  <a:pt x="1012328" y="982992"/>
                </a:lnTo>
                <a:lnTo>
                  <a:pt x="1012328" y="981539"/>
                </a:lnTo>
                <a:lnTo>
                  <a:pt x="1015013" y="981539"/>
                </a:lnTo>
                <a:lnTo>
                  <a:pt x="1015013" y="980805"/>
                </a:lnTo>
                <a:lnTo>
                  <a:pt x="1023164" y="980805"/>
                </a:lnTo>
                <a:lnTo>
                  <a:pt x="1023164" y="980087"/>
                </a:lnTo>
                <a:lnTo>
                  <a:pt x="1025882" y="980087"/>
                </a:lnTo>
                <a:lnTo>
                  <a:pt x="1025882" y="979353"/>
                </a:lnTo>
                <a:lnTo>
                  <a:pt x="1031283" y="979353"/>
                </a:lnTo>
                <a:lnTo>
                  <a:pt x="1031283" y="978619"/>
                </a:lnTo>
                <a:lnTo>
                  <a:pt x="1036717" y="978619"/>
                </a:lnTo>
                <a:lnTo>
                  <a:pt x="1036717" y="977901"/>
                </a:lnTo>
                <a:lnTo>
                  <a:pt x="1039435" y="977901"/>
                </a:lnTo>
                <a:lnTo>
                  <a:pt x="1039435" y="977167"/>
                </a:lnTo>
                <a:lnTo>
                  <a:pt x="1042151" y="977167"/>
                </a:lnTo>
                <a:lnTo>
                  <a:pt x="1042151" y="976448"/>
                </a:lnTo>
                <a:lnTo>
                  <a:pt x="1044869" y="976448"/>
                </a:lnTo>
                <a:lnTo>
                  <a:pt x="1044869" y="974996"/>
                </a:lnTo>
                <a:lnTo>
                  <a:pt x="1047585" y="974996"/>
                </a:lnTo>
                <a:lnTo>
                  <a:pt x="1047585" y="972810"/>
                </a:lnTo>
                <a:lnTo>
                  <a:pt x="1050303" y="972810"/>
                </a:lnTo>
                <a:lnTo>
                  <a:pt x="1050303" y="970623"/>
                </a:lnTo>
                <a:lnTo>
                  <a:pt x="1058453" y="970623"/>
                </a:lnTo>
                <a:lnTo>
                  <a:pt x="1058453" y="969889"/>
                </a:lnTo>
                <a:lnTo>
                  <a:pt x="1061139" y="969889"/>
                </a:lnTo>
                <a:lnTo>
                  <a:pt x="1061139" y="968453"/>
                </a:lnTo>
                <a:lnTo>
                  <a:pt x="1069322" y="968453"/>
                </a:lnTo>
                <a:lnTo>
                  <a:pt x="1069322" y="966267"/>
                </a:lnTo>
                <a:lnTo>
                  <a:pt x="1074724" y="966267"/>
                </a:lnTo>
                <a:lnTo>
                  <a:pt x="1074724" y="965532"/>
                </a:lnTo>
                <a:lnTo>
                  <a:pt x="1082843" y="965532"/>
                </a:lnTo>
                <a:lnTo>
                  <a:pt x="1082843" y="964814"/>
                </a:lnTo>
                <a:lnTo>
                  <a:pt x="1093743" y="964814"/>
                </a:lnTo>
                <a:lnTo>
                  <a:pt x="1093743" y="964080"/>
                </a:lnTo>
                <a:lnTo>
                  <a:pt x="1101862" y="964080"/>
                </a:lnTo>
                <a:lnTo>
                  <a:pt x="1101862" y="963362"/>
                </a:lnTo>
                <a:lnTo>
                  <a:pt x="1110013" y="963362"/>
                </a:lnTo>
                <a:lnTo>
                  <a:pt x="1110013" y="961910"/>
                </a:lnTo>
                <a:lnTo>
                  <a:pt x="1112730" y="961910"/>
                </a:lnTo>
                <a:lnTo>
                  <a:pt x="1112730" y="961192"/>
                </a:lnTo>
                <a:lnTo>
                  <a:pt x="1115447" y="961192"/>
                </a:lnTo>
                <a:lnTo>
                  <a:pt x="1115447" y="960458"/>
                </a:lnTo>
                <a:lnTo>
                  <a:pt x="1120881" y="960458"/>
                </a:lnTo>
                <a:lnTo>
                  <a:pt x="1120881" y="959005"/>
                </a:lnTo>
                <a:lnTo>
                  <a:pt x="1126283" y="959005"/>
                </a:lnTo>
                <a:lnTo>
                  <a:pt x="1126283" y="957537"/>
                </a:lnTo>
                <a:lnTo>
                  <a:pt x="1131717" y="957537"/>
                </a:lnTo>
                <a:lnTo>
                  <a:pt x="1131717" y="956084"/>
                </a:lnTo>
                <a:lnTo>
                  <a:pt x="1137151" y="956084"/>
                </a:lnTo>
                <a:lnTo>
                  <a:pt x="1137151" y="954649"/>
                </a:lnTo>
                <a:lnTo>
                  <a:pt x="1139868" y="954649"/>
                </a:lnTo>
                <a:lnTo>
                  <a:pt x="1139868" y="953914"/>
                </a:lnTo>
                <a:lnTo>
                  <a:pt x="1142585" y="953914"/>
                </a:lnTo>
                <a:lnTo>
                  <a:pt x="1142585" y="951728"/>
                </a:lnTo>
                <a:lnTo>
                  <a:pt x="1147987" y="951728"/>
                </a:lnTo>
                <a:lnTo>
                  <a:pt x="1147987" y="950993"/>
                </a:lnTo>
                <a:lnTo>
                  <a:pt x="1156170" y="950993"/>
                </a:lnTo>
                <a:lnTo>
                  <a:pt x="1156170" y="950292"/>
                </a:lnTo>
                <a:lnTo>
                  <a:pt x="1158855" y="950292"/>
                </a:lnTo>
                <a:lnTo>
                  <a:pt x="1158855" y="949541"/>
                </a:lnTo>
                <a:lnTo>
                  <a:pt x="1161573" y="949541"/>
                </a:lnTo>
                <a:lnTo>
                  <a:pt x="1161573" y="948823"/>
                </a:lnTo>
                <a:lnTo>
                  <a:pt x="1167006" y="948823"/>
                </a:lnTo>
                <a:lnTo>
                  <a:pt x="1167006" y="948105"/>
                </a:lnTo>
                <a:lnTo>
                  <a:pt x="1172440" y="948105"/>
                </a:lnTo>
                <a:lnTo>
                  <a:pt x="1172440" y="946637"/>
                </a:lnTo>
                <a:lnTo>
                  <a:pt x="1177874" y="946637"/>
                </a:lnTo>
                <a:lnTo>
                  <a:pt x="1177874" y="945919"/>
                </a:lnTo>
                <a:lnTo>
                  <a:pt x="1180592" y="945919"/>
                </a:lnTo>
                <a:lnTo>
                  <a:pt x="1180592" y="944450"/>
                </a:lnTo>
                <a:lnTo>
                  <a:pt x="1183277" y="944450"/>
                </a:lnTo>
                <a:lnTo>
                  <a:pt x="1183277" y="943732"/>
                </a:lnTo>
                <a:lnTo>
                  <a:pt x="1186026" y="943732"/>
                </a:lnTo>
                <a:lnTo>
                  <a:pt x="1186026" y="941562"/>
                </a:lnTo>
                <a:lnTo>
                  <a:pt x="1188711" y="941562"/>
                </a:lnTo>
                <a:lnTo>
                  <a:pt x="1188711" y="940828"/>
                </a:lnTo>
                <a:lnTo>
                  <a:pt x="1194145" y="940828"/>
                </a:lnTo>
                <a:lnTo>
                  <a:pt x="1194145" y="940093"/>
                </a:lnTo>
                <a:lnTo>
                  <a:pt x="1196862" y="940093"/>
                </a:lnTo>
                <a:lnTo>
                  <a:pt x="1196862" y="938641"/>
                </a:lnTo>
                <a:lnTo>
                  <a:pt x="1199579" y="938641"/>
                </a:lnTo>
                <a:lnTo>
                  <a:pt x="1199579" y="937923"/>
                </a:lnTo>
                <a:lnTo>
                  <a:pt x="1202295" y="937923"/>
                </a:lnTo>
                <a:lnTo>
                  <a:pt x="1202295" y="936471"/>
                </a:lnTo>
                <a:lnTo>
                  <a:pt x="1210415" y="936471"/>
                </a:lnTo>
                <a:lnTo>
                  <a:pt x="1210415" y="935019"/>
                </a:lnTo>
                <a:lnTo>
                  <a:pt x="1221283" y="935019"/>
                </a:lnTo>
                <a:lnTo>
                  <a:pt x="1221283" y="934284"/>
                </a:lnTo>
                <a:lnTo>
                  <a:pt x="1232151" y="934284"/>
                </a:lnTo>
                <a:lnTo>
                  <a:pt x="1232151" y="933567"/>
                </a:lnTo>
                <a:lnTo>
                  <a:pt x="1237585" y="933567"/>
                </a:lnTo>
                <a:lnTo>
                  <a:pt x="1237585" y="932832"/>
                </a:lnTo>
                <a:lnTo>
                  <a:pt x="1245704" y="932832"/>
                </a:lnTo>
                <a:lnTo>
                  <a:pt x="1245704" y="930646"/>
                </a:lnTo>
                <a:lnTo>
                  <a:pt x="1248421" y="930646"/>
                </a:lnTo>
                <a:lnTo>
                  <a:pt x="1248421" y="929911"/>
                </a:lnTo>
                <a:lnTo>
                  <a:pt x="1251138" y="929911"/>
                </a:lnTo>
                <a:lnTo>
                  <a:pt x="1251138" y="929210"/>
                </a:lnTo>
                <a:lnTo>
                  <a:pt x="1253855" y="929210"/>
                </a:lnTo>
                <a:lnTo>
                  <a:pt x="1253855" y="928475"/>
                </a:lnTo>
                <a:lnTo>
                  <a:pt x="1256572" y="928475"/>
                </a:lnTo>
                <a:lnTo>
                  <a:pt x="1256572" y="927741"/>
                </a:lnTo>
                <a:lnTo>
                  <a:pt x="1259289" y="927741"/>
                </a:lnTo>
                <a:lnTo>
                  <a:pt x="1259289" y="926289"/>
                </a:lnTo>
                <a:lnTo>
                  <a:pt x="1261974" y="926289"/>
                </a:lnTo>
                <a:lnTo>
                  <a:pt x="1261974" y="925555"/>
                </a:lnTo>
                <a:lnTo>
                  <a:pt x="1264723" y="925555"/>
                </a:lnTo>
                <a:lnTo>
                  <a:pt x="1264723" y="924102"/>
                </a:lnTo>
                <a:lnTo>
                  <a:pt x="1267440" y="924102"/>
                </a:lnTo>
                <a:lnTo>
                  <a:pt x="1267440" y="923368"/>
                </a:lnTo>
                <a:lnTo>
                  <a:pt x="1270125" y="923368"/>
                </a:lnTo>
                <a:lnTo>
                  <a:pt x="1270125" y="921932"/>
                </a:lnTo>
                <a:lnTo>
                  <a:pt x="1275559" y="921932"/>
                </a:lnTo>
                <a:lnTo>
                  <a:pt x="1275559" y="920480"/>
                </a:lnTo>
                <a:lnTo>
                  <a:pt x="1278308" y="920480"/>
                </a:lnTo>
                <a:lnTo>
                  <a:pt x="1278308" y="919746"/>
                </a:lnTo>
                <a:lnTo>
                  <a:pt x="1280993" y="919746"/>
                </a:lnTo>
                <a:lnTo>
                  <a:pt x="1280993" y="919011"/>
                </a:lnTo>
                <a:lnTo>
                  <a:pt x="1286427" y="919011"/>
                </a:lnTo>
                <a:lnTo>
                  <a:pt x="1286427" y="918293"/>
                </a:lnTo>
                <a:lnTo>
                  <a:pt x="1291829" y="918293"/>
                </a:lnTo>
                <a:lnTo>
                  <a:pt x="1291829" y="917559"/>
                </a:lnTo>
                <a:lnTo>
                  <a:pt x="1294578" y="917559"/>
                </a:lnTo>
                <a:lnTo>
                  <a:pt x="1294578" y="916107"/>
                </a:lnTo>
                <a:lnTo>
                  <a:pt x="1299980" y="916107"/>
                </a:lnTo>
                <a:lnTo>
                  <a:pt x="1299980" y="915389"/>
                </a:lnTo>
                <a:lnTo>
                  <a:pt x="1302697" y="915389"/>
                </a:lnTo>
                <a:lnTo>
                  <a:pt x="1302697" y="913937"/>
                </a:lnTo>
                <a:lnTo>
                  <a:pt x="1305415" y="913937"/>
                </a:lnTo>
                <a:lnTo>
                  <a:pt x="1305415" y="913203"/>
                </a:lnTo>
                <a:lnTo>
                  <a:pt x="1310849" y="913203"/>
                </a:lnTo>
                <a:lnTo>
                  <a:pt x="1310849" y="912484"/>
                </a:lnTo>
                <a:lnTo>
                  <a:pt x="1321685" y="912484"/>
                </a:lnTo>
                <a:lnTo>
                  <a:pt x="1321685" y="911750"/>
                </a:lnTo>
                <a:lnTo>
                  <a:pt x="1335269" y="911750"/>
                </a:lnTo>
                <a:lnTo>
                  <a:pt x="1335269" y="911016"/>
                </a:lnTo>
                <a:lnTo>
                  <a:pt x="1337987" y="911016"/>
                </a:lnTo>
                <a:lnTo>
                  <a:pt x="1337987" y="910298"/>
                </a:lnTo>
                <a:lnTo>
                  <a:pt x="1348823" y="910298"/>
                </a:lnTo>
                <a:lnTo>
                  <a:pt x="1348823" y="908846"/>
                </a:lnTo>
                <a:lnTo>
                  <a:pt x="1354257" y="908846"/>
                </a:lnTo>
                <a:lnTo>
                  <a:pt x="1354257" y="908111"/>
                </a:lnTo>
                <a:lnTo>
                  <a:pt x="1356974" y="908111"/>
                </a:lnTo>
                <a:lnTo>
                  <a:pt x="1356974" y="907393"/>
                </a:lnTo>
                <a:lnTo>
                  <a:pt x="1365125" y="907393"/>
                </a:lnTo>
                <a:lnTo>
                  <a:pt x="1365125" y="905941"/>
                </a:lnTo>
                <a:lnTo>
                  <a:pt x="1384112" y="905941"/>
                </a:lnTo>
                <a:lnTo>
                  <a:pt x="1384112" y="904473"/>
                </a:lnTo>
                <a:lnTo>
                  <a:pt x="1411282" y="904473"/>
                </a:lnTo>
                <a:lnTo>
                  <a:pt x="1411282" y="903020"/>
                </a:lnTo>
                <a:lnTo>
                  <a:pt x="1413967" y="903020"/>
                </a:lnTo>
                <a:lnTo>
                  <a:pt x="1413967" y="902286"/>
                </a:lnTo>
                <a:lnTo>
                  <a:pt x="1419401" y="902286"/>
                </a:lnTo>
                <a:lnTo>
                  <a:pt x="1419401" y="900834"/>
                </a:lnTo>
                <a:lnTo>
                  <a:pt x="1422118" y="900834"/>
                </a:lnTo>
                <a:lnTo>
                  <a:pt x="1422118" y="899382"/>
                </a:lnTo>
                <a:lnTo>
                  <a:pt x="1427552" y="899382"/>
                </a:lnTo>
                <a:lnTo>
                  <a:pt x="1427552" y="897929"/>
                </a:lnTo>
                <a:lnTo>
                  <a:pt x="1430237" y="897929"/>
                </a:lnTo>
                <a:lnTo>
                  <a:pt x="1430237" y="895743"/>
                </a:lnTo>
                <a:lnTo>
                  <a:pt x="1435671" y="895743"/>
                </a:lnTo>
                <a:lnTo>
                  <a:pt x="1435671" y="895009"/>
                </a:lnTo>
                <a:lnTo>
                  <a:pt x="1438389" y="895009"/>
                </a:lnTo>
                <a:lnTo>
                  <a:pt x="1438389" y="892088"/>
                </a:lnTo>
                <a:lnTo>
                  <a:pt x="1441138" y="892088"/>
                </a:lnTo>
                <a:lnTo>
                  <a:pt x="1441138" y="890635"/>
                </a:lnTo>
                <a:lnTo>
                  <a:pt x="1443822" y="890635"/>
                </a:lnTo>
                <a:lnTo>
                  <a:pt x="1443822" y="889183"/>
                </a:lnTo>
                <a:lnTo>
                  <a:pt x="1454691" y="889183"/>
                </a:lnTo>
                <a:lnTo>
                  <a:pt x="1454691" y="886997"/>
                </a:lnTo>
                <a:lnTo>
                  <a:pt x="1460092" y="886997"/>
                </a:lnTo>
                <a:lnTo>
                  <a:pt x="1460092" y="886263"/>
                </a:lnTo>
                <a:lnTo>
                  <a:pt x="1462841" y="886263"/>
                </a:lnTo>
                <a:lnTo>
                  <a:pt x="1462841" y="884810"/>
                </a:lnTo>
                <a:lnTo>
                  <a:pt x="1470961" y="884810"/>
                </a:lnTo>
                <a:lnTo>
                  <a:pt x="1470961" y="884076"/>
                </a:lnTo>
                <a:lnTo>
                  <a:pt x="1487263" y="884076"/>
                </a:lnTo>
                <a:lnTo>
                  <a:pt x="1487263" y="883358"/>
                </a:lnTo>
                <a:lnTo>
                  <a:pt x="1489979" y="883358"/>
                </a:lnTo>
                <a:lnTo>
                  <a:pt x="1489979" y="882607"/>
                </a:lnTo>
                <a:lnTo>
                  <a:pt x="1500816" y="882607"/>
                </a:lnTo>
                <a:lnTo>
                  <a:pt x="1500816" y="881873"/>
                </a:lnTo>
                <a:lnTo>
                  <a:pt x="1503533" y="881873"/>
                </a:lnTo>
                <a:lnTo>
                  <a:pt x="1503533" y="881155"/>
                </a:lnTo>
                <a:lnTo>
                  <a:pt x="1508967" y="881155"/>
                </a:lnTo>
                <a:lnTo>
                  <a:pt x="1508967" y="880421"/>
                </a:lnTo>
                <a:lnTo>
                  <a:pt x="1517086" y="880421"/>
                </a:lnTo>
                <a:lnTo>
                  <a:pt x="1517086" y="879687"/>
                </a:lnTo>
                <a:lnTo>
                  <a:pt x="1522520" y="879687"/>
                </a:lnTo>
                <a:lnTo>
                  <a:pt x="1522520" y="878969"/>
                </a:lnTo>
                <a:lnTo>
                  <a:pt x="1530671" y="878969"/>
                </a:lnTo>
                <a:lnTo>
                  <a:pt x="1530671" y="878218"/>
                </a:lnTo>
                <a:lnTo>
                  <a:pt x="1536105" y="878218"/>
                </a:lnTo>
                <a:lnTo>
                  <a:pt x="1536105" y="876766"/>
                </a:lnTo>
                <a:lnTo>
                  <a:pt x="1541539" y="876766"/>
                </a:lnTo>
                <a:lnTo>
                  <a:pt x="1541539" y="876015"/>
                </a:lnTo>
                <a:lnTo>
                  <a:pt x="1544256" y="876015"/>
                </a:lnTo>
                <a:lnTo>
                  <a:pt x="1544256" y="875297"/>
                </a:lnTo>
                <a:lnTo>
                  <a:pt x="1549690" y="875297"/>
                </a:lnTo>
                <a:lnTo>
                  <a:pt x="1549690" y="874563"/>
                </a:lnTo>
                <a:lnTo>
                  <a:pt x="1552375" y="874563"/>
                </a:lnTo>
                <a:lnTo>
                  <a:pt x="1552375" y="873812"/>
                </a:lnTo>
                <a:lnTo>
                  <a:pt x="1560526" y="873812"/>
                </a:lnTo>
                <a:lnTo>
                  <a:pt x="1560526" y="873094"/>
                </a:lnTo>
                <a:lnTo>
                  <a:pt x="1571394" y="873094"/>
                </a:lnTo>
                <a:lnTo>
                  <a:pt x="1571394" y="872344"/>
                </a:lnTo>
                <a:lnTo>
                  <a:pt x="1574111" y="872344"/>
                </a:lnTo>
                <a:lnTo>
                  <a:pt x="1574111" y="871609"/>
                </a:lnTo>
                <a:lnTo>
                  <a:pt x="1582231" y="871609"/>
                </a:lnTo>
                <a:lnTo>
                  <a:pt x="1582231" y="869407"/>
                </a:lnTo>
                <a:lnTo>
                  <a:pt x="1593099" y="869407"/>
                </a:lnTo>
                <a:lnTo>
                  <a:pt x="1593099" y="868656"/>
                </a:lnTo>
                <a:lnTo>
                  <a:pt x="1598500" y="868656"/>
                </a:lnTo>
                <a:lnTo>
                  <a:pt x="1598500" y="867922"/>
                </a:lnTo>
                <a:lnTo>
                  <a:pt x="1603934" y="867922"/>
                </a:lnTo>
                <a:lnTo>
                  <a:pt x="1603934" y="867187"/>
                </a:lnTo>
                <a:lnTo>
                  <a:pt x="1606683" y="867187"/>
                </a:lnTo>
                <a:lnTo>
                  <a:pt x="1606683" y="866437"/>
                </a:lnTo>
                <a:lnTo>
                  <a:pt x="1628388" y="866437"/>
                </a:lnTo>
                <a:lnTo>
                  <a:pt x="1628388" y="865702"/>
                </a:lnTo>
                <a:lnTo>
                  <a:pt x="1633790" y="865702"/>
                </a:lnTo>
                <a:lnTo>
                  <a:pt x="1633790" y="864952"/>
                </a:lnTo>
                <a:lnTo>
                  <a:pt x="1644658" y="864952"/>
                </a:lnTo>
                <a:lnTo>
                  <a:pt x="1644658" y="864201"/>
                </a:lnTo>
                <a:lnTo>
                  <a:pt x="1650092" y="864201"/>
                </a:lnTo>
                <a:lnTo>
                  <a:pt x="1650092" y="863467"/>
                </a:lnTo>
                <a:lnTo>
                  <a:pt x="1655494" y="863467"/>
                </a:lnTo>
                <a:lnTo>
                  <a:pt x="1655494" y="862700"/>
                </a:lnTo>
                <a:lnTo>
                  <a:pt x="1663645" y="862700"/>
                </a:lnTo>
                <a:lnTo>
                  <a:pt x="1663645" y="861966"/>
                </a:lnTo>
                <a:lnTo>
                  <a:pt x="1666394" y="861966"/>
                </a:lnTo>
                <a:lnTo>
                  <a:pt x="1666394" y="861215"/>
                </a:lnTo>
                <a:lnTo>
                  <a:pt x="1669079" y="861215"/>
                </a:lnTo>
                <a:lnTo>
                  <a:pt x="1669079" y="858964"/>
                </a:lnTo>
                <a:lnTo>
                  <a:pt x="1671828" y="858964"/>
                </a:lnTo>
                <a:lnTo>
                  <a:pt x="1671828" y="858213"/>
                </a:lnTo>
                <a:lnTo>
                  <a:pt x="1685381" y="858213"/>
                </a:lnTo>
                <a:lnTo>
                  <a:pt x="1685381" y="856712"/>
                </a:lnTo>
                <a:lnTo>
                  <a:pt x="1696217" y="856712"/>
                </a:lnTo>
                <a:lnTo>
                  <a:pt x="1696217" y="855945"/>
                </a:lnTo>
                <a:lnTo>
                  <a:pt x="1701651" y="855945"/>
                </a:lnTo>
                <a:lnTo>
                  <a:pt x="1701651" y="855194"/>
                </a:lnTo>
                <a:lnTo>
                  <a:pt x="1720638" y="855194"/>
                </a:lnTo>
                <a:lnTo>
                  <a:pt x="1720638" y="854443"/>
                </a:lnTo>
                <a:lnTo>
                  <a:pt x="1723387" y="854443"/>
                </a:lnTo>
                <a:lnTo>
                  <a:pt x="1723387" y="853677"/>
                </a:lnTo>
                <a:lnTo>
                  <a:pt x="1726073" y="853677"/>
                </a:lnTo>
                <a:lnTo>
                  <a:pt x="1726073" y="851409"/>
                </a:lnTo>
                <a:lnTo>
                  <a:pt x="1728822" y="851409"/>
                </a:lnTo>
                <a:lnTo>
                  <a:pt x="1728822" y="849875"/>
                </a:lnTo>
                <a:lnTo>
                  <a:pt x="1731506" y="849875"/>
                </a:lnTo>
                <a:lnTo>
                  <a:pt x="1731506" y="849108"/>
                </a:lnTo>
                <a:lnTo>
                  <a:pt x="1734223" y="849108"/>
                </a:lnTo>
                <a:lnTo>
                  <a:pt x="1734223" y="846056"/>
                </a:lnTo>
                <a:lnTo>
                  <a:pt x="1739657" y="846056"/>
                </a:lnTo>
                <a:lnTo>
                  <a:pt x="1739657" y="843772"/>
                </a:lnTo>
                <a:lnTo>
                  <a:pt x="1742342" y="843772"/>
                </a:lnTo>
                <a:lnTo>
                  <a:pt x="1742342" y="842238"/>
                </a:lnTo>
                <a:lnTo>
                  <a:pt x="1750525" y="842238"/>
                </a:lnTo>
                <a:lnTo>
                  <a:pt x="1750525" y="839954"/>
                </a:lnTo>
                <a:lnTo>
                  <a:pt x="1753243" y="839954"/>
                </a:lnTo>
                <a:lnTo>
                  <a:pt x="1753243" y="839187"/>
                </a:lnTo>
                <a:lnTo>
                  <a:pt x="1758677" y="839187"/>
                </a:lnTo>
                <a:lnTo>
                  <a:pt x="1758677" y="838436"/>
                </a:lnTo>
                <a:lnTo>
                  <a:pt x="1769513" y="838436"/>
                </a:lnTo>
                <a:lnTo>
                  <a:pt x="1769513" y="837653"/>
                </a:lnTo>
                <a:lnTo>
                  <a:pt x="1774947" y="837653"/>
                </a:lnTo>
                <a:lnTo>
                  <a:pt x="1774947" y="836886"/>
                </a:lnTo>
                <a:lnTo>
                  <a:pt x="1777632" y="836886"/>
                </a:lnTo>
                <a:lnTo>
                  <a:pt x="1777632" y="835336"/>
                </a:lnTo>
                <a:lnTo>
                  <a:pt x="1780381" y="835336"/>
                </a:lnTo>
                <a:lnTo>
                  <a:pt x="1780381" y="834585"/>
                </a:lnTo>
                <a:lnTo>
                  <a:pt x="1785783" y="834585"/>
                </a:lnTo>
                <a:lnTo>
                  <a:pt x="1785783" y="833802"/>
                </a:lnTo>
                <a:lnTo>
                  <a:pt x="1788500" y="833802"/>
                </a:lnTo>
                <a:lnTo>
                  <a:pt x="1788500" y="833035"/>
                </a:lnTo>
                <a:lnTo>
                  <a:pt x="1791217" y="833035"/>
                </a:lnTo>
                <a:lnTo>
                  <a:pt x="1791217" y="831501"/>
                </a:lnTo>
                <a:lnTo>
                  <a:pt x="1796651" y="831501"/>
                </a:lnTo>
                <a:lnTo>
                  <a:pt x="1796651" y="830718"/>
                </a:lnTo>
                <a:lnTo>
                  <a:pt x="1799368" y="830718"/>
                </a:lnTo>
                <a:lnTo>
                  <a:pt x="1799368" y="829951"/>
                </a:lnTo>
                <a:lnTo>
                  <a:pt x="1807487" y="829951"/>
                </a:lnTo>
                <a:lnTo>
                  <a:pt x="1807487" y="827618"/>
                </a:lnTo>
                <a:lnTo>
                  <a:pt x="1812921" y="827618"/>
                </a:lnTo>
                <a:lnTo>
                  <a:pt x="1812921" y="826068"/>
                </a:lnTo>
                <a:lnTo>
                  <a:pt x="1815638" y="826068"/>
                </a:lnTo>
                <a:lnTo>
                  <a:pt x="1815638" y="825301"/>
                </a:lnTo>
                <a:lnTo>
                  <a:pt x="1818355" y="825301"/>
                </a:lnTo>
                <a:lnTo>
                  <a:pt x="1818355" y="824518"/>
                </a:lnTo>
                <a:lnTo>
                  <a:pt x="1821072" y="824518"/>
                </a:lnTo>
                <a:lnTo>
                  <a:pt x="1821072" y="823751"/>
                </a:lnTo>
                <a:lnTo>
                  <a:pt x="1826506" y="823751"/>
                </a:lnTo>
                <a:lnTo>
                  <a:pt x="1826506" y="822200"/>
                </a:lnTo>
                <a:lnTo>
                  <a:pt x="1829191" y="822200"/>
                </a:lnTo>
                <a:lnTo>
                  <a:pt x="1829191" y="821417"/>
                </a:lnTo>
                <a:lnTo>
                  <a:pt x="1831940" y="821417"/>
                </a:lnTo>
                <a:lnTo>
                  <a:pt x="1831940" y="820634"/>
                </a:lnTo>
                <a:lnTo>
                  <a:pt x="1840091" y="820634"/>
                </a:lnTo>
                <a:lnTo>
                  <a:pt x="1840091" y="819084"/>
                </a:lnTo>
                <a:lnTo>
                  <a:pt x="1842777" y="819084"/>
                </a:lnTo>
                <a:lnTo>
                  <a:pt x="1842777" y="818301"/>
                </a:lnTo>
                <a:lnTo>
                  <a:pt x="1848210" y="818301"/>
                </a:lnTo>
                <a:lnTo>
                  <a:pt x="1848210" y="817517"/>
                </a:lnTo>
                <a:lnTo>
                  <a:pt x="1850927" y="817517"/>
                </a:lnTo>
                <a:lnTo>
                  <a:pt x="1850927" y="816734"/>
                </a:lnTo>
                <a:lnTo>
                  <a:pt x="1861795" y="816734"/>
                </a:lnTo>
                <a:lnTo>
                  <a:pt x="1861795" y="815951"/>
                </a:lnTo>
                <a:lnTo>
                  <a:pt x="1864480" y="815951"/>
                </a:lnTo>
                <a:lnTo>
                  <a:pt x="1864480" y="815168"/>
                </a:lnTo>
                <a:lnTo>
                  <a:pt x="1867229" y="815168"/>
                </a:lnTo>
                <a:lnTo>
                  <a:pt x="1867229" y="814385"/>
                </a:lnTo>
                <a:lnTo>
                  <a:pt x="1869915" y="814385"/>
                </a:lnTo>
                <a:lnTo>
                  <a:pt x="1869915" y="813601"/>
                </a:lnTo>
                <a:lnTo>
                  <a:pt x="1883499" y="813601"/>
                </a:lnTo>
                <a:lnTo>
                  <a:pt x="1883499" y="812818"/>
                </a:lnTo>
                <a:lnTo>
                  <a:pt x="1886217" y="812818"/>
                </a:lnTo>
                <a:lnTo>
                  <a:pt x="1886217" y="811252"/>
                </a:lnTo>
                <a:lnTo>
                  <a:pt x="1894336" y="811252"/>
                </a:lnTo>
                <a:lnTo>
                  <a:pt x="1894336" y="810468"/>
                </a:lnTo>
                <a:lnTo>
                  <a:pt x="1897085" y="810468"/>
                </a:lnTo>
                <a:lnTo>
                  <a:pt x="1897085" y="809685"/>
                </a:lnTo>
                <a:lnTo>
                  <a:pt x="1902487" y="809685"/>
                </a:lnTo>
                <a:lnTo>
                  <a:pt x="1902487" y="808886"/>
                </a:lnTo>
                <a:lnTo>
                  <a:pt x="1905204" y="808886"/>
                </a:lnTo>
                <a:lnTo>
                  <a:pt x="1905204" y="808102"/>
                </a:lnTo>
                <a:lnTo>
                  <a:pt x="1910606" y="808102"/>
                </a:lnTo>
                <a:lnTo>
                  <a:pt x="1910606" y="806519"/>
                </a:lnTo>
                <a:lnTo>
                  <a:pt x="1913355" y="806519"/>
                </a:lnTo>
                <a:lnTo>
                  <a:pt x="1913355" y="805736"/>
                </a:lnTo>
                <a:lnTo>
                  <a:pt x="1921506" y="805736"/>
                </a:lnTo>
                <a:lnTo>
                  <a:pt x="1921506" y="804937"/>
                </a:lnTo>
                <a:lnTo>
                  <a:pt x="1929625" y="804937"/>
                </a:lnTo>
                <a:lnTo>
                  <a:pt x="1929625" y="804137"/>
                </a:lnTo>
                <a:lnTo>
                  <a:pt x="1935059" y="804137"/>
                </a:lnTo>
                <a:lnTo>
                  <a:pt x="1935059" y="803354"/>
                </a:lnTo>
                <a:lnTo>
                  <a:pt x="1945895" y="803354"/>
                </a:lnTo>
                <a:lnTo>
                  <a:pt x="1945895" y="802554"/>
                </a:lnTo>
                <a:lnTo>
                  <a:pt x="1964914" y="802554"/>
                </a:lnTo>
                <a:lnTo>
                  <a:pt x="1964914" y="800139"/>
                </a:lnTo>
                <a:lnTo>
                  <a:pt x="1967631" y="800139"/>
                </a:lnTo>
                <a:lnTo>
                  <a:pt x="1967631" y="798524"/>
                </a:lnTo>
                <a:lnTo>
                  <a:pt x="1970348" y="798524"/>
                </a:lnTo>
                <a:lnTo>
                  <a:pt x="1970348" y="796109"/>
                </a:lnTo>
                <a:lnTo>
                  <a:pt x="1973065" y="796109"/>
                </a:lnTo>
                <a:lnTo>
                  <a:pt x="1973065" y="795309"/>
                </a:lnTo>
                <a:lnTo>
                  <a:pt x="1978499" y="795309"/>
                </a:lnTo>
                <a:lnTo>
                  <a:pt x="1978499" y="794494"/>
                </a:lnTo>
                <a:lnTo>
                  <a:pt x="1983933" y="794494"/>
                </a:lnTo>
                <a:lnTo>
                  <a:pt x="1983933" y="793694"/>
                </a:lnTo>
                <a:lnTo>
                  <a:pt x="1997454" y="793694"/>
                </a:lnTo>
                <a:lnTo>
                  <a:pt x="1997454" y="792878"/>
                </a:lnTo>
                <a:lnTo>
                  <a:pt x="2000203" y="792878"/>
                </a:lnTo>
                <a:lnTo>
                  <a:pt x="2000203" y="792062"/>
                </a:lnTo>
                <a:lnTo>
                  <a:pt x="2005606" y="792062"/>
                </a:lnTo>
                <a:lnTo>
                  <a:pt x="2005606" y="791247"/>
                </a:lnTo>
                <a:lnTo>
                  <a:pt x="2008322" y="791247"/>
                </a:lnTo>
                <a:lnTo>
                  <a:pt x="2008322" y="788815"/>
                </a:lnTo>
                <a:lnTo>
                  <a:pt x="2030059" y="788815"/>
                </a:lnTo>
                <a:lnTo>
                  <a:pt x="2030059" y="787183"/>
                </a:lnTo>
                <a:lnTo>
                  <a:pt x="2035493" y="787183"/>
                </a:lnTo>
                <a:lnTo>
                  <a:pt x="2035493" y="785535"/>
                </a:lnTo>
                <a:lnTo>
                  <a:pt x="2040895" y="785535"/>
                </a:lnTo>
                <a:lnTo>
                  <a:pt x="2040895" y="784719"/>
                </a:lnTo>
                <a:lnTo>
                  <a:pt x="2043612" y="784719"/>
                </a:lnTo>
                <a:lnTo>
                  <a:pt x="2043612" y="783887"/>
                </a:lnTo>
                <a:lnTo>
                  <a:pt x="2057197" y="783887"/>
                </a:lnTo>
                <a:lnTo>
                  <a:pt x="2057197" y="783071"/>
                </a:lnTo>
                <a:lnTo>
                  <a:pt x="2059914" y="783071"/>
                </a:lnTo>
                <a:lnTo>
                  <a:pt x="2059914" y="781407"/>
                </a:lnTo>
                <a:lnTo>
                  <a:pt x="2062599" y="781407"/>
                </a:lnTo>
                <a:lnTo>
                  <a:pt x="2062599" y="780575"/>
                </a:lnTo>
                <a:lnTo>
                  <a:pt x="2068033" y="780575"/>
                </a:lnTo>
                <a:lnTo>
                  <a:pt x="2068033" y="779743"/>
                </a:lnTo>
                <a:lnTo>
                  <a:pt x="2073467" y="779743"/>
                </a:lnTo>
                <a:lnTo>
                  <a:pt x="2073467" y="778910"/>
                </a:lnTo>
                <a:lnTo>
                  <a:pt x="2076184" y="778910"/>
                </a:lnTo>
                <a:lnTo>
                  <a:pt x="2076184" y="778078"/>
                </a:lnTo>
                <a:lnTo>
                  <a:pt x="2084303" y="778078"/>
                </a:lnTo>
                <a:lnTo>
                  <a:pt x="2084303" y="776414"/>
                </a:lnTo>
                <a:lnTo>
                  <a:pt x="2089737" y="776414"/>
                </a:lnTo>
                <a:lnTo>
                  <a:pt x="2089737" y="773917"/>
                </a:lnTo>
                <a:lnTo>
                  <a:pt x="2100637" y="773917"/>
                </a:lnTo>
                <a:lnTo>
                  <a:pt x="2100637" y="773069"/>
                </a:lnTo>
                <a:lnTo>
                  <a:pt x="2103322" y="773069"/>
                </a:lnTo>
                <a:lnTo>
                  <a:pt x="2103322" y="772237"/>
                </a:lnTo>
                <a:lnTo>
                  <a:pt x="2106039" y="772237"/>
                </a:lnTo>
                <a:lnTo>
                  <a:pt x="2106039" y="771388"/>
                </a:lnTo>
                <a:lnTo>
                  <a:pt x="2114158" y="771388"/>
                </a:lnTo>
                <a:lnTo>
                  <a:pt x="2114158" y="769708"/>
                </a:lnTo>
                <a:lnTo>
                  <a:pt x="2127743" y="769708"/>
                </a:lnTo>
                <a:lnTo>
                  <a:pt x="2127743" y="768010"/>
                </a:lnTo>
                <a:lnTo>
                  <a:pt x="2130461" y="768010"/>
                </a:lnTo>
                <a:lnTo>
                  <a:pt x="2130461" y="767178"/>
                </a:lnTo>
                <a:lnTo>
                  <a:pt x="2138611" y="767178"/>
                </a:lnTo>
                <a:lnTo>
                  <a:pt x="2138611" y="766313"/>
                </a:lnTo>
                <a:lnTo>
                  <a:pt x="2141329" y="766313"/>
                </a:lnTo>
                <a:lnTo>
                  <a:pt x="2141329" y="765465"/>
                </a:lnTo>
                <a:lnTo>
                  <a:pt x="2152197" y="765465"/>
                </a:lnTo>
                <a:lnTo>
                  <a:pt x="2152197" y="763768"/>
                </a:lnTo>
                <a:lnTo>
                  <a:pt x="2163032" y="763768"/>
                </a:lnTo>
                <a:lnTo>
                  <a:pt x="2163032" y="762903"/>
                </a:lnTo>
                <a:lnTo>
                  <a:pt x="2165750" y="762903"/>
                </a:lnTo>
                <a:lnTo>
                  <a:pt x="2165750" y="762055"/>
                </a:lnTo>
                <a:lnTo>
                  <a:pt x="2168467" y="762055"/>
                </a:lnTo>
                <a:lnTo>
                  <a:pt x="2168467" y="761190"/>
                </a:lnTo>
                <a:lnTo>
                  <a:pt x="2171151" y="761190"/>
                </a:lnTo>
                <a:lnTo>
                  <a:pt x="2171151" y="760325"/>
                </a:lnTo>
                <a:lnTo>
                  <a:pt x="2176586" y="760325"/>
                </a:lnTo>
                <a:lnTo>
                  <a:pt x="2176586" y="759460"/>
                </a:lnTo>
                <a:lnTo>
                  <a:pt x="2179335" y="759460"/>
                </a:lnTo>
                <a:lnTo>
                  <a:pt x="2179335" y="757747"/>
                </a:lnTo>
                <a:lnTo>
                  <a:pt x="2184737" y="757747"/>
                </a:lnTo>
                <a:lnTo>
                  <a:pt x="2184737" y="755152"/>
                </a:lnTo>
                <a:lnTo>
                  <a:pt x="2192888" y="755152"/>
                </a:lnTo>
                <a:lnTo>
                  <a:pt x="2192888" y="753407"/>
                </a:lnTo>
                <a:lnTo>
                  <a:pt x="2209190" y="753407"/>
                </a:lnTo>
                <a:lnTo>
                  <a:pt x="2209190" y="751660"/>
                </a:lnTo>
                <a:lnTo>
                  <a:pt x="2211875" y="751660"/>
                </a:lnTo>
                <a:lnTo>
                  <a:pt x="2211875" y="750796"/>
                </a:lnTo>
                <a:lnTo>
                  <a:pt x="2217309" y="750796"/>
                </a:lnTo>
                <a:lnTo>
                  <a:pt x="2217309" y="748168"/>
                </a:lnTo>
                <a:lnTo>
                  <a:pt x="2220026" y="748168"/>
                </a:lnTo>
                <a:lnTo>
                  <a:pt x="2220026" y="747288"/>
                </a:lnTo>
                <a:lnTo>
                  <a:pt x="2222743" y="747288"/>
                </a:lnTo>
                <a:lnTo>
                  <a:pt x="2222743" y="746423"/>
                </a:lnTo>
                <a:lnTo>
                  <a:pt x="2225460" y="746423"/>
                </a:lnTo>
                <a:lnTo>
                  <a:pt x="2225460" y="745541"/>
                </a:lnTo>
                <a:lnTo>
                  <a:pt x="2228177" y="745541"/>
                </a:lnTo>
                <a:lnTo>
                  <a:pt x="2228177" y="742898"/>
                </a:lnTo>
                <a:lnTo>
                  <a:pt x="2233611" y="742898"/>
                </a:lnTo>
                <a:lnTo>
                  <a:pt x="2233611" y="741152"/>
                </a:lnTo>
                <a:lnTo>
                  <a:pt x="2239045" y="741152"/>
                </a:lnTo>
                <a:lnTo>
                  <a:pt x="2239045" y="740271"/>
                </a:lnTo>
                <a:lnTo>
                  <a:pt x="2247165" y="740271"/>
                </a:lnTo>
                <a:lnTo>
                  <a:pt x="2247165" y="739374"/>
                </a:lnTo>
                <a:lnTo>
                  <a:pt x="2255315" y="739374"/>
                </a:lnTo>
                <a:lnTo>
                  <a:pt x="2255315" y="738492"/>
                </a:lnTo>
                <a:lnTo>
                  <a:pt x="2258000" y="738492"/>
                </a:lnTo>
                <a:lnTo>
                  <a:pt x="2258000" y="737595"/>
                </a:lnTo>
                <a:lnTo>
                  <a:pt x="2260749" y="737595"/>
                </a:lnTo>
                <a:lnTo>
                  <a:pt x="2260749" y="735816"/>
                </a:lnTo>
                <a:lnTo>
                  <a:pt x="2268868" y="735816"/>
                </a:lnTo>
                <a:lnTo>
                  <a:pt x="2268868" y="734919"/>
                </a:lnTo>
                <a:lnTo>
                  <a:pt x="2274334" y="734919"/>
                </a:lnTo>
                <a:lnTo>
                  <a:pt x="2274334" y="734038"/>
                </a:lnTo>
                <a:lnTo>
                  <a:pt x="2277019" y="734038"/>
                </a:lnTo>
                <a:lnTo>
                  <a:pt x="2277019" y="733140"/>
                </a:lnTo>
                <a:lnTo>
                  <a:pt x="2285171" y="733140"/>
                </a:lnTo>
                <a:lnTo>
                  <a:pt x="2285171" y="732243"/>
                </a:lnTo>
                <a:lnTo>
                  <a:pt x="2296039" y="732243"/>
                </a:lnTo>
                <a:lnTo>
                  <a:pt x="2296039" y="731329"/>
                </a:lnTo>
                <a:lnTo>
                  <a:pt x="2301441" y="731329"/>
                </a:lnTo>
                <a:lnTo>
                  <a:pt x="2301441" y="729518"/>
                </a:lnTo>
                <a:lnTo>
                  <a:pt x="2304158" y="729518"/>
                </a:lnTo>
                <a:lnTo>
                  <a:pt x="2304158" y="728604"/>
                </a:lnTo>
                <a:lnTo>
                  <a:pt x="2306874" y="728604"/>
                </a:lnTo>
                <a:lnTo>
                  <a:pt x="2306874" y="727707"/>
                </a:lnTo>
                <a:lnTo>
                  <a:pt x="2309560" y="727707"/>
                </a:lnTo>
                <a:lnTo>
                  <a:pt x="2309560" y="725879"/>
                </a:lnTo>
                <a:lnTo>
                  <a:pt x="2315026" y="725879"/>
                </a:lnTo>
                <a:lnTo>
                  <a:pt x="2315026" y="724051"/>
                </a:lnTo>
                <a:lnTo>
                  <a:pt x="2317743" y="724051"/>
                </a:lnTo>
                <a:lnTo>
                  <a:pt x="2317743" y="723138"/>
                </a:lnTo>
                <a:lnTo>
                  <a:pt x="2331296" y="723138"/>
                </a:lnTo>
                <a:lnTo>
                  <a:pt x="2331296" y="722208"/>
                </a:lnTo>
                <a:lnTo>
                  <a:pt x="2336730" y="722208"/>
                </a:lnTo>
                <a:lnTo>
                  <a:pt x="2336730" y="721294"/>
                </a:lnTo>
                <a:lnTo>
                  <a:pt x="2342164" y="721294"/>
                </a:lnTo>
                <a:lnTo>
                  <a:pt x="2342164" y="720380"/>
                </a:lnTo>
                <a:lnTo>
                  <a:pt x="2347598" y="720380"/>
                </a:lnTo>
                <a:lnTo>
                  <a:pt x="2347598" y="718520"/>
                </a:lnTo>
                <a:lnTo>
                  <a:pt x="2353000" y="718520"/>
                </a:lnTo>
                <a:lnTo>
                  <a:pt x="2353000" y="717606"/>
                </a:lnTo>
                <a:lnTo>
                  <a:pt x="2355717" y="717606"/>
                </a:lnTo>
                <a:lnTo>
                  <a:pt x="2355717" y="715746"/>
                </a:lnTo>
                <a:lnTo>
                  <a:pt x="2358434" y="715746"/>
                </a:lnTo>
                <a:lnTo>
                  <a:pt x="2358434" y="714816"/>
                </a:lnTo>
                <a:lnTo>
                  <a:pt x="2377453" y="714816"/>
                </a:lnTo>
                <a:lnTo>
                  <a:pt x="2377453" y="713886"/>
                </a:lnTo>
                <a:lnTo>
                  <a:pt x="2380138" y="713886"/>
                </a:lnTo>
                <a:lnTo>
                  <a:pt x="2380138" y="712956"/>
                </a:lnTo>
                <a:lnTo>
                  <a:pt x="2382855" y="712956"/>
                </a:lnTo>
                <a:lnTo>
                  <a:pt x="2382855" y="712009"/>
                </a:lnTo>
                <a:lnTo>
                  <a:pt x="2385572" y="712009"/>
                </a:lnTo>
                <a:lnTo>
                  <a:pt x="2385572" y="711063"/>
                </a:lnTo>
                <a:lnTo>
                  <a:pt x="2391007" y="711063"/>
                </a:lnTo>
                <a:lnTo>
                  <a:pt x="2391007" y="709186"/>
                </a:lnTo>
                <a:lnTo>
                  <a:pt x="2401874" y="709186"/>
                </a:lnTo>
                <a:lnTo>
                  <a:pt x="2401874" y="708240"/>
                </a:lnTo>
                <a:lnTo>
                  <a:pt x="2415427" y="708240"/>
                </a:lnTo>
                <a:lnTo>
                  <a:pt x="2415427" y="707294"/>
                </a:lnTo>
                <a:lnTo>
                  <a:pt x="2418145" y="707294"/>
                </a:lnTo>
                <a:lnTo>
                  <a:pt x="2418145" y="705384"/>
                </a:lnTo>
                <a:lnTo>
                  <a:pt x="2423578" y="705384"/>
                </a:lnTo>
                <a:lnTo>
                  <a:pt x="2423578" y="703459"/>
                </a:lnTo>
                <a:lnTo>
                  <a:pt x="2426264" y="703459"/>
                </a:lnTo>
                <a:lnTo>
                  <a:pt x="2426264" y="702496"/>
                </a:lnTo>
                <a:lnTo>
                  <a:pt x="2434447" y="702496"/>
                </a:lnTo>
                <a:lnTo>
                  <a:pt x="2434447" y="701550"/>
                </a:lnTo>
                <a:lnTo>
                  <a:pt x="2453434" y="701550"/>
                </a:lnTo>
                <a:lnTo>
                  <a:pt x="2453434" y="700571"/>
                </a:lnTo>
                <a:lnTo>
                  <a:pt x="2458868" y="700571"/>
                </a:lnTo>
                <a:lnTo>
                  <a:pt x="2458868" y="699592"/>
                </a:lnTo>
                <a:lnTo>
                  <a:pt x="2461553" y="699592"/>
                </a:lnTo>
                <a:lnTo>
                  <a:pt x="2461553" y="697617"/>
                </a:lnTo>
                <a:lnTo>
                  <a:pt x="2464302" y="697617"/>
                </a:lnTo>
                <a:lnTo>
                  <a:pt x="2464302" y="696638"/>
                </a:lnTo>
                <a:lnTo>
                  <a:pt x="2469704" y="696638"/>
                </a:lnTo>
                <a:lnTo>
                  <a:pt x="2469704" y="694680"/>
                </a:lnTo>
                <a:lnTo>
                  <a:pt x="2483257" y="694680"/>
                </a:lnTo>
                <a:lnTo>
                  <a:pt x="2483257" y="693685"/>
                </a:lnTo>
                <a:lnTo>
                  <a:pt x="2491408" y="693685"/>
                </a:lnTo>
                <a:lnTo>
                  <a:pt x="2491408" y="692690"/>
                </a:lnTo>
                <a:lnTo>
                  <a:pt x="2499559" y="692690"/>
                </a:lnTo>
                <a:lnTo>
                  <a:pt x="2499559" y="691694"/>
                </a:lnTo>
                <a:lnTo>
                  <a:pt x="2502276" y="691694"/>
                </a:lnTo>
                <a:lnTo>
                  <a:pt x="2502276" y="690682"/>
                </a:lnTo>
                <a:lnTo>
                  <a:pt x="2510427" y="690682"/>
                </a:lnTo>
                <a:lnTo>
                  <a:pt x="2510427" y="689671"/>
                </a:lnTo>
                <a:lnTo>
                  <a:pt x="2513112" y="689671"/>
                </a:lnTo>
                <a:lnTo>
                  <a:pt x="2513112" y="688659"/>
                </a:lnTo>
                <a:lnTo>
                  <a:pt x="2518546" y="688659"/>
                </a:lnTo>
                <a:lnTo>
                  <a:pt x="2518546" y="687648"/>
                </a:lnTo>
                <a:lnTo>
                  <a:pt x="2521263" y="687648"/>
                </a:lnTo>
                <a:lnTo>
                  <a:pt x="2521263" y="685624"/>
                </a:lnTo>
                <a:lnTo>
                  <a:pt x="2526697" y="685624"/>
                </a:lnTo>
                <a:lnTo>
                  <a:pt x="2526697" y="684613"/>
                </a:lnTo>
                <a:lnTo>
                  <a:pt x="2529414" y="684613"/>
                </a:lnTo>
                <a:lnTo>
                  <a:pt x="2529414" y="683601"/>
                </a:lnTo>
                <a:lnTo>
                  <a:pt x="2537565" y="683601"/>
                </a:lnTo>
                <a:lnTo>
                  <a:pt x="2537565" y="682573"/>
                </a:lnTo>
                <a:lnTo>
                  <a:pt x="2561987" y="682573"/>
                </a:lnTo>
                <a:lnTo>
                  <a:pt x="2561987" y="681529"/>
                </a:lnTo>
                <a:lnTo>
                  <a:pt x="2567420" y="681529"/>
                </a:lnTo>
                <a:lnTo>
                  <a:pt x="2567420" y="680484"/>
                </a:lnTo>
                <a:lnTo>
                  <a:pt x="2570106" y="680484"/>
                </a:lnTo>
                <a:lnTo>
                  <a:pt x="2570106" y="678412"/>
                </a:lnTo>
                <a:lnTo>
                  <a:pt x="2572855" y="678412"/>
                </a:lnTo>
                <a:lnTo>
                  <a:pt x="2572855" y="677368"/>
                </a:lnTo>
                <a:lnTo>
                  <a:pt x="2594558" y="677368"/>
                </a:lnTo>
                <a:lnTo>
                  <a:pt x="2594558" y="676323"/>
                </a:lnTo>
                <a:lnTo>
                  <a:pt x="2597276" y="676323"/>
                </a:lnTo>
                <a:lnTo>
                  <a:pt x="2597276" y="675263"/>
                </a:lnTo>
                <a:lnTo>
                  <a:pt x="2599961" y="675263"/>
                </a:lnTo>
                <a:lnTo>
                  <a:pt x="2599961" y="672081"/>
                </a:lnTo>
                <a:lnTo>
                  <a:pt x="2608144" y="672081"/>
                </a:lnTo>
                <a:lnTo>
                  <a:pt x="2608144" y="669943"/>
                </a:lnTo>
                <a:lnTo>
                  <a:pt x="2610829" y="669943"/>
                </a:lnTo>
                <a:lnTo>
                  <a:pt x="2610829" y="667806"/>
                </a:lnTo>
                <a:lnTo>
                  <a:pt x="2627131" y="667806"/>
                </a:lnTo>
                <a:lnTo>
                  <a:pt x="2627131" y="666729"/>
                </a:lnTo>
                <a:lnTo>
                  <a:pt x="2629848" y="666729"/>
                </a:lnTo>
                <a:lnTo>
                  <a:pt x="2629848" y="665652"/>
                </a:lnTo>
                <a:lnTo>
                  <a:pt x="2632565" y="665652"/>
                </a:lnTo>
                <a:lnTo>
                  <a:pt x="2632565" y="664575"/>
                </a:lnTo>
                <a:lnTo>
                  <a:pt x="2654269" y="664575"/>
                </a:lnTo>
                <a:lnTo>
                  <a:pt x="2654269" y="663482"/>
                </a:lnTo>
                <a:lnTo>
                  <a:pt x="2659703" y="663482"/>
                </a:lnTo>
                <a:lnTo>
                  <a:pt x="2659703" y="661295"/>
                </a:lnTo>
                <a:lnTo>
                  <a:pt x="2662388" y="661295"/>
                </a:lnTo>
                <a:lnTo>
                  <a:pt x="2662388" y="660202"/>
                </a:lnTo>
                <a:lnTo>
                  <a:pt x="2675973" y="660202"/>
                </a:lnTo>
                <a:lnTo>
                  <a:pt x="2675973" y="659108"/>
                </a:lnTo>
                <a:lnTo>
                  <a:pt x="2681407" y="659108"/>
                </a:lnTo>
                <a:lnTo>
                  <a:pt x="2681407" y="657999"/>
                </a:lnTo>
                <a:lnTo>
                  <a:pt x="2689559" y="657999"/>
                </a:lnTo>
                <a:lnTo>
                  <a:pt x="2689559" y="656889"/>
                </a:lnTo>
                <a:lnTo>
                  <a:pt x="2694992" y="656889"/>
                </a:lnTo>
                <a:lnTo>
                  <a:pt x="2694992" y="655780"/>
                </a:lnTo>
                <a:lnTo>
                  <a:pt x="2708546" y="655780"/>
                </a:lnTo>
                <a:lnTo>
                  <a:pt x="2708546" y="652418"/>
                </a:lnTo>
                <a:lnTo>
                  <a:pt x="2711262" y="652418"/>
                </a:lnTo>
                <a:lnTo>
                  <a:pt x="2711262" y="651292"/>
                </a:lnTo>
                <a:lnTo>
                  <a:pt x="2724848" y="651292"/>
                </a:lnTo>
                <a:lnTo>
                  <a:pt x="2724848" y="650166"/>
                </a:lnTo>
                <a:lnTo>
                  <a:pt x="2738369" y="650166"/>
                </a:lnTo>
                <a:lnTo>
                  <a:pt x="2738369" y="649024"/>
                </a:lnTo>
                <a:lnTo>
                  <a:pt x="2741118" y="649024"/>
                </a:lnTo>
                <a:lnTo>
                  <a:pt x="2741118" y="647882"/>
                </a:lnTo>
                <a:lnTo>
                  <a:pt x="2743803" y="647882"/>
                </a:lnTo>
                <a:lnTo>
                  <a:pt x="2743803" y="646723"/>
                </a:lnTo>
                <a:lnTo>
                  <a:pt x="2746552" y="646723"/>
                </a:lnTo>
                <a:lnTo>
                  <a:pt x="2746552" y="644439"/>
                </a:lnTo>
                <a:lnTo>
                  <a:pt x="2754703" y="644439"/>
                </a:lnTo>
                <a:lnTo>
                  <a:pt x="2754703" y="643281"/>
                </a:lnTo>
                <a:lnTo>
                  <a:pt x="2760105" y="643281"/>
                </a:lnTo>
                <a:lnTo>
                  <a:pt x="2760105" y="642122"/>
                </a:lnTo>
                <a:lnTo>
                  <a:pt x="2776407" y="642122"/>
                </a:lnTo>
                <a:lnTo>
                  <a:pt x="2776407" y="640947"/>
                </a:lnTo>
                <a:lnTo>
                  <a:pt x="2787243" y="640947"/>
                </a:lnTo>
                <a:lnTo>
                  <a:pt x="2787243" y="639772"/>
                </a:lnTo>
                <a:lnTo>
                  <a:pt x="2800828" y="639772"/>
                </a:lnTo>
                <a:lnTo>
                  <a:pt x="2800828" y="638597"/>
                </a:lnTo>
                <a:lnTo>
                  <a:pt x="2814381" y="638597"/>
                </a:lnTo>
                <a:lnTo>
                  <a:pt x="2814381" y="637406"/>
                </a:lnTo>
                <a:lnTo>
                  <a:pt x="2817098" y="637406"/>
                </a:lnTo>
                <a:lnTo>
                  <a:pt x="2817098" y="636199"/>
                </a:lnTo>
                <a:lnTo>
                  <a:pt x="2825217" y="636199"/>
                </a:lnTo>
                <a:lnTo>
                  <a:pt x="2825217" y="634991"/>
                </a:lnTo>
                <a:lnTo>
                  <a:pt x="2836085" y="634991"/>
                </a:lnTo>
                <a:lnTo>
                  <a:pt x="2836085" y="633784"/>
                </a:lnTo>
                <a:lnTo>
                  <a:pt x="2841552" y="633784"/>
                </a:lnTo>
                <a:lnTo>
                  <a:pt x="2841552" y="632577"/>
                </a:lnTo>
                <a:lnTo>
                  <a:pt x="2852388" y="632577"/>
                </a:lnTo>
                <a:lnTo>
                  <a:pt x="2852388" y="631353"/>
                </a:lnTo>
                <a:lnTo>
                  <a:pt x="2868658" y="631353"/>
                </a:lnTo>
                <a:lnTo>
                  <a:pt x="2868658" y="630129"/>
                </a:lnTo>
                <a:lnTo>
                  <a:pt x="2871375" y="630129"/>
                </a:lnTo>
                <a:lnTo>
                  <a:pt x="2871375" y="628889"/>
                </a:lnTo>
                <a:lnTo>
                  <a:pt x="2876777" y="628889"/>
                </a:lnTo>
                <a:lnTo>
                  <a:pt x="2876777" y="627665"/>
                </a:lnTo>
                <a:lnTo>
                  <a:pt x="2882242" y="627665"/>
                </a:lnTo>
                <a:lnTo>
                  <a:pt x="2882242" y="626425"/>
                </a:lnTo>
                <a:lnTo>
                  <a:pt x="2887677" y="626425"/>
                </a:lnTo>
                <a:lnTo>
                  <a:pt x="2887677" y="625185"/>
                </a:lnTo>
                <a:lnTo>
                  <a:pt x="2898513" y="625185"/>
                </a:lnTo>
                <a:lnTo>
                  <a:pt x="2898513" y="623945"/>
                </a:lnTo>
                <a:lnTo>
                  <a:pt x="2909381" y="623945"/>
                </a:lnTo>
                <a:lnTo>
                  <a:pt x="2909381" y="622688"/>
                </a:lnTo>
                <a:lnTo>
                  <a:pt x="2914815" y="622688"/>
                </a:lnTo>
                <a:lnTo>
                  <a:pt x="2914815" y="621415"/>
                </a:lnTo>
                <a:lnTo>
                  <a:pt x="2933802" y="621415"/>
                </a:lnTo>
                <a:lnTo>
                  <a:pt x="2933802" y="620143"/>
                </a:lnTo>
                <a:lnTo>
                  <a:pt x="2947356" y="620143"/>
                </a:lnTo>
                <a:lnTo>
                  <a:pt x="2947356" y="617564"/>
                </a:lnTo>
                <a:lnTo>
                  <a:pt x="2950104" y="617564"/>
                </a:lnTo>
                <a:lnTo>
                  <a:pt x="2950104" y="616275"/>
                </a:lnTo>
                <a:lnTo>
                  <a:pt x="2955506" y="616275"/>
                </a:lnTo>
                <a:lnTo>
                  <a:pt x="2955506" y="614970"/>
                </a:lnTo>
                <a:lnTo>
                  <a:pt x="2958223" y="614970"/>
                </a:lnTo>
                <a:lnTo>
                  <a:pt x="2958223" y="613664"/>
                </a:lnTo>
                <a:lnTo>
                  <a:pt x="2969091" y="613664"/>
                </a:lnTo>
                <a:lnTo>
                  <a:pt x="2969091" y="612343"/>
                </a:lnTo>
                <a:lnTo>
                  <a:pt x="2979959" y="612343"/>
                </a:lnTo>
                <a:lnTo>
                  <a:pt x="2979959" y="611037"/>
                </a:lnTo>
                <a:lnTo>
                  <a:pt x="2982644" y="611037"/>
                </a:lnTo>
                <a:lnTo>
                  <a:pt x="2982644" y="609716"/>
                </a:lnTo>
                <a:lnTo>
                  <a:pt x="2998915" y="609716"/>
                </a:lnTo>
                <a:lnTo>
                  <a:pt x="2998915" y="607056"/>
                </a:lnTo>
                <a:lnTo>
                  <a:pt x="3004349" y="607056"/>
                </a:lnTo>
                <a:lnTo>
                  <a:pt x="3004349" y="605718"/>
                </a:lnTo>
                <a:lnTo>
                  <a:pt x="3015217" y="605718"/>
                </a:lnTo>
                <a:lnTo>
                  <a:pt x="3015217" y="604380"/>
                </a:lnTo>
                <a:lnTo>
                  <a:pt x="3023368" y="604380"/>
                </a:lnTo>
                <a:lnTo>
                  <a:pt x="3023368" y="603026"/>
                </a:lnTo>
                <a:lnTo>
                  <a:pt x="3039638" y="603026"/>
                </a:lnTo>
                <a:lnTo>
                  <a:pt x="3039638" y="601671"/>
                </a:lnTo>
                <a:lnTo>
                  <a:pt x="3088512" y="601671"/>
                </a:lnTo>
                <a:lnTo>
                  <a:pt x="3088512" y="600268"/>
                </a:lnTo>
                <a:lnTo>
                  <a:pt x="3091198" y="600268"/>
                </a:lnTo>
                <a:lnTo>
                  <a:pt x="3091198" y="598848"/>
                </a:lnTo>
                <a:lnTo>
                  <a:pt x="3096631" y="598848"/>
                </a:lnTo>
                <a:lnTo>
                  <a:pt x="3096631" y="597445"/>
                </a:lnTo>
                <a:lnTo>
                  <a:pt x="3118367" y="597445"/>
                </a:lnTo>
                <a:lnTo>
                  <a:pt x="3118367" y="594590"/>
                </a:lnTo>
                <a:lnTo>
                  <a:pt x="3123801" y="594590"/>
                </a:lnTo>
                <a:lnTo>
                  <a:pt x="3123801" y="593153"/>
                </a:lnTo>
                <a:lnTo>
                  <a:pt x="3126486" y="593153"/>
                </a:lnTo>
                <a:lnTo>
                  <a:pt x="3126486" y="591718"/>
                </a:lnTo>
                <a:lnTo>
                  <a:pt x="3148223" y="591718"/>
                </a:lnTo>
                <a:lnTo>
                  <a:pt x="3148223" y="590249"/>
                </a:lnTo>
                <a:lnTo>
                  <a:pt x="3169927" y="590249"/>
                </a:lnTo>
                <a:lnTo>
                  <a:pt x="3169927" y="584358"/>
                </a:lnTo>
                <a:lnTo>
                  <a:pt x="3180763" y="584358"/>
                </a:lnTo>
                <a:lnTo>
                  <a:pt x="3180763" y="582857"/>
                </a:lnTo>
                <a:lnTo>
                  <a:pt x="3197065" y="582857"/>
                </a:lnTo>
                <a:lnTo>
                  <a:pt x="3197065" y="579855"/>
                </a:lnTo>
                <a:lnTo>
                  <a:pt x="3199782" y="579855"/>
                </a:lnTo>
                <a:lnTo>
                  <a:pt x="3199782" y="578354"/>
                </a:lnTo>
                <a:lnTo>
                  <a:pt x="3207901" y="578354"/>
                </a:lnTo>
                <a:lnTo>
                  <a:pt x="3207901" y="576836"/>
                </a:lnTo>
                <a:lnTo>
                  <a:pt x="3210618" y="576836"/>
                </a:lnTo>
                <a:lnTo>
                  <a:pt x="3210618" y="575335"/>
                </a:lnTo>
                <a:lnTo>
                  <a:pt x="3216052" y="575335"/>
                </a:lnTo>
                <a:lnTo>
                  <a:pt x="3216052" y="573801"/>
                </a:lnTo>
                <a:lnTo>
                  <a:pt x="3226921" y="573801"/>
                </a:lnTo>
                <a:lnTo>
                  <a:pt x="3226921" y="572267"/>
                </a:lnTo>
                <a:lnTo>
                  <a:pt x="3232322" y="572267"/>
                </a:lnTo>
                <a:lnTo>
                  <a:pt x="3232322" y="570750"/>
                </a:lnTo>
                <a:lnTo>
                  <a:pt x="3251342" y="570750"/>
                </a:lnTo>
                <a:lnTo>
                  <a:pt x="3251342" y="567633"/>
                </a:lnTo>
                <a:lnTo>
                  <a:pt x="3256775" y="567633"/>
                </a:lnTo>
                <a:lnTo>
                  <a:pt x="3256775" y="566067"/>
                </a:lnTo>
                <a:lnTo>
                  <a:pt x="3262209" y="566067"/>
                </a:lnTo>
                <a:lnTo>
                  <a:pt x="3262209" y="562917"/>
                </a:lnTo>
                <a:lnTo>
                  <a:pt x="3267611" y="562917"/>
                </a:lnTo>
                <a:lnTo>
                  <a:pt x="3267611" y="559752"/>
                </a:lnTo>
                <a:lnTo>
                  <a:pt x="3270328" y="559752"/>
                </a:lnTo>
                <a:lnTo>
                  <a:pt x="3270328" y="558186"/>
                </a:lnTo>
                <a:lnTo>
                  <a:pt x="3273046" y="558186"/>
                </a:lnTo>
                <a:lnTo>
                  <a:pt x="3273046" y="556586"/>
                </a:lnTo>
                <a:lnTo>
                  <a:pt x="3278480" y="556586"/>
                </a:lnTo>
                <a:lnTo>
                  <a:pt x="3278480" y="555004"/>
                </a:lnTo>
                <a:lnTo>
                  <a:pt x="3289316" y="555004"/>
                </a:lnTo>
                <a:lnTo>
                  <a:pt x="3289316" y="553388"/>
                </a:lnTo>
                <a:lnTo>
                  <a:pt x="3294749" y="553388"/>
                </a:lnTo>
                <a:lnTo>
                  <a:pt x="3294749" y="551773"/>
                </a:lnTo>
                <a:lnTo>
                  <a:pt x="3300184" y="551773"/>
                </a:lnTo>
                <a:lnTo>
                  <a:pt x="3300184" y="550174"/>
                </a:lnTo>
                <a:lnTo>
                  <a:pt x="3302901" y="550174"/>
                </a:lnTo>
                <a:lnTo>
                  <a:pt x="3302901" y="548558"/>
                </a:lnTo>
                <a:lnTo>
                  <a:pt x="3308335" y="548558"/>
                </a:lnTo>
                <a:lnTo>
                  <a:pt x="3308335" y="546927"/>
                </a:lnTo>
                <a:lnTo>
                  <a:pt x="3316454" y="546927"/>
                </a:lnTo>
                <a:lnTo>
                  <a:pt x="3316454" y="545311"/>
                </a:lnTo>
                <a:lnTo>
                  <a:pt x="3343624" y="545311"/>
                </a:lnTo>
                <a:lnTo>
                  <a:pt x="3343624" y="543647"/>
                </a:lnTo>
                <a:lnTo>
                  <a:pt x="3346309" y="543647"/>
                </a:lnTo>
                <a:lnTo>
                  <a:pt x="3346309" y="538686"/>
                </a:lnTo>
                <a:lnTo>
                  <a:pt x="3351743" y="538686"/>
                </a:lnTo>
                <a:lnTo>
                  <a:pt x="3351743" y="537022"/>
                </a:lnTo>
                <a:lnTo>
                  <a:pt x="3359894" y="537022"/>
                </a:lnTo>
                <a:lnTo>
                  <a:pt x="3359894" y="535341"/>
                </a:lnTo>
                <a:lnTo>
                  <a:pt x="3368045" y="535341"/>
                </a:lnTo>
                <a:lnTo>
                  <a:pt x="3368045" y="533660"/>
                </a:lnTo>
                <a:lnTo>
                  <a:pt x="3373479" y="533660"/>
                </a:lnTo>
                <a:lnTo>
                  <a:pt x="3373479" y="531963"/>
                </a:lnTo>
                <a:lnTo>
                  <a:pt x="3381598" y="531963"/>
                </a:lnTo>
                <a:lnTo>
                  <a:pt x="3381598" y="530267"/>
                </a:lnTo>
                <a:lnTo>
                  <a:pt x="3395184" y="530267"/>
                </a:lnTo>
                <a:lnTo>
                  <a:pt x="3395184" y="528553"/>
                </a:lnTo>
                <a:lnTo>
                  <a:pt x="3397869" y="528553"/>
                </a:lnTo>
                <a:lnTo>
                  <a:pt x="3397869" y="526824"/>
                </a:lnTo>
                <a:lnTo>
                  <a:pt x="3408769" y="526824"/>
                </a:lnTo>
                <a:lnTo>
                  <a:pt x="3408769" y="525094"/>
                </a:lnTo>
                <a:lnTo>
                  <a:pt x="3422322" y="525094"/>
                </a:lnTo>
                <a:lnTo>
                  <a:pt x="3422322" y="523348"/>
                </a:lnTo>
                <a:lnTo>
                  <a:pt x="3438591" y="523348"/>
                </a:lnTo>
                <a:lnTo>
                  <a:pt x="3438591" y="519807"/>
                </a:lnTo>
                <a:lnTo>
                  <a:pt x="3460328" y="519807"/>
                </a:lnTo>
                <a:lnTo>
                  <a:pt x="3460328" y="517996"/>
                </a:lnTo>
                <a:lnTo>
                  <a:pt x="3471164" y="517996"/>
                </a:lnTo>
                <a:lnTo>
                  <a:pt x="3471164" y="516152"/>
                </a:lnTo>
                <a:lnTo>
                  <a:pt x="3487434" y="516152"/>
                </a:lnTo>
                <a:lnTo>
                  <a:pt x="3487434" y="514308"/>
                </a:lnTo>
                <a:lnTo>
                  <a:pt x="3495617" y="514308"/>
                </a:lnTo>
                <a:lnTo>
                  <a:pt x="3495617" y="512448"/>
                </a:lnTo>
                <a:lnTo>
                  <a:pt x="3506453" y="512448"/>
                </a:lnTo>
                <a:lnTo>
                  <a:pt x="3506453" y="510555"/>
                </a:lnTo>
                <a:lnTo>
                  <a:pt x="3514572" y="510555"/>
                </a:lnTo>
                <a:lnTo>
                  <a:pt x="3514572" y="508679"/>
                </a:lnTo>
                <a:lnTo>
                  <a:pt x="3520006" y="508679"/>
                </a:lnTo>
                <a:lnTo>
                  <a:pt x="3520006" y="506770"/>
                </a:lnTo>
                <a:lnTo>
                  <a:pt x="3522724" y="506770"/>
                </a:lnTo>
                <a:lnTo>
                  <a:pt x="3522724" y="504860"/>
                </a:lnTo>
                <a:lnTo>
                  <a:pt x="3536308" y="504860"/>
                </a:lnTo>
                <a:lnTo>
                  <a:pt x="3536308" y="502935"/>
                </a:lnTo>
                <a:lnTo>
                  <a:pt x="3544427" y="502935"/>
                </a:lnTo>
                <a:lnTo>
                  <a:pt x="3544427" y="500993"/>
                </a:lnTo>
                <a:lnTo>
                  <a:pt x="3566132" y="500993"/>
                </a:lnTo>
                <a:lnTo>
                  <a:pt x="3566132" y="499002"/>
                </a:lnTo>
                <a:lnTo>
                  <a:pt x="3571566" y="499002"/>
                </a:lnTo>
                <a:lnTo>
                  <a:pt x="3571566" y="496995"/>
                </a:lnTo>
                <a:lnTo>
                  <a:pt x="3579717" y="496995"/>
                </a:lnTo>
                <a:lnTo>
                  <a:pt x="3579717" y="494972"/>
                </a:lnTo>
                <a:lnTo>
                  <a:pt x="3585150" y="494972"/>
                </a:lnTo>
                <a:lnTo>
                  <a:pt x="3585150" y="492916"/>
                </a:lnTo>
                <a:lnTo>
                  <a:pt x="3596019" y="492916"/>
                </a:lnTo>
                <a:lnTo>
                  <a:pt x="3596019" y="490844"/>
                </a:lnTo>
                <a:lnTo>
                  <a:pt x="3598736" y="490844"/>
                </a:lnTo>
                <a:lnTo>
                  <a:pt x="3598736" y="488739"/>
                </a:lnTo>
                <a:lnTo>
                  <a:pt x="3612289" y="488739"/>
                </a:lnTo>
                <a:lnTo>
                  <a:pt x="3612289" y="486618"/>
                </a:lnTo>
                <a:lnTo>
                  <a:pt x="3631276" y="486618"/>
                </a:lnTo>
                <a:lnTo>
                  <a:pt x="3631276" y="484447"/>
                </a:lnTo>
                <a:lnTo>
                  <a:pt x="3634025" y="484447"/>
                </a:lnTo>
                <a:lnTo>
                  <a:pt x="3634025" y="482277"/>
                </a:lnTo>
                <a:lnTo>
                  <a:pt x="3636711" y="482277"/>
                </a:lnTo>
                <a:lnTo>
                  <a:pt x="3636711" y="480091"/>
                </a:lnTo>
                <a:lnTo>
                  <a:pt x="3639460" y="480091"/>
                </a:lnTo>
                <a:lnTo>
                  <a:pt x="3639460" y="477904"/>
                </a:lnTo>
                <a:lnTo>
                  <a:pt x="3650295" y="477904"/>
                </a:lnTo>
                <a:lnTo>
                  <a:pt x="3650295" y="475718"/>
                </a:lnTo>
                <a:lnTo>
                  <a:pt x="3671999" y="475718"/>
                </a:lnTo>
                <a:lnTo>
                  <a:pt x="3671999" y="473466"/>
                </a:lnTo>
                <a:lnTo>
                  <a:pt x="3680150" y="473466"/>
                </a:lnTo>
                <a:lnTo>
                  <a:pt x="3680150" y="471181"/>
                </a:lnTo>
                <a:lnTo>
                  <a:pt x="3701854" y="471181"/>
                </a:lnTo>
                <a:lnTo>
                  <a:pt x="3701854" y="468848"/>
                </a:lnTo>
                <a:lnTo>
                  <a:pt x="3707289" y="468848"/>
                </a:lnTo>
                <a:lnTo>
                  <a:pt x="3707289" y="466498"/>
                </a:lnTo>
                <a:lnTo>
                  <a:pt x="3791389" y="466498"/>
                </a:lnTo>
                <a:lnTo>
                  <a:pt x="3791389" y="463822"/>
                </a:lnTo>
                <a:lnTo>
                  <a:pt x="3804973" y="463822"/>
                </a:lnTo>
                <a:lnTo>
                  <a:pt x="3804973" y="461097"/>
                </a:lnTo>
                <a:lnTo>
                  <a:pt x="3807722" y="461097"/>
                </a:lnTo>
                <a:lnTo>
                  <a:pt x="3807722" y="458356"/>
                </a:lnTo>
                <a:lnTo>
                  <a:pt x="3813124" y="458356"/>
                </a:lnTo>
                <a:lnTo>
                  <a:pt x="3813124" y="455598"/>
                </a:lnTo>
                <a:lnTo>
                  <a:pt x="3834829" y="455598"/>
                </a:lnTo>
                <a:lnTo>
                  <a:pt x="3834829" y="452759"/>
                </a:lnTo>
                <a:lnTo>
                  <a:pt x="3864684" y="452759"/>
                </a:lnTo>
                <a:lnTo>
                  <a:pt x="3864684" y="449806"/>
                </a:lnTo>
                <a:lnTo>
                  <a:pt x="3880986" y="449806"/>
                </a:lnTo>
                <a:lnTo>
                  <a:pt x="3880986" y="446787"/>
                </a:lnTo>
                <a:lnTo>
                  <a:pt x="3889137" y="446787"/>
                </a:lnTo>
                <a:lnTo>
                  <a:pt x="3889137" y="443736"/>
                </a:lnTo>
                <a:lnTo>
                  <a:pt x="3916244" y="443736"/>
                </a:lnTo>
                <a:lnTo>
                  <a:pt x="3916244" y="440521"/>
                </a:lnTo>
                <a:lnTo>
                  <a:pt x="3929828" y="440521"/>
                </a:lnTo>
                <a:lnTo>
                  <a:pt x="3929828" y="437225"/>
                </a:lnTo>
                <a:lnTo>
                  <a:pt x="3937947" y="437225"/>
                </a:lnTo>
                <a:lnTo>
                  <a:pt x="3937947" y="433863"/>
                </a:lnTo>
                <a:lnTo>
                  <a:pt x="3948815" y="433863"/>
                </a:lnTo>
                <a:lnTo>
                  <a:pt x="3948815" y="430437"/>
                </a:lnTo>
                <a:lnTo>
                  <a:pt x="3959651" y="430437"/>
                </a:lnTo>
                <a:lnTo>
                  <a:pt x="3959651" y="426978"/>
                </a:lnTo>
                <a:lnTo>
                  <a:pt x="3965086" y="426978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6" name="cv_legend_finerenone">
            <a:extLst>
              <a:ext uri="{FF2B5EF4-FFF2-40B4-BE49-F238E27FC236}">
                <a16:creationId xmlns:a16="http://schemas.microsoft.com/office/drawing/2014/main" id="{46E5EBF7-3263-4ED4-80FF-E867E389834F}"/>
              </a:ext>
            </a:extLst>
          </p:cNvPr>
          <p:cNvSpPr>
            <a:spLocks noGrp="1"/>
          </p:cNvSpPr>
          <p:nvPr/>
        </p:nvSpPr>
        <p:spPr>
          <a:xfrm>
            <a:off x="1092200" y="2514600"/>
            <a:ext cx="228600" cy="95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7" name="cv_legend_finerenone_label">
            <a:extLst>
              <a:ext uri="{FF2B5EF4-FFF2-40B4-BE49-F238E27FC236}">
                <a16:creationId xmlns:a16="http://schemas.microsoft.com/office/drawing/2014/main" id="{DA9AFFD2-1F17-4EF2-8ADD-F64E0531FCDC}"/>
              </a:ext>
            </a:extLst>
          </p:cNvPr>
          <p:cNvSpPr>
            <a:spLocks noGrp="1"/>
          </p:cNvSpPr>
          <p:nvPr/>
        </p:nvSpPr>
        <p:spPr>
          <a:xfrm>
            <a:off x="1371600" y="2387600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68" name="cv_legend_placebo">
            <a:extLst>
              <a:ext uri="{FF2B5EF4-FFF2-40B4-BE49-F238E27FC236}">
                <a16:creationId xmlns:a16="http://schemas.microsoft.com/office/drawing/2014/main" id="{99D9DCAA-69F3-47CE-9CF7-59B41776A841}"/>
              </a:ext>
            </a:extLst>
          </p:cNvPr>
          <p:cNvSpPr>
            <a:spLocks noGrp="1"/>
          </p:cNvSpPr>
          <p:nvPr/>
        </p:nvSpPr>
        <p:spPr>
          <a:xfrm>
            <a:off x="2743200" y="2514600"/>
            <a:ext cx="228600" cy="95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9" name="cv_legend_placebo_label">
            <a:extLst>
              <a:ext uri="{FF2B5EF4-FFF2-40B4-BE49-F238E27FC236}">
                <a16:creationId xmlns:a16="http://schemas.microsoft.com/office/drawing/2014/main" id="{04956019-A245-401C-8F10-51942A68D631}"/>
              </a:ext>
            </a:extLst>
          </p:cNvPr>
          <p:cNvSpPr>
            <a:spLocks noGrp="1"/>
          </p:cNvSpPr>
          <p:nvPr/>
        </p:nvSpPr>
        <p:spPr>
          <a:xfrm>
            <a:off x="3048000" y="2387600"/>
            <a:ext cx="1057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70" name="cv_x_axis_title">
            <a:extLst>
              <a:ext uri="{FF2B5EF4-FFF2-40B4-BE49-F238E27FC236}">
                <a16:creationId xmlns:a16="http://schemas.microsoft.com/office/drawing/2014/main" id="{3EB2407F-5181-40D5-9A5C-C0E59B89B214}"/>
              </a:ext>
            </a:extLst>
          </p:cNvPr>
          <p:cNvSpPr>
            <a:spLocks noGrp="1"/>
          </p:cNvSpPr>
          <p:nvPr/>
        </p:nvSpPr>
        <p:spPr>
          <a:xfrm>
            <a:off x="990600" y="3925316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79" name="renal_definition">
            <a:extLst>
              <a:ext uri="{FF2B5EF4-FFF2-40B4-BE49-F238E27FC236}">
                <a16:creationId xmlns:a16="http://schemas.microsoft.com/office/drawing/2014/main" id="{8DB20603-31CC-4888-A878-A50E11311423}"/>
              </a:ext>
            </a:extLst>
          </p:cNvPr>
          <p:cNvSpPr>
            <a:spLocks noGrp="1"/>
          </p:cNvSpPr>
          <p:nvPr/>
        </p:nvSpPr>
        <p:spPr>
          <a:xfrm>
            <a:off x="6375400" y="1625600"/>
            <a:ext cx="5232400" cy="406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Почечная недостаточность, снижение рСКФ на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≥57%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, сохраняющееся не менее 4 недель, или смерть от почечных причин.</a:t>
            </a:r>
          </a:p>
        </p:txBody>
      </p:sp>
      <p:sp>
        <p:nvSpPr>
          <p:cNvPr id="80" name="renal_y_axis_title">
            <a:extLst>
              <a:ext uri="{FF2B5EF4-FFF2-40B4-BE49-F238E27FC236}">
                <a16:creationId xmlns:a16="http://schemas.microsoft.com/office/drawing/2014/main" id="{AE3D6B77-70FF-4DDC-9F18-473DD93286EB}"/>
              </a:ext>
            </a:extLst>
          </p:cNvPr>
          <p:cNvSpPr>
            <a:spLocks noGrp="1"/>
          </p:cNvSpPr>
          <p:nvPr/>
        </p:nvSpPr>
        <p:spPr>
          <a:xfrm>
            <a:off x="6375400" y="2057400"/>
            <a:ext cx="3810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Накопленная частота событий, %</a:t>
            </a:r>
          </a:p>
        </p:txBody>
      </p:sp>
      <p:sp>
        <p:nvSpPr>
          <p:cNvPr id="81" name="renal_tick_y_0">
            <a:extLst>
              <a:ext uri="{FF2B5EF4-FFF2-40B4-BE49-F238E27FC236}">
                <a16:creationId xmlns:a16="http://schemas.microsoft.com/office/drawing/2014/main" id="{21E1A23D-B039-4E39-B1D7-2E96DA6ADCDC}"/>
              </a:ext>
            </a:extLst>
          </p:cNvPr>
          <p:cNvSpPr>
            <a:spLocks noGrp="1"/>
          </p:cNvSpPr>
          <p:nvPr/>
        </p:nvSpPr>
        <p:spPr>
          <a:xfrm>
            <a:off x="6734175" y="3535972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2" name="renal_y_0">
            <a:extLst>
              <a:ext uri="{FF2B5EF4-FFF2-40B4-BE49-F238E27FC236}">
                <a16:creationId xmlns:a16="http://schemas.microsoft.com/office/drawing/2014/main" id="{BC796A6A-A586-4D56-A59C-8A3866E40EBB}"/>
              </a:ext>
            </a:extLst>
          </p:cNvPr>
          <p:cNvSpPr>
            <a:spLocks noGrp="1"/>
          </p:cNvSpPr>
          <p:nvPr/>
        </p:nvSpPr>
        <p:spPr>
          <a:xfrm>
            <a:off x="6391275" y="3421596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83" name="renal_grid_5">
            <a:extLst>
              <a:ext uri="{FF2B5EF4-FFF2-40B4-BE49-F238E27FC236}">
                <a16:creationId xmlns:a16="http://schemas.microsoft.com/office/drawing/2014/main" id="{77DDEB32-F49E-4A79-9CA3-D83A76219699}"/>
              </a:ext>
            </a:extLst>
          </p:cNvPr>
          <p:cNvSpPr>
            <a:spLocks noGrp="1"/>
          </p:cNvSpPr>
          <p:nvPr/>
        </p:nvSpPr>
        <p:spPr>
          <a:xfrm>
            <a:off x="6781800" y="330283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4" name="renal_tick_y_5">
            <a:extLst>
              <a:ext uri="{FF2B5EF4-FFF2-40B4-BE49-F238E27FC236}">
                <a16:creationId xmlns:a16="http://schemas.microsoft.com/office/drawing/2014/main" id="{147F9920-804B-49E7-836C-3A676ED26BAB}"/>
              </a:ext>
            </a:extLst>
          </p:cNvPr>
          <p:cNvSpPr>
            <a:spLocks noGrp="1"/>
          </p:cNvSpPr>
          <p:nvPr/>
        </p:nvSpPr>
        <p:spPr>
          <a:xfrm>
            <a:off x="6734175" y="330283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5" name="renal_y_5">
            <a:extLst>
              <a:ext uri="{FF2B5EF4-FFF2-40B4-BE49-F238E27FC236}">
                <a16:creationId xmlns:a16="http://schemas.microsoft.com/office/drawing/2014/main" id="{29BEFC5E-E9F0-44FF-A8DD-EBE45C6FC823}"/>
              </a:ext>
            </a:extLst>
          </p:cNvPr>
          <p:cNvSpPr>
            <a:spLocks noGrp="1"/>
          </p:cNvSpPr>
          <p:nvPr/>
        </p:nvSpPr>
        <p:spPr>
          <a:xfrm>
            <a:off x="6391275" y="3188455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5</a:t>
            </a:r>
          </a:p>
        </p:txBody>
      </p:sp>
      <p:sp>
        <p:nvSpPr>
          <p:cNvPr id="86" name="renal_grid_10">
            <a:extLst>
              <a:ext uri="{FF2B5EF4-FFF2-40B4-BE49-F238E27FC236}">
                <a16:creationId xmlns:a16="http://schemas.microsoft.com/office/drawing/2014/main" id="{5AC08EA0-F316-4563-AC4A-C0B05FD7C69A}"/>
              </a:ext>
            </a:extLst>
          </p:cNvPr>
          <p:cNvSpPr>
            <a:spLocks noGrp="1"/>
          </p:cNvSpPr>
          <p:nvPr/>
        </p:nvSpPr>
        <p:spPr>
          <a:xfrm>
            <a:off x="6781800" y="3069690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7" name="renal_tick_y_10">
            <a:extLst>
              <a:ext uri="{FF2B5EF4-FFF2-40B4-BE49-F238E27FC236}">
                <a16:creationId xmlns:a16="http://schemas.microsoft.com/office/drawing/2014/main" id="{1236F5DE-917E-40C9-86AE-C1040D16992C}"/>
              </a:ext>
            </a:extLst>
          </p:cNvPr>
          <p:cNvSpPr>
            <a:spLocks noGrp="1"/>
          </p:cNvSpPr>
          <p:nvPr/>
        </p:nvSpPr>
        <p:spPr>
          <a:xfrm>
            <a:off x="6734175" y="3069690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8" name="renal_y_10">
            <a:extLst>
              <a:ext uri="{FF2B5EF4-FFF2-40B4-BE49-F238E27FC236}">
                <a16:creationId xmlns:a16="http://schemas.microsoft.com/office/drawing/2014/main" id="{DBC09E46-FD43-4B3A-BD3C-FC60E34F7C1F}"/>
              </a:ext>
            </a:extLst>
          </p:cNvPr>
          <p:cNvSpPr>
            <a:spLocks noGrp="1"/>
          </p:cNvSpPr>
          <p:nvPr/>
        </p:nvSpPr>
        <p:spPr>
          <a:xfrm>
            <a:off x="6391275" y="2955314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10</a:t>
            </a:r>
          </a:p>
        </p:txBody>
      </p:sp>
      <p:sp>
        <p:nvSpPr>
          <p:cNvPr id="89" name="renal_grid_15">
            <a:extLst>
              <a:ext uri="{FF2B5EF4-FFF2-40B4-BE49-F238E27FC236}">
                <a16:creationId xmlns:a16="http://schemas.microsoft.com/office/drawing/2014/main" id="{7D357061-2864-4E8A-963E-8A5C731FE6F2}"/>
              </a:ext>
            </a:extLst>
          </p:cNvPr>
          <p:cNvSpPr>
            <a:spLocks noGrp="1"/>
          </p:cNvSpPr>
          <p:nvPr/>
        </p:nvSpPr>
        <p:spPr>
          <a:xfrm>
            <a:off x="6781800" y="2836548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0" name="renal_tick_y_15">
            <a:extLst>
              <a:ext uri="{FF2B5EF4-FFF2-40B4-BE49-F238E27FC236}">
                <a16:creationId xmlns:a16="http://schemas.microsoft.com/office/drawing/2014/main" id="{8DC43521-E98E-4A40-BB7C-221ED8A2B125}"/>
              </a:ext>
            </a:extLst>
          </p:cNvPr>
          <p:cNvSpPr>
            <a:spLocks noGrp="1"/>
          </p:cNvSpPr>
          <p:nvPr/>
        </p:nvSpPr>
        <p:spPr>
          <a:xfrm>
            <a:off x="6734175" y="2836548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1" name="renal_y_15">
            <a:extLst>
              <a:ext uri="{FF2B5EF4-FFF2-40B4-BE49-F238E27FC236}">
                <a16:creationId xmlns:a16="http://schemas.microsoft.com/office/drawing/2014/main" id="{AAD67E61-CEDF-450B-B80C-1F6B17F42687}"/>
              </a:ext>
            </a:extLst>
          </p:cNvPr>
          <p:cNvSpPr>
            <a:spLocks noGrp="1"/>
          </p:cNvSpPr>
          <p:nvPr/>
        </p:nvSpPr>
        <p:spPr>
          <a:xfrm>
            <a:off x="6391275" y="2722173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15</a:t>
            </a:r>
          </a:p>
        </p:txBody>
      </p:sp>
      <p:sp>
        <p:nvSpPr>
          <p:cNvPr id="92" name="renal_grid_20">
            <a:extLst>
              <a:ext uri="{FF2B5EF4-FFF2-40B4-BE49-F238E27FC236}">
                <a16:creationId xmlns:a16="http://schemas.microsoft.com/office/drawing/2014/main" id="{B6510C65-4127-460B-9CB3-CD48F9CF995B}"/>
              </a:ext>
            </a:extLst>
          </p:cNvPr>
          <p:cNvSpPr>
            <a:spLocks noGrp="1"/>
          </p:cNvSpPr>
          <p:nvPr/>
        </p:nvSpPr>
        <p:spPr>
          <a:xfrm>
            <a:off x="6781800" y="260340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3" name="renal_tick_y_20">
            <a:extLst>
              <a:ext uri="{FF2B5EF4-FFF2-40B4-BE49-F238E27FC236}">
                <a16:creationId xmlns:a16="http://schemas.microsoft.com/office/drawing/2014/main" id="{BC18373B-1DD6-497B-B3D8-3C8F0ADE960D}"/>
              </a:ext>
            </a:extLst>
          </p:cNvPr>
          <p:cNvSpPr>
            <a:spLocks noGrp="1"/>
          </p:cNvSpPr>
          <p:nvPr/>
        </p:nvSpPr>
        <p:spPr>
          <a:xfrm>
            <a:off x="6734175" y="260340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4" name="renal_y_20">
            <a:extLst>
              <a:ext uri="{FF2B5EF4-FFF2-40B4-BE49-F238E27FC236}">
                <a16:creationId xmlns:a16="http://schemas.microsoft.com/office/drawing/2014/main" id="{62B6A391-8552-408F-B777-D1AF4BE46771}"/>
              </a:ext>
            </a:extLst>
          </p:cNvPr>
          <p:cNvSpPr>
            <a:spLocks noGrp="1"/>
          </p:cNvSpPr>
          <p:nvPr/>
        </p:nvSpPr>
        <p:spPr>
          <a:xfrm>
            <a:off x="6391275" y="248903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20</a:t>
            </a:r>
          </a:p>
        </p:txBody>
      </p:sp>
      <p:sp>
        <p:nvSpPr>
          <p:cNvPr id="95" name="renal_grid_25">
            <a:extLst>
              <a:ext uri="{FF2B5EF4-FFF2-40B4-BE49-F238E27FC236}">
                <a16:creationId xmlns:a16="http://schemas.microsoft.com/office/drawing/2014/main" id="{816CEC8D-FF22-4A5C-8AEB-7E64C89FA498}"/>
              </a:ext>
            </a:extLst>
          </p:cNvPr>
          <p:cNvSpPr>
            <a:spLocks noGrp="1"/>
          </p:cNvSpPr>
          <p:nvPr/>
        </p:nvSpPr>
        <p:spPr>
          <a:xfrm>
            <a:off x="6781800" y="2370267"/>
            <a:ext cx="4571999" cy="95"/>
          </a:xfrm>
          <a:prstGeom prst="line">
            <a:avLst/>
          </a:prstGeom>
          <a:noFill/>
          <a:ln w="6191">
            <a:solidFill>
              <a:srgbClr val="E2E7E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6" name="renal_tick_y_25">
            <a:extLst>
              <a:ext uri="{FF2B5EF4-FFF2-40B4-BE49-F238E27FC236}">
                <a16:creationId xmlns:a16="http://schemas.microsoft.com/office/drawing/2014/main" id="{6D04B77F-2600-41B3-A4CA-25A86A667DD3}"/>
              </a:ext>
            </a:extLst>
          </p:cNvPr>
          <p:cNvSpPr>
            <a:spLocks noGrp="1"/>
          </p:cNvSpPr>
          <p:nvPr/>
        </p:nvSpPr>
        <p:spPr>
          <a:xfrm>
            <a:off x="6734175" y="2370267"/>
            <a:ext cx="47625" cy="9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7" name="renal_y_25">
            <a:extLst>
              <a:ext uri="{FF2B5EF4-FFF2-40B4-BE49-F238E27FC236}">
                <a16:creationId xmlns:a16="http://schemas.microsoft.com/office/drawing/2014/main" id="{6E8EF418-E306-425A-93BB-8B6C0C1BB0C6}"/>
              </a:ext>
            </a:extLst>
          </p:cNvPr>
          <p:cNvSpPr>
            <a:spLocks noGrp="1"/>
          </p:cNvSpPr>
          <p:nvPr/>
        </p:nvSpPr>
        <p:spPr>
          <a:xfrm>
            <a:off x="6391275" y="2255892"/>
            <a:ext cx="3143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25</a:t>
            </a:r>
          </a:p>
        </p:txBody>
      </p:sp>
      <p:sp>
        <p:nvSpPr>
          <p:cNvPr id="98" name="renal_y_axis">
            <a:extLst>
              <a:ext uri="{FF2B5EF4-FFF2-40B4-BE49-F238E27FC236}">
                <a16:creationId xmlns:a16="http://schemas.microsoft.com/office/drawing/2014/main" id="{7CE1F7F1-5194-40F4-8025-83550E95C1AF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95" cy="1165704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99" name="renal_x_axis">
            <a:extLst>
              <a:ext uri="{FF2B5EF4-FFF2-40B4-BE49-F238E27FC236}">
                <a16:creationId xmlns:a16="http://schemas.microsoft.com/office/drawing/2014/main" id="{67E1925A-4AD3-424E-9A9E-6AC1214AE5A2}"/>
              </a:ext>
            </a:extLst>
          </p:cNvPr>
          <p:cNvSpPr>
            <a:spLocks noGrp="1"/>
          </p:cNvSpPr>
          <p:nvPr/>
        </p:nvSpPr>
        <p:spPr>
          <a:xfrm>
            <a:off x="6781800" y="3531616"/>
            <a:ext cx="4571999" cy="95"/>
          </a:xfrm>
          <a:prstGeom prst="line">
            <a:avLst/>
          </a:prstGeom>
          <a:noFill/>
          <a:ln w="10478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0" name="renal_tick_x_0">
            <a:extLst>
              <a:ext uri="{FF2B5EF4-FFF2-40B4-BE49-F238E27FC236}">
                <a16:creationId xmlns:a16="http://schemas.microsoft.com/office/drawing/2014/main" id="{91283EDF-5DD8-49C4-8A7B-E9F253828AA1}"/>
              </a:ext>
            </a:extLst>
          </p:cNvPr>
          <p:cNvSpPr>
            <a:spLocks noGrp="1"/>
          </p:cNvSpPr>
          <p:nvPr/>
        </p:nvSpPr>
        <p:spPr>
          <a:xfrm>
            <a:off x="6774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1" name="renal_month_0">
            <a:extLst>
              <a:ext uri="{FF2B5EF4-FFF2-40B4-BE49-F238E27FC236}">
                <a16:creationId xmlns:a16="http://schemas.microsoft.com/office/drawing/2014/main" id="{AB95BC87-2363-419B-8FE2-B05B58773A30}"/>
              </a:ext>
            </a:extLst>
          </p:cNvPr>
          <p:cNvSpPr>
            <a:spLocks noGrp="1"/>
          </p:cNvSpPr>
          <p:nvPr/>
        </p:nvSpPr>
        <p:spPr>
          <a:xfrm>
            <a:off x="6574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0</a:t>
            </a:r>
          </a:p>
        </p:txBody>
      </p:sp>
      <p:sp>
        <p:nvSpPr>
          <p:cNvPr id="102" name="renal_tick_x_6">
            <a:extLst>
              <a:ext uri="{FF2B5EF4-FFF2-40B4-BE49-F238E27FC236}">
                <a16:creationId xmlns:a16="http://schemas.microsoft.com/office/drawing/2014/main" id="{7DB8D5AB-85F0-424F-84E5-95986241D675}"/>
              </a:ext>
            </a:extLst>
          </p:cNvPr>
          <p:cNvSpPr>
            <a:spLocks noGrp="1"/>
          </p:cNvSpPr>
          <p:nvPr/>
        </p:nvSpPr>
        <p:spPr>
          <a:xfrm>
            <a:off x="7345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3" name="renal_month_6">
            <a:extLst>
              <a:ext uri="{FF2B5EF4-FFF2-40B4-BE49-F238E27FC236}">
                <a16:creationId xmlns:a16="http://schemas.microsoft.com/office/drawing/2014/main" id="{B701D4BB-AB6E-48D3-97FC-4893853C9985}"/>
              </a:ext>
            </a:extLst>
          </p:cNvPr>
          <p:cNvSpPr>
            <a:spLocks noGrp="1"/>
          </p:cNvSpPr>
          <p:nvPr/>
        </p:nvSpPr>
        <p:spPr>
          <a:xfrm>
            <a:off x="7145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6</a:t>
            </a:r>
          </a:p>
        </p:txBody>
      </p:sp>
      <p:sp>
        <p:nvSpPr>
          <p:cNvPr id="104" name="renal_tick_x_12">
            <a:extLst>
              <a:ext uri="{FF2B5EF4-FFF2-40B4-BE49-F238E27FC236}">
                <a16:creationId xmlns:a16="http://schemas.microsoft.com/office/drawing/2014/main" id="{C1F206AC-359F-40D7-97EC-CBFA74852A56}"/>
              </a:ext>
            </a:extLst>
          </p:cNvPr>
          <p:cNvSpPr>
            <a:spLocks noGrp="1"/>
          </p:cNvSpPr>
          <p:nvPr/>
        </p:nvSpPr>
        <p:spPr>
          <a:xfrm>
            <a:off x="7917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5" name="renal_month_12">
            <a:extLst>
              <a:ext uri="{FF2B5EF4-FFF2-40B4-BE49-F238E27FC236}">
                <a16:creationId xmlns:a16="http://schemas.microsoft.com/office/drawing/2014/main" id="{CE2BF1A7-BF9D-4899-93F4-FCD614707D67}"/>
              </a:ext>
            </a:extLst>
          </p:cNvPr>
          <p:cNvSpPr>
            <a:spLocks noGrp="1"/>
          </p:cNvSpPr>
          <p:nvPr/>
        </p:nvSpPr>
        <p:spPr>
          <a:xfrm>
            <a:off x="7717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12</a:t>
            </a:r>
          </a:p>
        </p:txBody>
      </p:sp>
      <p:sp>
        <p:nvSpPr>
          <p:cNvPr id="106" name="renal_tick_x_18">
            <a:extLst>
              <a:ext uri="{FF2B5EF4-FFF2-40B4-BE49-F238E27FC236}">
                <a16:creationId xmlns:a16="http://schemas.microsoft.com/office/drawing/2014/main" id="{0C065FEF-E579-40D4-A193-9280818F354D}"/>
              </a:ext>
            </a:extLst>
          </p:cNvPr>
          <p:cNvSpPr>
            <a:spLocks noGrp="1"/>
          </p:cNvSpPr>
          <p:nvPr/>
        </p:nvSpPr>
        <p:spPr>
          <a:xfrm>
            <a:off x="8488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7" name="renal_month_18">
            <a:extLst>
              <a:ext uri="{FF2B5EF4-FFF2-40B4-BE49-F238E27FC236}">
                <a16:creationId xmlns:a16="http://schemas.microsoft.com/office/drawing/2014/main" id="{C17120E0-3B66-4A4D-8E74-79C3F8C93B41}"/>
              </a:ext>
            </a:extLst>
          </p:cNvPr>
          <p:cNvSpPr>
            <a:spLocks noGrp="1"/>
          </p:cNvSpPr>
          <p:nvPr/>
        </p:nvSpPr>
        <p:spPr>
          <a:xfrm>
            <a:off x="8288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18</a:t>
            </a:r>
          </a:p>
        </p:txBody>
      </p:sp>
      <p:sp>
        <p:nvSpPr>
          <p:cNvPr id="108" name="renal_tick_x_24">
            <a:extLst>
              <a:ext uri="{FF2B5EF4-FFF2-40B4-BE49-F238E27FC236}">
                <a16:creationId xmlns:a16="http://schemas.microsoft.com/office/drawing/2014/main" id="{A6CD069B-D07C-4A14-9786-B2854D42686D}"/>
              </a:ext>
            </a:extLst>
          </p:cNvPr>
          <p:cNvSpPr>
            <a:spLocks noGrp="1"/>
          </p:cNvSpPr>
          <p:nvPr/>
        </p:nvSpPr>
        <p:spPr>
          <a:xfrm>
            <a:off x="9060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09" name="renal_month_24">
            <a:extLst>
              <a:ext uri="{FF2B5EF4-FFF2-40B4-BE49-F238E27FC236}">
                <a16:creationId xmlns:a16="http://schemas.microsoft.com/office/drawing/2014/main" id="{DC8FA910-3A4D-408C-BB9A-0A616E42E62E}"/>
              </a:ext>
            </a:extLst>
          </p:cNvPr>
          <p:cNvSpPr>
            <a:spLocks noGrp="1"/>
          </p:cNvSpPr>
          <p:nvPr/>
        </p:nvSpPr>
        <p:spPr>
          <a:xfrm>
            <a:off x="8860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24</a:t>
            </a:r>
          </a:p>
        </p:txBody>
      </p:sp>
      <p:sp>
        <p:nvSpPr>
          <p:cNvPr id="110" name="renal_tick_x_30">
            <a:extLst>
              <a:ext uri="{FF2B5EF4-FFF2-40B4-BE49-F238E27FC236}">
                <a16:creationId xmlns:a16="http://schemas.microsoft.com/office/drawing/2014/main" id="{1313BD64-7F1E-4C5D-8844-D6A27C264264}"/>
              </a:ext>
            </a:extLst>
          </p:cNvPr>
          <p:cNvSpPr>
            <a:spLocks noGrp="1"/>
          </p:cNvSpPr>
          <p:nvPr/>
        </p:nvSpPr>
        <p:spPr>
          <a:xfrm>
            <a:off x="9631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1" name="renal_month_30">
            <a:extLst>
              <a:ext uri="{FF2B5EF4-FFF2-40B4-BE49-F238E27FC236}">
                <a16:creationId xmlns:a16="http://schemas.microsoft.com/office/drawing/2014/main" id="{2D58ACCF-70C3-4940-8FBF-35BD85646B7E}"/>
              </a:ext>
            </a:extLst>
          </p:cNvPr>
          <p:cNvSpPr>
            <a:spLocks noGrp="1"/>
          </p:cNvSpPr>
          <p:nvPr/>
        </p:nvSpPr>
        <p:spPr>
          <a:xfrm>
            <a:off x="9431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30</a:t>
            </a:r>
          </a:p>
        </p:txBody>
      </p:sp>
      <p:sp>
        <p:nvSpPr>
          <p:cNvPr id="112" name="renal_tick_x_36">
            <a:extLst>
              <a:ext uri="{FF2B5EF4-FFF2-40B4-BE49-F238E27FC236}">
                <a16:creationId xmlns:a16="http://schemas.microsoft.com/office/drawing/2014/main" id="{C88787A3-DDA7-4F08-A345-DC8B84241617}"/>
              </a:ext>
            </a:extLst>
          </p:cNvPr>
          <p:cNvSpPr>
            <a:spLocks noGrp="1"/>
          </p:cNvSpPr>
          <p:nvPr/>
        </p:nvSpPr>
        <p:spPr>
          <a:xfrm>
            <a:off x="10203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3" name="renal_month_36">
            <a:extLst>
              <a:ext uri="{FF2B5EF4-FFF2-40B4-BE49-F238E27FC236}">
                <a16:creationId xmlns:a16="http://schemas.microsoft.com/office/drawing/2014/main" id="{A863450E-A7C2-4E33-A193-F6773097E8A2}"/>
              </a:ext>
            </a:extLst>
          </p:cNvPr>
          <p:cNvSpPr>
            <a:spLocks noGrp="1"/>
          </p:cNvSpPr>
          <p:nvPr/>
        </p:nvSpPr>
        <p:spPr>
          <a:xfrm>
            <a:off x="10003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36</a:t>
            </a:r>
          </a:p>
        </p:txBody>
      </p:sp>
      <p:sp>
        <p:nvSpPr>
          <p:cNvPr id="114" name="renal_tick_x_42">
            <a:extLst>
              <a:ext uri="{FF2B5EF4-FFF2-40B4-BE49-F238E27FC236}">
                <a16:creationId xmlns:a16="http://schemas.microsoft.com/office/drawing/2014/main" id="{7208727D-67FD-4FDA-AACF-1A1A2109EE3F}"/>
              </a:ext>
            </a:extLst>
          </p:cNvPr>
          <p:cNvSpPr>
            <a:spLocks noGrp="1"/>
          </p:cNvSpPr>
          <p:nvPr/>
        </p:nvSpPr>
        <p:spPr>
          <a:xfrm>
            <a:off x="107749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5" name="renal_month_42">
            <a:extLst>
              <a:ext uri="{FF2B5EF4-FFF2-40B4-BE49-F238E27FC236}">
                <a16:creationId xmlns:a16="http://schemas.microsoft.com/office/drawing/2014/main" id="{59D56040-6483-48FC-BD7B-7BFD0EB3FF34}"/>
              </a:ext>
            </a:extLst>
          </p:cNvPr>
          <p:cNvSpPr>
            <a:spLocks noGrp="1"/>
          </p:cNvSpPr>
          <p:nvPr/>
        </p:nvSpPr>
        <p:spPr>
          <a:xfrm>
            <a:off x="105749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42</a:t>
            </a:r>
          </a:p>
        </p:txBody>
      </p:sp>
      <p:sp>
        <p:nvSpPr>
          <p:cNvPr id="116" name="renal_tick_x_48">
            <a:extLst>
              <a:ext uri="{FF2B5EF4-FFF2-40B4-BE49-F238E27FC236}">
                <a16:creationId xmlns:a16="http://schemas.microsoft.com/office/drawing/2014/main" id="{219D5F5B-B589-4F75-BB17-FB6B438C4FDA}"/>
              </a:ext>
            </a:extLst>
          </p:cNvPr>
          <p:cNvSpPr>
            <a:spLocks noGrp="1"/>
          </p:cNvSpPr>
          <p:nvPr/>
        </p:nvSpPr>
        <p:spPr>
          <a:xfrm>
            <a:off x="11346473" y="3547025"/>
            <a:ext cx="95" cy="47625"/>
          </a:xfrm>
          <a:prstGeom prst="line">
            <a:avLst/>
          </a:prstGeom>
          <a:noFill/>
          <a:ln w="9525">
            <a:solidFill>
              <a:srgbClr val="53606B"/>
            </a:solidFill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7" name="renal_month_48">
            <a:extLst>
              <a:ext uri="{FF2B5EF4-FFF2-40B4-BE49-F238E27FC236}">
                <a16:creationId xmlns:a16="http://schemas.microsoft.com/office/drawing/2014/main" id="{AF090085-C360-4306-81D0-ACC1D6BF372E}"/>
              </a:ext>
            </a:extLst>
          </p:cNvPr>
          <p:cNvSpPr>
            <a:spLocks noGrp="1"/>
          </p:cNvSpPr>
          <p:nvPr/>
        </p:nvSpPr>
        <p:spPr>
          <a:xfrm>
            <a:off x="11146448" y="3690132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48</a:t>
            </a:r>
          </a:p>
        </p:txBody>
      </p:sp>
      <p:sp>
        <p:nvSpPr>
          <p:cNvPr id="118" name="published_curve_renal_Плацебо">
            <a:extLst>
              <a:ext uri="{FF2B5EF4-FFF2-40B4-BE49-F238E27FC236}">
                <a16:creationId xmlns:a16="http://schemas.microsoft.com/office/drawing/2014/main" id="{BCAA58EC-3760-4C2C-B865-3D6570D5F5DC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160" y="1180888"/>
                </a:moveTo>
                <a:lnTo>
                  <a:pt x="211887" y="1180888"/>
                </a:lnTo>
                <a:lnTo>
                  <a:pt x="211887" y="1180156"/>
                </a:lnTo>
                <a:lnTo>
                  <a:pt x="304193" y="1180156"/>
                </a:lnTo>
                <a:lnTo>
                  <a:pt x="304193" y="1179423"/>
                </a:lnTo>
                <a:lnTo>
                  <a:pt x="320499" y="1179423"/>
                </a:lnTo>
                <a:lnTo>
                  <a:pt x="320499" y="1178690"/>
                </a:lnTo>
                <a:lnTo>
                  <a:pt x="323185" y="1178690"/>
                </a:lnTo>
                <a:lnTo>
                  <a:pt x="323185" y="1177957"/>
                </a:lnTo>
                <a:lnTo>
                  <a:pt x="325934" y="1177957"/>
                </a:lnTo>
                <a:lnTo>
                  <a:pt x="325934" y="1177224"/>
                </a:lnTo>
                <a:lnTo>
                  <a:pt x="350362" y="1177224"/>
                </a:lnTo>
                <a:lnTo>
                  <a:pt x="350362" y="1175743"/>
                </a:lnTo>
                <a:lnTo>
                  <a:pt x="496926" y="1175743"/>
                </a:lnTo>
                <a:lnTo>
                  <a:pt x="496926" y="1174994"/>
                </a:lnTo>
                <a:lnTo>
                  <a:pt x="515951" y="1174994"/>
                </a:lnTo>
                <a:lnTo>
                  <a:pt x="515951" y="1174245"/>
                </a:lnTo>
                <a:lnTo>
                  <a:pt x="532225" y="1174245"/>
                </a:lnTo>
                <a:lnTo>
                  <a:pt x="532225" y="1173512"/>
                </a:lnTo>
                <a:lnTo>
                  <a:pt x="548499" y="1173512"/>
                </a:lnTo>
                <a:lnTo>
                  <a:pt x="548499" y="1172763"/>
                </a:lnTo>
                <a:lnTo>
                  <a:pt x="572959" y="1172763"/>
                </a:lnTo>
                <a:lnTo>
                  <a:pt x="572959" y="1172030"/>
                </a:lnTo>
                <a:lnTo>
                  <a:pt x="583798" y="1172030"/>
                </a:lnTo>
                <a:lnTo>
                  <a:pt x="583798" y="1171281"/>
                </a:lnTo>
                <a:lnTo>
                  <a:pt x="589234" y="1171281"/>
                </a:lnTo>
                <a:lnTo>
                  <a:pt x="589234" y="1170532"/>
                </a:lnTo>
                <a:lnTo>
                  <a:pt x="624532" y="1170532"/>
                </a:lnTo>
                <a:lnTo>
                  <a:pt x="624532" y="1169799"/>
                </a:lnTo>
                <a:lnTo>
                  <a:pt x="629967" y="1169799"/>
                </a:lnTo>
                <a:lnTo>
                  <a:pt x="629967" y="1169050"/>
                </a:lnTo>
                <a:lnTo>
                  <a:pt x="638120" y="1169050"/>
                </a:lnTo>
                <a:lnTo>
                  <a:pt x="638120" y="1168318"/>
                </a:lnTo>
                <a:lnTo>
                  <a:pt x="643524" y="1168318"/>
                </a:lnTo>
                <a:lnTo>
                  <a:pt x="643524" y="1167569"/>
                </a:lnTo>
                <a:lnTo>
                  <a:pt x="646241" y="1167569"/>
                </a:lnTo>
                <a:lnTo>
                  <a:pt x="646241" y="1166820"/>
                </a:lnTo>
                <a:lnTo>
                  <a:pt x="648959" y="1166820"/>
                </a:lnTo>
                <a:lnTo>
                  <a:pt x="648959" y="1165338"/>
                </a:lnTo>
                <a:lnTo>
                  <a:pt x="651677" y="1165338"/>
                </a:lnTo>
                <a:lnTo>
                  <a:pt x="651677" y="1163840"/>
                </a:lnTo>
                <a:lnTo>
                  <a:pt x="659830" y="1163840"/>
                </a:lnTo>
                <a:lnTo>
                  <a:pt x="659830" y="1163107"/>
                </a:lnTo>
                <a:lnTo>
                  <a:pt x="662548" y="1163107"/>
                </a:lnTo>
                <a:lnTo>
                  <a:pt x="662548" y="1162358"/>
                </a:lnTo>
                <a:lnTo>
                  <a:pt x="670669" y="1162358"/>
                </a:lnTo>
                <a:lnTo>
                  <a:pt x="670669" y="1160860"/>
                </a:lnTo>
                <a:lnTo>
                  <a:pt x="678823" y="1160860"/>
                </a:lnTo>
                <a:lnTo>
                  <a:pt x="678823" y="1160111"/>
                </a:lnTo>
                <a:lnTo>
                  <a:pt x="681540" y="1160111"/>
                </a:lnTo>
                <a:lnTo>
                  <a:pt x="681540" y="1159378"/>
                </a:lnTo>
                <a:lnTo>
                  <a:pt x="705968" y="1159378"/>
                </a:lnTo>
                <a:lnTo>
                  <a:pt x="705968" y="1158613"/>
                </a:lnTo>
                <a:lnTo>
                  <a:pt x="708685" y="1158613"/>
                </a:lnTo>
                <a:lnTo>
                  <a:pt x="708685" y="1157864"/>
                </a:lnTo>
                <a:lnTo>
                  <a:pt x="711403" y="1157864"/>
                </a:lnTo>
                <a:lnTo>
                  <a:pt x="711403" y="1157131"/>
                </a:lnTo>
                <a:lnTo>
                  <a:pt x="724992" y="1157131"/>
                </a:lnTo>
                <a:lnTo>
                  <a:pt x="724992" y="1155633"/>
                </a:lnTo>
                <a:lnTo>
                  <a:pt x="790153" y="1155633"/>
                </a:lnTo>
                <a:lnTo>
                  <a:pt x="790153" y="1154884"/>
                </a:lnTo>
                <a:lnTo>
                  <a:pt x="798274" y="1154884"/>
                </a:lnTo>
                <a:lnTo>
                  <a:pt x="798274" y="1154135"/>
                </a:lnTo>
                <a:lnTo>
                  <a:pt x="809113" y="1154135"/>
                </a:lnTo>
                <a:lnTo>
                  <a:pt x="809113" y="1153386"/>
                </a:lnTo>
                <a:lnTo>
                  <a:pt x="825387" y="1153386"/>
                </a:lnTo>
                <a:lnTo>
                  <a:pt x="825387" y="1152637"/>
                </a:lnTo>
                <a:lnTo>
                  <a:pt x="838975" y="1152637"/>
                </a:lnTo>
                <a:lnTo>
                  <a:pt x="838975" y="1151888"/>
                </a:lnTo>
                <a:lnTo>
                  <a:pt x="860685" y="1151888"/>
                </a:lnTo>
                <a:lnTo>
                  <a:pt x="860685" y="1151139"/>
                </a:lnTo>
                <a:lnTo>
                  <a:pt x="863435" y="1151139"/>
                </a:lnTo>
                <a:lnTo>
                  <a:pt x="863435" y="1150406"/>
                </a:lnTo>
                <a:lnTo>
                  <a:pt x="893298" y="1150406"/>
                </a:lnTo>
                <a:lnTo>
                  <a:pt x="893298" y="1149641"/>
                </a:lnTo>
                <a:lnTo>
                  <a:pt x="923161" y="1149641"/>
                </a:lnTo>
                <a:lnTo>
                  <a:pt x="923161" y="1148892"/>
                </a:lnTo>
                <a:lnTo>
                  <a:pt x="925847" y="1148892"/>
                </a:lnTo>
                <a:lnTo>
                  <a:pt x="925847" y="1148143"/>
                </a:lnTo>
                <a:lnTo>
                  <a:pt x="931282" y="1148143"/>
                </a:lnTo>
                <a:lnTo>
                  <a:pt x="931282" y="1147394"/>
                </a:lnTo>
                <a:lnTo>
                  <a:pt x="958428" y="1147394"/>
                </a:lnTo>
                <a:lnTo>
                  <a:pt x="958428" y="1146645"/>
                </a:lnTo>
                <a:lnTo>
                  <a:pt x="963895" y="1146645"/>
                </a:lnTo>
                <a:lnTo>
                  <a:pt x="963895" y="1145896"/>
                </a:lnTo>
                <a:lnTo>
                  <a:pt x="966581" y="1145896"/>
                </a:lnTo>
                <a:lnTo>
                  <a:pt x="966581" y="1145147"/>
                </a:lnTo>
                <a:lnTo>
                  <a:pt x="969298" y="1145147"/>
                </a:lnTo>
                <a:lnTo>
                  <a:pt x="969298" y="1144398"/>
                </a:lnTo>
                <a:lnTo>
                  <a:pt x="972016" y="1144398"/>
                </a:lnTo>
                <a:lnTo>
                  <a:pt x="972016" y="1142900"/>
                </a:lnTo>
                <a:lnTo>
                  <a:pt x="974733" y="1142900"/>
                </a:lnTo>
                <a:lnTo>
                  <a:pt x="974733" y="1142134"/>
                </a:lnTo>
                <a:lnTo>
                  <a:pt x="977452" y="1142134"/>
                </a:lnTo>
                <a:lnTo>
                  <a:pt x="977452" y="1139138"/>
                </a:lnTo>
                <a:lnTo>
                  <a:pt x="982854" y="1139138"/>
                </a:lnTo>
                <a:lnTo>
                  <a:pt x="982854" y="1138373"/>
                </a:lnTo>
                <a:lnTo>
                  <a:pt x="988290" y="1138373"/>
                </a:lnTo>
                <a:lnTo>
                  <a:pt x="988290" y="1137640"/>
                </a:lnTo>
                <a:lnTo>
                  <a:pt x="991008" y="1137640"/>
                </a:lnTo>
                <a:lnTo>
                  <a:pt x="991008" y="1136875"/>
                </a:lnTo>
                <a:lnTo>
                  <a:pt x="996443" y="1136875"/>
                </a:lnTo>
                <a:lnTo>
                  <a:pt x="996443" y="1135377"/>
                </a:lnTo>
                <a:lnTo>
                  <a:pt x="999161" y="1135377"/>
                </a:lnTo>
                <a:lnTo>
                  <a:pt x="999161" y="1133879"/>
                </a:lnTo>
                <a:lnTo>
                  <a:pt x="1010032" y="1133879"/>
                </a:lnTo>
                <a:lnTo>
                  <a:pt x="1010032" y="1133113"/>
                </a:lnTo>
                <a:lnTo>
                  <a:pt x="1015468" y="1133113"/>
                </a:lnTo>
                <a:lnTo>
                  <a:pt x="1015468" y="1132365"/>
                </a:lnTo>
                <a:lnTo>
                  <a:pt x="1023589" y="1132365"/>
                </a:lnTo>
                <a:lnTo>
                  <a:pt x="1023589" y="1131599"/>
                </a:lnTo>
                <a:lnTo>
                  <a:pt x="1026306" y="1131599"/>
                </a:lnTo>
                <a:lnTo>
                  <a:pt x="1026306" y="1130866"/>
                </a:lnTo>
                <a:lnTo>
                  <a:pt x="1029025" y="1130866"/>
                </a:lnTo>
                <a:lnTo>
                  <a:pt x="1029025" y="1130101"/>
                </a:lnTo>
                <a:lnTo>
                  <a:pt x="1037177" y="1130101"/>
                </a:lnTo>
                <a:lnTo>
                  <a:pt x="1037177" y="1129352"/>
                </a:lnTo>
                <a:lnTo>
                  <a:pt x="1048016" y="1129352"/>
                </a:lnTo>
                <a:lnTo>
                  <a:pt x="1048016" y="1128603"/>
                </a:lnTo>
                <a:lnTo>
                  <a:pt x="1050766" y="1128603"/>
                </a:lnTo>
                <a:lnTo>
                  <a:pt x="1050766" y="1127838"/>
                </a:lnTo>
                <a:lnTo>
                  <a:pt x="1067040" y="1127838"/>
                </a:lnTo>
                <a:lnTo>
                  <a:pt x="1067040" y="1127089"/>
                </a:lnTo>
                <a:lnTo>
                  <a:pt x="1075162" y="1127089"/>
                </a:lnTo>
                <a:lnTo>
                  <a:pt x="1075162" y="1126323"/>
                </a:lnTo>
                <a:lnTo>
                  <a:pt x="1083315" y="1126323"/>
                </a:lnTo>
                <a:lnTo>
                  <a:pt x="1083315" y="1125591"/>
                </a:lnTo>
                <a:lnTo>
                  <a:pt x="1091467" y="1125591"/>
                </a:lnTo>
                <a:lnTo>
                  <a:pt x="1091467" y="1124825"/>
                </a:lnTo>
                <a:lnTo>
                  <a:pt x="1102338" y="1124825"/>
                </a:lnTo>
                <a:lnTo>
                  <a:pt x="1102338" y="1123327"/>
                </a:lnTo>
                <a:lnTo>
                  <a:pt x="1121299" y="1123327"/>
                </a:lnTo>
                <a:lnTo>
                  <a:pt x="1121299" y="1122578"/>
                </a:lnTo>
                <a:lnTo>
                  <a:pt x="1129452" y="1122578"/>
                </a:lnTo>
                <a:lnTo>
                  <a:pt x="1129452" y="1121813"/>
                </a:lnTo>
                <a:lnTo>
                  <a:pt x="1202734" y="1121813"/>
                </a:lnTo>
                <a:lnTo>
                  <a:pt x="1202734" y="1121048"/>
                </a:lnTo>
                <a:lnTo>
                  <a:pt x="1219041" y="1121048"/>
                </a:lnTo>
                <a:lnTo>
                  <a:pt x="1219041" y="1120299"/>
                </a:lnTo>
                <a:lnTo>
                  <a:pt x="1262492" y="1120299"/>
                </a:lnTo>
                <a:lnTo>
                  <a:pt x="1262492" y="1119550"/>
                </a:lnTo>
                <a:lnTo>
                  <a:pt x="1281484" y="1119550"/>
                </a:lnTo>
                <a:lnTo>
                  <a:pt x="1281484" y="1118801"/>
                </a:lnTo>
                <a:lnTo>
                  <a:pt x="1292355" y="1118801"/>
                </a:lnTo>
                <a:lnTo>
                  <a:pt x="1292355" y="1117286"/>
                </a:lnTo>
                <a:lnTo>
                  <a:pt x="1305911" y="1117286"/>
                </a:lnTo>
                <a:lnTo>
                  <a:pt x="1305911" y="1116521"/>
                </a:lnTo>
                <a:lnTo>
                  <a:pt x="1308630" y="1116521"/>
                </a:lnTo>
                <a:lnTo>
                  <a:pt x="1308630" y="1114241"/>
                </a:lnTo>
                <a:lnTo>
                  <a:pt x="1311347" y="1114241"/>
                </a:lnTo>
                <a:lnTo>
                  <a:pt x="1311347" y="1112727"/>
                </a:lnTo>
                <a:lnTo>
                  <a:pt x="1314064" y="1112727"/>
                </a:lnTo>
                <a:lnTo>
                  <a:pt x="1314064" y="1111213"/>
                </a:lnTo>
                <a:lnTo>
                  <a:pt x="1316783" y="1111213"/>
                </a:lnTo>
                <a:lnTo>
                  <a:pt x="1316783" y="1110447"/>
                </a:lnTo>
                <a:lnTo>
                  <a:pt x="1330339" y="1110447"/>
                </a:lnTo>
                <a:lnTo>
                  <a:pt x="1330339" y="1108933"/>
                </a:lnTo>
                <a:lnTo>
                  <a:pt x="1333056" y="1108933"/>
                </a:lnTo>
                <a:lnTo>
                  <a:pt x="1333056" y="1106637"/>
                </a:lnTo>
                <a:lnTo>
                  <a:pt x="1335775" y="1106637"/>
                </a:lnTo>
                <a:lnTo>
                  <a:pt x="1335775" y="1105123"/>
                </a:lnTo>
                <a:lnTo>
                  <a:pt x="1338492" y="1105123"/>
                </a:lnTo>
                <a:lnTo>
                  <a:pt x="1338492" y="1104341"/>
                </a:lnTo>
                <a:lnTo>
                  <a:pt x="1341178" y="1104341"/>
                </a:lnTo>
                <a:lnTo>
                  <a:pt x="1341178" y="1103592"/>
                </a:lnTo>
                <a:lnTo>
                  <a:pt x="1343928" y="1103592"/>
                </a:lnTo>
                <a:lnTo>
                  <a:pt x="1343928" y="1102827"/>
                </a:lnTo>
                <a:lnTo>
                  <a:pt x="1362920" y="1102827"/>
                </a:lnTo>
                <a:lnTo>
                  <a:pt x="1362920" y="1102061"/>
                </a:lnTo>
                <a:lnTo>
                  <a:pt x="1368355" y="1102061"/>
                </a:lnTo>
                <a:lnTo>
                  <a:pt x="1368355" y="1100547"/>
                </a:lnTo>
                <a:lnTo>
                  <a:pt x="1376476" y="1100547"/>
                </a:lnTo>
                <a:lnTo>
                  <a:pt x="1376476" y="1099766"/>
                </a:lnTo>
                <a:lnTo>
                  <a:pt x="1392783" y="1099766"/>
                </a:lnTo>
                <a:lnTo>
                  <a:pt x="1392783" y="1099017"/>
                </a:lnTo>
                <a:lnTo>
                  <a:pt x="1395500" y="1099017"/>
                </a:lnTo>
                <a:lnTo>
                  <a:pt x="1395500" y="1098235"/>
                </a:lnTo>
                <a:lnTo>
                  <a:pt x="1398218" y="1098235"/>
                </a:lnTo>
                <a:lnTo>
                  <a:pt x="1398218" y="1097486"/>
                </a:lnTo>
                <a:lnTo>
                  <a:pt x="1403653" y="1097486"/>
                </a:lnTo>
                <a:lnTo>
                  <a:pt x="1403653" y="1096720"/>
                </a:lnTo>
                <a:lnTo>
                  <a:pt x="1411774" y="1096720"/>
                </a:lnTo>
                <a:lnTo>
                  <a:pt x="1411774" y="1095190"/>
                </a:lnTo>
                <a:lnTo>
                  <a:pt x="1444387" y="1095190"/>
                </a:lnTo>
                <a:lnTo>
                  <a:pt x="1444387" y="1093659"/>
                </a:lnTo>
                <a:lnTo>
                  <a:pt x="1447073" y="1093659"/>
                </a:lnTo>
                <a:lnTo>
                  <a:pt x="1447073" y="1092878"/>
                </a:lnTo>
                <a:lnTo>
                  <a:pt x="1455226" y="1092878"/>
                </a:lnTo>
                <a:lnTo>
                  <a:pt x="1455226" y="1092129"/>
                </a:lnTo>
                <a:lnTo>
                  <a:pt x="1463347" y="1092129"/>
                </a:lnTo>
                <a:lnTo>
                  <a:pt x="1463347" y="1091347"/>
                </a:lnTo>
                <a:lnTo>
                  <a:pt x="1466097" y="1091347"/>
                </a:lnTo>
                <a:lnTo>
                  <a:pt x="1466097" y="1090598"/>
                </a:lnTo>
                <a:lnTo>
                  <a:pt x="1474218" y="1090598"/>
                </a:lnTo>
                <a:lnTo>
                  <a:pt x="1474218" y="1089816"/>
                </a:lnTo>
                <a:lnTo>
                  <a:pt x="1485089" y="1089816"/>
                </a:lnTo>
                <a:lnTo>
                  <a:pt x="1485089" y="1088286"/>
                </a:lnTo>
                <a:lnTo>
                  <a:pt x="1487807" y="1088286"/>
                </a:lnTo>
                <a:lnTo>
                  <a:pt x="1487807" y="1087537"/>
                </a:lnTo>
                <a:lnTo>
                  <a:pt x="1490525" y="1087537"/>
                </a:lnTo>
                <a:lnTo>
                  <a:pt x="1490525" y="1086755"/>
                </a:lnTo>
                <a:lnTo>
                  <a:pt x="1509517" y="1086755"/>
                </a:lnTo>
                <a:lnTo>
                  <a:pt x="1509517" y="1086006"/>
                </a:lnTo>
                <a:lnTo>
                  <a:pt x="1523105" y="1086006"/>
                </a:lnTo>
                <a:lnTo>
                  <a:pt x="1523105" y="1084459"/>
                </a:lnTo>
                <a:lnTo>
                  <a:pt x="1552968" y="1084459"/>
                </a:lnTo>
                <a:lnTo>
                  <a:pt x="1552968" y="1083678"/>
                </a:lnTo>
                <a:lnTo>
                  <a:pt x="1580113" y="1083678"/>
                </a:lnTo>
                <a:lnTo>
                  <a:pt x="1580113" y="1082912"/>
                </a:lnTo>
                <a:lnTo>
                  <a:pt x="1596388" y="1082912"/>
                </a:lnTo>
                <a:lnTo>
                  <a:pt x="1596388" y="1081366"/>
                </a:lnTo>
                <a:lnTo>
                  <a:pt x="1599105" y="1081366"/>
                </a:lnTo>
                <a:lnTo>
                  <a:pt x="1599105" y="1079037"/>
                </a:lnTo>
                <a:lnTo>
                  <a:pt x="1604541" y="1079037"/>
                </a:lnTo>
                <a:lnTo>
                  <a:pt x="1604541" y="1077490"/>
                </a:lnTo>
                <a:lnTo>
                  <a:pt x="1607226" y="1077490"/>
                </a:lnTo>
                <a:lnTo>
                  <a:pt x="1607226" y="1076709"/>
                </a:lnTo>
                <a:lnTo>
                  <a:pt x="1615380" y="1076709"/>
                </a:lnTo>
                <a:lnTo>
                  <a:pt x="1615380" y="1075162"/>
                </a:lnTo>
                <a:lnTo>
                  <a:pt x="1618097" y="1075162"/>
                </a:lnTo>
                <a:lnTo>
                  <a:pt x="1618097" y="1071254"/>
                </a:lnTo>
                <a:lnTo>
                  <a:pt x="1620815" y="1071254"/>
                </a:lnTo>
                <a:lnTo>
                  <a:pt x="1620815" y="1070488"/>
                </a:lnTo>
                <a:lnTo>
                  <a:pt x="1623533" y="1070488"/>
                </a:lnTo>
                <a:lnTo>
                  <a:pt x="1623533" y="1069691"/>
                </a:lnTo>
                <a:lnTo>
                  <a:pt x="1626251" y="1069691"/>
                </a:lnTo>
                <a:lnTo>
                  <a:pt x="1626251" y="1068144"/>
                </a:lnTo>
                <a:lnTo>
                  <a:pt x="1628968" y="1068144"/>
                </a:lnTo>
                <a:lnTo>
                  <a:pt x="1628968" y="1065783"/>
                </a:lnTo>
                <a:lnTo>
                  <a:pt x="1631686" y="1065783"/>
                </a:lnTo>
                <a:lnTo>
                  <a:pt x="1631686" y="1065017"/>
                </a:lnTo>
                <a:lnTo>
                  <a:pt x="1637089" y="1065017"/>
                </a:lnTo>
                <a:lnTo>
                  <a:pt x="1637089" y="1061875"/>
                </a:lnTo>
                <a:lnTo>
                  <a:pt x="1639839" y="1061875"/>
                </a:lnTo>
                <a:lnTo>
                  <a:pt x="1639839" y="1061077"/>
                </a:lnTo>
                <a:lnTo>
                  <a:pt x="1642525" y="1061077"/>
                </a:lnTo>
                <a:lnTo>
                  <a:pt x="1642525" y="1060295"/>
                </a:lnTo>
                <a:lnTo>
                  <a:pt x="1645242" y="1060295"/>
                </a:lnTo>
                <a:lnTo>
                  <a:pt x="1645242" y="1058732"/>
                </a:lnTo>
                <a:lnTo>
                  <a:pt x="1653396" y="1058732"/>
                </a:lnTo>
                <a:lnTo>
                  <a:pt x="1653396" y="1056371"/>
                </a:lnTo>
                <a:lnTo>
                  <a:pt x="1656113" y="1056371"/>
                </a:lnTo>
                <a:lnTo>
                  <a:pt x="1656113" y="1055557"/>
                </a:lnTo>
                <a:lnTo>
                  <a:pt x="1658799" y="1055557"/>
                </a:lnTo>
                <a:lnTo>
                  <a:pt x="1658799" y="1053977"/>
                </a:lnTo>
                <a:lnTo>
                  <a:pt x="1666953" y="1053977"/>
                </a:lnTo>
                <a:lnTo>
                  <a:pt x="1666953" y="1053196"/>
                </a:lnTo>
                <a:lnTo>
                  <a:pt x="1672388" y="1053196"/>
                </a:lnTo>
                <a:lnTo>
                  <a:pt x="1672388" y="1052398"/>
                </a:lnTo>
                <a:lnTo>
                  <a:pt x="1705000" y="1052398"/>
                </a:lnTo>
                <a:lnTo>
                  <a:pt x="1705000" y="1051600"/>
                </a:lnTo>
                <a:lnTo>
                  <a:pt x="1707686" y="1051600"/>
                </a:lnTo>
                <a:lnTo>
                  <a:pt x="1707686" y="1050786"/>
                </a:lnTo>
                <a:lnTo>
                  <a:pt x="1710403" y="1050786"/>
                </a:lnTo>
                <a:lnTo>
                  <a:pt x="1710403" y="1050004"/>
                </a:lnTo>
                <a:lnTo>
                  <a:pt x="1713122" y="1050004"/>
                </a:lnTo>
                <a:lnTo>
                  <a:pt x="1713122" y="1049206"/>
                </a:lnTo>
                <a:lnTo>
                  <a:pt x="1715839" y="1049206"/>
                </a:lnTo>
                <a:lnTo>
                  <a:pt x="1715839" y="1048392"/>
                </a:lnTo>
                <a:lnTo>
                  <a:pt x="1729395" y="1048392"/>
                </a:lnTo>
                <a:lnTo>
                  <a:pt x="1729395" y="1046780"/>
                </a:lnTo>
                <a:lnTo>
                  <a:pt x="1732114" y="1046780"/>
                </a:lnTo>
                <a:lnTo>
                  <a:pt x="1732114" y="1045982"/>
                </a:lnTo>
                <a:lnTo>
                  <a:pt x="1751138" y="1045982"/>
                </a:lnTo>
                <a:lnTo>
                  <a:pt x="1751138" y="1045184"/>
                </a:lnTo>
                <a:lnTo>
                  <a:pt x="1759259" y="1045184"/>
                </a:lnTo>
                <a:lnTo>
                  <a:pt x="1759259" y="1044370"/>
                </a:lnTo>
                <a:lnTo>
                  <a:pt x="1770130" y="1044370"/>
                </a:lnTo>
                <a:lnTo>
                  <a:pt x="1770130" y="1043556"/>
                </a:lnTo>
                <a:lnTo>
                  <a:pt x="1824420" y="1043556"/>
                </a:lnTo>
                <a:lnTo>
                  <a:pt x="1824420" y="1042742"/>
                </a:lnTo>
                <a:lnTo>
                  <a:pt x="1838008" y="1042742"/>
                </a:lnTo>
                <a:lnTo>
                  <a:pt x="1838008" y="1041911"/>
                </a:lnTo>
                <a:lnTo>
                  <a:pt x="1846129" y="1041911"/>
                </a:lnTo>
                <a:lnTo>
                  <a:pt x="1846129" y="1040283"/>
                </a:lnTo>
                <a:lnTo>
                  <a:pt x="1870557" y="1040283"/>
                </a:lnTo>
                <a:lnTo>
                  <a:pt x="1870557" y="1038606"/>
                </a:lnTo>
                <a:lnTo>
                  <a:pt x="1878710" y="1038606"/>
                </a:lnTo>
                <a:lnTo>
                  <a:pt x="1878710" y="1037792"/>
                </a:lnTo>
                <a:lnTo>
                  <a:pt x="1889581" y="1037792"/>
                </a:lnTo>
                <a:lnTo>
                  <a:pt x="1889581" y="1036945"/>
                </a:lnTo>
                <a:lnTo>
                  <a:pt x="1903138" y="1036945"/>
                </a:lnTo>
                <a:lnTo>
                  <a:pt x="1903138" y="1036115"/>
                </a:lnTo>
                <a:lnTo>
                  <a:pt x="1908573" y="1036115"/>
                </a:lnTo>
                <a:lnTo>
                  <a:pt x="1908573" y="1035284"/>
                </a:lnTo>
                <a:lnTo>
                  <a:pt x="1927566" y="1035284"/>
                </a:lnTo>
                <a:lnTo>
                  <a:pt x="1927566" y="1034437"/>
                </a:lnTo>
                <a:lnTo>
                  <a:pt x="1930315" y="1034437"/>
                </a:lnTo>
                <a:lnTo>
                  <a:pt x="1930315" y="1033591"/>
                </a:lnTo>
                <a:lnTo>
                  <a:pt x="1933001" y="1033591"/>
                </a:lnTo>
                <a:lnTo>
                  <a:pt x="1933001" y="1031930"/>
                </a:lnTo>
                <a:lnTo>
                  <a:pt x="1935718" y="1031930"/>
                </a:lnTo>
                <a:lnTo>
                  <a:pt x="1935718" y="1030236"/>
                </a:lnTo>
                <a:lnTo>
                  <a:pt x="1941154" y="1030236"/>
                </a:lnTo>
                <a:lnTo>
                  <a:pt x="1941154" y="1026003"/>
                </a:lnTo>
                <a:lnTo>
                  <a:pt x="1943871" y="1026003"/>
                </a:lnTo>
                <a:lnTo>
                  <a:pt x="1943871" y="1024309"/>
                </a:lnTo>
                <a:lnTo>
                  <a:pt x="1946590" y="1024309"/>
                </a:lnTo>
                <a:lnTo>
                  <a:pt x="1946590" y="1021753"/>
                </a:lnTo>
                <a:lnTo>
                  <a:pt x="1949275" y="1021753"/>
                </a:lnTo>
                <a:lnTo>
                  <a:pt x="1949275" y="1020906"/>
                </a:lnTo>
                <a:lnTo>
                  <a:pt x="1954711" y="1020906"/>
                </a:lnTo>
                <a:lnTo>
                  <a:pt x="1954711" y="1019213"/>
                </a:lnTo>
                <a:lnTo>
                  <a:pt x="1957428" y="1019213"/>
                </a:lnTo>
                <a:lnTo>
                  <a:pt x="1957428" y="1018350"/>
                </a:lnTo>
                <a:lnTo>
                  <a:pt x="1960146" y="1018350"/>
                </a:lnTo>
                <a:lnTo>
                  <a:pt x="1960146" y="1012374"/>
                </a:lnTo>
                <a:lnTo>
                  <a:pt x="1962863" y="1012374"/>
                </a:lnTo>
                <a:lnTo>
                  <a:pt x="1962863" y="1011511"/>
                </a:lnTo>
                <a:lnTo>
                  <a:pt x="1965582" y="1011511"/>
                </a:lnTo>
                <a:lnTo>
                  <a:pt x="1965582" y="1007212"/>
                </a:lnTo>
                <a:lnTo>
                  <a:pt x="1968299" y="1007212"/>
                </a:lnTo>
                <a:lnTo>
                  <a:pt x="1968299" y="1006349"/>
                </a:lnTo>
                <a:lnTo>
                  <a:pt x="1971017" y="1006349"/>
                </a:lnTo>
                <a:lnTo>
                  <a:pt x="1971017" y="1004639"/>
                </a:lnTo>
                <a:lnTo>
                  <a:pt x="1973735" y="1004639"/>
                </a:lnTo>
                <a:lnTo>
                  <a:pt x="1973735" y="999461"/>
                </a:lnTo>
                <a:lnTo>
                  <a:pt x="1976453" y="999461"/>
                </a:lnTo>
                <a:lnTo>
                  <a:pt x="1976453" y="996888"/>
                </a:lnTo>
                <a:lnTo>
                  <a:pt x="1979138" y="996888"/>
                </a:lnTo>
                <a:lnTo>
                  <a:pt x="1979138" y="996026"/>
                </a:lnTo>
                <a:lnTo>
                  <a:pt x="1981887" y="996026"/>
                </a:lnTo>
                <a:lnTo>
                  <a:pt x="1981887" y="995162"/>
                </a:lnTo>
                <a:lnTo>
                  <a:pt x="1984574" y="995162"/>
                </a:lnTo>
                <a:lnTo>
                  <a:pt x="1984574" y="994299"/>
                </a:lnTo>
                <a:lnTo>
                  <a:pt x="1987323" y="994299"/>
                </a:lnTo>
                <a:lnTo>
                  <a:pt x="1987323" y="993437"/>
                </a:lnTo>
                <a:lnTo>
                  <a:pt x="1990009" y="993437"/>
                </a:lnTo>
                <a:lnTo>
                  <a:pt x="1990009" y="992573"/>
                </a:lnTo>
                <a:lnTo>
                  <a:pt x="2017186" y="992573"/>
                </a:lnTo>
                <a:lnTo>
                  <a:pt x="2017186" y="990815"/>
                </a:lnTo>
                <a:lnTo>
                  <a:pt x="2019872" y="990815"/>
                </a:lnTo>
                <a:lnTo>
                  <a:pt x="2019872" y="989935"/>
                </a:lnTo>
                <a:lnTo>
                  <a:pt x="2038896" y="989935"/>
                </a:lnTo>
                <a:lnTo>
                  <a:pt x="2038896" y="989073"/>
                </a:lnTo>
                <a:lnTo>
                  <a:pt x="2060605" y="989073"/>
                </a:lnTo>
                <a:lnTo>
                  <a:pt x="2060605" y="988177"/>
                </a:lnTo>
                <a:lnTo>
                  <a:pt x="2068759" y="988177"/>
                </a:lnTo>
                <a:lnTo>
                  <a:pt x="2068759" y="987298"/>
                </a:lnTo>
                <a:lnTo>
                  <a:pt x="2074194" y="987298"/>
                </a:lnTo>
                <a:lnTo>
                  <a:pt x="2074194" y="986402"/>
                </a:lnTo>
                <a:lnTo>
                  <a:pt x="2095904" y="986402"/>
                </a:lnTo>
                <a:lnTo>
                  <a:pt x="2095904" y="985507"/>
                </a:lnTo>
                <a:lnTo>
                  <a:pt x="2150194" y="985507"/>
                </a:lnTo>
                <a:lnTo>
                  <a:pt x="2150194" y="984595"/>
                </a:lnTo>
                <a:lnTo>
                  <a:pt x="2152881" y="984595"/>
                </a:lnTo>
                <a:lnTo>
                  <a:pt x="2152881" y="983667"/>
                </a:lnTo>
                <a:lnTo>
                  <a:pt x="2166469" y="983667"/>
                </a:lnTo>
                <a:lnTo>
                  <a:pt x="2166469" y="982755"/>
                </a:lnTo>
                <a:lnTo>
                  <a:pt x="2207203" y="982755"/>
                </a:lnTo>
                <a:lnTo>
                  <a:pt x="2207203" y="981826"/>
                </a:lnTo>
                <a:lnTo>
                  <a:pt x="2220759" y="981826"/>
                </a:lnTo>
                <a:lnTo>
                  <a:pt x="2220759" y="980898"/>
                </a:lnTo>
                <a:lnTo>
                  <a:pt x="2237066" y="980898"/>
                </a:lnTo>
                <a:lnTo>
                  <a:pt x="2237066" y="979954"/>
                </a:lnTo>
                <a:lnTo>
                  <a:pt x="2242502" y="979954"/>
                </a:lnTo>
                <a:lnTo>
                  <a:pt x="2242502" y="978098"/>
                </a:lnTo>
                <a:lnTo>
                  <a:pt x="2245187" y="978098"/>
                </a:lnTo>
                <a:lnTo>
                  <a:pt x="2245187" y="977153"/>
                </a:lnTo>
                <a:lnTo>
                  <a:pt x="2261461" y="977153"/>
                </a:lnTo>
                <a:lnTo>
                  <a:pt x="2261461" y="976209"/>
                </a:lnTo>
                <a:lnTo>
                  <a:pt x="2264211" y="976209"/>
                </a:lnTo>
                <a:lnTo>
                  <a:pt x="2264211" y="971438"/>
                </a:lnTo>
                <a:lnTo>
                  <a:pt x="2266896" y="971438"/>
                </a:lnTo>
                <a:lnTo>
                  <a:pt x="2266896" y="969533"/>
                </a:lnTo>
                <a:lnTo>
                  <a:pt x="2269615" y="969533"/>
                </a:lnTo>
                <a:lnTo>
                  <a:pt x="2269615" y="968572"/>
                </a:lnTo>
                <a:lnTo>
                  <a:pt x="2275049" y="968572"/>
                </a:lnTo>
                <a:lnTo>
                  <a:pt x="2275049" y="967611"/>
                </a:lnTo>
                <a:lnTo>
                  <a:pt x="2277799" y="967611"/>
                </a:lnTo>
                <a:lnTo>
                  <a:pt x="2277799" y="965706"/>
                </a:lnTo>
                <a:lnTo>
                  <a:pt x="2280485" y="965706"/>
                </a:lnTo>
                <a:lnTo>
                  <a:pt x="2280485" y="963769"/>
                </a:lnTo>
                <a:lnTo>
                  <a:pt x="2283203" y="963769"/>
                </a:lnTo>
                <a:lnTo>
                  <a:pt x="2283203" y="959926"/>
                </a:lnTo>
                <a:lnTo>
                  <a:pt x="2285920" y="959926"/>
                </a:lnTo>
                <a:lnTo>
                  <a:pt x="2285920" y="957027"/>
                </a:lnTo>
                <a:lnTo>
                  <a:pt x="2288639" y="957027"/>
                </a:lnTo>
                <a:lnTo>
                  <a:pt x="2288639" y="956066"/>
                </a:lnTo>
                <a:lnTo>
                  <a:pt x="2296760" y="956066"/>
                </a:lnTo>
                <a:lnTo>
                  <a:pt x="2296760" y="954113"/>
                </a:lnTo>
                <a:lnTo>
                  <a:pt x="2299509" y="954113"/>
                </a:lnTo>
                <a:lnTo>
                  <a:pt x="2299509" y="953119"/>
                </a:lnTo>
                <a:lnTo>
                  <a:pt x="2302195" y="953119"/>
                </a:lnTo>
                <a:lnTo>
                  <a:pt x="2302195" y="951182"/>
                </a:lnTo>
                <a:lnTo>
                  <a:pt x="2313065" y="951182"/>
                </a:lnTo>
                <a:lnTo>
                  <a:pt x="2313065" y="949211"/>
                </a:lnTo>
                <a:lnTo>
                  <a:pt x="2315784" y="949211"/>
                </a:lnTo>
                <a:lnTo>
                  <a:pt x="2315784" y="948218"/>
                </a:lnTo>
                <a:lnTo>
                  <a:pt x="2318501" y="948218"/>
                </a:lnTo>
                <a:lnTo>
                  <a:pt x="2318501" y="947225"/>
                </a:lnTo>
                <a:lnTo>
                  <a:pt x="2329372" y="947225"/>
                </a:lnTo>
                <a:lnTo>
                  <a:pt x="2329372" y="946232"/>
                </a:lnTo>
                <a:lnTo>
                  <a:pt x="2351082" y="946232"/>
                </a:lnTo>
                <a:lnTo>
                  <a:pt x="2351082" y="945255"/>
                </a:lnTo>
                <a:lnTo>
                  <a:pt x="2356485" y="945255"/>
                </a:lnTo>
                <a:lnTo>
                  <a:pt x="2356485" y="944245"/>
                </a:lnTo>
                <a:lnTo>
                  <a:pt x="2364670" y="944245"/>
                </a:lnTo>
                <a:lnTo>
                  <a:pt x="2364670" y="943235"/>
                </a:lnTo>
                <a:lnTo>
                  <a:pt x="2378195" y="943235"/>
                </a:lnTo>
                <a:lnTo>
                  <a:pt x="2378195" y="942226"/>
                </a:lnTo>
                <a:lnTo>
                  <a:pt x="2394501" y="942226"/>
                </a:lnTo>
                <a:lnTo>
                  <a:pt x="2394501" y="941233"/>
                </a:lnTo>
                <a:lnTo>
                  <a:pt x="2397219" y="941233"/>
                </a:lnTo>
                <a:lnTo>
                  <a:pt x="2397219" y="940207"/>
                </a:lnTo>
                <a:lnTo>
                  <a:pt x="2399937" y="940207"/>
                </a:lnTo>
                <a:lnTo>
                  <a:pt x="2399937" y="939181"/>
                </a:lnTo>
                <a:lnTo>
                  <a:pt x="2405373" y="939181"/>
                </a:lnTo>
                <a:lnTo>
                  <a:pt x="2405373" y="938155"/>
                </a:lnTo>
                <a:lnTo>
                  <a:pt x="2408058" y="938155"/>
                </a:lnTo>
                <a:lnTo>
                  <a:pt x="2408058" y="937129"/>
                </a:lnTo>
                <a:lnTo>
                  <a:pt x="2416243" y="937129"/>
                </a:lnTo>
                <a:lnTo>
                  <a:pt x="2416243" y="936103"/>
                </a:lnTo>
                <a:lnTo>
                  <a:pt x="2418929" y="936103"/>
                </a:lnTo>
                <a:lnTo>
                  <a:pt x="2418929" y="935078"/>
                </a:lnTo>
                <a:lnTo>
                  <a:pt x="2427082" y="935078"/>
                </a:lnTo>
                <a:lnTo>
                  <a:pt x="2427082" y="934035"/>
                </a:lnTo>
                <a:lnTo>
                  <a:pt x="2435203" y="934035"/>
                </a:lnTo>
                <a:lnTo>
                  <a:pt x="2435203" y="932993"/>
                </a:lnTo>
                <a:lnTo>
                  <a:pt x="2484090" y="932993"/>
                </a:lnTo>
                <a:lnTo>
                  <a:pt x="2484090" y="931951"/>
                </a:lnTo>
                <a:lnTo>
                  <a:pt x="2489526" y="931951"/>
                </a:lnTo>
                <a:lnTo>
                  <a:pt x="2489526" y="929818"/>
                </a:lnTo>
                <a:lnTo>
                  <a:pt x="2492243" y="929818"/>
                </a:lnTo>
                <a:lnTo>
                  <a:pt x="2492243" y="928743"/>
                </a:lnTo>
                <a:lnTo>
                  <a:pt x="2505800" y="928743"/>
                </a:lnTo>
                <a:lnTo>
                  <a:pt x="2505800" y="927669"/>
                </a:lnTo>
                <a:lnTo>
                  <a:pt x="2511235" y="927669"/>
                </a:lnTo>
                <a:lnTo>
                  <a:pt x="2511235" y="926578"/>
                </a:lnTo>
                <a:lnTo>
                  <a:pt x="2530260" y="926578"/>
                </a:lnTo>
                <a:lnTo>
                  <a:pt x="2530260" y="925503"/>
                </a:lnTo>
                <a:lnTo>
                  <a:pt x="2532945" y="925503"/>
                </a:lnTo>
                <a:lnTo>
                  <a:pt x="2532945" y="924396"/>
                </a:lnTo>
                <a:lnTo>
                  <a:pt x="2551969" y="924396"/>
                </a:lnTo>
                <a:lnTo>
                  <a:pt x="2551969" y="923305"/>
                </a:lnTo>
                <a:lnTo>
                  <a:pt x="2565525" y="923305"/>
                </a:lnTo>
                <a:lnTo>
                  <a:pt x="2565525" y="922181"/>
                </a:lnTo>
                <a:lnTo>
                  <a:pt x="2576397" y="922181"/>
                </a:lnTo>
                <a:lnTo>
                  <a:pt x="2576397" y="921074"/>
                </a:lnTo>
                <a:lnTo>
                  <a:pt x="2579114" y="921074"/>
                </a:lnTo>
                <a:lnTo>
                  <a:pt x="2579114" y="919934"/>
                </a:lnTo>
                <a:lnTo>
                  <a:pt x="2581832" y="919934"/>
                </a:lnTo>
                <a:lnTo>
                  <a:pt x="2581832" y="918827"/>
                </a:lnTo>
                <a:lnTo>
                  <a:pt x="2587235" y="918827"/>
                </a:lnTo>
                <a:lnTo>
                  <a:pt x="2587235" y="916580"/>
                </a:lnTo>
                <a:lnTo>
                  <a:pt x="2589985" y="916580"/>
                </a:lnTo>
                <a:lnTo>
                  <a:pt x="2589985" y="915440"/>
                </a:lnTo>
                <a:lnTo>
                  <a:pt x="2603542" y="915440"/>
                </a:lnTo>
                <a:lnTo>
                  <a:pt x="2603542" y="913160"/>
                </a:lnTo>
                <a:lnTo>
                  <a:pt x="2608946" y="913160"/>
                </a:lnTo>
                <a:lnTo>
                  <a:pt x="2608946" y="910881"/>
                </a:lnTo>
                <a:lnTo>
                  <a:pt x="2611695" y="910881"/>
                </a:lnTo>
                <a:lnTo>
                  <a:pt x="2611695" y="909725"/>
                </a:lnTo>
                <a:lnTo>
                  <a:pt x="2614381" y="909725"/>
                </a:lnTo>
                <a:lnTo>
                  <a:pt x="2614381" y="908569"/>
                </a:lnTo>
                <a:lnTo>
                  <a:pt x="2617098" y="908569"/>
                </a:lnTo>
                <a:lnTo>
                  <a:pt x="2617098" y="907412"/>
                </a:lnTo>
                <a:lnTo>
                  <a:pt x="2619816" y="907412"/>
                </a:lnTo>
                <a:lnTo>
                  <a:pt x="2619816" y="903928"/>
                </a:lnTo>
                <a:lnTo>
                  <a:pt x="2622534" y="903928"/>
                </a:lnTo>
                <a:lnTo>
                  <a:pt x="2622534" y="902772"/>
                </a:lnTo>
                <a:lnTo>
                  <a:pt x="2625251" y="902772"/>
                </a:lnTo>
                <a:lnTo>
                  <a:pt x="2625251" y="899287"/>
                </a:lnTo>
                <a:lnTo>
                  <a:pt x="2627969" y="899287"/>
                </a:lnTo>
                <a:lnTo>
                  <a:pt x="2627969" y="895803"/>
                </a:lnTo>
                <a:lnTo>
                  <a:pt x="2630687" y="895803"/>
                </a:lnTo>
                <a:lnTo>
                  <a:pt x="2630687" y="893458"/>
                </a:lnTo>
                <a:lnTo>
                  <a:pt x="2633405" y="893458"/>
                </a:lnTo>
                <a:lnTo>
                  <a:pt x="2633405" y="892285"/>
                </a:lnTo>
                <a:lnTo>
                  <a:pt x="2638808" y="892285"/>
                </a:lnTo>
                <a:lnTo>
                  <a:pt x="2638808" y="891113"/>
                </a:lnTo>
                <a:lnTo>
                  <a:pt x="2655114" y="891113"/>
                </a:lnTo>
                <a:lnTo>
                  <a:pt x="2655114" y="889941"/>
                </a:lnTo>
                <a:lnTo>
                  <a:pt x="2663267" y="889941"/>
                </a:lnTo>
                <a:lnTo>
                  <a:pt x="2663267" y="888736"/>
                </a:lnTo>
                <a:lnTo>
                  <a:pt x="2671421" y="888736"/>
                </a:lnTo>
                <a:lnTo>
                  <a:pt x="2671421" y="887547"/>
                </a:lnTo>
                <a:lnTo>
                  <a:pt x="2682259" y="887547"/>
                </a:lnTo>
                <a:lnTo>
                  <a:pt x="2682259" y="883981"/>
                </a:lnTo>
                <a:lnTo>
                  <a:pt x="2684978" y="883981"/>
                </a:lnTo>
                <a:lnTo>
                  <a:pt x="2684978" y="881587"/>
                </a:lnTo>
                <a:lnTo>
                  <a:pt x="2701252" y="881587"/>
                </a:lnTo>
                <a:lnTo>
                  <a:pt x="2701252" y="880366"/>
                </a:lnTo>
                <a:lnTo>
                  <a:pt x="2706687" y="880366"/>
                </a:lnTo>
                <a:lnTo>
                  <a:pt x="2706687" y="879161"/>
                </a:lnTo>
                <a:lnTo>
                  <a:pt x="2725680" y="879161"/>
                </a:lnTo>
                <a:lnTo>
                  <a:pt x="2725680" y="877924"/>
                </a:lnTo>
                <a:lnTo>
                  <a:pt x="2736550" y="877924"/>
                </a:lnTo>
                <a:lnTo>
                  <a:pt x="2736550" y="876702"/>
                </a:lnTo>
                <a:lnTo>
                  <a:pt x="2760977" y="876702"/>
                </a:lnTo>
                <a:lnTo>
                  <a:pt x="2760977" y="875449"/>
                </a:lnTo>
                <a:lnTo>
                  <a:pt x="2777252" y="875449"/>
                </a:lnTo>
                <a:lnTo>
                  <a:pt x="2777252" y="874179"/>
                </a:lnTo>
                <a:lnTo>
                  <a:pt x="2812550" y="874179"/>
                </a:lnTo>
                <a:lnTo>
                  <a:pt x="2812550" y="872908"/>
                </a:lnTo>
                <a:lnTo>
                  <a:pt x="2823421" y="872908"/>
                </a:lnTo>
                <a:lnTo>
                  <a:pt x="2823421" y="871606"/>
                </a:lnTo>
                <a:lnTo>
                  <a:pt x="2883147" y="871606"/>
                </a:lnTo>
                <a:lnTo>
                  <a:pt x="2883147" y="870287"/>
                </a:lnTo>
                <a:lnTo>
                  <a:pt x="2910292" y="870287"/>
                </a:lnTo>
                <a:lnTo>
                  <a:pt x="2910292" y="867584"/>
                </a:lnTo>
                <a:lnTo>
                  <a:pt x="2913010" y="867584"/>
                </a:lnTo>
                <a:lnTo>
                  <a:pt x="2913010" y="862178"/>
                </a:lnTo>
                <a:lnTo>
                  <a:pt x="2915696" y="862178"/>
                </a:lnTo>
                <a:lnTo>
                  <a:pt x="2915696" y="860826"/>
                </a:lnTo>
                <a:lnTo>
                  <a:pt x="2923881" y="860826"/>
                </a:lnTo>
                <a:lnTo>
                  <a:pt x="2923881" y="858091"/>
                </a:lnTo>
                <a:lnTo>
                  <a:pt x="2929284" y="858091"/>
                </a:lnTo>
                <a:lnTo>
                  <a:pt x="2929284" y="855355"/>
                </a:lnTo>
                <a:lnTo>
                  <a:pt x="2932034" y="855355"/>
                </a:lnTo>
                <a:lnTo>
                  <a:pt x="2932034" y="852603"/>
                </a:lnTo>
                <a:lnTo>
                  <a:pt x="2937438" y="852603"/>
                </a:lnTo>
                <a:lnTo>
                  <a:pt x="2937438" y="851236"/>
                </a:lnTo>
                <a:lnTo>
                  <a:pt x="2942872" y="851236"/>
                </a:lnTo>
                <a:lnTo>
                  <a:pt x="2942872" y="849835"/>
                </a:lnTo>
                <a:lnTo>
                  <a:pt x="2948308" y="849835"/>
                </a:lnTo>
                <a:lnTo>
                  <a:pt x="2948308" y="845667"/>
                </a:lnTo>
                <a:lnTo>
                  <a:pt x="2953744" y="845667"/>
                </a:lnTo>
                <a:lnTo>
                  <a:pt x="2953744" y="844250"/>
                </a:lnTo>
                <a:lnTo>
                  <a:pt x="2956429" y="844250"/>
                </a:lnTo>
                <a:lnTo>
                  <a:pt x="2956429" y="842833"/>
                </a:lnTo>
                <a:lnTo>
                  <a:pt x="2970018" y="842833"/>
                </a:lnTo>
                <a:lnTo>
                  <a:pt x="2970018" y="841417"/>
                </a:lnTo>
                <a:lnTo>
                  <a:pt x="2978171" y="841417"/>
                </a:lnTo>
                <a:lnTo>
                  <a:pt x="2978171" y="840000"/>
                </a:lnTo>
                <a:lnTo>
                  <a:pt x="3035180" y="840000"/>
                </a:lnTo>
                <a:lnTo>
                  <a:pt x="3035180" y="837053"/>
                </a:lnTo>
                <a:lnTo>
                  <a:pt x="3054172" y="837053"/>
                </a:lnTo>
                <a:lnTo>
                  <a:pt x="3054172" y="835555"/>
                </a:lnTo>
                <a:lnTo>
                  <a:pt x="3065042" y="835555"/>
                </a:lnTo>
                <a:lnTo>
                  <a:pt x="3065042" y="834057"/>
                </a:lnTo>
                <a:lnTo>
                  <a:pt x="3067760" y="834057"/>
                </a:lnTo>
                <a:lnTo>
                  <a:pt x="3067760" y="831061"/>
                </a:lnTo>
                <a:lnTo>
                  <a:pt x="3081317" y="831061"/>
                </a:lnTo>
                <a:lnTo>
                  <a:pt x="3081317" y="829546"/>
                </a:lnTo>
                <a:lnTo>
                  <a:pt x="3084034" y="829546"/>
                </a:lnTo>
                <a:lnTo>
                  <a:pt x="3084034" y="828032"/>
                </a:lnTo>
                <a:lnTo>
                  <a:pt x="3100309" y="828032"/>
                </a:lnTo>
                <a:lnTo>
                  <a:pt x="3100309" y="826501"/>
                </a:lnTo>
                <a:lnTo>
                  <a:pt x="3151914" y="826501"/>
                </a:lnTo>
                <a:lnTo>
                  <a:pt x="3151914" y="824922"/>
                </a:lnTo>
                <a:lnTo>
                  <a:pt x="3225196" y="824922"/>
                </a:lnTo>
                <a:lnTo>
                  <a:pt x="3225196" y="823277"/>
                </a:lnTo>
                <a:lnTo>
                  <a:pt x="3227913" y="823277"/>
                </a:lnTo>
                <a:lnTo>
                  <a:pt x="3227913" y="820004"/>
                </a:lnTo>
                <a:lnTo>
                  <a:pt x="3230631" y="820004"/>
                </a:lnTo>
                <a:lnTo>
                  <a:pt x="3230631" y="816715"/>
                </a:lnTo>
                <a:lnTo>
                  <a:pt x="3233317" y="816715"/>
                </a:lnTo>
                <a:lnTo>
                  <a:pt x="3233317" y="815071"/>
                </a:lnTo>
                <a:lnTo>
                  <a:pt x="3238784" y="815071"/>
                </a:lnTo>
                <a:lnTo>
                  <a:pt x="3238784" y="811749"/>
                </a:lnTo>
                <a:lnTo>
                  <a:pt x="3241470" y="811749"/>
                </a:lnTo>
                <a:lnTo>
                  <a:pt x="3241470" y="810088"/>
                </a:lnTo>
                <a:lnTo>
                  <a:pt x="3249656" y="810088"/>
                </a:lnTo>
                <a:lnTo>
                  <a:pt x="3249656" y="808427"/>
                </a:lnTo>
                <a:lnTo>
                  <a:pt x="3252341" y="808427"/>
                </a:lnTo>
                <a:lnTo>
                  <a:pt x="3252341" y="803412"/>
                </a:lnTo>
                <a:lnTo>
                  <a:pt x="3255058" y="803412"/>
                </a:lnTo>
                <a:lnTo>
                  <a:pt x="3255058" y="801735"/>
                </a:lnTo>
                <a:lnTo>
                  <a:pt x="3257776" y="801735"/>
                </a:lnTo>
                <a:lnTo>
                  <a:pt x="3257776" y="800041"/>
                </a:lnTo>
                <a:lnTo>
                  <a:pt x="3265929" y="800041"/>
                </a:lnTo>
                <a:lnTo>
                  <a:pt x="3265929" y="798348"/>
                </a:lnTo>
                <a:lnTo>
                  <a:pt x="3271365" y="798348"/>
                </a:lnTo>
                <a:lnTo>
                  <a:pt x="3271365" y="794945"/>
                </a:lnTo>
                <a:lnTo>
                  <a:pt x="3274050" y="794945"/>
                </a:lnTo>
                <a:lnTo>
                  <a:pt x="3274050" y="791525"/>
                </a:lnTo>
                <a:lnTo>
                  <a:pt x="3282204" y="791525"/>
                </a:lnTo>
                <a:lnTo>
                  <a:pt x="3282204" y="789799"/>
                </a:lnTo>
                <a:lnTo>
                  <a:pt x="3290357" y="789799"/>
                </a:lnTo>
                <a:lnTo>
                  <a:pt x="3290357" y="788073"/>
                </a:lnTo>
                <a:lnTo>
                  <a:pt x="3328342" y="788073"/>
                </a:lnTo>
                <a:lnTo>
                  <a:pt x="3328342" y="784507"/>
                </a:lnTo>
                <a:lnTo>
                  <a:pt x="3339211" y="784507"/>
                </a:lnTo>
                <a:lnTo>
                  <a:pt x="3339211" y="782716"/>
                </a:lnTo>
                <a:lnTo>
                  <a:pt x="3344647" y="782716"/>
                </a:lnTo>
                <a:lnTo>
                  <a:pt x="3344647" y="780909"/>
                </a:lnTo>
                <a:lnTo>
                  <a:pt x="3347365" y="780909"/>
                </a:lnTo>
                <a:lnTo>
                  <a:pt x="3347365" y="779117"/>
                </a:lnTo>
                <a:lnTo>
                  <a:pt x="3382663" y="779117"/>
                </a:lnTo>
                <a:lnTo>
                  <a:pt x="3382663" y="777261"/>
                </a:lnTo>
                <a:lnTo>
                  <a:pt x="3431519" y="777261"/>
                </a:lnTo>
                <a:lnTo>
                  <a:pt x="3431519" y="775356"/>
                </a:lnTo>
                <a:lnTo>
                  <a:pt x="3472221" y="775356"/>
                </a:lnTo>
                <a:lnTo>
                  <a:pt x="3472221" y="773386"/>
                </a:lnTo>
                <a:lnTo>
                  <a:pt x="3502083" y="773386"/>
                </a:lnTo>
                <a:lnTo>
                  <a:pt x="3502083" y="771383"/>
                </a:lnTo>
                <a:lnTo>
                  <a:pt x="3507518" y="771383"/>
                </a:lnTo>
                <a:lnTo>
                  <a:pt x="3507518" y="769364"/>
                </a:lnTo>
                <a:lnTo>
                  <a:pt x="3534664" y="769364"/>
                </a:lnTo>
                <a:lnTo>
                  <a:pt x="3534664" y="767312"/>
                </a:lnTo>
                <a:lnTo>
                  <a:pt x="3556406" y="767312"/>
                </a:lnTo>
                <a:lnTo>
                  <a:pt x="3556406" y="763144"/>
                </a:lnTo>
                <a:lnTo>
                  <a:pt x="3559091" y="763144"/>
                </a:lnTo>
                <a:lnTo>
                  <a:pt x="3559091" y="758943"/>
                </a:lnTo>
                <a:lnTo>
                  <a:pt x="3575398" y="758943"/>
                </a:lnTo>
                <a:lnTo>
                  <a:pt x="3575398" y="754660"/>
                </a:lnTo>
                <a:lnTo>
                  <a:pt x="3578115" y="754660"/>
                </a:lnTo>
                <a:lnTo>
                  <a:pt x="3578115" y="752478"/>
                </a:lnTo>
                <a:lnTo>
                  <a:pt x="3580802" y="752478"/>
                </a:lnTo>
                <a:lnTo>
                  <a:pt x="3580802" y="748114"/>
                </a:lnTo>
                <a:lnTo>
                  <a:pt x="3583551" y="748114"/>
                </a:lnTo>
                <a:lnTo>
                  <a:pt x="3583551" y="745932"/>
                </a:lnTo>
                <a:lnTo>
                  <a:pt x="3586269" y="745932"/>
                </a:lnTo>
                <a:lnTo>
                  <a:pt x="3586269" y="741536"/>
                </a:lnTo>
                <a:lnTo>
                  <a:pt x="3588955" y="741536"/>
                </a:lnTo>
                <a:lnTo>
                  <a:pt x="3588955" y="737123"/>
                </a:lnTo>
                <a:lnTo>
                  <a:pt x="3591704" y="737123"/>
                </a:lnTo>
                <a:lnTo>
                  <a:pt x="3591704" y="734925"/>
                </a:lnTo>
                <a:lnTo>
                  <a:pt x="3594390" y="734925"/>
                </a:lnTo>
                <a:lnTo>
                  <a:pt x="3594390" y="732710"/>
                </a:lnTo>
                <a:lnTo>
                  <a:pt x="3610664" y="732710"/>
                </a:lnTo>
                <a:lnTo>
                  <a:pt x="3610664" y="730431"/>
                </a:lnTo>
                <a:lnTo>
                  <a:pt x="3613414" y="730431"/>
                </a:lnTo>
                <a:lnTo>
                  <a:pt x="3613414" y="725871"/>
                </a:lnTo>
                <a:lnTo>
                  <a:pt x="3616100" y="725871"/>
                </a:lnTo>
                <a:lnTo>
                  <a:pt x="3616100" y="723559"/>
                </a:lnTo>
                <a:lnTo>
                  <a:pt x="3651398" y="723559"/>
                </a:lnTo>
                <a:lnTo>
                  <a:pt x="3651398" y="721166"/>
                </a:lnTo>
                <a:lnTo>
                  <a:pt x="3654115" y="721166"/>
                </a:lnTo>
                <a:lnTo>
                  <a:pt x="3654115" y="718756"/>
                </a:lnTo>
                <a:lnTo>
                  <a:pt x="3694849" y="718756"/>
                </a:lnTo>
                <a:lnTo>
                  <a:pt x="3694849" y="716215"/>
                </a:lnTo>
                <a:lnTo>
                  <a:pt x="3708406" y="716215"/>
                </a:lnTo>
                <a:lnTo>
                  <a:pt x="3708406" y="713659"/>
                </a:lnTo>
                <a:lnTo>
                  <a:pt x="3882148" y="713659"/>
                </a:lnTo>
                <a:lnTo>
                  <a:pt x="3882148" y="710370"/>
                </a:lnTo>
                <a:lnTo>
                  <a:pt x="3895736" y="710370"/>
                </a:lnTo>
                <a:lnTo>
                  <a:pt x="3895736" y="707015"/>
                </a:lnTo>
                <a:lnTo>
                  <a:pt x="3906576" y="707015"/>
                </a:lnTo>
                <a:lnTo>
                  <a:pt x="3906576" y="703564"/>
                </a:lnTo>
                <a:lnTo>
                  <a:pt x="3917414" y="703564"/>
                </a:lnTo>
                <a:lnTo>
                  <a:pt x="3917414" y="696480"/>
                </a:lnTo>
                <a:lnTo>
                  <a:pt x="3928285" y="696480"/>
                </a:lnTo>
                <a:lnTo>
                  <a:pt x="3928285" y="692800"/>
                </a:lnTo>
                <a:lnTo>
                  <a:pt x="3960866" y="692800"/>
                </a:lnTo>
              </a:path>
            </a:pathLst>
          </a:cu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9" name="published_curve_renal_Финеренон">
            <a:extLst>
              <a:ext uri="{FF2B5EF4-FFF2-40B4-BE49-F238E27FC236}">
                <a16:creationId xmlns:a16="http://schemas.microsoft.com/office/drawing/2014/main" id="{1DE52530-01DC-45C9-9B1B-B0340968763E}"/>
              </a:ext>
            </a:extLst>
          </p:cNvPr>
          <p:cNvSpPr>
            <a:spLocks noGrp="1"/>
          </p:cNvSpPr>
          <p:nvPr/>
        </p:nvSpPr>
        <p:spPr>
          <a:xfrm>
            <a:off x="6781800" y="2370253"/>
            <a:ext cx="4571999" cy="1165704"/>
          </a:xfrm>
          <a:custGeom>
            <a:avLst/>
            <a:gdLst/>
            <a:ahLst/>
            <a:cxnLst/>
            <a:rect l="0" t="0" r="0" b="0"/>
            <a:pathLst>
              <a:path w="3962400" h="1181100">
                <a:moveTo>
                  <a:pt x="160" y="1180888"/>
                </a:moveTo>
                <a:lnTo>
                  <a:pt x="78878" y="1180888"/>
                </a:lnTo>
                <a:lnTo>
                  <a:pt x="78878" y="1180156"/>
                </a:lnTo>
                <a:lnTo>
                  <a:pt x="306910" y="1180156"/>
                </a:lnTo>
                <a:lnTo>
                  <a:pt x="306910" y="1179439"/>
                </a:lnTo>
                <a:lnTo>
                  <a:pt x="323185" y="1179439"/>
                </a:lnTo>
                <a:lnTo>
                  <a:pt x="323185" y="1178690"/>
                </a:lnTo>
                <a:lnTo>
                  <a:pt x="353047" y="1178690"/>
                </a:lnTo>
                <a:lnTo>
                  <a:pt x="353047" y="1177957"/>
                </a:lnTo>
                <a:lnTo>
                  <a:pt x="477935" y="1177957"/>
                </a:lnTo>
                <a:lnTo>
                  <a:pt x="477935" y="1177208"/>
                </a:lnTo>
                <a:lnTo>
                  <a:pt x="483370" y="1177208"/>
                </a:lnTo>
                <a:lnTo>
                  <a:pt x="483370" y="1176459"/>
                </a:lnTo>
                <a:lnTo>
                  <a:pt x="534975" y="1176459"/>
                </a:lnTo>
                <a:lnTo>
                  <a:pt x="534975" y="1175727"/>
                </a:lnTo>
                <a:lnTo>
                  <a:pt x="553935" y="1175727"/>
                </a:lnTo>
                <a:lnTo>
                  <a:pt x="553935" y="1174977"/>
                </a:lnTo>
                <a:lnTo>
                  <a:pt x="559370" y="1174977"/>
                </a:lnTo>
                <a:lnTo>
                  <a:pt x="559370" y="1174229"/>
                </a:lnTo>
                <a:lnTo>
                  <a:pt x="578362" y="1174229"/>
                </a:lnTo>
                <a:lnTo>
                  <a:pt x="578362" y="1173496"/>
                </a:lnTo>
                <a:lnTo>
                  <a:pt x="591951" y="1173496"/>
                </a:lnTo>
                <a:lnTo>
                  <a:pt x="591951" y="1172747"/>
                </a:lnTo>
                <a:lnTo>
                  <a:pt x="624532" y="1172747"/>
                </a:lnTo>
                <a:lnTo>
                  <a:pt x="624532" y="1172014"/>
                </a:lnTo>
                <a:lnTo>
                  <a:pt x="627250" y="1172014"/>
                </a:lnTo>
                <a:lnTo>
                  <a:pt x="627250" y="1171265"/>
                </a:lnTo>
                <a:lnTo>
                  <a:pt x="643524" y="1171265"/>
                </a:lnTo>
                <a:lnTo>
                  <a:pt x="643524" y="1170532"/>
                </a:lnTo>
                <a:lnTo>
                  <a:pt x="648959" y="1170532"/>
                </a:lnTo>
                <a:lnTo>
                  <a:pt x="648959" y="1169018"/>
                </a:lnTo>
                <a:lnTo>
                  <a:pt x="662548" y="1169018"/>
                </a:lnTo>
                <a:lnTo>
                  <a:pt x="662548" y="1168285"/>
                </a:lnTo>
                <a:lnTo>
                  <a:pt x="673419" y="1168285"/>
                </a:lnTo>
                <a:lnTo>
                  <a:pt x="673419" y="1167536"/>
                </a:lnTo>
                <a:lnTo>
                  <a:pt x="678823" y="1167536"/>
                </a:lnTo>
                <a:lnTo>
                  <a:pt x="678823" y="1166803"/>
                </a:lnTo>
                <a:lnTo>
                  <a:pt x="681540" y="1166803"/>
                </a:lnTo>
                <a:lnTo>
                  <a:pt x="681540" y="1166054"/>
                </a:lnTo>
                <a:lnTo>
                  <a:pt x="684257" y="1166054"/>
                </a:lnTo>
                <a:lnTo>
                  <a:pt x="684257" y="1165289"/>
                </a:lnTo>
                <a:lnTo>
                  <a:pt x="738516" y="1165289"/>
                </a:lnTo>
                <a:lnTo>
                  <a:pt x="738516" y="1164556"/>
                </a:lnTo>
                <a:lnTo>
                  <a:pt x="743984" y="1164556"/>
                </a:lnTo>
                <a:lnTo>
                  <a:pt x="743984" y="1163807"/>
                </a:lnTo>
                <a:lnTo>
                  <a:pt x="773814" y="1163807"/>
                </a:lnTo>
                <a:lnTo>
                  <a:pt x="773814" y="1163058"/>
                </a:lnTo>
                <a:lnTo>
                  <a:pt x="898734" y="1163058"/>
                </a:lnTo>
                <a:lnTo>
                  <a:pt x="898734" y="1162309"/>
                </a:lnTo>
                <a:lnTo>
                  <a:pt x="950306" y="1162309"/>
                </a:lnTo>
                <a:lnTo>
                  <a:pt x="950306" y="1161544"/>
                </a:lnTo>
                <a:lnTo>
                  <a:pt x="955741" y="1161544"/>
                </a:lnTo>
                <a:lnTo>
                  <a:pt x="955741" y="1160811"/>
                </a:lnTo>
                <a:lnTo>
                  <a:pt x="972016" y="1160811"/>
                </a:lnTo>
                <a:lnTo>
                  <a:pt x="972016" y="1158564"/>
                </a:lnTo>
                <a:lnTo>
                  <a:pt x="977452" y="1158564"/>
                </a:lnTo>
                <a:lnTo>
                  <a:pt x="977452" y="1157066"/>
                </a:lnTo>
                <a:lnTo>
                  <a:pt x="982854" y="1157066"/>
                </a:lnTo>
                <a:lnTo>
                  <a:pt x="982854" y="1154803"/>
                </a:lnTo>
                <a:lnTo>
                  <a:pt x="985604" y="1154803"/>
                </a:lnTo>
                <a:lnTo>
                  <a:pt x="985604" y="1154054"/>
                </a:lnTo>
                <a:lnTo>
                  <a:pt x="991008" y="1154054"/>
                </a:lnTo>
                <a:lnTo>
                  <a:pt x="991008" y="1153305"/>
                </a:lnTo>
                <a:lnTo>
                  <a:pt x="993726" y="1153305"/>
                </a:lnTo>
                <a:lnTo>
                  <a:pt x="993726" y="1152556"/>
                </a:lnTo>
                <a:lnTo>
                  <a:pt x="996443" y="1152556"/>
                </a:lnTo>
                <a:lnTo>
                  <a:pt x="996443" y="1151790"/>
                </a:lnTo>
                <a:lnTo>
                  <a:pt x="999161" y="1151790"/>
                </a:lnTo>
                <a:lnTo>
                  <a:pt x="999161" y="1151041"/>
                </a:lnTo>
                <a:lnTo>
                  <a:pt x="1001878" y="1151041"/>
                </a:lnTo>
                <a:lnTo>
                  <a:pt x="1001878" y="1150292"/>
                </a:lnTo>
                <a:lnTo>
                  <a:pt x="1007314" y="1150292"/>
                </a:lnTo>
                <a:lnTo>
                  <a:pt x="1007314" y="1149543"/>
                </a:lnTo>
                <a:lnTo>
                  <a:pt x="1010032" y="1149543"/>
                </a:lnTo>
                <a:lnTo>
                  <a:pt x="1010032" y="1147280"/>
                </a:lnTo>
                <a:lnTo>
                  <a:pt x="1031742" y="1147280"/>
                </a:lnTo>
                <a:lnTo>
                  <a:pt x="1031742" y="1146531"/>
                </a:lnTo>
                <a:lnTo>
                  <a:pt x="1069726" y="1146531"/>
                </a:lnTo>
                <a:lnTo>
                  <a:pt x="1069726" y="1145782"/>
                </a:lnTo>
                <a:lnTo>
                  <a:pt x="1086000" y="1145782"/>
                </a:lnTo>
                <a:lnTo>
                  <a:pt x="1086000" y="1144251"/>
                </a:lnTo>
                <a:lnTo>
                  <a:pt x="1105024" y="1144251"/>
                </a:lnTo>
                <a:lnTo>
                  <a:pt x="1105024" y="1143502"/>
                </a:lnTo>
                <a:lnTo>
                  <a:pt x="1107742" y="1143502"/>
                </a:lnTo>
                <a:lnTo>
                  <a:pt x="1107742" y="1142737"/>
                </a:lnTo>
                <a:lnTo>
                  <a:pt x="1110460" y="1142737"/>
                </a:lnTo>
                <a:lnTo>
                  <a:pt x="1110460" y="1141988"/>
                </a:lnTo>
                <a:lnTo>
                  <a:pt x="1132169" y="1141988"/>
                </a:lnTo>
                <a:lnTo>
                  <a:pt x="1132169" y="1141222"/>
                </a:lnTo>
                <a:lnTo>
                  <a:pt x="1140323" y="1141222"/>
                </a:lnTo>
                <a:lnTo>
                  <a:pt x="1140323" y="1140490"/>
                </a:lnTo>
                <a:lnTo>
                  <a:pt x="1216322" y="1140490"/>
                </a:lnTo>
                <a:lnTo>
                  <a:pt x="1216322" y="1139724"/>
                </a:lnTo>
                <a:lnTo>
                  <a:pt x="1221758" y="1139724"/>
                </a:lnTo>
                <a:lnTo>
                  <a:pt x="1221758" y="1138975"/>
                </a:lnTo>
                <a:lnTo>
                  <a:pt x="1238033" y="1138975"/>
                </a:lnTo>
                <a:lnTo>
                  <a:pt x="1238033" y="1138210"/>
                </a:lnTo>
                <a:lnTo>
                  <a:pt x="1240782" y="1138210"/>
                </a:lnTo>
                <a:lnTo>
                  <a:pt x="1240782" y="1137445"/>
                </a:lnTo>
                <a:lnTo>
                  <a:pt x="1243467" y="1137445"/>
                </a:lnTo>
                <a:lnTo>
                  <a:pt x="1243467" y="1136696"/>
                </a:lnTo>
                <a:lnTo>
                  <a:pt x="1276081" y="1136696"/>
                </a:lnTo>
                <a:lnTo>
                  <a:pt x="1276081" y="1135930"/>
                </a:lnTo>
                <a:lnTo>
                  <a:pt x="1278766" y="1135930"/>
                </a:lnTo>
                <a:lnTo>
                  <a:pt x="1278766" y="1135181"/>
                </a:lnTo>
                <a:lnTo>
                  <a:pt x="1292355" y="1135181"/>
                </a:lnTo>
                <a:lnTo>
                  <a:pt x="1292355" y="1133667"/>
                </a:lnTo>
                <a:lnTo>
                  <a:pt x="1295040" y="1133667"/>
                </a:lnTo>
                <a:lnTo>
                  <a:pt x="1295040" y="1132136"/>
                </a:lnTo>
                <a:lnTo>
                  <a:pt x="1305911" y="1132136"/>
                </a:lnTo>
                <a:lnTo>
                  <a:pt x="1305911" y="1131371"/>
                </a:lnTo>
                <a:lnTo>
                  <a:pt x="1308630" y="1131371"/>
                </a:lnTo>
                <a:lnTo>
                  <a:pt x="1308630" y="1130622"/>
                </a:lnTo>
                <a:lnTo>
                  <a:pt x="1314064" y="1130622"/>
                </a:lnTo>
                <a:lnTo>
                  <a:pt x="1314064" y="1127561"/>
                </a:lnTo>
                <a:lnTo>
                  <a:pt x="1316783" y="1127561"/>
                </a:lnTo>
                <a:lnTo>
                  <a:pt x="1316783" y="1126812"/>
                </a:lnTo>
                <a:lnTo>
                  <a:pt x="1322218" y="1126812"/>
                </a:lnTo>
                <a:lnTo>
                  <a:pt x="1322218" y="1126047"/>
                </a:lnTo>
                <a:lnTo>
                  <a:pt x="1335775" y="1126047"/>
                </a:lnTo>
                <a:lnTo>
                  <a:pt x="1335775" y="1125281"/>
                </a:lnTo>
                <a:lnTo>
                  <a:pt x="1341178" y="1125281"/>
                </a:lnTo>
                <a:lnTo>
                  <a:pt x="1341178" y="1124516"/>
                </a:lnTo>
                <a:lnTo>
                  <a:pt x="1365637" y="1124516"/>
                </a:lnTo>
                <a:lnTo>
                  <a:pt x="1365637" y="1122236"/>
                </a:lnTo>
                <a:lnTo>
                  <a:pt x="1379226" y="1122236"/>
                </a:lnTo>
                <a:lnTo>
                  <a:pt x="1379226" y="1121455"/>
                </a:lnTo>
                <a:lnTo>
                  <a:pt x="1384629" y="1121455"/>
                </a:lnTo>
                <a:lnTo>
                  <a:pt x="1384629" y="1120706"/>
                </a:lnTo>
                <a:lnTo>
                  <a:pt x="1387347" y="1120706"/>
                </a:lnTo>
                <a:lnTo>
                  <a:pt x="1387347" y="1119940"/>
                </a:lnTo>
                <a:lnTo>
                  <a:pt x="1406339" y="1119940"/>
                </a:lnTo>
                <a:lnTo>
                  <a:pt x="1406339" y="1117644"/>
                </a:lnTo>
                <a:lnTo>
                  <a:pt x="1409089" y="1117644"/>
                </a:lnTo>
                <a:lnTo>
                  <a:pt x="1409089" y="1116879"/>
                </a:lnTo>
                <a:lnTo>
                  <a:pt x="1411774" y="1116879"/>
                </a:lnTo>
                <a:lnTo>
                  <a:pt x="1411774" y="1116114"/>
                </a:lnTo>
                <a:lnTo>
                  <a:pt x="1417210" y="1116114"/>
                </a:lnTo>
                <a:lnTo>
                  <a:pt x="1417210" y="1115349"/>
                </a:lnTo>
                <a:lnTo>
                  <a:pt x="1428081" y="1115349"/>
                </a:lnTo>
                <a:lnTo>
                  <a:pt x="1428081" y="1114583"/>
                </a:lnTo>
                <a:lnTo>
                  <a:pt x="1433485" y="1114583"/>
                </a:lnTo>
                <a:lnTo>
                  <a:pt x="1433485" y="1113818"/>
                </a:lnTo>
                <a:lnTo>
                  <a:pt x="1452509" y="1113818"/>
                </a:lnTo>
                <a:lnTo>
                  <a:pt x="1452509" y="1113053"/>
                </a:lnTo>
                <a:lnTo>
                  <a:pt x="1495960" y="1113053"/>
                </a:lnTo>
                <a:lnTo>
                  <a:pt x="1495960" y="1112287"/>
                </a:lnTo>
                <a:lnTo>
                  <a:pt x="1528508" y="1112287"/>
                </a:lnTo>
                <a:lnTo>
                  <a:pt x="1528508" y="1110740"/>
                </a:lnTo>
                <a:lnTo>
                  <a:pt x="1558403" y="1110740"/>
                </a:lnTo>
                <a:lnTo>
                  <a:pt x="1558403" y="1109975"/>
                </a:lnTo>
                <a:lnTo>
                  <a:pt x="1580113" y="1109975"/>
                </a:lnTo>
                <a:lnTo>
                  <a:pt x="1580113" y="1109194"/>
                </a:lnTo>
                <a:lnTo>
                  <a:pt x="1590952" y="1109194"/>
                </a:lnTo>
                <a:lnTo>
                  <a:pt x="1590952" y="1108412"/>
                </a:lnTo>
                <a:lnTo>
                  <a:pt x="1593669" y="1108412"/>
                </a:lnTo>
                <a:lnTo>
                  <a:pt x="1593669" y="1107647"/>
                </a:lnTo>
                <a:lnTo>
                  <a:pt x="1596388" y="1107647"/>
                </a:lnTo>
                <a:lnTo>
                  <a:pt x="1596388" y="1106865"/>
                </a:lnTo>
                <a:lnTo>
                  <a:pt x="1599105" y="1106865"/>
                </a:lnTo>
                <a:lnTo>
                  <a:pt x="1599105" y="1106084"/>
                </a:lnTo>
                <a:lnTo>
                  <a:pt x="1604541" y="1106084"/>
                </a:lnTo>
                <a:lnTo>
                  <a:pt x="1604541" y="1105302"/>
                </a:lnTo>
                <a:lnTo>
                  <a:pt x="1609976" y="1105302"/>
                </a:lnTo>
                <a:lnTo>
                  <a:pt x="1609976" y="1104537"/>
                </a:lnTo>
                <a:lnTo>
                  <a:pt x="1612661" y="1104537"/>
                </a:lnTo>
                <a:lnTo>
                  <a:pt x="1612661" y="1103739"/>
                </a:lnTo>
                <a:lnTo>
                  <a:pt x="1618097" y="1103739"/>
                </a:lnTo>
                <a:lnTo>
                  <a:pt x="1618097" y="1101410"/>
                </a:lnTo>
                <a:lnTo>
                  <a:pt x="1620815" y="1101410"/>
                </a:lnTo>
                <a:lnTo>
                  <a:pt x="1620815" y="1099065"/>
                </a:lnTo>
                <a:lnTo>
                  <a:pt x="1623533" y="1099065"/>
                </a:lnTo>
                <a:lnTo>
                  <a:pt x="1623533" y="1097486"/>
                </a:lnTo>
                <a:lnTo>
                  <a:pt x="1626251" y="1097486"/>
                </a:lnTo>
                <a:lnTo>
                  <a:pt x="1626251" y="1095923"/>
                </a:lnTo>
                <a:lnTo>
                  <a:pt x="1628968" y="1095923"/>
                </a:lnTo>
                <a:lnTo>
                  <a:pt x="1628968" y="1094343"/>
                </a:lnTo>
                <a:lnTo>
                  <a:pt x="1631686" y="1094343"/>
                </a:lnTo>
                <a:lnTo>
                  <a:pt x="1631686" y="1093545"/>
                </a:lnTo>
                <a:lnTo>
                  <a:pt x="1634404" y="1093545"/>
                </a:lnTo>
                <a:lnTo>
                  <a:pt x="1634404" y="1091201"/>
                </a:lnTo>
                <a:lnTo>
                  <a:pt x="1637089" y="1091201"/>
                </a:lnTo>
                <a:lnTo>
                  <a:pt x="1637089" y="1089621"/>
                </a:lnTo>
                <a:lnTo>
                  <a:pt x="1642525" y="1089621"/>
                </a:lnTo>
                <a:lnTo>
                  <a:pt x="1642525" y="1088840"/>
                </a:lnTo>
                <a:lnTo>
                  <a:pt x="1645242" y="1088840"/>
                </a:lnTo>
                <a:lnTo>
                  <a:pt x="1645242" y="1086446"/>
                </a:lnTo>
                <a:lnTo>
                  <a:pt x="1647960" y="1086446"/>
                </a:lnTo>
                <a:lnTo>
                  <a:pt x="1647960" y="1085664"/>
                </a:lnTo>
                <a:lnTo>
                  <a:pt x="1650678" y="1085664"/>
                </a:lnTo>
                <a:lnTo>
                  <a:pt x="1650678" y="1084866"/>
                </a:lnTo>
                <a:lnTo>
                  <a:pt x="1656113" y="1084866"/>
                </a:lnTo>
                <a:lnTo>
                  <a:pt x="1656113" y="1083287"/>
                </a:lnTo>
                <a:lnTo>
                  <a:pt x="1658799" y="1083287"/>
                </a:lnTo>
                <a:lnTo>
                  <a:pt x="1658799" y="1081707"/>
                </a:lnTo>
                <a:lnTo>
                  <a:pt x="1664266" y="1081707"/>
                </a:lnTo>
                <a:lnTo>
                  <a:pt x="1664266" y="1080112"/>
                </a:lnTo>
                <a:lnTo>
                  <a:pt x="1669702" y="1080112"/>
                </a:lnTo>
                <a:lnTo>
                  <a:pt x="1669702" y="1079314"/>
                </a:lnTo>
                <a:lnTo>
                  <a:pt x="1680541" y="1079314"/>
                </a:lnTo>
                <a:lnTo>
                  <a:pt x="1680541" y="1078516"/>
                </a:lnTo>
                <a:lnTo>
                  <a:pt x="1694098" y="1078516"/>
                </a:lnTo>
                <a:lnTo>
                  <a:pt x="1694098" y="1077718"/>
                </a:lnTo>
                <a:lnTo>
                  <a:pt x="1710403" y="1077718"/>
                </a:lnTo>
                <a:lnTo>
                  <a:pt x="1710403" y="1076920"/>
                </a:lnTo>
                <a:lnTo>
                  <a:pt x="1713122" y="1076920"/>
                </a:lnTo>
                <a:lnTo>
                  <a:pt x="1713122" y="1075308"/>
                </a:lnTo>
                <a:lnTo>
                  <a:pt x="1742985" y="1075308"/>
                </a:lnTo>
                <a:lnTo>
                  <a:pt x="1742985" y="1074510"/>
                </a:lnTo>
                <a:lnTo>
                  <a:pt x="1780968" y="1074510"/>
                </a:lnTo>
                <a:lnTo>
                  <a:pt x="1780968" y="1073696"/>
                </a:lnTo>
                <a:lnTo>
                  <a:pt x="1786404" y="1073696"/>
                </a:lnTo>
                <a:lnTo>
                  <a:pt x="1786404" y="1072882"/>
                </a:lnTo>
                <a:lnTo>
                  <a:pt x="1791871" y="1072882"/>
                </a:lnTo>
                <a:lnTo>
                  <a:pt x="1791871" y="1072068"/>
                </a:lnTo>
                <a:lnTo>
                  <a:pt x="1810832" y="1072068"/>
                </a:lnTo>
                <a:lnTo>
                  <a:pt x="1810832" y="1070423"/>
                </a:lnTo>
                <a:lnTo>
                  <a:pt x="1829856" y="1070423"/>
                </a:lnTo>
                <a:lnTo>
                  <a:pt x="1829856" y="1069609"/>
                </a:lnTo>
                <a:lnTo>
                  <a:pt x="1848848" y="1069609"/>
                </a:lnTo>
                <a:lnTo>
                  <a:pt x="1848848" y="1068762"/>
                </a:lnTo>
                <a:lnTo>
                  <a:pt x="1884146" y="1068762"/>
                </a:lnTo>
                <a:lnTo>
                  <a:pt x="1884146" y="1067932"/>
                </a:lnTo>
                <a:lnTo>
                  <a:pt x="1892267" y="1067932"/>
                </a:lnTo>
                <a:lnTo>
                  <a:pt x="1892267" y="1067118"/>
                </a:lnTo>
                <a:lnTo>
                  <a:pt x="1927566" y="1067118"/>
                </a:lnTo>
                <a:lnTo>
                  <a:pt x="1927566" y="1066271"/>
                </a:lnTo>
                <a:lnTo>
                  <a:pt x="1935718" y="1066271"/>
                </a:lnTo>
                <a:lnTo>
                  <a:pt x="1935718" y="1065424"/>
                </a:lnTo>
                <a:lnTo>
                  <a:pt x="1941154" y="1065424"/>
                </a:lnTo>
                <a:lnTo>
                  <a:pt x="1941154" y="1063731"/>
                </a:lnTo>
                <a:lnTo>
                  <a:pt x="1943871" y="1063731"/>
                </a:lnTo>
                <a:lnTo>
                  <a:pt x="1943871" y="1062884"/>
                </a:lnTo>
                <a:lnTo>
                  <a:pt x="1952025" y="1062884"/>
                </a:lnTo>
                <a:lnTo>
                  <a:pt x="1952025" y="1062021"/>
                </a:lnTo>
                <a:lnTo>
                  <a:pt x="1954711" y="1062021"/>
                </a:lnTo>
                <a:lnTo>
                  <a:pt x="1954711" y="1060328"/>
                </a:lnTo>
                <a:lnTo>
                  <a:pt x="1957428" y="1060328"/>
                </a:lnTo>
                <a:lnTo>
                  <a:pt x="1957428" y="1058618"/>
                </a:lnTo>
                <a:lnTo>
                  <a:pt x="1960146" y="1058618"/>
                </a:lnTo>
                <a:lnTo>
                  <a:pt x="1960146" y="1055182"/>
                </a:lnTo>
                <a:lnTo>
                  <a:pt x="1962863" y="1055182"/>
                </a:lnTo>
                <a:lnTo>
                  <a:pt x="1962863" y="1054335"/>
                </a:lnTo>
                <a:lnTo>
                  <a:pt x="1965582" y="1054335"/>
                </a:lnTo>
                <a:lnTo>
                  <a:pt x="1965582" y="1052626"/>
                </a:lnTo>
                <a:lnTo>
                  <a:pt x="1968299" y="1052626"/>
                </a:lnTo>
                <a:lnTo>
                  <a:pt x="1968299" y="1050884"/>
                </a:lnTo>
                <a:lnTo>
                  <a:pt x="1976453" y="1050884"/>
                </a:lnTo>
                <a:lnTo>
                  <a:pt x="1976453" y="1050020"/>
                </a:lnTo>
                <a:lnTo>
                  <a:pt x="1990009" y="1050020"/>
                </a:lnTo>
                <a:lnTo>
                  <a:pt x="1990009" y="1049158"/>
                </a:lnTo>
                <a:lnTo>
                  <a:pt x="1992727" y="1049158"/>
                </a:lnTo>
                <a:lnTo>
                  <a:pt x="1992727" y="1047415"/>
                </a:lnTo>
                <a:lnTo>
                  <a:pt x="1998162" y="1047415"/>
                </a:lnTo>
                <a:lnTo>
                  <a:pt x="1998162" y="1046536"/>
                </a:lnTo>
                <a:lnTo>
                  <a:pt x="2000880" y="1046536"/>
                </a:lnTo>
                <a:lnTo>
                  <a:pt x="2000880" y="1045673"/>
                </a:lnTo>
                <a:lnTo>
                  <a:pt x="2003598" y="1045673"/>
                </a:lnTo>
                <a:lnTo>
                  <a:pt x="2003598" y="1044810"/>
                </a:lnTo>
                <a:lnTo>
                  <a:pt x="2011751" y="1044810"/>
                </a:lnTo>
                <a:lnTo>
                  <a:pt x="2011751" y="1043931"/>
                </a:lnTo>
                <a:lnTo>
                  <a:pt x="2014436" y="1043931"/>
                </a:lnTo>
                <a:lnTo>
                  <a:pt x="2014436" y="1043051"/>
                </a:lnTo>
                <a:lnTo>
                  <a:pt x="2030743" y="1043051"/>
                </a:lnTo>
                <a:lnTo>
                  <a:pt x="2030743" y="1042172"/>
                </a:lnTo>
                <a:lnTo>
                  <a:pt x="2049735" y="1042172"/>
                </a:lnTo>
                <a:lnTo>
                  <a:pt x="2049735" y="1041276"/>
                </a:lnTo>
                <a:lnTo>
                  <a:pt x="2052484" y="1041276"/>
                </a:lnTo>
                <a:lnTo>
                  <a:pt x="2052484" y="1040397"/>
                </a:lnTo>
                <a:lnTo>
                  <a:pt x="2063324" y="1040397"/>
                </a:lnTo>
                <a:lnTo>
                  <a:pt x="2063324" y="1039502"/>
                </a:lnTo>
                <a:lnTo>
                  <a:pt x="2066041" y="1039502"/>
                </a:lnTo>
                <a:lnTo>
                  <a:pt x="2066041" y="1038622"/>
                </a:lnTo>
                <a:lnTo>
                  <a:pt x="2074194" y="1038622"/>
                </a:lnTo>
                <a:lnTo>
                  <a:pt x="2074194" y="1037727"/>
                </a:lnTo>
                <a:lnTo>
                  <a:pt x="2076880" y="1037727"/>
                </a:lnTo>
                <a:lnTo>
                  <a:pt x="2076880" y="1036831"/>
                </a:lnTo>
                <a:lnTo>
                  <a:pt x="2079597" y="1036831"/>
                </a:lnTo>
                <a:lnTo>
                  <a:pt x="2079597" y="1035935"/>
                </a:lnTo>
                <a:lnTo>
                  <a:pt x="2095904" y="1035935"/>
                </a:lnTo>
                <a:lnTo>
                  <a:pt x="2095904" y="1035024"/>
                </a:lnTo>
                <a:lnTo>
                  <a:pt x="2133888" y="1035024"/>
                </a:lnTo>
                <a:lnTo>
                  <a:pt x="2133888" y="1034112"/>
                </a:lnTo>
                <a:lnTo>
                  <a:pt x="2139324" y="1034112"/>
                </a:lnTo>
                <a:lnTo>
                  <a:pt x="2139324" y="1033200"/>
                </a:lnTo>
                <a:lnTo>
                  <a:pt x="2180026" y="1033200"/>
                </a:lnTo>
                <a:lnTo>
                  <a:pt x="2180026" y="1032272"/>
                </a:lnTo>
                <a:lnTo>
                  <a:pt x="2190928" y="1032272"/>
                </a:lnTo>
                <a:lnTo>
                  <a:pt x="2190928" y="1031327"/>
                </a:lnTo>
                <a:lnTo>
                  <a:pt x="2220759" y="1031327"/>
                </a:lnTo>
                <a:lnTo>
                  <a:pt x="2220759" y="1030399"/>
                </a:lnTo>
                <a:lnTo>
                  <a:pt x="2245187" y="1030399"/>
                </a:lnTo>
                <a:lnTo>
                  <a:pt x="2245187" y="1029455"/>
                </a:lnTo>
                <a:lnTo>
                  <a:pt x="2247904" y="1029455"/>
                </a:lnTo>
                <a:lnTo>
                  <a:pt x="2247904" y="1026589"/>
                </a:lnTo>
                <a:lnTo>
                  <a:pt x="2250622" y="1026589"/>
                </a:lnTo>
                <a:lnTo>
                  <a:pt x="2250622" y="1025645"/>
                </a:lnTo>
                <a:lnTo>
                  <a:pt x="2258775" y="1025645"/>
                </a:lnTo>
                <a:lnTo>
                  <a:pt x="2258775" y="1023723"/>
                </a:lnTo>
                <a:lnTo>
                  <a:pt x="2261461" y="1023723"/>
                </a:lnTo>
                <a:lnTo>
                  <a:pt x="2261461" y="1022762"/>
                </a:lnTo>
                <a:lnTo>
                  <a:pt x="2264211" y="1022762"/>
                </a:lnTo>
                <a:lnTo>
                  <a:pt x="2264211" y="1020841"/>
                </a:lnTo>
                <a:lnTo>
                  <a:pt x="2266896" y="1020841"/>
                </a:lnTo>
                <a:lnTo>
                  <a:pt x="2266896" y="1018936"/>
                </a:lnTo>
                <a:lnTo>
                  <a:pt x="2272332" y="1018936"/>
                </a:lnTo>
                <a:lnTo>
                  <a:pt x="2272332" y="1016998"/>
                </a:lnTo>
                <a:lnTo>
                  <a:pt x="2275049" y="1016998"/>
                </a:lnTo>
                <a:lnTo>
                  <a:pt x="2275049" y="1016038"/>
                </a:lnTo>
                <a:lnTo>
                  <a:pt x="2280485" y="1016038"/>
                </a:lnTo>
                <a:lnTo>
                  <a:pt x="2280485" y="1014100"/>
                </a:lnTo>
                <a:lnTo>
                  <a:pt x="2283203" y="1014100"/>
                </a:lnTo>
                <a:lnTo>
                  <a:pt x="2283203" y="1009264"/>
                </a:lnTo>
                <a:lnTo>
                  <a:pt x="2285920" y="1009264"/>
                </a:lnTo>
                <a:lnTo>
                  <a:pt x="2285920" y="1007310"/>
                </a:lnTo>
                <a:lnTo>
                  <a:pt x="2291324" y="1007310"/>
                </a:lnTo>
                <a:lnTo>
                  <a:pt x="2291324" y="1006333"/>
                </a:lnTo>
                <a:lnTo>
                  <a:pt x="2296760" y="1006333"/>
                </a:lnTo>
                <a:lnTo>
                  <a:pt x="2296760" y="1005339"/>
                </a:lnTo>
                <a:lnTo>
                  <a:pt x="2299509" y="1005339"/>
                </a:lnTo>
                <a:lnTo>
                  <a:pt x="2299509" y="1003385"/>
                </a:lnTo>
                <a:lnTo>
                  <a:pt x="2302195" y="1003385"/>
                </a:lnTo>
                <a:lnTo>
                  <a:pt x="2302195" y="1001415"/>
                </a:lnTo>
                <a:lnTo>
                  <a:pt x="2334776" y="1001415"/>
                </a:lnTo>
                <a:lnTo>
                  <a:pt x="2334776" y="1000422"/>
                </a:lnTo>
                <a:lnTo>
                  <a:pt x="2337493" y="1000422"/>
                </a:lnTo>
                <a:lnTo>
                  <a:pt x="2337493" y="999445"/>
                </a:lnTo>
                <a:lnTo>
                  <a:pt x="2345646" y="999445"/>
                </a:lnTo>
                <a:lnTo>
                  <a:pt x="2345646" y="998435"/>
                </a:lnTo>
                <a:lnTo>
                  <a:pt x="2356485" y="998435"/>
                </a:lnTo>
                <a:lnTo>
                  <a:pt x="2356485" y="997426"/>
                </a:lnTo>
                <a:lnTo>
                  <a:pt x="2364670" y="997426"/>
                </a:lnTo>
                <a:lnTo>
                  <a:pt x="2364670" y="996416"/>
                </a:lnTo>
                <a:lnTo>
                  <a:pt x="2454227" y="996416"/>
                </a:lnTo>
                <a:lnTo>
                  <a:pt x="2454227" y="994299"/>
                </a:lnTo>
                <a:lnTo>
                  <a:pt x="2465067" y="994299"/>
                </a:lnTo>
                <a:lnTo>
                  <a:pt x="2465067" y="993241"/>
                </a:lnTo>
                <a:lnTo>
                  <a:pt x="2489526" y="993241"/>
                </a:lnTo>
                <a:lnTo>
                  <a:pt x="2489526" y="992150"/>
                </a:lnTo>
                <a:lnTo>
                  <a:pt x="2532945" y="992150"/>
                </a:lnTo>
                <a:lnTo>
                  <a:pt x="2532945" y="991059"/>
                </a:lnTo>
                <a:lnTo>
                  <a:pt x="2581832" y="991059"/>
                </a:lnTo>
                <a:lnTo>
                  <a:pt x="2581832" y="987656"/>
                </a:lnTo>
                <a:lnTo>
                  <a:pt x="2587235" y="987656"/>
                </a:lnTo>
                <a:lnTo>
                  <a:pt x="2587235" y="983097"/>
                </a:lnTo>
                <a:lnTo>
                  <a:pt x="2592670" y="983097"/>
                </a:lnTo>
                <a:lnTo>
                  <a:pt x="2592670" y="981973"/>
                </a:lnTo>
                <a:lnTo>
                  <a:pt x="2595389" y="981973"/>
                </a:lnTo>
                <a:lnTo>
                  <a:pt x="2595389" y="979677"/>
                </a:lnTo>
                <a:lnTo>
                  <a:pt x="2598106" y="979677"/>
                </a:lnTo>
                <a:lnTo>
                  <a:pt x="2598106" y="978537"/>
                </a:lnTo>
                <a:lnTo>
                  <a:pt x="2600824" y="978537"/>
                </a:lnTo>
                <a:lnTo>
                  <a:pt x="2600824" y="975085"/>
                </a:lnTo>
                <a:lnTo>
                  <a:pt x="2603542" y="975085"/>
                </a:lnTo>
                <a:lnTo>
                  <a:pt x="2603542" y="972806"/>
                </a:lnTo>
                <a:lnTo>
                  <a:pt x="2606260" y="972806"/>
                </a:lnTo>
                <a:lnTo>
                  <a:pt x="2606260" y="970477"/>
                </a:lnTo>
                <a:lnTo>
                  <a:pt x="2611695" y="970477"/>
                </a:lnTo>
                <a:lnTo>
                  <a:pt x="2611695" y="969321"/>
                </a:lnTo>
                <a:lnTo>
                  <a:pt x="2617098" y="969321"/>
                </a:lnTo>
                <a:lnTo>
                  <a:pt x="2617098" y="968165"/>
                </a:lnTo>
                <a:lnTo>
                  <a:pt x="2622534" y="968165"/>
                </a:lnTo>
                <a:lnTo>
                  <a:pt x="2622534" y="966976"/>
                </a:lnTo>
                <a:lnTo>
                  <a:pt x="2625251" y="966976"/>
                </a:lnTo>
                <a:lnTo>
                  <a:pt x="2625251" y="965804"/>
                </a:lnTo>
                <a:lnTo>
                  <a:pt x="2627969" y="965804"/>
                </a:lnTo>
                <a:lnTo>
                  <a:pt x="2627969" y="964631"/>
                </a:lnTo>
                <a:lnTo>
                  <a:pt x="2630687" y="964631"/>
                </a:lnTo>
                <a:lnTo>
                  <a:pt x="2630687" y="963443"/>
                </a:lnTo>
                <a:lnTo>
                  <a:pt x="2638808" y="963443"/>
                </a:lnTo>
                <a:lnTo>
                  <a:pt x="2638808" y="962254"/>
                </a:lnTo>
                <a:lnTo>
                  <a:pt x="2641558" y="962254"/>
                </a:lnTo>
                <a:lnTo>
                  <a:pt x="2641558" y="961066"/>
                </a:lnTo>
                <a:lnTo>
                  <a:pt x="2644243" y="961066"/>
                </a:lnTo>
                <a:lnTo>
                  <a:pt x="2644243" y="959860"/>
                </a:lnTo>
                <a:lnTo>
                  <a:pt x="2655114" y="959860"/>
                </a:lnTo>
                <a:lnTo>
                  <a:pt x="2655114" y="958672"/>
                </a:lnTo>
                <a:lnTo>
                  <a:pt x="2663267" y="958672"/>
                </a:lnTo>
                <a:lnTo>
                  <a:pt x="2663267" y="957467"/>
                </a:lnTo>
                <a:lnTo>
                  <a:pt x="2674106" y="957467"/>
                </a:lnTo>
                <a:lnTo>
                  <a:pt x="2674106" y="956262"/>
                </a:lnTo>
                <a:lnTo>
                  <a:pt x="2676857" y="956262"/>
                </a:lnTo>
                <a:lnTo>
                  <a:pt x="2676857" y="953836"/>
                </a:lnTo>
                <a:lnTo>
                  <a:pt x="2684978" y="953836"/>
                </a:lnTo>
                <a:lnTo>
                  <a:pt x="2684978" y="952615"/>
                </a:lnTo>
                <a:lnTo>
                  <a:pt x="2687695" y="952615"/>
                </a:lnTo>
                <a:lnTo>
                  <a:pt x="2687695" y="951410"/>
                </a:lnTo>
                <a:lnTo>
                  <a:pt x="2703969" y="951410"/>
                </a:lnTo>
                <a:lnTo>
                  <a:pt x="2703969" y="950172"/>
                </a:lnTo>
                <a:lnTo>
                  <a:pt x="2725680" y="950172"/>
                </a:lnTo>
                <a:lnTo>
                  <a:pt x="2725680" y="948935"/>
                </a:lnTo>
                <a:lnTo>
                  <a:pt x="2731115" y="948935"/>
                </a:lnTo>
                <a:lnTo>
                  <a:pt x="2731115" y="947681"/>
                </a:lnTo>
                <a:lnTo>
                  <a:pt x="2741985" y="947681"/>
                </a:lnTo>
                <a:lnTo>
                  <a:pt x="2741985" y="946427"/>
                </a:lnTo>
                <a:lnTo>
                  <a:pt x="2774566" y="946427"/>
                </a:lnTo>
                <a:lnTo>
                  <a:pt x="2774566" y="945141"/>
                </a:lnTo>
                <a:lnTo>
                  <a:pt x="2817985" y="945141"/>
                </a:lnTo>
                <a:lnTo>
                  <a:pt x="2817985" y="943822"/>
                </a:lnTo>
                <a:lnTo>
                  <a:pt x="2858719" y="943822"/>
                </a:lnTo>
                <a:lnTo>
                  <a:pt x="2858719" y="942486"/>
                </a:lnTo>
                <a:lnTo>
                  <a:pt x="2891300" y="942486"/>
                </a:lnTo>
                <a:lnTo>
                  <a:pt x="2891300" y="941119"/>
                </a:lnTo>
                <a:lnTo>
                  <a:pt x="2904856" y="941119"/>
                </a:lnTo>
                <a:lnTo>
                  <a:pt x="2904856" y="939751"/>
                </a:lnTo>
                <a:lnTo>
                  <a:pt x="2910292" y="939751"/>
                </a:lnTo>
                <a:lnTo>
                  <a:pt x="2910292" y="935631"/>
                </a:lnTo>
                <a:lnTo>
                  <a:pt x="2913010" y="935631"/>
                </a:lnTo>
                <a:lnTo>
                  <a:pt x="2913010" y="934247"/>
                </a:lnTo>
                <a:lnTo>
                  <a:pt x="2915696" y="934247"/>
                </a:lnTo>
                <a:lnTo>
                  <a:pt x="2915696" y="932879"/>
                </a:lnTo>
                <a:lnTo>
                  <a:pt x="2929284" y="932879"/>
                </a:lnTo>
                <a:lnTo>
                  <a:pt x="2929284" y="931463"/>
                </a:lnTo>
                <a:lnTo>
                  <a:pt x="2932034" y="931463"/>
                </a:lnTo>
                <a:lnTo>
                  <a:pt x="2932034" y="928646"/>
                </a:lnTo>
                <a:lnTo>
                  <a:pt x="2934719" y="928646"/>
                </a:lnTo>
                <a:lnTo>
                  <a:pt x="2934719" y="927245"/>
                </a:lnTo>
                <a:lnTo>
                  <a:pt x="2964583" y="927245"/>
                </a:lnTo>
                <a:lnTo>
                  <a:pt x="2964583" y="924363"/>
                </a:lnTo>
                <a:lnTo>
                  <a:pt x="2967300" y="924363"/>
                </a:lnTo>
                <a:lnTo>
                  <a:pt x="2967300" y="919999"/>
                </a:lnTo>
                <a:lnTo>
                  <a:pt x="2978171" y="919999"/>
                </a:lnTo>
                <a:lnTo>
                  <a:pt x="2978171" y="918550"/>
                </a:lnTo>
                <a:lnTo>
                  <a:pt x="2997163" y="918550"/>
                </a:lnTo>
                <a:lnTo>
                  <a:pt x="2997163" y="915603"/>
                </a:lnTo>
                <a:lnTo>
                  <a:pt x="3002566" y="915603"/>
                </a:lnTo>
                <a:lnTo>
                  <a:pt x="3002566" y="914121"/>
                </a:lnTo>
                <a:lnTo>
                  <a:pt x="3043301" y="914121"/>
                </a:lnTo>
                <a:lnTo>
                  <a:pt x="3043301" y="912623"/>
                </a:lnTo>
                <a:lnTo>
                  <a:pt x="3048736" y="912623"/>
                </a:lnTo>
                <a:lnTo>
                  <a:pt x="3048736" y="911092"/>
                </a:lnTo>
                <a:lnTo>
                  <a:pt x="3056889" y="911092"/>
                </a:lnTo>
                <a:lnTo>
                  <a:pt x="3056889" y="909578"/>
                </a:lnTo>
                <a:lnTo>
                  <a:pt x="3062325" y="909578"/>
                </a:lnTo>
                <a:lnTo>
                  <a:pt x="3062325" y="908048"/>
                </a:lnTo>
                <a:lnTo>
                  <a:pt x="3151914" y="908048"/>
                </a:lnTo>
                <a:lnTo>
                  <a:pt x="3151914" y="906436"/>
                </a:lnTo>
                <a:lnTo>
                  <a:pt x="3176340" y="906436"/>
                </a:lnTo>
                <a:lnTo>
                  <a:pt x="3176340" y="904807"/>
                </a:lnTo>
                <a:lnTo>
                  <a:pt x="3211608" y="904807"/>
                </a:lnTo>
                <a:lnTo>
                  <a:pt x="3211608" y="903163"/>
                </a:lnTo>
                <a:lnTo>
                  <a:pt x="3227913" y="903163"/>
                </a:lnTo>
                <a:lnTo>
                  <a:pt x="3227913" y="899808"/>
                </a:lnTo>
                <a:lnTo>
                  <a:pt x="3230631" y="899808"/>
                </a:lnTo>
                <a:lnTo>
                  <a:pt x="3230631" y="898115"/>
                </a:lnTo>
                <a:lnTo>
                  <a:pt x="3236067" y="898115"/>
                </a:lnTo>
                <a:lnTo>
                  <a:pt x="3236067" y="894728"/>
                </a:lnTo>
                <a:lnTo>
                  <a:pt x="3244220" y="894728"/>
                </a:lnTo>
                <a:lnTo>
                  <a:pt x="3244220" y="893018"/>
                </a:lnTo>
                <a:lnTo>
                  <a:pt x="3249656" y="893018"/>
                </a:lnTo>
                <a:lnTo>
                  <a:pt x="3249656" y="891325"/>
                </a:lnTo>
                <a:lnTo>
                  <a:pt x="3252341" y="891325"/>
                </a:lnTo>
                <a:lnTo>
                  <a:pt x="3252341" y="889615"/>
                </a:lnTo>
                <a:lnTo>
                  <a:pt x="3255058" y="889615"/>
                </a:lnTo>
                <a:lnTo>
                  <a:pt x="3255058" y="887889"/>
                </a:lnTo>
                <a:lnTo>
                  <a:pt x="3257776" y="887889"/>
                </a:lnTo>
                <a:lnTo>
                  <a:pt x="3257776" y="884437"/>
                </a:lnTo>
                <a:lnTo>
                  <a:pt x="3260494" y="884437"/>
                </a:lnTo>
                <a:lnTo>
                  <a:pt x="3260494" y="880985"/>
                </a:lnTo>
                <a:lnTo>
                  <a:pt x="3265929" y="880985"/>
                </a:lnTo>
                <a:lnTo>
                  <a:pt x="3265929" y="875791"/>
                </a:lnTo>
                <a:lnTo>
                  <a:pt x="3268615" y="875791"/>
                </a:lnTo>
                <a:lnTo>
                  <a:pt x="3268615" y="874048"/>
                </a:lnTo>
                <a:lnTo>
                  <a:pt x="3271365" y="874048"/>
                </a:lnTo>
                <a:lnTo>
                  <a:pt x="3271365" y="872306"/>
                </a:lnTo>
                <a:lnTo>
                  <a:pt x="3284921" y="872306"/>
                </a:lnTo>
                <a:lnTo>
                  <a:pt x="3284921" y="870547"/>
                </a:lnTo>
                <a:lnTo>
                  <a:pt x="3306631" y="870547"/>
                </a:lnTo>
                <a:lnTo>
                  <a:pt x="3306631" y="868756"/>
                </a:lnTo>
                <a:lnTo>
                  <a:pt x="3317502" y="868756"/>
                </a:lnTo>
                <a:lnTo>
                  <a:pt x="3317502" y="866965"/>
                </a:lnTo>
                <a:lnTo>
                  <a:pt x="3347365" y="866965"/>
                </a:lnTo>
                <a:lnTo>
                  <a:pt x="3347365" y="863301"/>
                </a:lnTo>
                <a:lnTo>
                  <a:pt x="3420648" y="863301"/>
                </a:lnTo>
                <a:lnTo>
                  <a:pt x="3420648" y="861380"/>
                </a:lnTo>
                <a:lnTo>
                  <a:pt x="3423365" y="861380"/>
                </a:lnTo>
                <a:lnTo>
                  <a:pt x="3423365" y="859442"/>
                </a:lnTo>
                <a:lnTo>
                  <a:pt x="3553688" y="859442"/>
                </a:lnTo>
                <a:lnTo>
                  <a:pt x="3553688" y="853010"/>
                </a:lnTo>
                <a:lnTo>
                  <a:pt x="3556406" y="853010"/>
                </a:lnTo>
                <a:lnTo>
                  <a:pt x="3556406" y="850845"/>
                </a:lnTo>
                <a:lnTo>
                  <a:pt x="3569962" y="850845"/>
                </a:lnTo>
                <a:lnTo>
                  <a:pt x="3569962" y="848630"/>
                </a:lnTo>
                <a:lnTo>
                  <a:pt x="3575398" y="848630"/>
                </a:lnTo>
                <a:lnTo>
                  <a:pt x="3575398" y="846416"/>
                </a:lnTo>
                <a:lnTo>
                  <a:pt x="3580802" y="846416"/>
                </a:lnTo>
                <a:lnTo>
                  <a:pt x="3580802" y="844152"/>
                </a:lnTo>
                <a:lnTo>
                  <a:pt x="3583551" y="844152"/>
                </a:lnTo>
                <a:lnTo>
                  <a:pt x="3583551" y="841889"/>
                </a:lnTo>
                <a:lnTo>
                  <a:pt x="3591704" y="841889"/>
                </a:lnTo>
                <a:lnTo>
                  <a:pt x="3591704" y="835001"/>
                </a:lnTo>
                <a:lnTo>
                  <a:pt x="3597139" y="835001"/>
                </a:lnTo>
                <a:lnTo>
                  <a:pt x="3597139" y="832689"/>
                </a:lnTo>
                <a:lnTo>
                  <a:pt x="3599825" y="832689"/>
                </a:lnTo>
                <a:lnTo>
                  <a:pt x="3599825" y="830312"/>
                </a:lnTo>
                <a:lnTo>
                  <a:pt x="3621535" y="830312"/>
                </a:lnTo>
                <a:lnTo>
                  <a:pt x="3621535" y="827918"/>
                </a:lnTo>
                <a:lnTo>
                  <a:pt x="3629688" y="827918"/>
                </a:lnTo>
                <a:lnTo>
                  <a:pt x="3629688" y="823082"/>
                </a:lnTo>
                <a:lnTo>
                  <a:pt x="3640527" y="823082"/>
                </a:lnTo>
                <a:lnTo>
                  <a:pt x="3640527" y="820623"/>
                </a:lnTo>
                <a:lnTo>
                  <a:pt x="3664987" y="820623"/>
                </a:lnTo>
                <a:lnTo>
                  <a:pt x="3664987" y="818116"/>
                </a:lnTo>
                <a:lnTo>
                  <a:pt x="3683979" y="818116"/>
                </a:lnTo>
                <a:lnTo>
                  <a:pt x="3683979" y="815543"/>
                </a:lnTo>
                <a:lnTo>
                  <a:pt x="3757293" y="815543"/>
                </a:lnTo>
                <a:lnTo>
                  <a:pt x="3757293" y="812693"/>
                </a:lnTo>
                <a:lnTo>
                  <a:pt x="3795277" y="812693"/>
                </a:lnTo>
                <a:lnTo>
                  <a:pt x="3795277" y="809648"/>
                </a:lnTo>
                <a:lnTo>
                  <a:pt x="3871277" y="809648"/>
                </a:lnTo>
                <a:lnTo>
                  <a:pt x="3871277" y="806294"/>
                </a:lnTo>
                <a:lnTo>
                  <a:pt x="3898455" y="806294"/>
                </a:lnTo>
                <a:lnTo>
                  <a:pt x="3898455" y="802761"/>
                </a:lnTo>
                <a:lnTo>
                  <a:pt x="3901140" y="802761"/>
                </a:lnTo>
                <a:lnTo>
                  <a:pt x="3901140" y="799211"/>
                </a:lnTo>
                <a:lnTo>
                  <a:pt x="3917414" y="799211"/>
                </a:lnTo>
                <a:lnTo>
                  <a:pt x="3917414" y="791851"/>
                </a:lnTo>
                <a:lnTo>
                  <a:pt x="3920164" y="791851"/>
                </a:lnTo>
                <a:lnTo>
                  <a:pt x="3920164" y="788122"/>
                </a:lnTo>
                <a:lnTo>
                  <a:pt x="3960866" y="788122"/>
                </a:lnTo>
              </a:path>
            </a:pathLst>
          </a:cu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0" name="renal_legend_finerenone">
            <a:extLst>
              <a:ext uri="{FF2B5EF4-FFF2-40B4-BE49-F238E27FC236}">
                <a16:creationId xmlns:a16="http://schemas.microsoft.com/office/drawing/2014/main" id="{876A6304-433F-4643-97D2-9AAA3D25D937}"/>
              </a:ext>
            </a:extLst>
          </p:cNvPr>
          <p:cNvSpPr>
            <a:spLocks noGrp="1"/>
          </p:cNvSpPr>
          <p:nvPr/>
        </p:nvSpPr>
        <p:spPr>
          <a:xfrm>
            <a:off x="6883400" y="2514600"/>
            <a:ext cx="228600" cy="95"/>
          </a:xfrm>
          <a:prstGeom prst="line">
            <a:avLst/>
          </a:prstGeom>
          <a:noFill/>
          <a:ln w="25400">
            <a:solidFill>
              <a:srgbClr val="7030A0"/>
            </a:solidFill>
            <a:prstDash val="solid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1" name="renal_legend_finerenone_label">
            <a:extLst>
              <a:ext uri="{FF2B5EF4-FFF2-40B4-BE49-F238E27FC236}">
                <a16:creationId xmlns:a16="http://schemas.microsoft.com/office/drawing/2014/main" id="{383BB1A4-8F3E-48BA-B676-49C954FA7F3D}"/>
              </a:ext>
            </a:extLst>
          </p:cNvPr>
          <p:cNvSpPr>
            <a:spLocks noGrp="1"/>
          </p:cNvSpPr>
          <p:nvPr/>
        </p:nvSpPr>
        <p:spPr>
          <a:xfrm>
            <a:off x="7162800" y="2387600"/>
            <a:ext cx="122872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68AD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Финеренон</a:t>
            </a:r>
          </a:p>
        </p:txBody>
      </p:sp>
      <p:sp>
        <p:nvSpPr>
          <p:cNvPr id="122" name="renal_legend_placebo">
            <a:extLst>
              <a:ext uri="{FF2B5EF4-FFF2-40B4-BE49-F238E27FC236}">
                <a16:creationId xmlns:a16="http://schemas.microsoft.com/office/drawing/2014/main" id="{FF5DF6E9-1162-4E09-94BF-B78E80C51ED8}"/>
              </a:ext>
            </a:extLst>
          </p:cNvPr>
          <p:cNvSpPr>
            <a:spLocks noGrp="1"/>
          </p:cNvSpPr>
          <p:nvPr/>
        </p:nvSpPr>
        <p:spPr>
          <a:xfrm>
            <a:off x="8534400" y="2514600"/>
            <a:ext cx="228600" cy="95"/>
          </a:xfrm>
          <a:prstGeom prst="line">
            <a:avLst/>
          </a:prstGeom>
          <a:noFill/>
          <a:ln w="25400">
            <a:solidFill>
              <a:srgbClr val="7F7F7F"/>
            </a:solidFill>
            <a:prstDash val="dash"/>
          </a:ln>
        </p:spPr>
        <p:txBody>
          <a:bodyPr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23" name="renal_legend_placebo_label">
            <a:extLst>
              <a:ext uri="{FF2B5EF4-FFF2-40B4-BE49-F238E27FC236}">
                <a16:creationId xmlns:a16="http://schemas.microsoft.com/office/drawing/2014/main" id="{C2487629-14FD-4B6F-9AD7-59693F383C8E}"/>
              </a:ext>
            </a:extLst>
          </p:cNvPr>
          <p:cNvSpPr>
            <a:spLocks noGrp="1"/>
          </p:cNvSpPr>
          <p:nvPr/>
        </p:nvSpPr>
        <p:spPr>
          <a:xfrm>
            <a:off x="8839200" y="2387600"/>
            <a:ext cx="1057275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AD62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7F7F7F"/>
                </a:solidFill>
                <a:latin typeface="Arial Narrow"/>
                <a:ea typeface="Calibri"/>
                <a:cs typeface="Arial Narrow"/>
              </a:rPr>
              <a:t>Плацебо</a:t>
            </a:r>
          </a:p>
        </p:txBody>
      </p:sp>
      <p:sp>
        <p:nvSpPr>
          <p:cNvPr id="124" name="renal_x_axis_title">
            <a:extLst>
              <a:ext uri="{FF2B5EF4-FFF2-40B4-BE49-F238E27FC236}">
                <a16:creationId xmlns:a16="http://schemas.microsoft.com/office/drawing/2014/main" id="{4C72D6E4-353B-4613-9C5A-EBCD58C08D6A}"/>
              </a:ext>
            </a:extLst>
          </p:cNvPr>
          <p:cNvSpPr>
            <a:spLocks noGrp="1"/>
          </p:cNvSpPr>
          <p:nvPr/>
        </p:nvSpPr>
        <p:spPr>
          <a:xfrm>
            <a:off x="6781800" y="3925316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Месяцы после рандомизации</a:t>
            </a:r>
          </a:p>
        </p:txBody>
      </p:sp>
      <p:sp>
        <p:nvSpPr>
          <p:cNvPr id="241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Agarwal R, et al. Eur Heart J. 2022;43:474–484. p-значения поискового анализа без поправки на множественные сравнения.</a:t>
            </a:r>
            <a:endParaRPr lang="ru-RU" sz="800" b="0" dirty="0"/>
          </a:p>
        </p:txBody>
      </p:sp>
      <p:pic>
        <p:nvPicPr>
          <p:cNvPr id="24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43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ДИ: доверительный интервал; ЧБНЛ: число пациентов, которых нужно лечить в течение 3 лет, чтобы предотвратить 1 событие; иНГЛТ2: ингибитор натрий-глюкозного котранспортёра 2 типа; СН: сердечная недостаточность.</a:t>
            </a:r>
            <a:endParaRPr lang="ru-RU" sz="1000" b="0" dirty="0"/>
          </a:p>
        </p:txBody>
      </p:sp>
      <p:sp>
        <p:nvSpPr>
          <p:cNvPr id="244" name="Полоса_калий"/>
          <p:cNvSpPr/>
          <p:nvPr/>
        </p:nvSpPr>
        <p:spPr>
          <a:xfrm>
            <a:off x="457200" y="5397754"/>
            <a:ext cx="11277600" cy="3048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245" name="Карточка_калий"/>
          <p:cNvSpPr/>
          <p:nvPr/>
        </p:nvSpPr>
        <p:spPr>
          <a:xfrm>
            <a:off x="457200" y="5727954"/>
            <a:ext cx="11277600" cy="495045"/>
          </a:xfrm>
          <a:prstGeom prst="roundRect">
            <a:avLst>
              <a:gd name="adj" fmla="val 2052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6" name="Текст_калий"/>
          <p:cNvSpPr txBox="1"/>
          <p:nvPr/>
        </p:nvSpPr>
        <p:spPr>
          <a:xfrm>
            <a:off x="584200" y="5791454"/>
            <a:ext cx="11023600" cy="3934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по сообщениям исследователей: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14,0% на финереноне, 6,9% на плацебо. Окончательная отмена из-за неё: 1,7% и 0,6%. Смертельных исходов гиперкалиемии не было. </a:t>
            </a: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до начала, через 4 недели после начала или повышения дозы, далее периодически.</a:t>
            </a:r>
          </a:p>
        </p:txBody>
      </p:sp>
      <p:sp>
        <p:nvSpPr>
          <p:cNvPr id="247" name="Полоса_cv_результат"/>
          <p:cNvSpPr/>
          <p:nvPr/>
        </p:nvSpPr>
        <p:spPr>
          <a:xfrm>
            <a:off x="457200" y="1257300"/>
            <a:ext cx="5486400" cy="279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Комбинированный сердечно-сосудистый исход</a:t>
            </a:r>
          </a:p>
        </p:txBody>
      </p:sp>
      <p:sp>
        <p:nvSpPr>
          <p:cNvPr id="249" name="cv_результаты"/>
          <p:cNvSpPr txBox="1"/>
          <p:nvPr/>
        </p:nvSpPr>
        <p:spPr>
          <a:xfrm>
            <a:off x="584200" y="4128516"/>
            <a:ext cx="5232400" cy="118033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с событием за всё исследование: 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финеренон 12,7%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плацебо 14,4%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14%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0,86 (95% ДИ 0,78–0,95), p=0,0018. ЧБНЛ за 3 года: 46 (95% ДИ 29–109).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Из компонентов: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госпитализации по поводу сердечной недостаточности, риск ниже на 22% (отношение рисков 0,78; 95% ДИ 0,66–0,92).</a:t>
            </a:r>
          </a:p>
        </p:txBody>
      </p:sp>
      <p:sp>
        <p:nvSpPr>
          <p:cNvPr id="250" name="Полоса_renal_результат"/>
          <p:cNvSpPr/>
          <p:nvPr/>
        </p:nvSpPr>
        <p:spPr>
          <a:xfrm>
            <a:off x="6248400" y="1257300"/>
            <a:ext cx="5486400" cy="279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Комбинированный почечный исход</a:t>
            </a:r>
          </a:p>
        </p:txBody>
      </p:sp>
      <p:sp>
        <p:nvSpPr>
          <p:cNvPr id="252" name="renal_результаты"/>
          <p:cNvSpPr txBox="1"/>
          <p:nvPr/>
        </p:nvSpPr>
        <p:spPr>
          <a:xfrm>
            <a:off x="6375400" y="4128516"/>
            <a:ext cx="5232400" cy="60286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Доля с событием за всё исследование: </a:t>
            </a:r>
            <a:r>
              <a:rPr sz="1400" b="0">
                <a:solidFill>
                  <a:srgbClr val="7030A0"/>
                </a:solidFill>
                <a:latin typeface="Arial Narrow"/>
                <a:cs typeface="Arial Narrow"/>
              </a:rPr>
              <a:t>финеренон 5,5%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, </a:t>
            </a:r>
            <a:r>
              <a:rPr sz="1400" b="0">
                <a:solidFill>
                  <a:srgbClr val="7F7F7F"/>
                </a:solidFill>
                <a:latin typeface="Arial Narrow"/>
                <a:cs typeface="Arial Narrow"/>
              </a:rPr>
              <a:t>плацебо 7,1%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>
              <a:lnSpc>
                <a:spcPct val="90000"/>
              </a:lnSpc>
              <a:spcAft>
                <a:spcPts val="2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Риск ниже на 23% по сравнению с плацебо: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отношение рисков 0,77 (95% ДИ 0,67–0,88), p=0,0002. ЧБНЛ за 3 года: 60 (95% ДИ 38–142).</a:t>
            </a:r>
          </a:p>
        </p:txBody>
      </p:sp>
    </p:spTree>
    <p:extLst>
      <p:ext uri="{BB962C8B-B14F-4D97-AF65-F5344CB8AC3E}">
        <p14:creationId xmlns:p14="http://schemas.microsoft.com/office/powerpoint/2010/main" val="2122440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8CD3DF-F817-4BE8-A79C-D52A6E91FDC1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0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К 4-му месяцу АКО на финереноне на 32% ниже, чем на плацебо</a:t>
            </a:r>
            <a:endParaRPr sz="2000" b="0" dirty="0"/>
          </a:p>
        </p:txBody>
      </p:sp>
      <p:sp>
        <p:nvSpPr>
          <p:cNvPr id="14" name="population">
            <a:extLst>
              <a:ext uri="{FF2B5EF4-FFF2-40B4-BE49-F238E27FC236}">
                <a16:creationId xmlns:a16="http://schemas.microsoft.com/office/drawing/2014/main" id="{9A3252D9-B888-4A98-85DD-FC9CB2B67802}"/>
              </a:ext>
            </a:extLst>
          </p:cNvPr>
          <p:cNvSpPr>
            <a:spLocks noGrp="1"/>
          </p:cNvSpPr>
          <p:nvPr/>
        </p:nvSpPr>
        <p:spPr>
          <a:xfrm>
            <a:off x="457200" y="787400"/>
            <a:ext cx="112776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Кто участвовал: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13 026 пациентов с ХБП и диабетом 2 типа. </a:t>
            </a: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Что сравнивали: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финеренон или плацебо на фоне ИАПФ или БРА в максимально переносимой дозе.</a:t>
            </a:r>
          </a:p>
        </p:txBody>
      </p:sp>
      <p:sp>
        <p:nvSpPr>
          <p:cNvPr id="41" name="Карточка_разница"/>
          <p:cNvSpPr/>
          <p:nvPr/>
        </p:nvSpPr>
        <p:spPr>
          <a:xfrm>
            <a:off x="457200" y="1955800"/>
            <a:ext cx="43815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placebo_adjusted_uacr_reduction">
            <a:extLst>
              <a:ext uri="{FF2B5EF4-FFF2-40B4-BE49-F238E27FC236}">
                <a16:creationId xmlns:a16="http://schemas.microsoft.com/office/drawing/2014/main" id="{951EC1D7-8469-49C8-A8FD-45127F284AA5}"/>
              </a:ext>
            </a:extLst>
          </p:cNvPr>
          <p:cNvSpPr>
            <a:spLocks noGrp="1"/>
          </p:cNvSpPr>
          <p:nvPr/>
        </p:nvSpPr>
        <p:spPr>
          <a:xfrm>
            <a:off x="584200" y="2032000"/>
            <a:ext cx="4127500" cy="431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7030A0"/>
                </a:solidFill>
                <a:latin typeface="Calibri"/>
                <a:ea typeface="Calibri"/>
                <a:cs typeface="Calibri"/>
              </a:defRPr>
            </a:pPr>
            <a:r>
              <a:rPr sz="2800" b="1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−32%</a:t>
            </a:r>
          </a:p>
        </p:txBody>
      </p:sp>
      <p:sp>
        <p:nvSpPr>
          <p:cNvPr id="19" name="mean_change_explanation">
            <a:extLst>
              <a:ext uri="{FF2B5EF4-FFF2-40B4-BE49-F238E27FC236}">
                <a16:creationId xmlns:a16="http://schemas.microsoft.com/office/drawing/2014/main" id="{4CAB5978-13A9-4148-85A1-DAB8594BD3C6}"/>
              </a:ext>
            </a:extLst>
          </p:cNvPr>
          <p:cNvSpPr>
            <a:spLocks noGrp="1"/>
          </p:cNvSpPr>
          <p:nvPr/>
        </p:nvSpPr>
        <p:spPr>
          <a:xfrm>
            <a:off x="584200" y="2489200"/>
            <a:ext cx="4127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С поправкой на исходный уровень АКО.</a:t>
            </a:r>
          </a:p>
        </p:txBody>
      </p:sp>
      <p:sp>
        <p:nvSpPr>
          <p:cNvPr id="20" name="ratio_detail">
            <a:extLst>
              <a:ext uri="{FF2B5EF4-FFF2-40B4-BE49-F238E27FC236}">
                <a16:creationId xmlns:a16="http://schemas.microsoft.com/office/drawing/2014/main" id="{D5503542-ADFC-456C-BF7C-A4D253C828D2}"/>
              </a:ext>
            </a:extLst>
          </p:cNvPr>
          <p:cNvSpPr>
            <a:spLocks noGrp="1"/>
          </p:cNvSpPr>
          <p:nvPr/>
        </p:nvSpPr>
        <p:spPr>
          <a:xfrm>
            <a:off x="584200" y="2768600"/>
            <a:ext cx="412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к плацебо: 0,68 (95% ДИ 0,66–0,70);</a:t>
            </a:r>
            <a:endParaRPr lang="ru-RU" sz="14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1 − 0,68 = 0,32.</a:t>
            </a:r>
            <a:endParaRPr lang="ru-RU" sz="1400"/>
          </a:p>
        </p:txBody>
      </p:sp>
      <p:graphicFrame>
        <p:nvGraphicFramePr>
          <p:cNvPr id="36" name="Chart"/>
          <p:cNvGraphicFramePr/>
          <p:nvPr/>
        </p:nvGraphicFramePr>
        <p:xfrm>
          <a:off x="4914900" y="1270000"/>
          <a:ext cx="6819900" cy="2946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secondary_analysis_label">
            <a:extLst>
              <a:ext uri="{FF2B5EF4-FFF2-40B4-BE49-F238E27FC236}">
                <a16:creationId xmlns:a16="http://schemas.microsoft.com/office/drawing/2014/main" id="{40967ABC-63D8-4DE4-9621-E0F4D665AD02}"/>
              </a:ext>
            </a:extLst>
          </p:cNvPr>
          <p:cNvSpPr>
            <a:spLocks noGrp="1"/>
          </p:cNvSpPr>
          <p:nvPr/>
        </p:nvSpPr>
        <p:spPr>
          <a:xfrm>
            <a:off x="5308600" y="4267200"/>
            <a:ext cx="64262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Доля пациентов, у которых АКО снизилось на ≥30% от исходного: </a:t>
            </a:r>
            <a:r>
              <a:rPr sz="1400" b="0">
                <a:solidFill>
                  <a:srgbClr val="000000"/>
                </a:solidFill>
                <a:latin typeface="Arial Narrow"/>
                <a:ea typeface="Calibri"/>
                <a:cs typeface="Arial Narrow"/>
              </a:rPr>
              <a:t>финеренон 53,2%, плацебо 27,0% (дополнительный анализ, не запланированный заранее; 12 512 пациентов).</a:t>
            </a:r>
          </a:p>
        </p:txBody>
      </p:sp>
      <p:sp>
        <p:nvSpPr>
          <p:cNvPr id="23" name="interpretation">
            <a:extLst>
              <a:ext uri="{FF2B5EF4-FFF2-40B4-BE49-F238E27FC236}">
                <a16:creationId xmlns:a16="http://schemas.microsoft.com/office/drawing/2014/main" id="{871D3FF8-D7C7-42D0-9CB9-A6CF9C450E5E}"/>
              </a:ext>
            </a:extLst>
          </p:cNvPr>
          <p:cNvSpPr>
            <a:spLocks noGrp="1"/>
          </p:cNvSpPr>
          <p:nvPr/>
        </p:nvSpPr>
        <p:spPr>
          <a:xfrm>
            <a:off x="457200" y="50038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600" b="1" dirty="0">
                <a:solidFill>
                  <a:srgbClr val="7030A0"/>
                </a:solidFill>
                <a:latin typeface="Arial Narrow"/>
                <a:ea typeface="Calibri"/>
                <a:cs typeface="Arial Narrow"/>
              </a:rPr>
              <a:t>В дополнительном анализе снижение АКО к 4-му месяцу объясняло большую часть эффекта финеренона на почки: от 64% до 84% в зависимости от метода анализа.</a:t>
            </a:r>
            <a:endParaRPr sz="1600" b="0" dirty="0"/>
          </a:p>
        </p:txBody>
      </p:sp>
      <p:sp>
        <p:nvSpPr>
          <p:cNvPr id="24" name="individual_limit">
            <a:extLst>
              <a:ext uri="{FF2B5EF4-FFF2-40B4-BE49-F238E27FC236}">
                <a16:creationId xmlns:a16="http://schemas.microsoft.com/office/drawing/2014/main" id="{0C886217-54F0-4339-84CC-D850868F26F2}"/>
              </a:ext>
            </a:extLst>
          </p:cNvPr>
          <p:cNvSpPr>
            <a:spLocks noGrp="1"/>
          </p:cNvSpPr>
          <p:nvPr/>
        </p:nvSpPr>
        <p:spPr>
          <a:xfrm>
            <a:off x="457200" y="5537200"/>
            <a:ext cx="112776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помогает оценивать ответ на терапию.</a:t>
            </a:r>
            <a:endParaRPr lang="ru-RU" sz="1600" b="0" dirty="0"/>
          </a:p>
        </p:txBody>
      </p:sp>
      <p:sp>
        <p:nvSpPr>
          <p:cNvPr id="3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Agarwal R, et al. Eur Heart J. 2022;43:474–484. Agarwal R, et al. Ann Intern Med. 2023;176:1606–1616. KDIGO 2024. Kidney Int. 105(4S):S117–S314.</a:t>
            </a:r>
            <a:endParaRPr lang="ru-RU" sz="800" b="0" dirty="0"/>
          </a:p>
        </p:txBody>
      </p:sp>
      <p:pic>
        <p:nvPicPr>
          <p:cNvPr id="38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9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АКО: отношение альбумина к креатинину мочи; ХБП: хроническая болезнь почек;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40" name="Полоса_разница"/>
          <p:cNvSpPr/>
          <p:nvPr/>
        </p:nvSpPr>
        <p:spPr>
          <a:xfrm>
            <a:off x="457200" y="1295400"/>
            <a:ext cx="4381500" cy="6096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Относительная разница с плацебо</a:t>
            </a:r>
          </a:p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 АКО к 4-му месяцу</a:t>
            </a:r>
          </a:p>
        </p:txBody>
      </p:sp>
      <p:sp>
        <p:nvSpPr>
          <p:cNvPr id="42" name="Отдельные_исследования"/>
          <p:cNvSpPr txBox="1"/>
          <p:nvPr/>
        </p:nvSpPr>
        <p:spPr>
          <a:xfrm>
            <a:off x="584200" y="3276600"/>
            <a:ext cx="4127500" cy="3934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В отдельных исследованиях АКО было ниже, чем на плацебо, на 31% (FIDELIO-DKD) и на 32% (FIGARO-DKD).</a:t>
            </a:r>
          </a:p>
        </p:txBody>
      </p:sp>
    </p:spTree>
    <p:extLst>
      <p:ext uri="{BB962C8B-B14F-4D97-AF65-F5344CB8AC3E}">
        <p14:creationId xmlns:p14="http://schemas.microsoft.com/office/powerpoint/2010/main" val="1953877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47BC36-2FE3-4B05-ABD4-8BA3B190B057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CONFIDENCE: при одновременном старте финеренона и эмпаглифлозина АКО снизилось сильнее, чем на каждом препарате отдельно</a:t>
            </a:r>
            <a:endParaRPr lang="ru-RU" sz="2000" b="0" dirty="0"/>
          </a:p>
        </p:txBody>
      </p:sp>
      <p:sp>
        <p:nvSpPr>
          <p:cNvPr id="54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Agarwal R et al. N Engl J Med. 2025;393:533–543, Table 2. Agarwal R et al. J Am Coll Cardiol. 2026;87:772–784.</a:t>
            </a:r>
            <a:endParaRPr lang="ru-RU" sz="800" b="0" dirty="0"/>
          </a:p>
        </p:txBody>
      </p:sp>
      <p:pic>
        <p:nvPicPr>
          <p:cNvPr id="543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557" name="Карточка_исследование"/>
          <p:cNvSpPr/>
          <p:nvPr/>
        </p:nvSpPr>
        <p:spPr>
          <a:xfrm>
            <a:off x="457200" y="11938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44" name="Пациенты"/>
          <p:cNvSpPr txBox="1"/>
          <p:nvPr/>
        </p:nvSpPr>
        <p:spPr>
          <a:xfrm>
            <a:off x="584200" y="1257300"/>
            <a:ext cx="11023600" cy="63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800 взрослых с ХБП и диабетом 2 типа. Двойное слепое исследование, 180 дней.</a:t>
            </a:r>
            <a:endParaRPr lang="ru-RU" sz="150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 30–90 мл/мин/1,73 м²; АКО 100–5000 мг/г; калий ≤4,8 ммоль/л; ИАПФ или БРА.</a:t>
            </a:r>
            <a:endParaRPr lang="ru-RU" sz="1500"/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сравнивали: </a:t>
            </a:r>
            <a:r>
              <a:rPr lang="ru-RU" sz="15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и эмпаглифлозин одновременно, финеренон отдельно, эмпаглифлозин отдельно.</a:t>
            </a:r>
            <a:endParaRPr lang="ru-RU" sz="1500"/>
          </a:p>
        </p:txBody>
      </p:sp>
      <p:sp>
        <p:nvSpPr>
          <p:cNvPr id="545" name="АКО заголовок"/>
          <p:cNvSpPr txBox="1"/>
          <p:nvPr/>
        </p:nvSpPr>
        <p:spPr>
          <a:xfrm>
            <a:off x="457200" y="2006600"/>
            <a:ext cx="54102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на 180-й день</a:t>
            </a:r>
            <a:endParaRPr lang="ru-RU" sz="2000"/>
          </a:p>
        </p:txBody>
      </p:sp>
      <p:sp>
        <p:nvSpPr>
          <p:cNvPr id="546" name="Калий заголовок"/>
          <p:cNvSpPr txBox="1"/>
          <p:nvPr/>
        </p:nvSpPr>
        <p:spPr>
          <a:xfrm>
            <a:off x="6350000" y="2006600"/>
            <a:ext cx="53848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&gt;5,5 ммоль/л хотя бы раз</a:t>
            </a:r>
            <a:endParaRPr lang="ru-RU" sz="2000"/>
          </a:p>
        </p:txBody>
      </p:sp>
      <p:sp>
        <p:nvSpPr>
          <p:cNvPr id="547" name="АКО единицы"/>
          <p:cNvSpPr txBox="1"/>
          <p:nvPr/>
        </p:nvSpPr>
        <p:spPr>
          <a:xfrm>
            <a:off x="457200" y="2336800"/>
            <a:ext cx="54102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Отношение к исходному уровню (1,0 = исходный); в скобках 95% ДИ</a:t>
            </a:r>
            <a:endParaRPr lang="ru-RU" sz="1400"/>
          </a:p>
        </p:txBody>
      </p:sp>
      <p:sp>
        <p:nvSpPr>
          <p:cNvPr id="548" name="Калий единицы"/>
          <p:cNvSpPr txBox="1"/>
          <p:nvPr/>
        </p:nvSpPr>
        <p:spPr>
          <a:xfrm>
            <a:off x="6350000" y="2336800"/>
            <a:ext cx="53848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Доля пациентов, %</a:t>
            </a:r>
            <a:endParaRPr lang="ru-RU" sz="1400"/>
          </a:p>
        </p:txBody>
      </p:sp>
      <p:sp>
        <p:nvSpPr>
          <p:cNvPr id="550" name="Калий сравнение"/>
          <p:cNvSpPr txBox="1"/>
          <p:nvPr/>
        </p:nvSpPr>
        <p:spPr>
          <a:xfrm>
            <a:off x="6350000" y="4724400"/>
            <a:ext cx="53848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Гиперкалиемия (калий выше 5,5 ммоль/л хотя бы раз): 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15,1% на комбинации, 18,8% на финереноне; различие незначимо (p=0,85).</a:t>
            </a:r>
            <a:endParaRPr lang="ru-RU" sz="1400"/>
          </a:p>
        </p:txBody>
      </p:sp>
      <p:sp>
        <p:nvSpPr>
          <p:cNvPr id="551" name="Результат"/>
          <p:cNvSpPr txBox="1"/>
          <p:nvPr/>
        </p:nvSpPr>
        <p:spPr>
          <a:xfrm>
            <a:off x="457200" y="5207000"/>
            <a:ext cx="112776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Комбинация снизила АКО сильнее каждого препарата отдельно: ниже, чем на финереноне, на 29%, и ниже, чем на эмпаглифлозине, на 32% (p&lt;0,001 для обоих сравнений).</a:t>
            </a:r>
            <a:endParaRPr lang="ru-RU" sz="1600"/>
          </a:p>
        </p:txBody>
      </p:sp>
      <p:sp>
        <p:nvSpPr>
          <p:cNvPr id="561" name="Карточка_первичная_точка"/>
          <p:cNvSpPr/>
          <p:nvPr/>
        </p:nvSpPr>
        <p:spPr>
          <a:xfrm>
            <a:off x="457200" y="5689600"/>
            <a:ext cx="11277600" cy="50800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52" name="Граница результата"/>
          <p:cNvSpPr txBox="1"/>
          <p:nvPr/>
        </p:nvSpPr>
        <p:spPr>
          <a:xfrm>
            <a:off x="584200" y="5753100"/>
            <a:ext cx="110236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Первичная точка: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изменение АКО от исходного до 180-го дня. </a:t>
            </a: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и рСКФ проверяют до начала лечения, через 4 недели после начала или повышения дозы и далее периодически.</a:t>
            </a:r>
            <a:endParaRPr lang="ru-RU" sz="1400"/>
          </a:p>
        </p:txBody>
      </p:sp>
      <p:graphicFrame>
        <p:nvGraphicFramePr>
          <p:cNvPr id="553" name="АКО на 180 день"/>
          <p:cNvGraphicFramePr/>
          <p:nvPr/>
        </p:nvGraphicFramePr>
        <p:xfrm>
          <a:off x="457200" y="2590800"/>
          <a:ext cx="5384800" cy="210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554" name="Калий выше 5,5"/>
          <p:cNvGraphicFramePr/>
          <p:nvPr/>
        </p:nvGraphicFramePr>
        <p:xfrm>
          <a:off x="6350000" y="2590800"/>
          <a:ext cx="5384800" cy="210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55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ИАПФ: ингибитор ангиотензинпревращающего фермента;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556" name="Полоса_исследование"/>
          <p:cNvSpPr/>
          <p:nvPr/>
        </p:nvSpPr>
        <p:spPr>
          <a:xfrm>
            <a:off x="457200" y="889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Кто участвовал и что сравнивали</a:t>
            </a:r>
          </a:p>
        </p:txBody>
      </p:sp>
      <p:sp>
        <p:nvSpPr>
          <p:cNvPr id="558" name="Подпись_столбца_комбинация"/>
          <p:cNvSpPr txBox="1"/>
          <p:nvPr/>
        </p:nvSpPr>
        <p:spPr>
          <a:xfrm>
            <a:off x="5842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0,48 (0,44–0,54)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−52% от исходного</a:t>
            </a:r>
          </a:p>
        </p:txBody>
      </p:sp>
      <p:sp>
        <p:nvSpPr>
          <p:cNvPr id="559" name="Подпись_столбца_финеренон"/>
          <p:cNvSpPr txBox="1"/>
          <p:nvPr/>
        </p:nvSpPr>
        <p:spPr>
          <a:xfrm>
            <a:off x="23114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0,68 (0,61–0,76)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−32% от исходного</a:t>
            </a:r>
          </a:p>
        </p:txBody>
      </p:sp>
      <p:sp>
        <p:nvSpPr>
          <p:cNvPr id="560" name="Подпись_столбца_эмпаглифлозин"/>
          <p:cNvSpPr txBox="1"/>
          <p:nvPr/>
        </p:nvSpPr>
        <p:spPr>
          <a:xfrm>
            <a:off x="4038600" y="4724400"/>
            <a:ext cx="16764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0,71 (0,64–0,79)</a:t>
            </a:r>
          </a:p>
          <a:p>
            <a:pPr algn="ctr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−29% от исходного</a:t>
            </a:r>
          </a:p>
        </p:txBody>
      </p:sp>
    </p:spTree>
    <p:extLst>
      <p:ext uri="{BB962C8B-B14F-4D97-AF65-F5344CB8AC3E}">
        <p14:creationId xmlns:p14="http://schemas.microsoft.com/office/powerpoint/2010/main" val="1571107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in_title">
            <a:extLst>
              <a:ext uri="{FF2B5EF4-FFF2-40B4-BE49-F238E27FC236}">
                <a16:creationId xmlns:a16="http://schemas.microsoft.com/office/drawing/2014/main" id="{34CF4BBF-B11A-4F36-973F-B1C352747835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ADA рекомендует финеренон при диабете 2 типа и ХБП с альбуминурией</a:t>
            </a:r>
            <a:endParaRPr sz="2000" b="0" dirty="0"/>
          </a:p>
        </p:txBody>
      </p:sp>
      <p:sp>
        <p:nvSpPr>
          <p:cNvPr id="18" name="Полоса_36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ADA 2026, рекомендация 11.8</a:t>
            </a:r>
          </a:p>
        </p:txBody>
      </p:sp>
      <p:sp>
        <p:nvSpPr>
          <p:cNvPr id="19" name="Карточка_36"/>
          <p:cNvSpPr/>
          <p:nvPr/>
        </p:nvSpPr>
        <p:spPr>
          <a:xfrm>
            <a:off x="457200" y="1549400"/>
            <a:ext cx="5486400" cy="2870200"/>
          </a:xfrm>
          <a:prstGeom prst="roundRect">
            <a:avLst>
              <a:gd name="adj" fmla="val 4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Текст_36"/>
          <p:cNvSpPr txBox="1"/>
          <p:nvPr/>
        </p:nvSpPr>
        <p:spPr>
          <a:xfrm>
            <a:off x="685800" y="1701800"/>
            <a:ext cx="50292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При ХБП с альбуминурией ADA рекомендует нестероидный антагонист МКР с доказанной пользой (финеренон): он снижает риск прогрессирования ХБП и сердечно-сосудистых событий.</a:t>
            </a:r>
          </a:p>
        </p:txBody>
      </p:sp>
      <p:cxnSp>
        <p:nvCxnSpPr>
          <p:cNvPr id="21" name="Разделитель_36"/>
          <p:cNvCxnSpPr/>
          <p:nvPr/>
        </p:nvCxnSpPr>
        <p:spPr>
          <a:xfrm>
            <a:off x="685800" y="3251200"/>
            <a:ext cx="50292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2" name="Условие_36"/>
          <p:cNvSpPr txBox="1"/>
          <p:nvPr/>
        </p:nvSpPr>
        <p:spPr>
          <a:xfrm>
            <a:off x="685800" y="3352800"/>
            <a:ext cx="50292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Условие: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рСКФ ≥25 мл/мин/1,73 м²; после начала лечения контролируют калий.</a:t>
            </a:r>
          </a:p>
        </p:txBody>
      </p:sp>
      <p:sp>
        <p:nvSpPr>
          <p:cNvPr id="23" name="Полоса_49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4EA72E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ADA 2026, рекомендация 11.9, уровень B</a:t>
            </a:r>
          </a:p>
        </p:txBody>
      </p:sp>
      <p:sp>
        <p:nvSpPr>
          <p:cNvPr id="24" name="Карточка_492"/>
          <p:cNvSpPr/>
          <p:nvPr/>
        </p:nvSpPr>
        <p:spPr>
          <a:xfrm>
            <a:off x="6248400" y="1549400"/>
            <a:ext cx="5486400" cy="2870200"/>
          </a:xfrm>
          <a:prstGeom prst="roundRect">
            <a:avLst>
              <a:gd name="adj" fmla="val 40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Текст_492"/>
          <p:cNvSpPr txBox="1"/>
          <p:nvPr/>
        </p:nvSpPr>
        <p:spPr>
          <a:xfrm>
            <a:off x="6477000" y="1701800"/>
            <a:ext cx="50292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Одновременное начало приёма финеренона и ингибитора НГЛТ2 можно рассмотреть у взрослых с диабетом 2 типа при АКО ≥100 мг/г и рСКФ 30–90 мл/мин/1,73 м² на фоне ингибитора АПФ или БРА.</a:t>
            </a:r>
            <a:endParaRPr lang="ru-RU" sz="1700"/>
          </a:p>
        </p:txBody>
      </p:sp>
      <p:cxnSp>
        <p:nvCxnSpPr>
          <p:cNvPr id="26" name="Разделитель_492"/>
          <p:cNvCxnSpPr/>
          <p:nvPr/>
        </p:nvCxnSpPr>
        <p:spPr>
          <a:xfrm>
            <a:off x="6477000" y="3251200"/>
            <a:ext cx="50292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7" name="Условие_492"/>
          <p:cNvSpPr txBox="1"/>
          <p:nvPr/>
        </p:nvSpPr>
        <p:spPr>
          <a:xfrm>
            <a:off x="6477000" y="3352800"/>
            <a:ext cx="5029200" cy="965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 dirty="0">
                <a:solidFill>
                  <a:srgbClr val="000000"/>
                </a:solidFill>
                <a:latin typeface="Arial Narrow"/>
                <a:cs typeface="Arial Narrow"/>
              </a:rPr>
              <a:t>Основание: </a:t>
            </a:r>
            <a:r>
              <a:rPr sz="1600" b="0" dirty="0">
                <a:solidFill>
                  <a:srgbClr val="000000"/>
                </a:solidFill>
                <a:latin typeface="Arial Narrow"/>
                <a:cs typeface="Arial Narrow"/>
              </a:rPr>
              <a:t>исследование CONFIDENCE. К 180-му дню АКО снизилось от исходного на 52% при сочетании, на 32% на финереноне и на 29% на эмпаглифлозине.</a:t>
            </a:r>
            <a:endParaRPr sz="1600" b="0" dirty="0"/>
          </a:p>
        </p:txBody>
      </p:sp>
      <p:sp>
        <p:nvSpPr>
          <p:cNvPr id="30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American Diabetes Association Professional Practice Committee. 11. Chronic Kidney Disease and Risk Management: Standards of Care in Diabetes-2026. Diabetes Care. 2026;49(Suppl 1):S246–S260. Agarwal R, et al. N Engl J Med. 2025;393:533–543.</a:t>
            </a:r>
            <a:endParaRPr lang="ru-RU" sz="800" b="0" dirty="0"/>
          </a:p>
        </p:txBody>
      </p:sp>
      <p:pic>
        <p:nvPicPr>
          <p:cNvPr id="3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2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МКР: минералокортикоидный рецептор; ADA: Американская диабетическая ассоциация.</a:t>
            </a:r>
            <a:endParaRPr lang="ru-RU" sz="1000" b="0" dirty="0"/>
          </a:p>
        </p:txBody>
      </p:sp>
      <p:sp>
        <p:nvSpPr>
          <p:cNvPr id="33" name="Итоговая_плашка"/>
          <p:cNvSpPr/>
          <p:nvPr/>
        </p:nvSpPr>
        <p:spPr>
          <a:xfrm>
            <a:off x="457200" y="4648200"/>
            <a:ext cx="11277600" cy="558800"/>
          </a:xfrm>
          <a:prstGeom prst="roundRect">
            <a:avLst>
              <a:gd name="adj" fmla="val 18181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Финеренон входит в рекомендации ADA при ХБП и диабете 2 типа с альбуминурией</a:t>
            </a:r>
          </a:p>
        </p:txBody>
      </p:sp>
    </p:spTree>
    <p:extLst>
      <p:ext uri="{BB962C8B-B14F-4D97-AF65-F5344CB8AC3E}">
        <p14:creationId xmlns:p14="http://schemas.microsoft.com/office/powerpoint/2010/main" val="1318234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Title">
            <a:extLst>
              <a:ext uri="{FF2B5EF4-FFF2-40B4-BE49-F238E27FC236}">
                <a16:creationId xmlns:a16="http://schemas.microsoft.com/office/drawing/2014/main" id="{EEE2B2B1-E3F9-4C48-B619-2A9AE28F5713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600" b="0">
                <a:solidFill>
                  <a:srgbClr val="7030A0"/>
                </a:solidFill>
                <a:latin typeface="Arial"/>
                <a:ea typeface="Arial"/>
                <a:cs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"/>
                <a:cs typeface="Arial Narrow"/>
              </a:rPr>
              <a:t>Финеренон и ингибитор НГЛТ2 действуют на разные мишени: вместе они снижают альбуминурию сильнее, чем по отдельности</a:t>
            </a:r>
            <a:endParaRPr sz="2000" b="0" dirty="0"/>
          </a:p>
        </p:txBody>
      </p:sp>
      <p:sp>
        <p:nvSpPr>
          <p:cNvPr id="15" name="Ветка_36"/>
          <p:cNvSpPr/>
          <p:nvPr/>
        </p:nvSpPr>
        <p:spPr>
          <a:xfrm>
            <a:off x="457200" y="11684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4EA72E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принимает ингибитор НГЛТ2</a:t>
            </a:r>
          </a:p>
        </p:txBody>
      </p:sp>
      <p:sp>
        <p:nvSpPr>
          <p:cNvPr id="16" name="Ветка_текст_фон_36"/>
          <p:cNvSpPr/>
          <p:nvPr/>
        </p:nvSpPr>
        <p:spPr>
          <a:xfrm>
            <a:off x="457200" y="1625600"/>
            <a:ext cx="5486400" cy="8890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Решение_36"/>
          <p:cNvSpPr txBox="1"/>
          <p:nvPr/>
        </p:nvSpPr>
        <p:spPr>
          <a:xfrm>
            <a:off x="685800" y="1676400"/>
            <a:ext cx="5029200" cy="787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Ингибитор НГЛТ2 продолжают, финеренон добавляют к текущей терапии по показаниям.</a:t>
            </a:r>
            <a:endParaRPr lang="ru-RU" sz="1700" b="0" dirty="0"/>
          </a:p>
        </p:txBody>
      </p:sp>
      <p:sp>
        <p:nvSpPr>
          <p:cNvPr id="18" name="Ветка_492"/>
          <p:cNvSpPr/>
          <p:nvPr/>
        </p:nvSpPr>
        <p:spPr>
          <a:xfrm>
            <a:off x="6248400" y="11684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НГЛТ2 не переносится или противопоказан</a:t>
            </a:r>
          </a:p>
        </p:txBody>
      </p:sp>
      <p:sp>
        <p:nvSpPr>
          <p:cNvPr id="19" name="Ветка_текст_фон_492"/>
          <p:cNvSpPr/>
          <p:nvPr/>
        </p:nvSpPr>
        <p:spPr>
          <a:xfrm>
            <a:off x="6248400" y="1625600"/>
            <a:ext cx="5486400" cy="8890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Решение_492"/>
          <p:cNvSpPr txBox="1"/>
          <p:nvPr/>
        </p:nvSpPr>
        <p:spPr>
          <a:xfrm>
            <a:off x="6477000" y="1676400"/>
            <a:ext cx="5029200" cy="787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 назначают на фоне ингибитора АПФ или БРА после проверки калия, рСКФ и противопоказаний.</a:t>
            </a:r>
            <a:endParaRPr lang="ru-RU" sz="1700"/>
          </a:p>
        </p:txBody>
      </p:sp>
      <p:sp>
        <p:nvSpPr>
          <p:cNvPr id="21" name="Схема_заголовок"/>
          <p:cNvSpPr txBox="1"/>
          <p:nvPr/>
        </p:nvSpPr>
        <p:spPr>
          <a:xfrm>
            <a:off x="457200" y="271780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Схема KDIGO: препараты добавляют к базовой терапии по показаниям</a:t>
            </a:r>
          </a:p>
        </p:txBody>
      </p:sp>
      <p:sp>
        <p:nvSpPr>
          <p:cNvPr id="22" name="Слой_284"/>
          <p:cNvSpPr/>
          <p:nvPr/>
        </p:nvSpPr>
        <p:spPr>
          <a:xfrm>
            <a:off x="1905000" y="31242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Финеренон: диабет 2 типа, АКО ≥30 мг/г, рСКФ ≥25 мл/мин/1,73 м², нормальный калий</a:t>
            </a:r>
          </a:p>
        </p:txBody>
      </p:sp>
      <p:sp>
        <p:nvSpPr>
          <p:cNvPr id="23" name="Слой_328"/>
          <p:cNvSpPr/>
          <p:nvPr/>
        </p:nvSpPr>
        <p:spPr>
          <a:xfrm>
            <a:off x="1905000" y="36830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0F9ED5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НГЛТ2: при рСКФ ≥20 мл/мин/1,73 м²</a:t>
            </a:r>
          </a:p>
        </p:txBody>
      </p:sp>
      <p:sp>
        <p:nvSpPr>
          <p:cNvPr id="24" name="Слой_372"/>
          <p:cNvSpPr/>
          <p:nvPr/>
        </p:nvSpPr>
        <p:spPr>
          <a:xfrm>
            <a:off x="1905000" y="4241800"/>
            <a:ext cx="8382000" cy="482600"/>
          </a:xfrm>
          <a:prstGeom prst="roundRect">
            <a:avLst>
              <a:gd name="adj" fmla="val 21052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Ингибитор АПФ или БРА в максимально переносимой дозе при альбуминурии</a:t>
            </a:r>
          </a:p>
        </p:txBody>
      </p:sp>
      <p:sp>
        <p:nvSpPr>
          <p:cNvPr id="25" name="Стрелка_добавление"/>
          <p:cNvSpPr/>
          <p:nvPr/>
        </p:nvSpPr>
        <p:spPr>
          <a:xfrm>
            <a:off x="1219200" y="3124200"/>
            <a:ext cx="431800" cy="1600200"/>
          </a:xfrm>
          <a:prstGeom prst="upArrow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" name="Подпись_добавление"/>
          <p:cNvSpPr txBox="1"/>
          <p:nvPr/>
        </p:nvSpPr>
        <p:spPr>
          <a:xfrm>
            <a:off x="10541000" y="3124200"/>
            <a:ext cx="1193800" cy="160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Добавляют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по показаниям</a:t>
            </a:r>
          </a:p>
        </p:txBody>
      </p:sp>
      <p:sp>
        <p:nvSpPr>
          <p:cNvPr id="28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KDIGO 2024. Kidney Int. 2024;105(4S):S117–S314. KDIGO 2022 Clinical Practice Guideline for Diabetes Management in CKD. Kidney Int. 2022;102(5S):S1–S127. Agarwal R, et al. N Engl J Med. 2025;393:533–543. Agarwal R, et al. Eur Heart J. 2022;43:474–484.</a:t>
            </a:r>
            <a:endParaRPr lang="ru-RU" sz="800" b="0" dirty="0"/>
          </a:p>
        </p:txBody>
      </p:sp>
      <p:pic>
        <p:nvPicPr>
          <p:cNvPr id="29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KDIGO: Kidney Disease: Improving Global Outcomes, международные рекомендации по болезням почек.</a:t>
            </a:r>
            <a:endParaRPr lang="ru-RU" sz="1000" b="0" dirty="0"/>
          </a:p>
        </p:txBody>
      </p:sp>
      <p:sp>
        <p:nvSpPr>
          <p:cNvPr id="32" name="Карточка_данные"/>
          <p:cNvSpPr/>
          <p:nvPr/>
        </p:nvSpPr>
        <p:spPr>
          <a:xfrm>
            <a:off x="457200" y="4876800"/>
            <a:ext cx="11277600" cy="1066800"/>
          </a:xfrm>
          <a:prstGeom prst="roundRect">
            <a:avLst>
              <a:gd name="adj" fmla="val 952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3" name="Текст_данные"/>
          <p:cNvSpPr txBox="1"/>
          <p:nvPr/>
        </p:nvSpPr>
        <p:spPr>
          <a:xfrm>
            <a:off x="584200" y="4953000"/>
            <a:ext cx="11023600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0000"/>
              </a:lnSpc>
              <a:spcAft>
                <a:spcPts val="4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CONFIDENCE (одновременное начало, рСКФ 30–90, АКО ≥100 мг/г):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 180-му дню АКО снизилось от исходного на 52% при сочетании, на 32% на финереноне, на 29% на эмпаглифлозине. Группы плацебо не было.</a:t>
            </a:r>
          </a:p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FIDELITY: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результаты согласовались в подгруппе пациентов на ингибиторе НГЛТ2 (877 из 13 026, 6,7%).</a:t>
            </a:r>
          </a:p>
        </p:txBody>
      </p:sp>
    </p:spTree>
    <p:extLst>
      <p:ext uri="{BB962C8B-B14F-4D97-AF65-F5344CB8AC3E}">
        <p14:creationId xmlns:p14="http://schemas.microsoft.com/office/powerpoint/2010/main" val="17859761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Финеренон отличается от спиронолактона строением, избирательностью и доказательствами при ХБП и диабете 2 типа</a:t>
            </a:r>
            <a:endParaRPr lang="ru-RU" sz="2000" b="0" u="none" dirty="0"/>
          </a:p>
        </p:txBody>
      </p:sp>
      <p:sp>
        <p:nvSpPr>
          <p:cNvPr id="13" name="Полоса_финеренон"/>
          <p:cNvSpPr/>
          <p:nvPr/>
        </p:nvSpPr>
        <p:spPr>
          <a:xfrm>
            <a:off x="2463800" y="10668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 dirty="0">
                <a:solidFill>
                  <a:srgbClr val="FFFFFF"/>
                </a:solidFill>
                <a:latin typeface="Arial Narrow"/>
                <a:cs typeface="Arial Narrow"/>
              </a:rPr>
              <a:t>Финеренон</a:t>
            </a:r>
            <a:endParaRPr sz="1700" b="0" dirty="0"/>
          </a:p>
        </p:txBody>
      </p:sp>
      <p:sp>
        <p:nvSpPr>
          <p:cNvPr id="14" name="Полоса_спиронолактон"/>
          <p:cNvSpPr/>
          <p:nvPr/>
        </p:nvSpPr>
        <p:spPr>
          <a:xfrm>
            <a:off x="7162800" y="1066800"/>
            <a:ext cx="4572000" cy="381000"/>
          </a:xfrm>
          <a:prstGeom prst="roundRect">
            <a:avLst>
              <a:gd name="adj" fmla="val 25000"/>
            </a:avLst>
          </a:prstGeom>
          <a:solidFill>
            <a:srgbClr val="0F9ED5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 dirty="0">
                <a:solidFill>
                  <a:srgbClr val="FFFFFF"/>
                </a:solidFill>
                <a:latin typeface="Arial Narrow"/>
                <a:cs typeface="Arial Narrow"/>
              </a:rPr>
              <a:t>Спиронолактон</a:t>
            </a:r>
            <a:endParaRPr sz="1700" b="0" dirty="0"/>
          </a:p>
        </p:txBody>
      </p:sp>
      <p:sp>
        <p:nvSpPr>
          <p:cNvPr id="19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Agarwal R, et al. Eur Heart J. 2022;43:474–484. Pitt B, et al. Eur Heart J. 2013;34:2453–2463. Pitt B, et al. N Engl J Med. 1999;341:709–717. Aldactone (spironolactone). Prescribing information. Kerendia. EMA assessment report, 2022. Gerisch M, et al. Drug Metab Dispos. 2018;46:1546–1555.</a:t>
            </a:r>
            <a:endParaRPr lang="ru-RU" sz="800" b="0" dirty="0"/>
          </a:p>
        </p:txBody>
      </p:sp>
      <p:pic>
        <p:nvPicPr>
          <p:cNvPr id="20" name="Логотип Орвилле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1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СН: сердечная недостаточность; ФВ ЛЖ: фракция выброса левого желудочка; МКР: минералокортикоидный рецептор; RALES, ARTS, FIDELITY: названия исследований.</a:t>
            </a:r>
            <a:endParaRPr lang="ru-RU" sz="1000" b="0" dirty="0"/>
          </a:p>
        </p:txBody>
      </p:sp>
      <p:sp>
        <p:nvSpPr>
          <p:cNvPr id="22" name="Название_строки_1"/>
          <p:cNvSpPr/>
          <p:nvPr/>
        </p:nvSpPr>
        <p:spPr>
          <a:xfrm>
            <a:off x="457200" y="15240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Строение</a:t>
            </a:r>
          </a:p>
        </p:txBody>
      </p:sp>
      <p:sp>
        <p:nvSpPr>
          <p:cNvPr id="23" name="Финеренон_строка_1"/>
          <p:cNvSpPr/>
          <p:nvPr/>
        </p:nvSpPr>
        <p:spPr>
          <a:xfrm>
            <a:off x="2463800" y="1524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Нестероидный антагонист МКР. Метаболиты неактивны.</a:t>
            </a:r>
          </a:p>
        </p:txBody>
      </p:sp>
      <p:sp>
        <p:nvSpPr>
          <p:cNvPr id="24" name="Спиронолактон_строка_1"/>
          <p:cNvSpPr/>
          <p:nvPr/>
        </p:nvSpPr>
        <p:spPr>
          <a:xfrm>
            <a:off x="7162800" y="15240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Стероидный антагонист МКР. Есть активные метаболиты.</a:t>
            </a:r>
          </a:p>
        </p:txBody>
      </p:sp>
      <p:sp>
        <p:nvSpPr>
          <p:cNvPr id="25" name="Название_строки_2"/>
          <p:cNvSpPr/>
          <p:nvPr/>
        </p:nvSpPr>
        <p:spPr>
          <a:xfrm>
            <a:off x="457200" y="22733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Избирательность</a:t>
            </a:r>
          </a:p>
        </p:txBody>
      </p:sp>
      <p:sp>
        <p:nvSpPr>
          <p:cNvPr id="26" name="Финеренон_строка_2"/>
          <p:cNvSpPr/>
          <p:nvPr/>
        </p:nvSpPr>
        <p:spPr>
          <a:xfrm>
            <a:off x="2463800" y="22733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Избирательно блокирует МКР.</a:t>
            </a:r>
          </a:p>
        </p:txBody>
      </p:sp>
      <p:sp>
        <p:nvSpPr>
          <p:cNvPr id="27" name="Спиронолактон_строка_2"/>
          <p:cNvSpPr/>
          <p:nvPr/>
        </p:nvSpPr>
        <p:spPr>
          <a:xfrm>
            <a:off x="7162800" y="22733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Действует и на рецепторы половых гормонов, отсюда антиандрогенное действие.</a:t>
            </a:r>
          </a:p>
        </p:txBody>
      </p:sp>
      <p:sp>
        <p:nvSpPr>
          <p:cNvPr id="28" name="Название_строки_3"/>
          <p:cNvSpPr/>
          <p:nvPr/>
        </p:nvSpPr>
        <p:spPr>
          <a:xfrm>
            <a:off x="457200" y="3022600"/>
            <a:ext cx="1905000" cy="1092200"/>
          </a:xfrm>
          <a:prstGeom prst="roundRect">
            <a:avLst>
              <a:gd name="adj" fmla="val 9302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Исходы при ХБП и диабете 2 типа</a:t>
            </a:r>
          </a:p>
        </p:txBody>
      </p:sp>
      <p:sp>
        <p:nvSpPr>
          <p:cNvPr id="29" name="Финеренон_строка_3"/>
          <p:cNvSpPr/>
          <p:nvPr/>
        </p:nvSpPr>
        <p:spPr>
          <a:xfrm>
            <a:off x="2463800" y="3022600"/>
            <a:ext cx="4572000" cy="10922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FIDELITY, 13 026 пациентов, медиана наблюдения 3,0 года, по сравнению с плацебо: риск комбинированного почечного исхода ниже на </a:t>
            </a: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23%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, сердечно-сосудистого ниже на </a:t>
            </a: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14%</a:t>
            </a:r>
          </a:p>
        </p:txBody>
      </p:sp>
      <p:sp>
        <p:nvSpPr>
          <p:cNvPr id="30" name="Спиронолактон_строка_3"/>
          <p:cNvSpPr/>
          <p:nvPr/>
        </p:nvSpPr>
        <p:spPr>
          <a:xfrm>
            <a:off x="7162800" y="3022600"/>
            <a:ext cx="4572000" cy="10922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Доказательства получены при тяжёлой СН (RALES). Крупных исследований исходов при ХБП и диабете 2 типа нет.</a:t>
            </a:r>
          </a:p>
        </p:txBody>
      </p:sp>
      <p:sp>
        <p:nvSpPr>
          <p:cNvPr id="31" name="Название_строки_4"/>
          <p:cNvSpPr/>
          <p:nvPr/>
        </p:nvSpPr>
        <p:spPr>
          <a:xfrm>
            <a:off x="457200" y="4216400"/>
            <a:ext cx="1905000" cy="647700"/>
          </a:xfrm>
          <a:prstGeom prst="roundRect">
            <a:avLst>
              <a:gd name="adj" fmla="val 15686"/>
            </a:avLst>
          </a:prstGeom>
          <a:solidFill>
            <a:srgbClr val="D9D9D9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Калий: прямое сравнение, ARTS</a:t>
            </a:r>
          </a:p>
        </p:txBody>
      </p:sp>
      <p:sp>
        <p:nvSpPr>
          <p:cNvPr id="32" name="Финеренон_строка_4"/>
          <p:cNvSpPr/>
          <p:nvPr/>
        </p:nvSpPr>
        <p:spPr>
          <a:xfrm>
            <a:off x="2463800" y="42164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5,3%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 гиперкалиемия</a:t>
            </a:r>
          </a:p>
        </p:txBody>
      </p:sp>
      <p:sp>
        <p:nvSpPr>
          <p:cNvPr id="33" name="Спиронолактон_строка_4"/>
          <p:cNvSpPr/>
          <p:nvPr/>
        </p:nvSpPr>
        <p:spPr>
          <a:xfrm>
            <a:off x="7162800" y="4216400"/>
            <a:ext cx="4572000" cy="647700"/>
          </a:xfrm>
          <a:prstGeom prst="roundRect">
            <a:avLst>
              <a:gd name="adj" fmla="val 1568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0F9ED5"/>
                </a:solidFill>
                <a:latin typeface="Arial Narrow"/>
                <a:cs typeface="Arial Narrow"/>
              </a:rPr>
              <a:t>12,7%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 гиперкалиемия</a:t>
            </a:r>
          </a:p>
        </p:txBody>
      </p:sp>
      <p:sp>
        <p:nvSpPr>
          <p:cNvPr id="34" name="Подпись_ARTS"/>
          <p:cNvSpPr txBox="1"/>
          <p:nvPr/>
        </p:nvSpPr>
        <p:spPr>
          <a:xfrm>
            <a:off x="2463800" y="4914900"/>
            <a:ext cx="9271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ARTS: 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II фаза, 392 пациента с СН со сниженной ФВ ЛЖ и умеренной ХБП, 4 недели, p=0,048</a:t>
            </a:r>
          </a:p>
        </p:txBody>
      </p:sp>
      <p:sp>
        <p:nvSpPr>
          <p:cNvPr id="35" name="Нижняя_строка"/>
          <p:cNvSpPr txBox="1"/>
          <p:nvPr/>
        </p:nvSpPr>
        <p:spPr>
          <a:xfrm>
            <a:off x="457200" y="5321300"/>
            <a:ext cx="11277600" cy="35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 финереноном спиронолактон и эплеренон не назначают. При любом антагонисте МКР контролируют калий.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Информативный 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7030A0"/>
                </a:solidFill>
                <a:latin typeface="Arial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Повышение калия при финереноне объясняется механизмом действия и управляется контролем калия</a:t>
            </a:r>
            <a:endParaRPr sz="2000" b="0" dirty="0"/>
          </a:p>
        </p:txBody>
      </p:sp>
      <p:sp>
        <p:nvSpPr>
          <p:cNvPr id="3" name="Просвет собирательной трубочки"/>
          <p:cNvSpPr/>
          <p:nvPr/>
        </p:nvSpPr>
        <p:spPr>
          <a:xfrm>
            <a:off x="457200" y="1792224"/>
            <a:ext cx="1024128" cy="3529584"/>
          </a:xfrm>
          <a:prstGeom prst="rect">
            <a:avLst/>
          </a:prstGeom>
          <a:solidFill>
            <a:srgbClr val="C1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4" name="Интерстиций со стороны крови"/>
          <p:cNvSpPr/>
          <p:nvPr/>
        </p:nvSpPr>
        <p:spPr>
          <a:xfrm>
            <a:off x="5806440" y="1792224"/>
            <a:ext cx="1517904" cy="3529584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5" name="Просвет трубочки"/>
          <p:cNvSpPr txBox="1"/>
          <p:nvPr/>
        </p:nvSpPr>
        <p:spPr>
          <a:xfrm>
            <a:off x="475488" y="1298448"/>
            <a:ext cx="1152144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Просвет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трубочки</a:t>
            </a:r>
          </a:p>
        </p:txBody>
      </p:sp>
      <p:sp>
        <p:nvSpPr>
          <p:cNvPr id="6" name="Главная клетка собирательной трубочки"/>
          <p:cNvSpPr txBox="1"/>
          <p:nvPr/>
        </p:nvSpPr>
        <p:spPr>
          <a:xfrm>
            <a:off x="1792224" y="1261872"/>
            <a:ext cx="3749039" cy="51206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Главная клетка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собирательной трубочки</a:t>
            </a:r>
          </a:p>
        </p:txBody>
      </p:sp>
      <p:sp>
        <p:nvSpPr>
          <p:cNvPr id="7" name="Межклеточная жидкость"/>
          <p:cNvSpPr txBox="1"/>
          <p:nvPr/>
        </p:nvSpPr>
        <p:spPr>
          <a:xfrm>
            <a:off x="5852160" y="1280160"/>
            <a:ext cx="1472184" cy="4937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Межклеточная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жидкость</a:t>
            </a:r>
          </a:p>
        </p:txBody>
      </p:sp>
      <p:sp>
        <p:nvSpPr>
          <p:cNvPr id="8" name="Клетка: исходный редактируемый контур"/>
          <p:cNvSpPr/>
          <p:nvPr/>
        </p:nvSpPr>
        <p:spPr>
          <a:xfrm>
            <a:off x="1408176" y="1810512"/>
            <a:ext cx="4480560" cy="353872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gradFill rotWithShape="1">
            <a:gsLst>
              <a:gs pos="0">
                <a:srgbClr val="FFF0D9"/>
              </a:gs>
              <a:gs pos="36000">
                <a:srgbClr val="FFF9F0"/>
              </a:gs>
              <a:gs pos="80000">
                <a:srgbClr val="FFF7EC"/>
              </a:gs>
              <a:gs pos="100000">
                <a:srgbClr val="F9E7CE"/>
              </a:gs>
            </a:gsLst>
            <a:lin ang="0" scaled="1"/>
          </a:gradFill>
          <a:ln w="26670">
            <a:solidFill>
              <a:srgbClr val="CFAB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9" name="Внутренняя граница мембраны"/>
          <p:cNvSpPr/>
          <p:nvPr/>
        </p:nvSpPr>
        <p:spPr>
          <a:xfrm>
            <a:off x="1463040" y="1865376"/>
            <a:ext cx="4370832" cy="3429000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75" y="10"/>
                </a:moveTo>
                <a:cubicBezTo>
                  <a:pt x="285" y="-10"/>
                  <a:pt x="670" y="18"/>
                  <a:pt x="906" y="5"/>
                </a:cubicBezTo>
                <a:cubicBezTo>
                  <a:pt x="982" y="8"/>
                  <a:pt x="1003" y="59"/>
                  <a:pt x="994" y="145"/>
                </a:cubicBezTo>
                <a:cubicBezTo>
                  <a:pt x="978" y="290"/>
                  <a:pt x="1003" y="386"/>
                  <a:pt x="991" y="520"/>
                </a:cubicBezTo>
                <a:cubicBezTo>
                  <a:pt x="981" y="650"/>
                  <a:pt x="1000" y="760"/>
                  <a:pt x="985" y="898"/>
                </a:cubicBezTo>
                <a:cubicBezTo>
                  <a:pt x="983" y="978"/>
                  <a:pt x="940" y="993"/>
                  <a:pt x="867" y="992"/>
                </a:cubicBezTo>
                <a:cubicBezTo>
                  <a:pt x="610" y="980"/>
                  <a:pt x="347" y="1004"/>
                  <a:pt x="90" y="984"/>
                </a:cubicBezTo>
                <a:cubicBezTo>
                  <a:pt x="22" y="974"/>
                  <a:pt x="7" y="935"/>
                  <a:pt x="12" y="872"/>
                </a:cubicBezTo>
                <a:cubicBezTo>
                  <a:pt x="26" y="745"/>
                  <a:pt x="-6" y="650"/>
                  <a:pt x="9" y="529"/>
                </a:cubicBezTo>
                <a:cubicBezTo>
                  <a:pt x="23" y="382"/>
                  <a:pt x="-6" y="231"/>
                  <a:pt x="11" y="137"/>
                </a:cubicBezTo>
                <a:cubicBezTo>
                  <a:pt x="15" y="64"/>
                  <a:pt x="15" y="22"/>
                  <a:pt x="75" y="10"/>
                </a:cubicBezTo>
                <a:close/>
              </a:path>
            </a:pathLst>
          </a:custGeom>
          <a:noFill/>
          <a:ln w="14604">
            <a:solidFill>
              <a:srgbClr val="E7CD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0" name="Митохондрия: контекст"/>
          <p:cNvSpPr/>
          <p:nvPr/>
        </p:nvSpPr>
        <p:spPr>
          <a:xfrm>
            <a:off x="1783080" y="2039112"/>
            <a:ext cx="576072" cy="28346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210"/>
                </a:moveTo>
                <a:cubicBezTo>
                  <a:pt x="220" y="15"/>
                  <a:pt x="725" y="-35"/>
                  <a:pt x="915" y="270"/>
                </a:cubicBezTo>
                <a:cubicBezTo>
                  <a:pt x="1040" y="470"/>
                  <a:pt x="890" y="870"/>
                  <a:pt x="620" y="945"/>
                </a:cubicBezTo>
                <a:cubicBezTo>
                  <a:pt x="280" y="1040"/>
                  <a:pt x="5" y="860"/>
                  <a:pt x="25" y="570"/>
                </a:cubicBezTo>
                <a:cubicBezTo>
                  <a:pt x="35" y="410"/>
                  <a:pt x="50" y="290"/>
                  <a:pt x="90" y="210"/>
                </a:cubicBezTo>
                <a:close/>
              </a:path>
            </a:pathLst>
          </a:custGeom>
          <a:gradFill rotWithShape="1">
            <a:gsLst>
              <a:gs pos="0">
                <a:srgbClr val="FBE8C9"/>
              </a:gs>
              <a:gs pos="100000">
                <a:srgbClr val="F3C793"/>
              </a:gs>
            </a:gsLst>
            <a:lin ang="2700000" scaled="1"/>
          </a:gradFill>
          <a:ln w="10795">
            <a:solidFill>
              <a:srgbClr val="DDB0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1" name="Кристы: контекст"/>
          <p:cNvSpPr/>
          <p:nvPr/>
        </p:nvSpPr>
        <p:spPr>
          <a:xfrm>
            <a:off x="1783080" y="2039112"/>
            <a:ext cx="576072" cy="283464"/>
          </a:xfrm>
          <a:custGeom>
            <a:avLst/>
            <a:gdLst/>
            <a:ahLst/>
            <a:cxnLst/>
            <a:rect l="0" t="0" r="r" b="b"/>
            <a:pathLst>
              <a:path w="1000" h="1000" fill="none">
                <a:moveTo>
                  <a:pt x="180" y="580"/>
                </a:moveTo>
                <a:cubicBezTo>
                  <a:pt x="140" y="360"/>
                  <a:pt x="260" y="240"/>
                  <a:pt x="340" y="250"/>
                </a:cubicBezTo>
                <a:cubicBezTo>
                  <a:pt x="430" y="260"/>
                  <a:pt x="280" y="700"/>
                  <a:pt x="400" y="750"/>
                </a:cubicBezTo>
                <a:cubicBezTo>
                  <a:pt x="530" y="795"/>
                  <a:pt x="475" y="280"/>
                  <a:pt x="580" y="260"/>
                </a:cubicBezTo>
                <a:cubicBezTo>
                  <a:pt x="700" y="210"/>
                  <a:pt x="620" y="730"/>
                  <a:pt x="740" y="680"/>
                </a:cubicBezTo>
                <a:cubicBezTo>
                  <a:pt x="800" y="650"/>
                  <a:pt x="860" y="455"/>
                  <a:pt x="815" y="360"/>
                </a:cubicBezTo>
              </a:path>
            </a:pathLst>
          </a:custGeom>
          <a:noFill/>
          <a:ln w="12700">
            <a:solidFill>
              <a:srgbClr val="D7A0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2" name="Ядро"/>
          <p:cNvSpPr/>
          <p:nvPr/>
        </p:nvSpPr>
        <p:spPr>
          <a:xfrm>
            <a:off x="2551176" y="2020824"/>
            <a:ext cx="1664208" cy="1115568"/>
          </a:xfrm>
          <a:prstGeom prst="ellipse">
            <a:avLst/>
          </a:prstGeom>
          <a:gradFill rotWithShape="1">
            <a:gsLst>
              <a:gs pos="0">
                <a:srgbClr val="F5EEF9"/>
              </a:gs>
              <a:gs pos="70000">
                <a:srgbClr val="E3D4F0"/>
              </a:gs>
              <a:gs pos="100000">
                <a:srgbClr val="D8C3EB"/>
              </a:gs>
            </a:gsLst>
            <a:lin ang="5400000" scaled="1"/>
          </a:gradFill>
          <a:ln w="18415">
            <a:solidFill>
              <a:srgbClr val="7851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3" name="Ядерная оболочка"/>
          <p:cNvSpPr/>
          <p:nvPr/>
        </p:nvSpPr>
        <p:spPr>
          <a:xfrm>
            <a:off x="2596896" y="2057400"/>
            <a:ext cx="1572768" cy="1042415"/>
          </a:xfrm>
          <a:prstGeom prst="ellipse">
            <a:avLst/>
          </a:prstGeom>
          <a:noFill/>
          <a:ln w="9525">
            <a:solidFill>
              <a:srgbClr val="C9A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14" name="Ядро"/>
          <p:cNvSpPr txBox="1"/>
          <p:nvPr/>
        </p:nvSpPr>
        <p:spPr>
          <a:xfrm>
            <a:off x="2642616" y="2139696"/>
            <a:ext cx="1481328" cy="237744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50" b="1">
                <a:solidFill>
                  <a:srgbClr val="000000"/>
                </a:solidFill>
                <a:latin typeface="Arial"/>
              </a:defRPr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Ядро</a:t>
            </a:r>
          </a:p>
        </p:txBody>
      </p:sp>
      <p:cxnSp>
        <p:nvCxnSpPr>
          <p:cNvPr id="15" name="Цепь ДНК"/>
          <p:cNvCxnSpPr/>
          <p:nvPr/>
        </p:nvCxnSpPr>
        <p:spPr>
          <a:xfrm>
            <a:off x="2798064" y="2576322"/>
            <a:ext cx="11658" cy="1670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Цепь ДНК"/>
          <p:cNvCxnSpPr/>
          <p:nvPr/>
        </p:nvCxnSpPr>
        <p:spPr>
          <a:xfrm>
            <a:off x="2809722" y="2593027"/>
            <a:ext cx="11658" cy="161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Цепь ДНК"/>
          <p:cNvCxnSpPr/>
          <p:nvPr/>
        </p:nvCxnSpPr>
        <p:spPr>
          <a:xfrm>
            <a:off x="2821380" y="2609141"/>
            <a:ext cx="11658" cy="149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Цепь ДНК"/>
          <p:cNvCxnSpPr/>
          <p:nvPr/>
        </p:nvCxnSpPr>
        <p:spPr>
          <a:xfrm>
            <a:off x="2833039" y="2624092"/>
            <a:ext cx="11658" cy="1325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Цепь ДНК"/>
          <p:cNvCxnSpPr/>
          <p:nvPr/>
        </p:nvCxnSpPr>
        <p:spPr>
          <a:xfrm>
            <a:off x="2844698" y="2637351"/>
            <a:ext cx="11658" cy="110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Цепь ДНК"/>
          <p:cNvCxnSpPr/>
          <p:nvPr/>
        </p:nvCxnSpPr>
        <p:spPr>
          <a:xfrm>
            <a:off x="2856357" y="2648448"/>
            <a:ext cx="11658" cy="854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Цепь ДНК"/>
          <p:cNvCxnSpPr/>
          <p:nvPr/>
        </p:nvCxnSpPr>
        <p:spPr>
          <a:xfrm>
            <a:off x="2868015" y="2656990"/>
            <a:ext cx="11658" cy="56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Цепь ДНК"/>
          <p:cNvCxnSpPr/>
          <p:nvPr/>
        </p:nvCxnSpPr>
        <p:spPr>
          <a:xfrm>
            <a:off x="2879673" y="2662674"/>
            <a:ext cx="11658" cy="262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Цепь ДНК"/>
          <p:cNvCxnSpPr/>
          <p:nvPr/>
        </p:nvCxnSpPr>
        <p:spPr>
          <a:xfrm flipV="1">
            <a:off x="2891332" y="2664772"/>
            <a:ext cx="11658" cy="52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Цепь ДНК"/>
          <p:cNvCxnSpPr/>
          <p:nvPr/>
        </p:nvCxnSpPr>
        <p:spPr>
          <a:xfrm flipV="1">
            <a:off x="2902991" y="2661111"/>
            <a:ext cx="11658" cy="366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Цепь ДНК"/>
          <p:cNvCxnSpPr/>
          <p:nvPr/>
        </p:nvCxnSpPr>
        <p:spPr>
          <a:xfrm flipV="1">
            <a:off x="2914650" y="2654448"/>
            <a:ext cx="11658" cy="66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Цепь ДНК"/>
          <p:cNvCxnSpPr/>
          <p:nvPr/>
        </p:nvCxnSpPr>
        <p:spPr>
          <a:xfrm flipV="1">
            <a:off x="2926308" y="2645016"/>
            <a:ext cx="11658" cy="943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Цепь ДНК"/>
          <p:cNvCxnSpPr/>
          <p:nvPr/>
        </p:nvCxnSpPr>
        <p:spPr>
          <a:xfrm flipV="1">
            <a:off x="2937966" y="2633150"/>
            <a:ext cx="11658" cy="1186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Цепь ДНК"/>
          <p:cNvCxnSpPr/>
          <p:nvPr/>
        </p:nvCxnSpPr>
        <p:spPr>
          <a:xfrm flipV="1">
            <a:off x="2949625" y="2619272"/>
            <a:ext cx="11658" cy="1387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Цепь ДНК"/>
          <p:cNvCxnSpPr/>
          <p:nvPr/>
        </p:nvCxnSpPr>
        <p:spPr>
          <a:xfrm flipV="1">
            <a:off x="2961284" y="2603871"/>
            <a:ext cx="11658" cy="154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Цепь ДНК"/>
          <p:cNvCxnSpPr/>
          <p:nvPr/>
        </p:nvCxnSpPr>
        <p:spPr>
          <a:xfrm flipV="1">
            <a:off x="2972943" y="2587495"/>
            <a:ext cx="11658" cy="163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Цепь ДНК"/>
          <p:cNvCxnSpPr/>
          <p:nvPr/>
        </p:nvCxnSpPr>
        <p:spPr>
          <a:xfrm flipV="1">
            <a:off x="2984600" y="2570723"/>
            <a:ext cx="11658" cy="1677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Цепь ДНК"/>
          <p:cNvCxnSpPr/>
          <p:nvPr/>
        </p:nvCxnSpPr>
        <p:spPr>
          <a:xfrm flipV="1">
            <a:off x="2996259" y="2554149"/>
            <a:ext cx="11658" cy="1657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Цепь ДНК"/>
          <p:cNvCxnSpPr/>
          <p:nvPr/>
        </p:nvCxnSpPr>
        <p:spPr>
          <a:xfrm flipV="1">
            <a:off x="3007918" y="2538361"/>
            <a:ext cx="11658" cy="1578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Цепь ДНК"/>
          <p:cNvCxnSpPr/>
          <p:nvPr/>
        </p:nvCxnSpPr>
        <p:spPr>
          <a:xfrm flipV="1">
            <a:off x="3019577" y="2523918"/>
            <a:ext cx="11658" cy="1444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Цепь ДНК"/>
          <p:cNvCxnSpPr/>
          <p:nvPr/>
        </p:nvCxnSpPr>
        <p:spPr>
          <a:xfrm flipV="1">
            <a:off x="3031236" y="2511331"/>
            <a:ext cx="11658" cy="1258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Цепь ДНК"/>
          <p:cNvCxnSpPr/>
          <p:nvPr/>
        </p:nvCxnSpPr>
        <p:spPr>
          <a:xfrm flipV="1">
            <a:off x="3042894" y="2501046"/>
            <a:ext cx="11658" cy="102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Цепь ДНК"/>
          <p:cNvCxnSpPr/>
          <p:nvPr/>
        </p:nvCxnSpPr>
        <p:spPr>
          <a:xfrm flipV="1">
            <a:off x="3054552" y="2493428"/>
            <a:ext cx="11658" cy="761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Цепь ДНК"/>
          <p:cNvCxnSpPr/>
          <p:nvPr/>
        </p:nvCxnSpPr>
        <p:spPr>
          <a:xfrm flipV="1">
            <a:off x="3066211" y="2488746"/>
            <a:ext cx="11658" cy="46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Цепь ДНК"/>
          <p:cNvCxnSpPr/>
          <p:nvPr/>
        </p:nvCxnSpPr>
        <p:spPr>
          <a:xfrm flipV="1">
            <a:off x="3077870" y="2487168"/>
            <a:ext cx="11658" cy="157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Цепь ДНК"/>
          <p:cNvCxnSpPr/>
          <p:nvPr/>
        </p:nvCxnSpPr>
        <p:spPr>
          <a:xfrm>
            <a:off x="3089529" y="2487168"/>
            <a:ext cx="11658" cy="157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Цепь ДНК"/>
          <p:cNvCxnSpPr/>
          <p:nvPr/>
        </p:nvCxnSpPr>
        <p:spPr>
          <a:xfrm>
            <a:off x="3101187" y="2488746"/>
            <a:ext cx="11658" cy="46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Цепь ДНК"/>
          <p:cNvCxnSpPr/>
          <p:nvPr/>
        </p:nvCxnSpPr>
        <p:spPr>
          <a:xfrm>
            <a:off x="3112845" y="2493428"/>
            <a:ext cx="11658" cy="761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Цепь ДНК"/>
          <p:cNvCxnSpPr/>
          <p:nvPr/>
        </p:nvCxnSpPr>
        <p:spPr>
          <a:xfrm>
            <a:off x="3124504" y="2501046"/>
            <a:ext cx="11658" cy="102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Цепь ДНК"/>
          <p:cNvCxnSpPr/>
          <p:nvPr/>
        </p:nvCxnSpPr>
        <p:spPr>
          <a:xfrm>
            <a:off x="3136163" y="2511331"/>
            <a:ext cx="11658" cy="1258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Цепь ДНК"/>
          <p:cNvCxnSpPr/>
          <p:nvPr/>
        </p:nvCxnSpPr>
        <p:spPr>
          <a:xfrm>
            <a:off x="3147822" y="2523918"/>
            <a:ext cx="11658" cy="1444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Цепь ДНК"/>
          <p:cNvCxnSpPr/>
          <p:nvPr/>
        </p:nvCxnSpPr>
        <p:spPr>
          <a:xfrm>
            <a:off x="3159480" y="2538361"/>
            <a:ext cx="11658" cy="1578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Цепь ДНК"/>
          <p:cNvCxnSpPr/>
          <p:nvPr/>
        </p:nvCxnSpPr>
        <p:spPr>
          <a:xfrm>
            <a:off x="3171138" y="2554149"/>
            <a:ext cx="11658" cy="1657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Цепь ДНК"/>
          <p:cNvCxnSpPr/>
          <p:nvPr/>
        </p:nvCxnSpPr>
        <p:spPr>
          <a:xfrm>
            <a:off x="3182797" y="2570723"/>
            <a:ext cx="11658" cy="1677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Цепь ДНК"/>
          <p:cNvCxnSpPr/>
          <p:nvPr/>
        </p:nvCxnSpPr>
        <p:spPr>
          <a:xfrm>
            <a:off x="3194456" y="2587495"/>
            <a:ext cx="11658" cy="163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Цепь ДНК"/>
          <p:cNvCxnSpPr/>
          <p:nvPr/>
        </p:nvCxnSpPr>
        <p:spPr>
          <a:xfrm>
            <a:off x="3206114" y="2603871"/>
            <a:ext cx="11658" cy="154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Цепь ДНК"/>
          <p:cNvCxnSpPr/>
          <p:nvPr/>
        </p:nvCxnSpPr>
        <p:spPr>
          <a:xfrm>
            <a:off x="3217772" y="2619272"/>
            <a:ext cx="11658" cy="1387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Цепь ДНК"/>
          <p:cNvCxnSpPr/>
          <p:nvPr/>
        </p:nvCxnSpPr>
        <p:spPr>
          <a:xfrm>
            <a:off x="3229431" y="2633150"/>
            <a:ext cx="11658" cy="1186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Цепь ДНК"/>
          <p:cNvCxnSpPr/>
          <p:nvPr/>
        </p:nvCxnSpPr>
        <p:spPr>
          <a:xfrm>
            <a:off x="3241090" y="2645016"/>
            <a:ext cx="11658" cy="943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Цепь ДНК"/>
          <p:cNvCxnSpPr/>
          <p:nvPr/>
        </p:nvCxnSpPr>
        <p:spPr>
          <a:xfrm>
            <a:off x="3252749" y="2654448"/>
            <a:ext cx="11658" cy="66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Цепь ДНК"/>
          <p:cNvCxnSpPr/>
          <p:nvPr/>
        </p:nvCxnSpPr>
        <p:spPr>
          <a:xfrm>
            <a:off x="3264408" y="2661111"/>
            <a:ext cx="11658" cy="366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Цепь ДНК"/>
          <p:cNvCxnSpPr/>
          <p:nvPr/>
        </p:nvCxnSpPr>
        <p:spPr>
          <a:xfrm>
            <a:off x="3276066" y="2664772"/>
            <a:ext cx="11658" cy="52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Цепь ДНК"/>
          <p:cNvCxnSpPr/>
          <p:nvPr/>
        </p:nvCxnSpPr>
        <p:spPr>
          <a:xfrm flipV="1">
            <a:off x="3287724" y="2662674"/>
            <a:ext cx="11658" cy="262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Цепь ДНК"/>
          <p:cNvCxnSpPr/>
          <p:nvPr/>
        </p:nvCxnSpPr>
        <p:spPr>
          <a:xfrm flipV="1">
            <a:off x="3299383" y="2656990"/>
            <a:ext cx="11658" cy="56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Цепь ДНК"/>
          <p:cNvCxnSpPr/>
          <p:nvPr/>
        </p:nvCxnSpPr>
        <p:spPr>
          <a:xfrm flipV="1">
            <a:off x="3311042" y="2648448"/>
            <a:ext cx="11658" cy="854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Цепь ДНК"/>
          <p:cNvCxnSpPr/>
          <p:nvPr/>
        </p:nvCxnSpPr>
        <p:spPr>
          <a:xfrm flipV="1">
            <a:off x="3322701" y="2637351"/>
            <a:ext cx="11658" cy="110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Цепь ДНК"/>
          <p:cNvCxnSpPr/>
          <p:nvPr/>
        </p:nvCxnSpPr>
        <p:spPr>
          <a:xfrm flipV="1">
            <a:off x="3334359" y="2624092"/>
            <a:ext cx="11658" cy="1325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Цепь ДНК"/>
          <p:cNvCxnSpPr/>
          <p:nvPr/>
        </p:nvCxnSpPr>
        <p:spPr>
          <a:xfrm flipV="1">
            <a:off x="3346017" y="2609141"/>
            <a:ext cx="11658" cy="149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Цепь ДНК"/>
          <p:cNvCxnSpPr/>
          <p:nvPr/>
        </p:nvCxnSpPr>
        <p:spPr>
          <a:xfrm flipV="1">
            <a:off x="3357676" y="2593027"/>
            <a:ext cx="11658" cy="161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Цепь ДНК"/>
          <p:cNvCxnSpPr/>
          <p:nvPr/>
        </p:nvCxnSpPr>
        <p:spPr>
          <a:xfrm flipV="1">
            <a:off x="3369335" y="2576322"/>
            <a:ext cx="11658" cy="1670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Цепь ДНК"/>
          <p:cNvCxnSpPr/>
          <p:nvPr/>
        </p:nvCxnSpPr>
        <p:spPr>
          <a:xfrm flipV="1">
            <a:off x="3380994" y="2559615"/>
            <a:ext cx="11658" cy="1670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Цепь ДНК"/>
          <p:cNvCxnSpPr/>
          <p:nvPr/>
        </p:nvCxnSpPr>
        <p:spPr>
          <a:xfrm flipV="1">
            <a:off x="3392652" y="2543502"/>
            <a:ext cx="11658" cy="161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Цепь ДНК"/>
          <p:cNvCxnSpPr/>
          <p:nvPr/>
        </p:nvCxnSpPr>
        <p:spPr>
          <a:xfrm flipV="1">
            <a:off x="3404310" y="2528550"/>
            <a:ext cx="11658" cy="149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Цепь ДНК"/>
          <p:cNvCxnSpPr/>
          <p:nvPr/>
        </p:nvCxnSpPr>
        <p:spPr>
          <a:xfrm flipV="1">
            <a:off x="3415969" y="2515291"/>
            <a:ext cx="11658" cy="1325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Цепь ДНК"/>
          <p:cNvCxnSpPr/>
          <p:nvPr/>
        </p:nvCxnSpPr>
        <p:spPr>
          <a:xfrm flipV="1">
            <a:off x="3427628" y="2504194"/>
            <a:ext cx="11658" cy="110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Цепь ДНК"/>
          <p:cNvCxnSpPr/>
          <p:nvPr/>
        </p:nvCxnSpPr>
        <p:spPr>
          <a:xfrm flipV="1">
            <a:off x="3439286" y="2495652"/>
            <a:ext cx="11658" cy="854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Цепь ДНК"/>
          <p:cNvCxnSpPr/>
          <p:nvPr/>
        </p:nvCxnSpPr>
        <p:spPr>
          <a:xfrm flipV="1">
            <a:off x="3450944" y="2489968"/>
            <a:ext cx="11658" cy="56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Цепь ДНК"/>
          <p:cNvCxnSpPr/>
          <p:nvPr/>
        </p:nvCxnSpPr>
        <p:spPr>
          <a:xfrm flipV="1">
            <a:off x="3462603" y="2487343"/>
            <a:ext cx="11658" cy="262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Цепь ДНК"/>
          <p:cNvCxnSpPr/>
          <p:nvPr/>
        </p:nvCxnSpPr>
        <p:spPr>
          <a:xfrm>
            <a:off x="3474262" y="2487343"/>
            <a:ext cx="11658" cy="52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Цепь ДНК"/>
          <p:cNvCxnSpPr/>
          <p:nvPr/>
        </p:nvCxnSpPr>
        <p:spPr>
          <a:xfrm>
            <a:off x="3485921" y="2487870"/>
            <a:ext cx="11658" cy="366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Цепь ДНК"/>
          <p:cNvCxnSpPr/>
          <p:nvPr/>
        </p:nvCxnSpPr>
        <p:spPr>
          <a:xfrm>
            <a:off x="3497579" y="2491531"/>
            <a:ext cx="11658" cy="66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Цепь ДНК"/>
          <p:cNvCxnSpPr/>
          <p:nvPr/>
        </p:nvCxnSpPr>
        <p:spPr>
          <a:xfrm>
            <a:off x="3509237" y="2498195"/>
            <a:ext cx="11658" cy="943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Цепь ДНК"/>
          <p:cNvCxnSpPr/>
          <p:nvPr/>
        </p:nvCxnSpPr>
        <p:spPr>
          <a:xfrm>
            <a:off x="3520896" y="2507627"/>
            <a:ext cx="11658" cy="1186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Цепь ДНК"/>
          <p:cNvCxnSpPr/>
          <p:nvPr/>
        </p:nvCxnSpPr>
        <p:spPr>
          <a:xfrm>
            <a:off x="3532555" y="2519493"/>
            <a:ext cx="11658" cy="1387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Цепь ДНК"/>
          <p:cNvCxnSpPr/>
          <p:nvPr/>
        </p:nvCxnSpPr>
        <p:spPr>
          <a:xfrm>
            <a:off x="3544214" y="2533371"/>
            <a:ext cx="11658" cy="154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Цепь ДНК"/>
          <p:cNvCxnSpPr/>
          <p:nvPr/>
        </p:nvCxnSpPr>
        <p:spPr>
          <a:xfrm>
            <a:off x="3555873" y="2548771"/>
            <a:ext cx="11658" cy="163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Цепь ДНК"/>
          <p:cNvCxnSpPr/>
          <p:nvPr/>
        </p:nvCxnSpPr>
        <p:spPr>
          <a:xfrm>
            <a:off x="3567531" y="2565147"/>
            <a:ext cx="11658" cy="1677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Цепь ДНК"/>
          <p:cNvCxnSpPr/>
          <p:nvPr/>
        </p:nvCxnSpPr>
        <p:spPr>
          <a:xfrm>
            <a:off x="3579189" y="2581920"/>
            <a:ext cx="11658" cy="1657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Цепь ДНК"/>
          <p:cNvCxnSpPr/>
          <p:nvPr/>
        </p:nvCxnSpPr>
        <p:spPr>
          <a:xfrm>
            <a:off x="3590848" y="2598493"/>
            <a:ext cx="11658" cy="1578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Цепь ДНК"/>
          <p:cNvCxnSpPr/>
          <p:nvPr/>
        </p:nvCxnSpPr>
        <p:spPr>
          <a:xfrm>
            <a:off x="3602507" y="2614281"/>
            <a:ext cx="11658" cy="1444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Цепь ДНК"/>
          <p:cNvCxnSpPr/>
          <p:nvPr/>
        </p:nvCxnSpPr>
        <p:spPr>
          <a:xfrm>
            <a:off x="3614165" y="2628725"/>
            <a:ext cx="11658" cy="1258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Цепь ДНК"/>
          <p:cNvCxnSpPr/>
          <p:nvPr/>
        </p:nvCxnSpPr>
        <p:spPr>
          <a:xfrm>
            <a:off x="3625823" y="2641311"/>
            <a:ext cx="11658" cy="102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Цепь ДНК"/>
          <p:cNvCxnSpPr/>
          <p:nvPr/>
        </p:nvCxnSpPr>
        <p:spPr>
          <a:xfrm>
            <a:off x="3637482" y="2651596"/>
            <a:ext cx="11658" cy="761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Цепь ДНК"/>
          <p:cNvCxnSpPr/>
          <p:nvPr/>
        </p:nvCxnSpPr>
        <p:spPr>
          <a:xfrm>
            <a:off x="3649141" y="2659214"/>
            <a:ext cx="11658" cy="46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Цепь ДНК"/>
          <p:cNvCxnSpPr/>
          <p:nvPr/>
        </p:nvCxnSpPr>
        <p:spPr>
          <a:xfrm>
            <a:off x="3660800" y="2663896"/>
            <a:ext cx="11658" cy="15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Цепь ДНК"/>
          <p:cNvCxnSpPr/>
          <p:nvPr/>
        </p:nvCxnSpPr>
        <p:spPr>
          <a:xfrm flipV="1">
            <a:off x="3672458" y="2663896"/>
            <a:ext cx="11658" cy="157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Цепь ДНК"/>
          <p:cNvCxnSpPr/>
          <p:nvPr/>
        </p:nvCxnSpPr>
        <p:spPr>
          <a:xfrm flipV="1">
            <a:off x="3684117" y="2659214"/>
            <a:ext cx="11658" cy="468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Цепь ДНК"/>
          <p:cNvCxnSpPr/>
          <p:nvPr/>
        </p:nvCxnSpPr>
        <p:spPr>
          <a:xfrm flipV="1">
            <a:off x="3695775" y="2651596"/>
            <a:ext cx="11658" cy="761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Цепь ДНК"/>
          <p:cNvCxnSpPr/>
          <p:nvPr/>
        </p:nvCxnSpPr>
        <p:spPr>
          <a:xfrm flipV="1">
            <a:off x="3707434" y="2641311"/>
            <a:ext cx="11658" cy="102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Цепь ДНК"/>
          <p:cNvCxnSpPr/>
          <p:nvPr/>
        </p:nvCxnSpPr>
        <p:spPr>
          <a:xfrm flipV="1">
            <a:off x="3719093" y="2628725"/>
            <a:ext cx="11658" cy="1258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Цепь ДНК"/>
          <p:cNvCxnSpPr/>
          <p:nvPr/>
        </p:nvCxnSpPr>
        <p:spPr>
          <a:xfrm flipV="1">
            <a:off x="3730752" y="2614281"/>
            <a:ext cx="11658" cy="1444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Цепь ДНК"/>
          <p:cNvCxnSpPr/>
          <p:nvPr/>
        </p:nvCxnSpPr>
        <p:spPr>
          <a:xfrm flipV="1">
            <a:off x="3742410" y="2598493"/>
            <a:ext cx="11658" cy="15788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Цепь ДНК"/>
          <p:cNvCxnSpPr/>
          <p:nvPr/>
        </p:nvCxnSpPr>
        <p:spPr>
          <a:xfrm flipV="1">
            <a:off x="3754068" y="2581920"/>
            <a:ext cx="11658" cy="1657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Цепь ДНК"/>
          <p:cNvCxnSpPr/>
          <p:nvPr/>
        </p:nvCxnSpPr>
        <p:spPr>
          <a:xfrm flipV="1">
            <a:off x="3765727" y="2565147"/>
            <a:ext cx="11658" cy="1677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Цепь ДНК"/>
          <p:cNvCxnSpPr/>
          <p:nvPr/>
        </p:nvCxnSpPr>
        <p:spPr>
          <a:xfrm flipV="1">
            <a:off x="3777386" y="2548771"/>
            <a:ext cx="11658" cy="1637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Цепь ДНК"/>
          <p:cNvCxnSpPr/>
          <p:nvPr/>
        </p:nvCxnSpPr>
        <p:spPr>
          <a:xfrm flipV="1">
            <a:off x="3789045" y="2533371"/>
            <a:ext cx="11658" cy="1540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Цепь ДНК"/>
          <p:cNvCxnSpPr/>
          <p:nvPr/>
        </p:nvCxnSpPr>
        <p:spPr>
          <a:xfrm flipV="1">
            <a:off x="3800703" y="2519493"/>
            <a:ext cx="11658" cy="1387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Цепь ДНК"/>
          <p:cNvCxnSpPr/>
          <p:nvPr/>
        </p:nvCxnSpPr>
        <p:spPr>
          <a:xfrm flipV="1">
            <a:off x="3812361" y="2507627"/>
            <a:ext cx="11658" cy="1186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Цепь ДНК"/>
          <p:cNvCxnSpPr/>
          <p:nvPr/>
        </p:nvCxnSpPr>
        <p:spPr>
          <a:xfrm flipV="1">
            <a:off x="3824020" y="2498195"/>
            <a:ext cx="11658" cy="9432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Цепь ДНК"/>
          <p:cNvCxnSpPr/>
          <p:nvPr/>
        </p:nvCxnSpPr>
        <p:spPr>
          <a:xfrm flipV="1">
            <a:off x="3835679" y="2491531"/>
            <a:ext cx="11658" cy="666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Цепь ДНК"/>
          <p:cNvCxnSpPr/>
          <p:nvPr/>
        </p:nvCxnSpPr>
        <p:spPr>
          <a:xfrm flipV="1">
            <a:off x="3847338" y="2487870"/>
            <a:ext cx="11658" cy="3660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Цепь ДНК"/>
          <p:cNvCxnSpPr/>
          <p:nvPr/>
        </p:nvCxnSpPr>
        <p:spPr>
          <a:xfrm flipV="1">
            <a:off x="3858996" y="2487343"/>
            <a:ext cx="11658" cy="527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Цепь ДНК"/>
          <p:cNvCxnSpPr/>
          <p:nvPr/>
        </p:nvCxnSpPr>
        <p:spPr>
          <a:xfrm>
            <a:off x="3870654" y="2487343"/>
            <a:ext cx="11658" cy="2625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Цепь ДНК"/>
          <p:cNvCxnSpPr/>
          <p:nvPr/>
        </p:nvCxnSpPr>
        <p:spPr>
          <a:xfrm>
            <a:off x="3882313" y="2489968"/>
            <a:ext cx="11658" cy="5684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Цепь ДНК"/>
          <p:cNvCxnSpPr/>
          <p:nvPr/>
        </p:nvCxnSpPr>
        <p:spPr>
          <a:xfrm>
            <a:off x="3893972" y="2495652"/>
            <a:ext cx="11658" cy="854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Цепь ДНК"/>
          <p:cNvCxnSpPr/>
          <p:nvPr/>
        </p:nvCxnSpPr>
        <p:spPr>
          <a:xfrm>
            <a:off x="3905631" y="2504194"/>
            <a:ext cx="11658" cy="1109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Цепь ДНК"/>
          <p:cNvCxnSpPr/>
          <p:nvPr/>
        </p:nvCxnSpPr>
        <p:spPr>
          <a:xfrm>
            <a:off x="3917289" y="2515291"/>
            <a:ext cx="11658" cy="13259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Цепь ДНК"/>
          <p:cNvCxnSpPr/>
          <p:nvPr/>
        </p:nvCxnSpPr>
        <p:spPr>
          <a:xfrm>
            <a:off x="3928947" y="2528550"/>
            <a:ext cx="11658" cy="14951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Цепь ДНК"/>
          <p:cNvCxnSpPr/>
          <p:nvPr/>
        </p:nvCxnSpPr>
        <p:spPr>
          <a:xfrm>
            <a:off x="3940606" y="2543502"/>
            <a:ext cx="11658" cy="16113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Цепь ДНК"/>
          <p:cNvCxnSpPr/>
          <p:nvPr/>
        </p:nvCxnSpPr>
        <p:spPr>
          <a:xfrm>
            <a:off x="3952265" y="2559615"/>
            <a:ext cx="11658" cy="16706"/>
          </a:xfrm>
          <a:prstGeom prst="line">
            <a:avLst/>
          </a:prstGeom>
          <a:ln w="19685">
            <a:solidFill>
              <a:srgbClr val="9978B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Цепь ДНК"/>
          <p:cNvCxnSpPr/>
          <p:nvPr/>
        </p:nvCxnSpPr>
        <p:spPr>
          <a:xfrm flipV="1">
            <a:off x="2798064" y="2559615"/>
            <a:ext cx="11658" cy="1670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Цепь ДНК"/>
          <p:cNvCxnSpPr/>
          <p:nvPr/>
        </p:nvCxnSpPr>
        <p:spPr>
          <a:xfrm flipV="1">
            <a:off x="2809722" y="2543502"/>
            <a:ext cx="11658" cy="161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Цепь ДНК"/>
          <p:cNvCxnSpPr/>
          <p:nvPr/>
        </p:nvCxnSpPr>
        <p:spPr>
          <a:xfrm flipV="1">
            <a:off x="2821380" y="2528550"/>
            <a:ext cx="11658" cy="149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Цепь ДНК"/>
          <p:cNvCxnSpPr/>
          <p:nvPr/>
        </p:nvCxnSpPr>
        <p:spPr>
          <a:xfrm flipV="1">
            <a:off x="2833039" y="2515291"/>
            <a:ext cx="11658" cy="1325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Цепь ДНК"/>
          <p:cNvCxnSpPr/>
          <p:nvPr/>
        </p:nvCxnSpPr>
        <p:spPr>
          <a:xfrm flipV="1">
            <a:off x="2844698" y="2504194"/>
            <a:ext cx="11658" cy="110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Цепь ДНК"/>
          <p:cNvCxnSpPr/>
          <p:nvPr/>
        </p:nvCxnSpPr>
        <p:spPr>
          <a:xfrm flipV="1">
            <a:off x="2856357" y="2495652"/>
            <a:ext cx="11658" cy="854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Цепь ДНК"/>
          <p:cNvCxnSpPr/>
          <p:nvPr/>
        </p:nvCxnSpPr>
        <p:spPr>
          <a:xfrm flipV="1">
            <a:off x="2868015" y="2489968"/>
            <a:ext cx="11658" cy="56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Цепь ДНК"/>
          <p:cNvCxnSpPr/>
          <p:nvPr/>
        </p:nvCxnSpPr>
        <p:spPr>
          <a:xfrm flipV="1">
            <a:off x="2879673" y="2487343"/>
            <a:ext cx="11658" cy="262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Цепь ДНК"/>
          <p:cNvCxnSpPr/>
          <p:nvPr/>
        </p:nvCxnSpPr>
        <p:spPr>
          <a:xfrm>
            <a:off x="2891332" y="2487343"/>
            <a:ext cx="11658" cy="52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Цепь ДНК"/>
          <p:cNvCxnSpPr/>
          <p:nvPr/>
        </p:nvCxnSpPr>
        <p:spPr>
          <a:xfrm>
            <a:off x="2902991" y="2487870"/>
            <a:ext cx="11658" cy="366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Цепь ДНК"/>
          <p:cNvCxnSpPr/>
          <p:nvPr/>
        </p:nvCxnSpPr>
        <p:spPr>
          <a:xfrm>
            <a:off x="2914650" y="2491531"/>
            <a:ext cx="11658" cy="66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Цепь ДНК"/>
          <p:cNvCxnSpPr/>
          <p:nvPr/>
        </p:nvCxnSpPr>
        <p:spPr>
          <a:xfrm>
            <a:off x="2926308" y="2498195"/>
            <a:ext cx="11658" cy="943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Цепь ДНК"/>
          <p:cNvCxnSpPr/>
          <p:nvPr/>
        </p:nvCxnSpPr>
        <p:spPr>
          <a:xfrm>
            <a:off x="2937966" y="2507627"/>
            <a:ext cx="11658" cy="1186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Цепь ДНК"/>
          <p:cNvCxnSpPr/>
          <p:nvPr/>
        </p:nvCxnSpPr>
        <p:spPr>
          <a:xfrm>
            <a:off x="2949625" y="2519493"/>
            <a:ext cx="11658" cy="1387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Цепь ДНК"/>
          <p:cNvCxnSpPr/>
          <p:nvPr/>
        </p:nvCxnSpPr>
        <p:spPr>
          <a:xfrm>
            <a:off x="2961284" y="2533371"/>
            <a:ext cx="11658" cy="154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Цепь ДНК"/>
          <p:cNvCxnSpPr/>
          <p:nvPr/>
        </p:nvCxnSpPr>
        <p:spPr>
          <a:xfrm>
            <a:off x="2972943" y="2548771"/>
            <a:ext cx="11658" cy="163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Цепь ДНК"/>
          <p:cNvCxnSpPr/>
          <p:nvPr/>
        </p:nvCxnSpPr>
        <p:spPr>
          <a:xfrm>
            <a:off x="2984600" y="2565147"/>
            <a:ext cx="11658" cy="1677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Цепь ДНК"/>
          <p:cNvCxnSpPr/>
          <p:nvPr/>
        </p:nvCxnSpPr>
        <p:spPr>
          <a:xfrm>
            <a:off x="2996259" y="2581920"/>
            <a:ext cx="11658" cy="1657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Цепь ДНК"/>
          <p:cNvCxnSpPr/>
          <p:nvPr/>
        </p:nvCxnSpPr>
        <p:spPr>
          <a:xfrm>
            <a:off x="3007918" y="2598493"/>
            <a:ext cx="11658" cy="1578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Цепь ДНК"/>
          <p:cNvCxnSpPr/>
          <p:nvPr/>
        </p:nvCxnSpPr>
        <p:spPr>
          <a:xfrm>
            <a:off x="3019577" y="2614281"/>
            <a:ext cx="11658" cy="1444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Цепь ДНК"/>
          <p:cNvCxnSpPr/>
          <p:nvPr/>
        </p:nvCxnSpPr>
        <p:spPr>
          <a:xfrm>
            <a:off x="3031236" y="2628725"/>
            <a:ext cx="11658" cy="1258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Цепь ДНК"/>
          <p:cNvCxnSpPr/>
          <p:nvPr/>
        </p:nvCxnSpPr>
        <p:spPr>
          <a:xfrm>
            <a:off x="3042894" y="2641311"/>
            <a:ext cx="11658" cy="102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Цепь ДНК"/>
          <p:cNvCxnSpPr/>
          <p:nvPr/>
        </p:nvCxnSpPr>
        <p:spPr>
          <a:xfrm>
            <a:off x="3054552" y="2651596"/>
            <a:ext cx="11658" cy="761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Цепь ДНК"/>
          <p:cNvCxnSpPr/>
          <p:nvPr/>
        </p:nvCxnSpPr>
        <p:spPr>
          <a:xfrm>
            <a:off x="3066211" y="2659214"/>
            <a:ext cx="11658" cy="46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Цепь ДНК"/>
          <p:cNvCxnSpPr/>
          <p:nvPr/>
        </p:nvCxnSpPr>
        <p:spPr>
          <a:xfrm>
            <a:off x="3077870" y="2663896"/>
            <a:ext cx="11658" cy="15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Цепь ДНК"/>
          <p:cNvCxnSpPr/>
          <p:nvPr/>
        </p:nvCxnSpPr>
        <p:spPr>
          <a:xfrm flipV="1">
            <a:off x="3089529" y="2663896"/>
            <a:ext cx="11658" cy="157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Цепь ДНК"/>
          <p:cNvCxnSpPr/>
          <p:nvPr/>
        </p:nvCxnSpPr>
        <p:spPr>
          <a:xfrm flipV="1">
            <a:off x="3101187" y="2659214"/>
            <a:ext cx="11658" cy="46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Цепь ДНК"/>
          <p:cNvCxnSpPr/>
          <p:nvPr/>
        </p:nvCxnSpPr>
        <p:spPr>
          <a:xfrm flipV="1">
            <a:off x="3112845" y="2651596"/>
            <a:ext cx="11658" cy="761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Цепь ДНК"/>
          <p:cNvCxnSpPr/>
          <p:nvPr/>
        </p:nvCxnSpPr>
        <p:spPr>
          <a:xfrm flipV="1">
            <a:off x="3124504" y="2641311"/>
            <a:ext cx="11658" cy="102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Цепь ДНК"/>
          <p:cNvCxnSpPr/>
          <p:nvPr/>
        </p:nvCxnSpPr>
        <p:spPr>
          <a:xfrm flipV="1">
            <a:off x="3136163" y="2628725"/>
            <a:ext cx="11658" cy="1258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Цепь ДНК"/>
          <p:cNvCxnSpPr/>
          <p:nvPr/>
        </p:nvCxnSpPr>
        <p:spPr>
          <a:xfrm flipV="1">
            <a:off x="3147822" y="2614281"/>
            <a:ext cx="11658" cy="1444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Цепь ДНК"/>
          <p:cNvCxnSpPr/>
          <p:nvPr/>
        </p:nvCxnSpPr>
        <p:spPr>
          <a:xfrm flipV="1">
            <a:off x="3159480" y="2598493"/>
            <a:ext cx="11658" cy="1578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Цепь ДНК"/>
          <p:cNvCxnSpPr/>
          <p:nvPr/>
        </p:nvCxnSpPr>
        <p:spPr>
          <a:xfrm flipV="1">
            <a:off x="3171138" y="2581920"/>
            <a:ext cx="11658" cy="1657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Цепь ДНК"/>
          <p:cNvCxnSpPr/>
          <p:nvPr/>
        </p:nvCxnSpPr>
        <p:spPr>
          <a:xfrm flipV="1">
            <a:off x="3182797" y="2565147"/>
            <a:ext cx="11658" cy="1677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Цепь ДНК"/>
          <p:cNvCxnSpPr/>
          <p:nvPr/>
        </p:nvCxnSpPr>
        <p:spPr>
          <a:xfrm flipV="1">
            <a:off x="3194456" y="2548771"/>
            <a:ext cx="11658" cy="163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Цепь ДНК"/>
          <p:cNvCxnSpPr/>
          <p:nvPr/>
        </p:nvCxnSpPr>
        <p:spPr>
          <a:xfrm flipV="1">
            <a:off x="3206114" y="2533371"/>
            <a:ext cx="11658" cy="154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Цепь ДНК"/>
          <p:cNvCxnSpPr/>
          <p:nvPr/>
        </p:nvCxnSpPr>
        <p:spPr>
          <a:xfrm flipV="1">
            <a:off x="3217772" y="2519493"/>
            <a:ext cx="11658" cy="1387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Цепь ДНК"/>
          <p:cNvCxnSpPr/>
          <p:nvPr/>
        </p:nvCxnSpPr>
        <p:spPr>
          <a:xfrm flipV="1">
            <a:off x="3229431" y="2507627"/>
            <a:ext cx="11658" cy="1186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Цепь ДНК"/>
          <p:cNvCxnSpPr/>
          <p:nvPr/>
        </p:nvCxnSpPr>
        <p:spPr>
          <a:xfrm flipV="1">
            <a:off x="3241090" y="2498195"/>
            <a:ext cx="11658" cy="943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Цепь ДНК"/>
          <p:cNvCxnSpPr/>
          <p:nvPr/>
        </p:nvCxnSpPr>
        <p:spPr>
          <a:xfrm flipV="1">
            <a:off x="3252749" y="2491531"/>
            <a:ext cx="11658" cy="66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Цепь ДНК"/>
          <p:cNvCxnSpPr/>
          <p:nvPr/>
        </p:nvCxnSpPr>
        <p:spPr>
          <a:xfrm flipV="1">
            <a:off x="3264408" y="2487870"/>
            <a:ext cx="11658" cy="366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Цепь ДНК"/>
          <p:cNvCxnSpPr/>
          <p:nvPr/>
        </p:nvCxnSpPr>
        <p:spPr>
          <a:xfrm flipV="1">
            <a:off x="3276066" y="2487343"/>
            <a:ext cx="11658" cy="52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Цепь ДНК"/>
          <p:cNvCxnSpPr/>
          <p:nvPr/>
        </p:nvCxnSpPr>
        <p:spPr>
          <a:xfrm>
            <a:off x="3287724" y="2487343"/>
            <a:ext cx="11658" cy="262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Цепь ДНК"/>
          <p:cNvCxnSpPr/>
          <p:nvPr/>
        </p:nvCxnSpPr>
        <p:spPr>
          <a:xfrm>
            <a:off x="3299383" y="2489968"/>
            <a:ext cx="11658" cy="56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Цепь ДНК"/>
          <p:cNvCxnSpPr/>
          <p:nvPr/>
        </p:nvCxnSpPr>
        <p:spPr>
          <a:xfrm>
            <a:off x="3311042" y="2495652"/>
            <a:ext cx="11658" cy="854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Цепь ДНК"/>
          <p:cNvCxnSpPr/>
          <p:nvPr/>
        </p:nvCxnSpPr>
        <p:spPr>
          <a:xfrm>
            <a:off x="3322701" y="2504194"/>
            <a:ext cx="11658" cy="110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Цепь ДНК"/>
          <p:cNvCxnSpPr/>
          <p:nvPr/>
        </p:nvCxnSpPr>
        <p:spPr>
          <a:xfrm>
            <a:off x="3334359" y="2515291"/>
            <a:ext cx="11658" cy="1325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Цепь ДНК"/>
          <p:cNvCxnSpPr/>
          <p:nvPr/>
        </p:nvCxnSpPr>
        <p:spPr>
          <a:xfrm>
            <a:off x="3346017" y="2528550"/>
            <a:ext cx="11658" cy="149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Цепь ДНК"/>
          <p:cNvCxnSpPr/>
          <p:nvPr/>
        </p:nvCxnSpPr>
        <p:spPr>
          <a:xfrm>
            <a:off x="3357676" y="2543502"/>
            <a:ext cx="11658" cy="161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Цепь ДНК"/>
          <p:cNvCxnSpPr/>
          <p:nvPr/>
        </p:nvCxnSpPr>
        <p:spPr>
          <a:xfrm>
            <a:off x="3369335" y="2559615"/>
            <a:ext cx="11658" cy="1670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Цепь ДНК"/>
          <p:cNvCxnSpPr/>
          <p:nvPr/>
        </p:nvCxnSpPr>
        <p:spPr>
          <a:xfrm>
            <a:off x="3380994" y="2576322"/>
            <a:ext cx="11658" cy="1670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Цепь ДНК"/>
          <p:cNvCxnSpPr/>
          <p:nvPr/>
        </p:nvCxnSpPr>
        <p:spPr>
          <a:xfrm>
            <a:off x="3392652" y="2593027"/>
            <a:ext cx="11658" cy="161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Цепь ДНК"/>
          <p:cNvCxnSpPr/>
          <p:nvPr/>
        </p:nvCxnSpPr>
        <p:spPr>
          <a:xfrm>
            <a:off x="3404310" y="2609141"/>
            <a:ext cx="11658" cy="149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Цепь ДНК"/>
          <p:cNvCxnSpPr/>
          <p:nvPr/>
        </p:nvCxnSpPr>
        <p:spPr>
          <a:xfrm>
            <a:off x="3415969" y="2624092"/>
            <a:ext cx="11658" cy="1325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Цепь ДНК"/>
          <p:cNvCxnSpPr/>
          <p:nvPr/>
        </p:nvCxnSpPr>
        <p:spPr>
          <a:xfrm>
            <a:off x="3427628" y="2637351"/>
            <a:ext cx="11658" cy="110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Цепь ДНК"/>
          <p:cNvCxnSpPr/>
          <p:nvPr/>
        </p:nvCxnSpPr>
        <p:spPr>
          <a:xfrm>
            <a:off x="3439286" y="2648448"/>
            <a:ext cx="11658" cy="854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Цепь ДНК"/>
          <p:cNvCxnSpPr/>
          <p:nvPr/>
        </p:nvCxnSpPr>
        <p:spPr>
          <a:xfrm>
            <a:off x="3450944" y="2656990"/>
            <a:ext cx="11658" cy="56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Цепь ДНК"/>
          <p:cNvCxnSpPr/>
          <p:nvPr/>
        </p:nvCxnSpPr>
        <p:spPr>
          <a:xfrm>
            <a:off x="3462603" y="2662674"/>
            <a:ext cx="11658" cy="262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Цепь ДНК"/>
          <p:cNvCxnSpPr/>
          <p:nvPr/>
        </p:nvCxnSpPr>
        <p:spPr>
          <a:xfrm flipV="1">
            <a:off x="3474262" y="2664772"/>
            <a:ext cx="11658" cy="52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Цепь ДНК"/>
          <p:cNvCxnSpPr/>
          <p:nvPr/>
        </p:nvCxnSpPr>
        <p:spPr>
          <a:xfrm flipV="1">
            <a:off x="3485921" y="2661111"/>
            <a:ext cx="11658" cy="366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Цепь ДНК"/>
          <p:cNvCxnSpPr/>
          <p:nvPr/>
        </p:nvCxnSpPr>
        <p:spPr>
          <a:xfrm flipV="1">
            <a:off x="3497579" y="2654448"/>
            <a:ext cx="11658" cy="66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Цепь ДНК"/>
          <p:cNvCxnSpPr/>
          <p:nvPr/>
        </p:nvCxnSpPr>
        <p:spPr>
          <a:xfrm flipV="1">
            <a:off x="3509237" y="2645016"/>
            <a:ext cx="11658" cy="943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Цепь ДНК"/>
          <p:cNvCxnSpPr/>
          <p:nvPr/>
        </p:nvCxnSpPr>
        <p:spPr>
          <a:xfrm flipV="1">
            <a:off x="3520896" y="2633150"/>
            <a:ext cx="11658" cy="1186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Цепь ДНК"/>
          <p:cNvCxnSpPr/>
          <p:nvPr/>
        </p:nvCxnSpPr>
        <p:spPr>
          <a:xfrm flipV="1">
            <a:off x="3532555" y="2619272"/>
            <a:ext cx="11658" cy="1387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Цепь ДНК"/>
          <p:cNvCxnSpPr/>
          <p:nvPr/>
        </p:nvCxnSpPr>
        <p:spPr>
          <a:xfrm flipV="1">
            <a:off x="3544214" y="2603871"/>
            <a:ext cx="11658" cy="154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Цепь ДНК"/>
          <p:cNvCxnSpPr/>
          <p:nvPr/>
        </p:nvCxnSpPr>
        <p:spPr>
          <a:xfrm flipV="1">
            <a:off x="3555873" y="2587495"/>
            <a:ext cx="11658" cy="163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Цепь ДНК"/>
          <p:cNvCxnSpPr/>
          <p:nvPr/>
        </p:nvCxnSpPr>
        <p:spPr>
          <a:xfrm flipV="1">
            <a:off x="3567531" y="2570723"/>
            <a:ext cx="11658" cy="1677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Цепь ДНК"/>
          <p:cNvCxnSpPr/>
          <p:nvPr/>
        </p:nvCxnSpPr>
        <p:spPr>
          <a:xfrm flipV="1">
            <a:off x="3579189" y="2554149"/>
            <a:ext cx="11658" cy="1657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Цепь ДНК"/>
          <p:cNvCxnSpPr/>
          <p:nvPr/>
        </p:nvCxnSpPr>
        <p:spPr>
          <a:xfrm flipV="1">
            <a:off x="3590848" y="2538361"/>
            <a:ext cx="11658" cy="1578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Цепь ДНК"/>
          <p:cNvCxnSpPr/>
          <p:nvPr/>
        </p:nvCxnSpPr>
        <p:spPr>
          <a:xfrm flipV="1">
            <a:off x="3602507" y="2523918"/>
            <a:ext cx="11658" cy="1444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Цепь ДНК"/>
          <p:cNvCxnSpPr/>
          <p:nvPr/>
        </p:nvCxnSpPr>
        <p:spPr>
          <a:xfrm flipV="1">
            <a:off x="3614165" y="2511331"/>
            <a:ext cx="11658" cy="1258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Цепь ДНК"/>
          <p:cNvCxnSpPr/>
          <p:nvPr/>
        </p:nvCxnSpPr>
        <p:spPr>
          <a:xfrm flipV="1">
            <a:off x="3625823" y="2501046"/>
            <a:ext cx="11658" cy="102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Цепь ДНК"/>
          <p:cNvCxnSpPr/>
          <p:nvPr/>
        </p:nvCxnSpPr>
        <p:spPr>
          <a:xfrm flipV="1">
            <a:off x="3637482" y="2493428"/>
            <a:ext cx="11658" cy="761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Цепь ДНК"/>
          <p:cNvCxnSpPr/>
          <p:nvPr/>
        </p:nvCxnSpPr>
        <p:spPr>
          <a:xfrm flipV="1">
            <a:off x="3649141" y="2488746"/>
            <a:ext cx="11658" cy="46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Цепь ДНК"/>
          <p:cNvCxnSpPr/>
          <p:nvPr/>
        </p:nvCxnSpPr>
        <p:spPr>
          <a:xfrm flipV="1">
            <a:off x="3660800" y="2487168"/>
            <a:ext cx="11658" cy="157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Цепь ДНК"/>
          <p:cNvCxnSpPr/>
          <p:nvPr/>
        </p:nvCxnSpPr>
        <p:spPr>
          <a:xfrm>
            <a:off x="3672458" y="2487168"/>
            <a:ext cx="11658" cy="157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Цепь ДНК"/>
          <p:cNvCxnSpPr/>
          <p:nvPr/>
        </p:nvCxnSpPr>
        <p:spPr>
          <a:xfrm>
            <a:off x="3684117" y="2488746"/>
            <a:ext cx="11658" cy="468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Цепь ДНК"/>
          <p:cNvCxnSpPr/>
          <p:nvPr/>
        </p:nvCxnSpPr>
        <p:spPr>
          <a:xfrm>
            <a:off x="3695775" y="2493428"/>
            <a:ext cx="11658" cy="761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Цепь ДНК"/>
          <p:cNvCxnSpPr/>
          <p:nvPr/>
        </p:nvCxnSpPr>
        <p:spPr>
          <a:xfrm>
            <a:off x="3707434" y="2501046"/>
            <a:ext cx="11658" cy="102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Цепь ДНК"/>
          <p:cNvCxnSpPr/>
          <p:nvPr/>
        </p:nvCxnSpPr>
        <p:spPr>
          <a:xfrm>
            <a:off x="3719093" y="2511331"/>
            <a:ext cx="11658" cy="1258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Цепь ДНК"/>
          <p:cNvCxnSpPr/>
          <p:nvPr/>
        </p:nvCxnSpPr>
        <p:spPr>
          <a:xfrm>
            <a:off x="3730752" y="2523918"/>
            <a:ext cx="11658" cy="1444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Цепь ДНК"/>
          <p:cNvCxnSpPr/>
          <p:nvPr/>
        </p:nvCxnSpPr>
        <p:spPr>
          <a:xfrm>
            <a:off x="3742410" y="2538361"/>
            <a:ext cx="11658" cy="15788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Цепь ДНК"/>
          <p:cNvCxnSpPr/>
          <p:nvPr/>
        </p:nvCxnSpPr>
        <p:spPr>
          <a:xfrm>
            <a:off x="3754068" y="2554149"/>
            <a:ext cx="11658" cy="1657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Цепь ДНК"/>
          <p:cNvCxnSpPr/>
          <p:nvPr/>
        </p:nvCxnSpPr>
        <p:spPr>
          <a:xfrm>
            <a:off x="3765727" y="2570723"/>
            <a:ext cx="11658" cy="1677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Цепь ДНК"/>
          <p:cNvCxnSpPr/>
          <p:nvPr/>
        </p:nvCxnSpPr>
        <p:spPr>
          <a:xfrm>
            <a:off x="3777386" y="2587495"/>
            <a:ext cx="11658" cy="1637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Цепь ДНК"/>
          <p:cNvCxnSpPr/>
          <p:nvPr/>
        </p:nvCxnSpPr>
        <p:spPr>
          <a:xfrm>
            <a:off x="3789045" y="2603871"/>
            <a:ext cx="11658" cy="1540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Цепь ДНК"/>
          <p:cNvCxnSpPr/>
          <p:nvPr/>
        </p:nvCxnSpPr>
        <p:spPr>
          <a:xfrm>
            <a:off x="3800703" y="2619272"/>
            <a:ext cx="11658" cy="1387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Цепь ДНК"/>
          <p:cNvCxnSpPr/>
          <p:nvPr/>
        </p:nvCxnSpPr>
        <p:spPr>
          <a:xfrm>
            <a:off x="3812361" y="2633150"/>
            <a:ext cx="11658" cy="1186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Цепь ДНК"/>
          <p:cNvCxnSpPr/>
          <p:nvPr/>
        </p:nvCxnSpPr>
        <p:spPr>
          <a:xfrm>
            <a:off x="3824020" y="2645016"/>
            <a:ext cx="11658" cy="9432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Цепь ДНК"/>
          <p:cNvCxnSpPr/>
          <p:nvPr/>
        </p:nvCxnSpPr>
        <p:spPr>
          <a:xfrm>
            <a:off x="3835679" y="2654448"/>
            <a:ext cx="11658" cy="666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Цепь ДНК"/>
          <p:cNvCxnSpPr/>
          <p:nvPr/>
        </p:nvCxnSpPr>
        <p:spPr>
          <a:xfrm>
            <a:off x="3847338" y="2661111"/>
            <a:ext cx="11658" cy="3660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Цепь ДНК"/>
          <p:cNvCxnSpPr/>
          <p:nvPr/>
        </p:nvCxnSpPr>
        <p:spPr>
          <a:xfrm>
            <a:off x="3858996" y="2664772"/>
            <a:ext cx="11658" cy="527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Цепь ДНК"/>
          <p:cNvCxnSpPr/>
          <p:nvPr/>
        </p:nvCxnSpPr>
        <p:spPr>
          <a:xfrm flipV="1">
            <a:off x="3870654" y="2662674"/>
            <a:ext cx="11658" cy="262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Цепь ДНК"/>
          <p:cNvCxnSpPr/>
          <p:nvPr/>
        </p:nvCxnSpPr>
        <p:spPr>
          <a:xfrm flipV="1">
            <a:off x="3882313" y="2656990"/>
            <a:ext cx="11658" cy="5684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Цепь ДНК"/>
          <p:cNvCxnSpPr/>
          <p:nvPr/>
        </p:nvCxnSpPr>
        <p:spPr>
          <a:xfrm flipV="1">
            <a:off x="3893972" y="2648448"/>
            <a:ext cx="11658" cy="854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Цепь ДНК"/>
          <p:cNvCxnSpPr/>
          <p:nvPr/>
        </p:nvCxnSpPr>
        <p:spPr>
          <a:xfrm flipV="1">
            <a:off x="3905631" y="2637351"/>
            <a:ext cx="11658" cy="11096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Цепь ДНК"/>
          <p:cNvCxnSpPr/>
          <p:nvPr/>
        </p:nvCxnSpPr>
        <p:spPr>
          <a:xfrm flipV="1">
            <a:off x="3917289" y="2624092"/>
            <a:ext cx="11658" cy="13259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Цепь ДНК"/>
          <p:cNvCxnSpPr/>
          <p:nvPr/>
        </p:nvCxnSpPr>
        <p:spPr>
          <a:xfrm flipV="1">
            <a:off x="3928947" y="2609141"/>
            <a:ext cx="11658" cy="14951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Цепь ДНК"/>
          <p:cNvCxnSpPr/>
          <p:nvPr/>
        </p:nvCxnSpPr>
        <p:spPr>
          <a:xfrm flipV="1">
            <a:off x="3940606" y="2593027"/>
            <a:ext cx="11658" cy="16113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Цепь ДНК"/>
          <p:cNvCxnSpPr/>
          <p:nvPr/>
        </p:nvCxnSpPr>
        <p:spPr>
          <a:xfrm flipV="1">
            <a:off x="3952265" y="2576322"/>
            <a:ext cx="11658" cy="16705"/>
          </a:xfrm>
          <a:prstGeom prst="line">
            <a:avLst/>
          </a:prstGeom>
          <a:ln w="19685">
            <a:solidFill>
              <a:srgbClr val="61408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Пары оснований ДНК"/>
          <p:cNvCxnSpPr/>
          <p:nvPr/>
        </p:nvCxnSpPr>
        <p:spPr>
          <a:xfrm>
            <a:off x="2798064" y="2576322"/>
            <a:ext cx="91" cy="9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Пары оснований ДНК"/>
          <p:cNvCxnSpPr/>
          <p:nvPr/>
        </p:nvCxnSpPr>
        <p:spPr>
          <a:xfrm flipV="1">
            <a:off x="2870930" y="2493954"/>
            <a:ext cx="91" cy="1647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Пары оснований ДНК"/>
          <p:cNvCxnSpPr/>
          <p:nvPr/>
        </p:nvCxnSpPr>
        <p:spPr>
          <a:xfrm flipV="1">
            <a:off x="2943796" y="2513280"/>
            <a:ext cx="91" cy="126083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Пары оснований ДНК"/>
          <p:cNvCxnSpPr/>
          <p:nvPr/>
        </p:nvCxnSpPr>
        <p:spPr>
          <a:xfrm>
            <a:off x="3016662" y="2542203"/>
            <a:ext cx="91" cy="682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Пары оснований ДНК"/>
          <p:cNvCxnSpPr/>
          <p:nvPr/>
        </p:nvCxnSpPr>
        <p:spPr>
          <a:xfrm>
            <a:off x="3089529" y="2487168"/>
            <a:ext cx="91" cy="178308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ары оснований ДНК"/>
          <p:cNvCxnSpPr/>
          <p:nvPr/>
        </p:nvCxnSpPr>
        <p:spPr>
          <a:xfrm>
            <a:off x="3162395" y="2542203"/>
            <a:ext cx="91" cy="682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Пары оснований ДНК"/>
          <p:cNvCxnSpPr/>
          <p:nvPr/>
        </p:nvCxnSpPr>
        <p:spPr>
          <a:xfrm flipV="1">
            <a:off x="3235261" y="2513280"/>
            <a:ext cx="91" cy="126083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Пары оснований ДНК"/>
          <p:cNvCxnSpPr/>
          <p:nvPr/>
        </p:nvCxnSpPr>
        <p:spPr>
          <a:xfrm flipV="1">
            <a:off x="3308127" y="2493954"/>
            <a:ext cx="91" cy="1647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Пары оснований ДНК"/>
          <p:cNvCxnSpPr/>
          <p:nvPr/>
        </p:nvCxnSpPr>
        <p:spPr>
          <a:xfrm>
            <a:off x="3380994" y="2576322"/>
            <a:ext cx="91" cy="9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Пары оснований ДНК"/>
          <p:cNvCxnSpPr/>
          <p:nvPr/>
        </p:nvCxnSpPr>
        <p:spPr>
          <a:xfrm>
            <a:off x="3453860" y="2493954"/>
            <a:ext cx="91" cy="1647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Пары оснований ДНК"/>
          <p:cNvCxnSpPr/>
          <p:nvPr/>
        </p:nvCxnSpPr>
        <p:spPr>
          <a:xfrm>
            <a:off x="3526726" y="2513280"/>
            <a:ext cx="91" cy="126083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Пары оснований ДНК"/>
          <p:cNvCxnSpPr/>
          <p:nvPr/>
        </p:nvCxnSpPr>
        <p:spPr>
          <a:xfrm flipV="1">
            <a:off x="3599592" y="2542203"/>
            <a:ext cx="91" cy="682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Пары оснований ДНК"/>
          <p:cNvCxnSpPr/>
          <p:nvPr/>
        </p:nvCxnSpPr>
        <p:spPr>
          <a:xfrm flipV="1">
            <a:off x="3672458" y="2487168"/>
            <a:ext cx="91" cy="178308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Пары оснований ДНК"/>
          <p:cNvCxnSpPr/>
          <p:nvPr/>
        </p:nvCxnSpPr>
        <p:spPr>
          <a:xfrm flipV="1">
            <a:off x="3745325" y="2542203"/>
            <a:ext cx="91" cy="682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Пары оснований ДНК"/>
          <p:cNvCxnSpPr/>
          <p:nvPr/>
        </p:nvCxnSpPr>
        <p:spPr>
          <a:xfrm>
            <a:off x="3818191" y="2513280"/>
            <a:ext cx="91" cy="126083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Пары оснований ДНК"/>
          <p:cNvCxnSpPr/>
          <p:nvPr/>
        </p:nvCxnSpPr>
        <p:spPr>
          <a:xfrm>
            <a:off x="3891057" y="2493954"/>
            <a:ext cx="91" cy="164735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Пары оснований ДНК"/>
          <p:cNvCxnSpPr/>
          <p:nvPr/>
        </p:nvCxnSpPr>
        <p:spPr>
          <a:xfrm>
            <a:off x="3963924" y="2576322"/>
            <a:ext cx="91" cy="91"/>
          </a:xfrm>
          <a:prstGeom prst="line">
            <a:avLst/>
          </a:prstGeom>
          <a:ln w="11430">
            <a:solidFill>
              <a:srgbClr val="B49AC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2" name="Работа генов"/>
          <p:cNvSpPr txBox="1"/>
          <p:nvPr/>
        </p:nvSpPr>
        <p:spPr>
          <a:xfrm>
            <a:off x="2615184" y="2788920"/>
            <a:ext cx="1536192" cy="2468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 sz="1400" b="0">
                <a:solidFill>
                  <a:srgbClr val="666666"/>
                </a:solidFill>
                <a:latin typeface="Arial Narrow"/>
                <a:cs typeface="Arial Narrow"/>
              </a:rPr>
              <a:t>Регуляция генов</a:t>
            </a:r>
          </a:p>
        </p:txBody>
      </p:sp>
      <p:sp>
        <p:nvSpPr>
          <p:cNvPr id="233" name="Минералокортикоидный рецептор"/>
          <p:cNvSpPr/>
          <p:nvPr/>
        </p:nvSpPr>
        <p:spPr>
          <a:xfrm>
            <a:off x="4855464" y="2286000"/>
            <a:ext cx="566928" cy="60350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70" y="500"/>
                </a:moveTo>
                <a:lnTo>
                  <a:pt x="962" y="524"/>
                </a:lnTo>
                <a:lnTo>
                  <a:pt x="951" y="547"/>
                </a:lnTo>
                <a:lnTo>
                  <a:pt x="937" y="569"/>
                </a:lnTo>
                <a:lnTo>
                  <a:pt x="922" y="590"/>
                </a:lnTo>
                <a:lnTo>
                  <a:pt x="906" y="609"/>
                </a:lnTo>
                <a:lnTo>
                  <a:pt x="891" y="627"/>
                </a:lnTo>
                <a:lnTo>
                  <a:pt x="877" y="645"/>
                </a:lnTo>
                <a:lnTo>
                  <a:pt x="864" y="662"/>
                </a:lnTo>
                <a:lnTo>
                  <a:pt x="853" y="680"/>
                </a:lnTo>
                <a:lnTo>
                  <a:pt x="844" y="698"/>
                </a:lnTo>
                <a:lnTo>
                  <a:pt x="836" y="718"/>
                </a:lnTo>
                <a:lnTo>
                  <a:pt x="830" y="739"/>
                </a:lnTo>
                <a:lnTo>
                  <a:pt x="824" y="762"/>
                </a:lnTo>
                <a:lnTo>
                  <a:pt x="817" y="786"/>
                </a:lnTo>
                <a:lnTo>
                  <a:pt x="810" y="810"/>
                </a:lnTo>
                <a:lnTo>
                  <a:pt x="801" y="834"/>
                </a:lnTo>
                <a:lnTo>
                  <a:pt x="790" y="858"/>
                </a:lnTo>
                <a:lnTo>
                  <a:pt x="776" y="879"/>
                </a:lnTo>
                <a:lnTo>
                  <a:pt x="759" y="899"/>
                </a:lnTo>
                <a:lnTo>
                  <a:pt x="739" y="915"/>
                </a:lnTo>
                <a:lnTo>
                  <a:pt x="717" y="927"/>
                </a:lnTo>
                <a:lnTo>
                  <a:pt x="693" y="935"/>
                </a:lnTo>
                <a:lnTo>
                  <a:pt x="668" y="938"/>
                </a:lnTo>
                <a:lnTo>
                  <a:pt x="642" y="937"/>
                </a:lnTo>
                <a:lnTo>
                  <a:pt x="616" y="932"/>
                </a:lnTo>
                <a:lnTo>
                  <a:pt x="590" y="924"/>
                </a:lnTo>
                <a:lnTo>
                  <a:pt x="565" y="913"/>
                </a:lnTo>
                <a:lnTo>
                  <a:pt x="542" y="902"/>
                </a:lnTo>
                <a:lnTo>
                  <a:pt x="520" y="890"/>
                </a:lnTo>
                <a:lnTo>
                  <a:pt x="500" y="879"/>
                </a:lnTo>
                <a:lnTo>
                  <a:pt x="481" y="869"/>
                </a:lnTo>
                <a:lnTo>
                  <a:pt x="462" y="862"/>
                </a:lnTo>
                <a:lnTo>
                  <a:pt x="443" y="858"/>
                </a:lnTo>
                <a:lnTo>
                  <a:pt x="424" y="856"/>
                </a:lnTo>
                <a:lnTo>
                  <a:pt x="404" y="858"/>
                </a:lnTo>
                <a:lnTo>
                  <a:pt x="383" y="861"/>
                </a:lnTo>
                <a:lnTo>
                  <a:pt x="359" y="866"/>
                </a:lnTo>
                <a:lnTo>
                  <a:pt x="335" y="872"/>
                </a:lnTo>
                <a:lnTo>
                  <a:pt x="308" y="877"/>
                </a:lnTo>
                <a:lnTo>
                  <a:pt x="280" y="880"/>
                </a:lnTo>
                <a:lnTo>
                  <a:pt x="252" y="881"/>
                </a:lnTo>
                <a:lnTo>
                  <a:pt x="224" y="879"/>
                </a:lnTo>
                <a:lnTo>
                  <a:pt x="197" y="874"/>
                </a:lnTo>
                <a:lnTo>
                  <a:pt x="172" y="864"/>
                </a:lnTo>
                <a:lnTo>
                  <a:pt x="150" y="850"/>
                </a:lnTo>
                <a:lnTo>
                  <a:pt x="132" y="832"/>
                </a:lnTo>
                <a:lnTo>
                  <a:pt x="117" y="810"/>
                </a:lnTo>
                <a:lnTo>
                  <a:pt x="106" y="786"/>
                </a:lnTo>
                <a:lnTo>
                  <a:pt x="100" y="760"/>
                </a:lnTo>
                <a:lnTo>
                  <a:pt x="97" y="733"/>
                </a:lnTo>
                <a:lnTo>
                  <a:pt x="97" y="705"/>
                </a:lnTo>
                <a:lnTo>
                  <a:pt x="100" y="678"/>
                </a:lnTo>
                <a:lnTo>
                  <a:pt x="104" y="652"/>
                </a:lnTo>
                <a:lnTo>
                  <a:pt x="109" y="627"/>
                </a:lnTo>
                <a:lnTo>
                  <a:pt x="114" y="604"/>
                </a:lnTo>
                <a:lnTo>
                  <a:pt x="117" y="581"/>
                </a:lnTo>
                <a:lnTo>
                  <a:pt x="118" y="560"/>
                </a:lnTo>
                <a:lnTo>
                  <a:pt x="118" y="540"/>
                </a:lnTo>
                <a:lnTo>
                  <a:pt x="115" y="520"/>
                </a:lnTo>
                <a:lnTo>
                  <a:pt x="110" y="500"/>
                </a:lnTo>
                <a:lnTo>
                  <a:pt x="103" y="479"/>
                </a:lnTo>
                <a:lnTo>
                  <a:pt x="95" y="457"/>
                </a:lnTo>
                <a:lnTo>
                  <a:pt x="88" y="435"/>
                </a:lnTo>
                <a:lnTo>
                  <a:pt x="81" y="411"/>
                </a:lnTo>
                <a:lnTo>
                  <a:pt x="76" y="386"/>
                </a:lnTo>
                <a:lnTo>
                  <a:pt x="73" y="361"/>
                </a:lnTo>
                <a:lnTo>
                  <a:pt x="74" y="336"/>
                </a:lnTo>
                <a:lnTo>
                  <a:pt x="78" y="312"/>
                </a:lnTo>
                <a:lnTo>
                  <a:pt x="87" y="289"/>
                </a:lnTo>
                <a:lnTo>
                  <a:pt x="99" y="268"/>
                </a:lnTo>
                <a:lnTo>
                  <a:pt x="115" y="250"/>
                </a:lnTo>
                <a:lnTo>
                  <a:pt x="134" y="234"/>
                </a:lnTo>
                <a:lnTo>
                  <a:pt x="155" y="221"/>
                </a:lnTo>
                <a:lnTo>
                  <a:pt x="178" y="210"/>
                </a:lnTo>
                <a:lnTo>
                  <a:pt x="202" y="202"/>
                </a:lnTo>
                <a:lnTo>
                  <a:pt x="225" y="195"/>
                </a:lnTo>
                <a:lnTo>
                  <a:pt x="248" y="189"/>
                </a:lnTo>
                <a:lnTo>
                  <a:pt x="270" y="184"/>
                </a:lnTo>
                <a:lnTo>
                  <a:pt x="291" y="178"/>
                </a:lnTo>
                <a:lnTo>
                  <a:pt x="309" y="170"/>
                </a:lnTo>
                <a:lnTo>
                  <a:pt x="327" y="161"/>
                </a:lnTo>
                <a:lnTo>
                  <a:pt x="344" y="149"/>
                </a:lnTo>
                <a:lnTo>
                  <a:pt x="360" y="135"/>
                </a:lnTo>
                <a:lnTo>
                  <a:pt x="376" y="119"/>
                </a:lnTo>
                <a:lnTo>
                  <a:pt x="393" y="101"/>
                </a:lnTo>
                <a:lnTo>
                  <a:pt x="411" y="82"/>
                </a:lnTo>
                <a:lnTo>
                  <a:pt x="431" y="64"/>
                </a:lnTo>
                <a:lnTo>
                  <a:pt x="452" y="46"/>
                </a:lnTo>
                <a:lnTo>
                  <a:pt x="475" y="31"/>
                </a:lnTo>
                <a:lnTo>
                  <a:pt x="500" y="19"/>
                </a:lnTo>
                <a:lnTo>
                  <a:pt x="526" y="10"/>
                </a:lnTo>
                <a:lnTo>
                  <a:pt x="552" y="7"/>
                </a:lnTo>
                <a:lnTo>
                  <a:pt x="578" y="8"/>
                </a:lnTo>
                <a:lnTo>
                  <a:pt x="603" y="15"/>
                </a:lnTo>
                <a:lnTo>
                  <a:pt x="627" y="27"/>
                </a:lnTo>
                <a:lnTo>
                  <a:pt x="648" y="43"/>
                </a:lnTo>
                <a:lnTo>
                  <a:pt x="668" y="63"/>
                </a:lnTo>
                <a:lnTo>
                  <a:pt x="684" y="86"/>
                </a:lnTo>
                <a:lnTo>
                  <a:pt x="699" y="110"/>
                </a:lnTo>
                <a:lnTo>
                  <a:pt x="710" y="136"/>
                </a:lnTo>
                <a:lnTo>
                  <a:pt x="721" y="160"/>
                </a:lnTo>
                <a:lnTo>
                  <a:pt x="730" y="184"/>
                </a:lnTo>
                <a:lnTo>
                  <a:pt x="739" y="205"/>
                </a:lnTo>
                <a:lnTo>
                  <a:pt x="748" y="225"/>
                </a:lnTo>
                <a:lnTo>
                  <a:pt x="758" y="242"/>
                </a:lnTo>
                <a:lnTo>
                  <a:pt x="771" y="256"/>
                </a:lnTo>
                <a:lnTo>
                  <a:pt x="785" y="269"/>
                </a:lnTo>
                <a:lnTo>
                  <a:pt x="802" y="281"/>
                </a:lnTo>
                <a:lnTo>
                  <a:pt x="821" y="292"/>
                </a:lnTo>
                <a:lnTo>
                  <a:pt x="841" y="303"/>
                </a:lnTo>
                <a:lnTo>
                  <a:pt x="863" y="315"/>
                </a:lnTo>
                <a:lnTo>
                  <a:pt x="886" y="328"/>
                </a:lnTo>
                <a:lnTo>
                  <a:pt x="907" y="344"/>
                </a:lnTo>
                <a:lnTo>
                  <a:pt x="927" y="361"/>
                </a:lnTo>
                <a:lnTo>
                  <a:pt x="944" y="381"/>
                </a:lnTo>
                <a:lnTo>
                  <a:pt x="958" y="403"/>
                </a:lnTo>
                <a:lnTo>
                  <a:pt x="968" y="426"/>
                </a:lnTo>
                <a:lnTo>
                  <a:pt x="973" y="450"/>
                </a:lnTo>
                <a:lnTo>
                  <a:pt x="974" y="475"/>
                </a:lnTo>
                <a:lnTo>
                  <a:pt x="970" y="500"/>
                </a:lnTo>
                <a:close/>
              </a:path>
            </a:pathLst>
          </a:custGeom>
          <a:gradFill rotWithShape="1">
            <a:gsLst>
              <a:gs pos="0">
                <a:srgbClr val="D4D4D4"/>
              </a:gs>
              <a:gs pos="42000">
                <a:srgbClr val="A0A0A0"/>
              </a:gs>
              <a:gs pos="100000">
                <a:srgbClr val="666666"/>
              </a:gs>
            </a:gsLst>
            <a:lin ang="2700000" scaled="1"/>
          </a:gra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34" name="Финеренон, связанный с рецептором: условный символ"/>
          <p:cNvSpPr/>
          <p:nvPr/>
        </p:nvSpPr>
        <p:spPr>
          <a:xfrm>
            <a:off x="5221224" y="2450592"/>
            <a:ext cx="192024" cy="192024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35" name="Финеренон"/>
          <p:cNvSpPr txBox="1"/>
          <p:nvPr/>
        </p:nvSpPr>
        <p:spPr>
          <a:xfrm>
            <a:off x="4498848" y="1981200"/>
            <a:ext cx="1554480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030A0"/>
                </a:solidFill>
                <a:latin typeface="Arial"/>
              </a:defRPr>
            </a:pPr>
            <a:r>
              <a:rPr sz="17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cxnSp>
        <p:nvCxnSpPr>
          <p:cNvPr id="236" name="Подпись связанного препарата"/>
          <p:cNvCxnSpPr/>
          <p:nvPr/>
        </p:nvCxnSpPr>
        <p:spPr>
          <a:xfrm>
            <a:off x="5230368" y="2203704"/>
            <a:ext cx="64008" cy="219456"/>
          </a:xfrm>
          <a:prstGeom prst="line">
            <a:avLst/>
          </a:prstGeom>
          <a:ln w="1270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Рецептор"/>
          <p:cNvSpPr txBox="1"/>
          <p:nvPr/>
        </p:nvSpPr>
        <p:spPr>
          <a:xfrm>
            <a:off x="4581144" y="2898648"/>
            <a:ext cx="1188720" cy="265176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7F7F7F"/>
                </a:solidFill>
                <a:latin typeface="Arial"/>
              </a:defRPr>
            </a:pPr>
            <a:r>
              <a:rPr sz="1400" b="1">
                <a:solidFill>
                  <a:srgbClr val="7F7F7F"/>
                </a:solidFill>
                <a:latin typeface="Arial Narrow"/>
                <a:cs typeface="Arial Narrow"/>
              </a:rPr>
              <a:t>МКР</a:t>
            </a:r>
          </a:p>
        </p:txBody>
      </p:sp>
      <p:cxnSp>
        <p:nvCxnSpPr>
          <p:cNvPr id="238" name="Ослабляемый рецепторный сигнал, не весь синтез РНК"/>
          <p:cNvCxnSpPr/>
          <p:nvPr/>
        </p:nvCxnSpPr>
        <p:spPr>
          <a:xfrm flipH="1">
            <a:off x="4279392" y="2706624"/>
            <a:ext cx="512064" cy="0"/>
          </a:xfrm>
          <a:prstGeom prst="line">
            <a:avLst/>
          </a:prstGeom>
          <a:ln w="16510">
            <a:solidFill>
              <a:srgbClr val="666666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Торможение рецепторного сигнала"/>
          <p:cNvCxnSpPr/>
          <p:nvPr/>
        </p:nvCxnSpPr>
        <p:spPr>
          <a:xfrm>
            <a:off x="4626864" y="2560320"/>
            <a:ext cx="0" cy="292608"/>
          </a:xfrm>
          <a:prstGeom prst="line">
            <a:avLst/>
          </a:prstGeom>
          <a:ln w="35560">
            <a:solidFill>
              <a:srgbClr val="7030A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Ослабляется сигнал альдостерона и стимуляция транспорта натрия"/>
          <p:cNvSpPr txBox="1"/>
          <p:nvPr/>
        </p:nvSpPr>
        <p:spPr>
          <a:xfrm>
            <a:off x="1847088" y="3264408"/>
            <a:ext cx="3794760" cy="47548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Ослабляется сигнал альдостерона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и стимуляция транспорта натрия</a:t>
            </a:r>
          </a:p>
        </p:txBody>
      </p:sp>
      <p:sp>
        <p:nvSpPr>
          <p:cNvPr id="241" name="Апикальный натриевый канал: верхняя часть"/>
          <p:cNvSpPr/>
          <p:nvPr/>
        </p:nvSpPr>
        <p:spPr>
          <a:xfrm>
            <a:off x="1243584" y="3895344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2" name="Апикальный натриевый канал: нижняя часть"/>
          <p:cNvSpPr/>
          <p:nvPr/>
        </p:nvSpPr>
        <p:spPr>
          <a:xfrm rot="10800000">
            <a:off x="1243584" y="4187952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156082"/>
              </a:gs>
              <a:gs pos="100000">
                <a:srgbClr val="156082"/>
              </a:gs>
            </a:gsLst>
            <a:lin ang="5400000" scaled="1"/>
          </a:gradFill>
          <a:ln w="889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3" name="Апикальный калиевый канал: верхняя часть"/>
          <p:cNvSpPr/>
          <p:nvPr/>
        </p:nvSpPr>
        <p:spPr>
          <a:xfrm>
            <a:off x="1243584" y="4599432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4" name="Апикальный калиевый канал: нижняя часть"/>
          <p:cNvSpPr/>
          <p:nvPr/>
        </p:nvSpPr>
        <p:spPr>
          <a:xfrm rot="10800000">
            <a:off x="1243584" y="4892040"/>
            <a:ext cx="393192" cy="192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40"/>
                </a:moveTo>
                <a:cubicBezTo>
                  <a:pt x="220" y="-20"/>
                  <a:pt x="650" y="10"/>
                  <a:pt x="950" y="100"/>
                </a:cubicBezTo>
                <a:cubicBezTo>
                  <a:pt x="860" y="270"/>
                  <a:pt x="680" y="370"/>
                  <a:pt x="585" y="730"/>
                </a:cubicBezTo>
                <a:cubicBezTo>
                  <a:pt x="540" y="900"/>
                  <a:pt x="500" y="1000"/>
                  <a:pt x="400" y="990"/>
                </a:cubicBezTo>
                <a:cubicBezTo>
                  <a:pt x="250" y="985"/>
                  <a:pt x="330" y="740"/>
                  <a:pt x="245" y="460"/>
                </a:cubicBezTo>
                <a:cubicBezTo>
                  <a:pt x="170" y="290"/>
                  <a:pt x="50" y="200"/>
                  <a:pt x="30" y="40"/>
                </a:cubicBez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22000">
                <a:srgbClr val="E97132"/>
              </a:gs>
              <a:gs pos="100000">
                <a:srgbClr val="E97132"/>
              </a:gs>
            </a:gsLst>
            <a:lin ang="5400000" scaled="1"/>
          </a:gradFill>
          <a:ln w="889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5" name="Натрий-калиевый насос в базолатеральной мембране"/>
          <p:cNvSpPr/>
          <p:nvPr/>
        </p:nvSpPr>
        <p:spPr>
          <a:xfrm>
            <a:off x="5605272" y="3867912"/>
            <a:ext cx="502920" cy="125272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10" y="0"/>
                </a:moveTo>
                <a:cubicBezTo>
                  <a:pt x="770" y="-8"/>
                  <a:pt x="910" y="95"/>
                  <a:pt x="850" y="228"/>
                </a:cubicBezTo>
                <a:cubicBezTo>
                  <a:pt x="785" y="356"/>
                  <a:pt x="967" y="384"/>
                  <a:pt x="965" y="515"/>
                </a:cubicBezTo>
                <a:cubicBezTo>
                  <a:pt x="970" y="677"/>
                  <a:pt x="800" y="733"/>
                  <a:pt x="797" y="900"/>
                </a:cubicBezTo>
                <a:cubicBezTo>
                  <a:pt x="735" y="1020"/>
                  <a:pt x="448" y="1030"/>
                  <a:pt x="312" y="937"/>
                </a:cubicBezTo>
                <a:cubicBezTo>
                  <a:pt x="174" y="845"/>
                  <a:pt x="280" y="722"/>
                  <a:pt x="223" y="647"/>
                </a:cubicBezTo>
                <a:cubicBezTo>
                  <a:pt x="9" y="571"/>
                  <a:pt x="-15" y="405"/>
                  <a:pt x="169" y="306"/>
                </a:cubicBezTo>
                <a:cubicBezTo>
                  <a:pt x="298" y="230"/>
                  <a:pt x="202" y="111"/>
                  <a:pt x="410" y="0"/>
                </a:cubicBezTo>
                <a:close/>
              </a:path>
            </a:pathLst>
          </a:custGeom>
          <a:gradFill rotWithShape="1">
            <a:gsLst>
              <a:gs pos="0">
                <a:srgbClr val="E7DEEE"/>
              </a:gs>
              <a:gs pos="37000">
                <a:srgbClr val="BEAFCF"/>
              </a:gs>
              <a:gs pos="100000">
                <a:srgbClr val="9885AC"/>
              </a:gs>
            </a:gsLst>
            <a:lin ang="0" scaled="1"/>
          </a:gradFill>
          <a:ln w="12700">
            <a:solidFill>
              <a:srgbClr val="84729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46" name="Натрий"/>
          <p:cNvSpPr txBox="1"/>
          <p:nvPr/>
        </p:nvSpPr>
        <p:spPr>
          <a:xfrm>
            <a:off x="512064" y="3276600"/>
            <a:ext cx="914400" cy="4572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Меньше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натрия</a:t>
            </a:r>
          </a:p>
        </p:txBody>
      </p:sp>
      <p:sp>
        <p:nvSpPr>
          <p:cNvPr id="247" name="Натриевый канал"/>
          <p:cNvSpPr txBox="1"/>
          <p:nvPr/>
        </p:nvSpPr>
        <p:spPr>
          <a:xfrm>
            <a:off x="1901952" y="3803904"/>
            <a:ext cx="232257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Натриевый канал</a:t>
            </a:r>
          </a:p>
        </p:txBody>
      </p:sp>
      <p:sp>
        <p:nvSpPr>
          <p:cNvPr id="248" name="Далее в кровь"/>
          <p:cNvSpPr txBox="1"/>
          <p:nvPr/>
        </p:nvSpPr>
        <p:spPr>
          <a:xfrm>
            <a:off x="6309360" y="3685032"/>
            <a:ext cx="950976" cy="43891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Далее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156082"/>
                </a:solidFill>
                <a:latin typeface="Arial"/>
              </a:defRPr>
            </a:pPr>
            <a:r>
              <a:rPr sz="1400" b="1">
                <a:solidFill>
                  <a:srgbClr val="156082"/>
                </a:solidFill>
                <a:latin typeface="Arial Narrow"/>
                <a:cs typeface="Arial Narrow"/>
              </a:rPr>
              <a:t>в кровь</a:t>
            </a:r>
          </a:p>
        </p:txBody>
      </p:sp>
      <p:cxnSp>
        <p:nvCxnSpPr>
          <p:cNvPr id="249" name="Натрий: просвет → канал → цитоплазма → насос"/>
          <p:cNvCxnSpPr/>
          <p:nvPr/>
        </p:nvCxnSpPr>
        <p:spPr>
          <a:xfrm>
            <a:off x="768096" y="4142232"/>
            <a:ext cx="4837176" cy="0"/>
          </a:xfrm>
          <a:prstGeom prst="line">
            <a:avLst/>
          </a:prstGeom>
          <a:ln w="15875">
            <a:solidFill>
              <a:srgbClr val="15608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Натрий: насос → интерстиций; далее в кровь"/>
          <p:cNvCxnSpPr/>
          <p:nvPr/>
        </p:nvCxnSpPr>
        <p:spPr>
          <a:xfrm>
            <a:off x="6062472" y="4142232"/>
            <a:ext cx="978408" cy="0"/>
          </a:xfrm>
          <a:prstGeom prst="line">
            <a:avLst/>
          </a:prstGeom>
          <a:ln w="27940">
            <a:solidFill>
              <a:srgbClr val="15608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1" name="Калиевый канал"/>
          <p:cNvSpPr txBox="1"/>
          <p:nvPr/>
        </p:nvSpPr>
        <p:spPr>
          <a:xfrm>
            <a:off x="1901952" y="4517136"/>
            <a:ext cx="2322576" cy="27432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Калиевый канал</a:t>
            </a:r>
          </a:p>
        </p:txBody>
      </p:sp>
      <p:sp>
        <p:nvSpPr>
          <p:cNvPr id="252" name="Калий"/>
          <p:cNvSpPr txBox="1"/>
          <p:nvPr/>
        </p:nvSpPr>
        <p:spPr>
          <a:xfrm>
            <a:off x="6291072" y="4992624"/>
            <a:ext cx="960120" cy="256032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5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253" name="В просвет"/>
          <p:cNvSpPr txBox="1"/>
          <p:nvPr/>
        </p:nvSpPr>
        <p:spPr>
          <a:xfrm>
            <a:off x="475488" y="5105400"/>
            <a:ext cx="914400" cy="6604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Меньше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калия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E97132"/>
                </a:solidFill>
                <a:latin typeface="Arial"/>
              </a:defRPr>
            </a:pPr>
            <a:r>
              <a:rPr sz="1400" b="1">
                <a:solidFill>
                  <a:srgbClr val="E97132"/>
                </a:solidFill>
                <a:latin typeface="Arial Narrow"/>
                <a:cs typeface="Arial Narrow"/>
              </a:rPr>
              <a:t>в просвет</a:t>
            </a:r>
          </a:p>
        </p:txBody>
      </p:sp>
      <p:cxnSp>
        <p:nvCxnSpPr>
          <p:cNvPr id="254" name="Калий: интерстиций → насос"/>
          <p:cNvCxnSpPr/>
          <p:nvPr/>
        </p:nvCxnSpPr>
        <p:spPr>
          <a:xfrm flipH="1">
            <a:off x="6080760" y="4846320"/>
            <a:ext cx="960120" cy="0"/>
          </a:xfrm>
          <a:prstGeom prst="line">
            <a:avLst/>
          </a:prstGeom>
          <a:ln w="27940">
            <a:solidFill>
              <a:srgbClr val="E97132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Калий: цитоплазма → отдельный канал → просвет"/>
          <p:cNvCxnSpPr/>
          <p:nvPr/>
        </p:nvCxnSpPr>
        <p:spPr>
          <a:xfrm flipH="1">
            <a:off x="768096" y="4846320"/>
            <a:ext cx="4882896" cy="0"/>
          </a:xfrm>
          <a:prstGeom prst="line">
            <a:avLst/>
          </a:prstGeom>
          <a:ln w="15875">
            <a:solidFill>
              <a:srgbClr val="E97132"/>
            </a:solidFill>
            <a:prstDash val="dash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Натрий-калиевый насос"/>
          <p:cNvSpPr txBox="1"/>
          <p:nvPr/>
        </p:nvSpPr>
        <p:spPr>
          <a:xfrm>
            <a:off x="4507992" y="5367528"/>
            <a:ext cx="2825496" cy="292608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0000"/>
                </a:solidFill>
                <a:latin typeface="Arial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Натрий-калиевый насос</a:t>
            </a:r>
          </a:p>
        </p:txBody>
      </p:sp>
      <p:sp>
        <p:nvSpPr>
          <p:cNvPr id="266" name="Альдостерон_точка"/>
          <p:cNvSpPr/>
          <p:nvPr/>
        </p:nvSpPr>
        <p:spPr>
          <a:xfrm>
            <a:off x="6604000" y="2387600"/>
            <a:ext cx="127000" cy="12700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txBody>
          <a:bodyPr rtlCol="0" anchor="ctr"/>
          <a:lstStyle/>
          <a:p>
            <a:pPr algn="ctr">
              <a:lnSpc>
                <a:spcPct val="90000"/>
              </a:lnSpc>
            </a:pPr>
            <a:endParaRPr/>
          </a:p>
        </p:txBody>
      </p:sp>
      <p:sp>
        <p:nvSpPr>
          <p:cNvPr id="267" name="Метка_альдостерон"/>
          <p:cNvSpPr txBox="1"/>
          <p:nvPr/>
        </p:nvSpPr>
        <p:spPr>
          <a:xfrm>
            <a:off x="6172200" y="2108200"/>
            <a:ext cx="1143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666666"/>
                </a:solidFill>
                <a:latin typeface="Arial Narrow"/>
                <a:cs typeface="Arial Narrow"/>
              </a:rPr>
              <a:t>Альдостерон</a:t>
            </a:r>
          </a:p>
        </p:txBody>
      </p:sp>
      <p:cxnSp>
        <p:nvCxnSpPr>
          <p:cNvPr id="268" name="Путь_альдостерона"/>
          <p:cNvCxnSpPr/>
          <p:nvPr/>
        </p:nvCxnSpPr>
        <p:spPr>
          <a:xfrm flipH="1">
            <a:off x="5549900" y="2451100"/>
            <a:ext cx="1028700" cy="25400"/>
          </a:xfrm>
          <a:prstGeom prst="line">
            <a:avLst/>
          </a:prstGeom>
          <a:ln w="15875">
            <a:solidFill>
              <a:srgbClr val="666666"/>
            </a:solidFill>
          </a:ln>
        </p:spPr>
      </p:cxnSp>
      <p:cxnSp>
        <p:nvCxnSpPr>
          <p:cNvPr id="269" name="Блок_альдостерона"/>
          <p:cNvCxnSpPr/>
          <p:nvPr/>
        </p:nvCxnSpPr>
        <p:spPr>
          <a:xfrm>
            <a:off x="5549900" y="2362200"/>
            <a:ext cx="0" cy="228600"/>
          </a:xfrm>
          <a:prstGeom prst="line">
            <a:avLst/>
          </a:prstGeom>
          <a:ln w="31750">
            <a:solidFill>
              <a:srgbClr val="7030A0"/>
            </a:solidFill>
          </a:ln>
        </p:spPr>
      </p:cxnSp>
      <p:sp>
        <p:nvSpPr>
          <p:cNvPr id="270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Kerendia. Summary of Product Characteristics (EMA). Agarwal R, et al. Eur Heart J. 2022;43:474–484. Agarwal R, et al. J Am Soc Nephrol. 2022;33:225–237. Agarwal R, et al. N Engl J Med. 2025;393:533–543. Agarwal R, et al. J Am Coll Cardiol. 2026;87:772–784. Sørensen MV, et al. JCI Insight. 2019;4:e126910. Czogalla J, et al. Pflügers Arch. 2016;468:849–858.</a:t>
            </a:r>
            <a:endParaRPr lang="ru-RU" sz="800" b="0" dirty="0"/>
          </a:p>
        </p:txBody>
      </p:sp>
      <p:pic>
        <p:nvPicPr>
          <p:cNvPr id="27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72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МКР: минералокортикоидный рецептор; рСКФ: расчётная скорость клубочковой фильтрации; гиперкалиемия в FIDELITY: нежелательные явления «гиперкалиемия» и «повышение калия в крови» по сообщению исследователя.</a:t>
            </a:r>
            <a:endParaRPr lang="ru-RU" sz="1000" b="0" dirty="0"/>
          </a:p>
        </p:txBody>
      </p:sp>
      <p:sp>
        <p:nvSpPr>
          <p:cNvPr id="273" name="Полоса_риск"/>
          <p:cNvSpPr/>
          <p:nvPr/>
        </p:nvSpPr>
        <p:spPr>
          <a:xfrm>
            <a:off x="7696200" y="10160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Кому проверять калий особенно внимательно</a:t>
            </a:r>
          </a:p>
        </p:txBody>
      </p:sp>
      <p:sp>
        <p:nvSpPr>
          <p:cNvPr id="274" name="Карточка_риск"/>
          <p:cNvSpPr/>
          <p:nvPr/>
        </p:nvSpPr>
        <p:spPr>
          <a:xfrm>
            <a:off x="7696200" y="1371600"/>
            <a:ext cx="4038600" cy="2133600"/>
          </a:xfrm>
          <a:prstGeom prst="roundRect">
            <a:avLst>
              <a:gd name="adj" fmla="val 476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75" name="Текст_факторы_риска"/>
          <p:cNvSpPr txBox="1"/>
          <p:nvPr/>
        </p:nvSpPr>
        <p:spPr>
          <a:xfrm>
            <a:off x="7823200" y="1447800"/>
            <a:ext cx="3784600" cy="1320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Анализ FIDELIO-DKD: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высокий исходный калий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Сниженная функция почек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высокая альбуминурия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Женский пол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Приём β-адреноблокаторов</a:t>
            </a:r>
          </a:p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Более молодой возраст</a:t>
            </a:r>
          </a:p>
        </p:txBody>
      </p:sp>
      <p:cxnSp>
        <p:nvCxnSpPr>
          <p:cNvPr id="276" name="Разделитель_риск"/>
          <p:cNvCxnSpPr/>
          <p:nvPr/>
        </p:nvCxnSpPr>
        <p:spPr>
          <a:xfrm>
            <a:off x="7823200" y="2806700"/>
            <a:ext cx="3784600" cy="0"/>
          </a:xfrm>
          <a:prstGeom prst="line">
            <a:avLst/>
          </a:prstGeom>
          <a:ln w="12700">
            <a:solidFill>
              <a:srgbClr val="BFBFBF"/>
            </a:solidFill>
          </a:ln>
        </p:spPr>
      </p:cxnSp>
      <p:sp>
        <p:nvSpPr>
          <p:cNvPr id="277" name="Текст_также"/>
          <p:cNvSpPr txBox="1"/>
          <p:nvPr/>
        </p:nvSpPr>
        <p:spPr>
          <a:xfrm>
            <a:off x="7823200" y="2844800"/>
            <a:ext cx="3784600" cy="584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Также: острое заболевание, обезвоживание, лекарства, повышающие калий или концентрацию финеренона.</a:t>
            </a:r>
          </a:p>
        </p:txBody>
      </p:sp>
      <p:sp>
        <p:nvSpPr>
          <p:cNvPr id="278" name="Полоса_FIDELITY"/>
          <p:cNvSpPr/>
          <p:nvPr/>
        </p:nvSpPr>
        <p:spPr>
          <a:xfrm>
            <a:off x="7696200" y="35814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FIDELITY, медиана наблюдения 3,0 года</a:t>
            </a:r>
          </a:p>
        </p:txBody>
      </p:sp>
      <p:sp>
        <p:nvSpPr>
          <p:cNvPr id="279" name="Карточка_FIDELITY"/>
          <p:cNvSpPr/>
          <p:nvPr/>
        </p:nvSpPr>
        <p:spPr>
          <a:xfrm>
            <a:off x="7696200" y="3937000"/>
            <a:ext cx="4038600" cy="9144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0" name="Легенда_FIDELITY"/>
          <p:cNvSpPr txBox="1"/>
          <p:nvPr/>
        </p:nvSpPr>
        <p:spPr>
          <a:xfrm>
            <a:off x="7823200" y="3987800"/>
            <a:ext cx="37846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и </a:t>
            </a:r>
            <a:r>
              <a:rPr sz="1400" b="1">
                <a:solidFill>
                  <a:srgbClr val="7F7F7F"/>
                </a:solidFill>
                <a:latin typeface="Arial Narrow"/>
                <a:cs typeface="Arial Narrow"/>
              </a:rPr>
              <a:t>плацебо</a:t>
            </a:r>
          </a:p>
        </p:txBody>
      </p:sp>
      <p:sp>
        <p:nvSpPr>
          <p:cNvPr id="281" name="Число_гиперкалиемия"/>
          <p:cNvSpPr txBox="1"/>
          <p:nvPr/>
        </p:nvSpPr>
        <p:spPr>
          <a:xfrm>
            <a:off x="7772400" y="4178300"/>
            <a:ext cx="20320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14,0%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 и 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6,9%</a:t>
            </a:r>
          </a:p>
        </p:txBody>
      </p:sp>
      <p:sp>
        <p:nvSpPr>
          <p:cNvPr id="282" name="Подпись_гиперкалиемия"/>
          <p:cNvSpPr txBox="1"/>
          <p:nvPr/>
        </p:nvSpPr>
        <p:spPr>
          <a:xfrm>
            <a:off x="7772400" y="4597400"/>
            <a:ext cx="2032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</a:t>
            </a:r>
          </a:p>
        </p:txBody>
      </p:sp>
      <p:sp>
        <p:nvSpPr>
          <p:cNvPr id="283" name="Число_отмена"/>
          <p:cNvSpPr txBox="1"/>
          <p:nvPr/>
        </p:nvSpPr>
        <p:spPr>
          <a:xfrm>
            <a:off x="9880600" y="4178300"/>
            <a:ext cx="1854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 и 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</a:p>
        </p:txBody>
      </p:sp>
      <p:sp>
        <p:nvSpPr>
          <p:cNvPr id="284" name="Подпись_отмена"/>
          <p:cNvSpPr txBox="1"/>
          <p:nvPr/>
        </p:nvSpPr>
        <p:spPr>
          <a:xfrm>
            <a:off x="9880600" y="4597400"/>
            <a:ext cx="18542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</a:t>
            </a:r>
          </a:p>
        </p:txBody>
      </p:sp>
      <p:sp>
        <p:nvSpPr>
          <p:cNvPr id="285" name="Полоса_правило"/>
          <p:cNvSpPr/>
          <p:nvPr/>
        </p:nvSpPr>
        <p:spPr>
          <a:xfrm>
            <a:off x="7696200" y="4927600"/>
            <a:ext cx="4038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Правило контроля</a:t>
            </a:r>
          </a:p>
        </p:txBody>
      </p:sp>
      <p:sp>
        <p:nvSpPr>
          <p:cNvPr id="286" name="Карточка_правило"/>
          <p:cNvSpPr/>
          <p:nvPr/>
        </p:nvSpPr>
        <p:spPr>
          <a:xfrm>
            <a:off x="7696200" y="5283200"/>
            <a:ext cx="4038600" cy="774700"/>
          </a:xfrm>
          <a:prstGeom prst="roundRect">
            <a:avLst>
              <a:gd name="adj" fmla="val 131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7" name="Текст_правило"/>
          <p:cNvSpPr txBox="1"/>
          <p:nvPr/>
        </p:nvSpPr>
        <p:spPr>
          <a:xfrm>
            <a:off x="7823200" y="5359400"/>
            <a:ext cx="3784600" cy="647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Калий и рСКФ: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до начала, через 4 недели и далее периодически. </a:t>
            </a: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Калий выше 5,5 ммоль/л: 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препарат временно отменяют.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Заголовок">
            <a:extLst>
              <a:ext uri="{FF2B5EF4-FFF2-40B4-BE49-F238E27FC236}">
                <a16:creationId xmlns:a16="http://schemas.microsoft.com/office/drawing/2014/main" id="{D5655B0C-3516-4E1A-8203-03ADC0971886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/>
          <a:p>
            <a:pPr>
              <a:defRPr sz="255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Лекарства, которые подавляют или ускоряют CYP3A4, меняют концентрацию финеренона</a:t>
            </a:r>
            <a:endParaRPr sz="2000" b="0" dirty="0"/>
          </a:p>
        </p:txBody>
      </p:sp>
      <p:sp>
        <p:nvSpPr>
          <p:cNvPr id="2" name="Одинаковая доза">
            <a:extLst>
              <a:ext uri="{FF2B5EF4-FFF2-40B4-BE49-F238E27FC236}">
                <a16:creationId xmlns:a16="http://schemas.microsoft.com/office/drawing/2014/main" id="{FCB025CC-ED79-4127-8E16-D9F130BE000E}"/>
              </a:ext>
            </a:extLst>
          </p:cNvPr>
          <p:cNvSpPr>
            <a:spLocks noGrp="1"/>
          </p:cNvSpPr>
          <p:nvPr/>
        </p:nvSpPr>
        <p:spPr>
          <a:xfrm>
            <a:off x="457200" y="965200"/>
            <a:ext cx="112776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0" rIns="0" tIns="0" bIns="0" anchor="t">
            <a:noAutofit/>
          </a:bodyPr>
          <a:lstStyle/>
          <a:p>
            <a:pPr>
              <a:defRPr sz="1725" b="0">
                <a:solidFill>
                  <a:srgbClr val="555555"/>
                </a:solidFill>
                <a:latin typeface="Arial Narrow"/>
                <a:ea typeface="Arial Narrow"/>
                <a:cs typeface="Arial Narrow"/>
              </a:defRPr>
            </a:pPr>
            <a:r>
              <a:rPr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При одинаковой дозе. Около 90% финеренона превращается в неактивные метаболиты с участием CYP3A4, около 10% с участием CYP2C8.</a:t>
            </a:r>
          </a:p>
        </p:txBody>
      </p:sp>
      <p:sp>
        <p:nvSpPr>
          <p:cNvPr id="20" name="Источники">
            <a:extLst>
              <a:ext uri="{FF2B5EF4-FFF2-40B4-BE49-F238E27FC236}">
                <a16:creationId xmlns:a16="http://schemas.microsoft.com/office/drawing/2014/main" id="{39F1E6DB-3101-4500-89DC-5CB4CB80B2BB}"/>
              </a:ext>
            </a:extLst>
          </p:cNvPr>
          <p:cNvSpPr>
            <a:spLocks noGrp="1"/>
          </p:cNvSpPr>
          <p:nvPr/>
        </p:nvSpPr>
        <p:spPr>
          <a:xfrm>
            <a:off x="457200" y="6629400"/>
            <a:ext cx="10477500" cy="20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>
            <a:noAutofit/>
          </a:bodyPr>
          <a:lstStyle/>
          <a:p>
            <a:pPr>
              <a:defRPr sz="900" b="0">
                <a:solidFill>
                  <a:srgbClr val="555555"/>
                </a:solidFill>
                <a:latin typeface="Arial Narrow"/>
                <a:ea typeface="Arial Narrow"/>
                <a:cs typeface="Arial Narrow"/>
              </a:defRPr>
            </a:pPr>
            <a:r>
              <a:rPr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 (метаболизм, сильные ингибиторы CYP3A4). Kerendia. Summary of Product Characteristics, раздел 4.5 (умеренные и слабые ингибиторы, индукторы, грейпфрут).</a:t>
            </a:r>
            <a:endParaRPr sz="800" b="0" dirty="0"/>
          </a:p>
        </p:txBody>
      </p:sp>
      <p:pic>
        <p:nvPicPr>
          <p:cNvPr id="999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000" name="Узел_финеренон"/>
          <p:cNvSpPr/>
          <p:nvPr/>
        </p:nvSpPr>
        <p:spPr>
          <a:xfrm>
            <a:off x="457200" y="1346200"/>
            <a:ext cx="2540000" cy="457200"/>
          </a:xfrm>
          <a:prstGeom prst="roundRect">
            <a:avLst>
              <a:gd name="adj" fmla="val 22222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Финеренон</a:t>
            </a:r>
          </a:p>
        </p:txBody>
      </p:sp>
      <p:sp>
        <p:nvSpPr>
          <p:cNvPr id="1001" name="Шеврон_1"/>
          <p:cNvSpPr/>
          <p:nvPr/>
        </p:nvSpPr>
        <p:spPr>
          <a:xfrm>
            <a:off x="3098800" y="1397000"/>
            <a:ext cx="7112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2" name="Узел_CYP3A4"/>
          <p:cNvSpPr/>
          <p:nvPr/>
        </p:nvSpPr>
        <p:spPr>
          <a:xfrm>
            <a:off x="3911600" y="1346200"/>
            <a:ext cx="3810000" cy="457200"/>
          </a:xfrm>
          <a:prstGeom prst="roundRect">
            <a:avLst>
              <a:gd name="adj" fmla="val 22222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CYP3A4: печень и стенка кишечника</a:t>
            </a:r>
          </a:p>
        </p:txBody>
      </p:sp>
      <p:sp>
        <p:nvSpPr>
          <p:cNvPr id="1003" name="Шеврон_2"/>
          <p:cNvSpPr/>
          <p:nvPr/>
        </p:nvSpPr>
        <p:spPr>
          <a:xfrm>
            <a:off x="7823200" y="1397000"/>
            <a:ext cx="711200" cy="3556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4" name="Узел_метаболиты"/>
          <p:cNvSpPr/>
          <p:nvPr/>
        </p:nvSpPr>
        <p:spPr>
          <a:xfrm>
            <a:off x="8636000" y="1346200"/>
            <a:ext cx="3098800" cy="457200"/>
          </a:xfrm>
          <a:prstGeom prst="roundRect">
            <a:avLst>
              <a:gd name="adj" fmla="val 22222"/>
            </a:avLst>
          </a:prstGeom>
          <a:solidFill>
            <a:srgbClr val="666666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Неактивные метаболиты</a:t>
            </a:r>
          </a:p>
        </p:txBody>
      </p:sp>
      <p:sp>
        <p:nvSpPr>
          <p:cNvPr id="1005" name="Подпись_шевроны"/>
          <p:cNvSpPr txBox="1"/>
          <p:nvPr/>
        </p:nvSpPr>
        <p:spPr>
          <a:xfrm>
            <a:off x="6146800" y="1854200"/>
            <a:ext cx="40640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666666"/>
                </a:solidFill>
                <a:latin typeface="Arial Narrow"/>
                <a:cs typeface="Arial Narrow"/>
              </a:rPr>
              <a:t>ингибиторы замедляют фермент, индукторы ускоряют</a:t>
            </a:r>
          </a:p>
        </p:txBody>
      </p:sp>
      <p:sp>
        <p:nvSpPr>
          <p:cNvPr id="1006" name="Полоса_ингибиторы"/>
          <p:cNvSpPr/>
          <p:nvPr/>
        </p:nvSpPr>
        <p:spPr>
          <a:xfrm>
            <a:off x="457200" y="2184400"/>
            <a:ext cx="3810000" cy="431800"/>
          </a:xfrm>
          <a:prstGeom prst="roundRect">
            <a:avLst>
              <a:gd name="adj" fmla="val 23529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Ингибиторы: метаболизм замедляется</a:t>
            </a:r>
          </a:p>
        </p:txBody>
      </p:sp>
      <p:sp>
        <p:nvSpPr>
          <p:cNvPr id="1007" name="Эффект_ингибиторы"/>
          <p:cNvSpPr/>
          <p:nvPr/>
        </p:nvSpPr>
        <p:spPr>
          <a:xfrm>
            <a:off x="457200" y="2667000"/>
            <a:ext cx="3810000" cy="10922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Концентрация финеренона в крови выше.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Риск гиперкалиемии может повышаться.</a:t>
            </a:r>
          </a:p>
        </p:txBody>
      </p:sp>
      <p:sp>
        <p:nvSpPr>
          <p:cNvPr id="1008" name="Правила_фон_ингибиторы"/>
          <p:cNvSpPr/>
          <p:nvPr/>
        </p:nvSpPr>
        <p:spPr>
          <a:xfrm>
            <a:off x="4419600" y="2184400"/>
            <a:ext cx="7315200" cy="1574800"/>
          </a:xfrm>
          <a:prstGeom prst="roundRect">
            <a:avLst>
              <a:gd name="adj" fmla="val 645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9" name="Правила_ингибиторы"/>
          <p:cNvSpPr txBox="1"/>
          <p:nvPr/>
        </p:nvSpPr>
        <p:spPr>
          <a:xfrm>
            <a:off x="4572000" y="2311400"/>
            <a:ext cx="7010400" cy="1320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Сильные ингибиторы, например кларитромицин и ритонавир: </a:t>
            </a: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противопоказаны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Умеренные и слабые ингибиторы: калий контролируют при начале приёма или изменении дозы; при необходимости врач корректирует дозу финеренона.</a:t>
            </a:r>
          </a:p>
        </p:txBody>
      </p:sp>
      <p:sp>
        <p:nvSpPr>
          <p:cNvPr id="1010" name="Полоса_индукторы"/>
          <p:cNvSpPr/>
          <p:nvPr/>
        </p:nvSpPr>
        <p:spPr>
          <a:xfrm>
            <a:off x="457200" y="3860800"/>
            <a:ext cx="38100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Индукторы: метаболизм ускоряется</a:t>
            </a:r>
          </a:p>
        </p:txBody>
      </p:sp>
      <p:sp>
        <p:nvSpPr>
          <p:cNvPr id="1011" name="Эффект_индукторы"/>
          <p:cNvSpPr/>
          <p:nvPr/>
        </p:nvSpPr>
        <p:spPr>
          <a:xfrm>
            <a:off x="457200" y="4343400"/>
            <a:ext cx="3810000" cy="1092200"/>
          </a:xfrm>
          <a:prstGeom prst="roundRect">
            <a:avLst>
              <a:gd name="adj" fmla="val 930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27000" rIns="127000" tIns="50800" bIns="508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Концентрация финеренона в крови ниже.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Лечебный эффект может ослабевать.</a:t>
            </a:r>
          </a:p>
        </p:txBody>
      </p:sp>
      <p:sp>
        <p:nvSpPr>
          <p:cNvPr id="1012" name="Правила_фон_индукторы"/>
          <p:cNvSpPr/>
          <p:nvPr/>
        </p:nvSpPr>
        <p:spPr>
          <a:xfrm>
            <a:off x="4419600" y="3860800"/>
            <a:ext cx="7315200" cy="1574800"/>
          </a:xfrm>
          <a:prstGeom prst="roundRect">
            <a:avLst>
              <a:gd name="adj" fmla="val 645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13" name="Правила_индукторы"/>
          <p:cNvSpPr txBox="1"/>
          <p:nvPr/>
        </p:nvSpPr>
        <p:spPr>
          <a:xfrm>
            <a:off x="4572000" y="3987800"/>
            <a:ext cx="7010400" cy="1320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Сильные и умеренные индукторы, например рифампицин: совместное применение </a:t>
            </a:r>
            <a:r>
              <a:rPr sz="1700" b="1">
                <a:solidFill>
                  <a:srgbClr val="000000"/>
                </a:solidFill>
                <a:latin typeface="Arial Narrow"/>
                <a:cs typeface="Arial Narrow"/>
              </a:rPr>
              <a:t>не рекомендуется</a:t>
            </a: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  <a:p>
            <a:pPr algn="l" marL="152400" indent="-152400">
              <a:lnSpc>
                <a:spcPct val="90000"/>
              </a:lnSpc>
              <a:spcAft>
                <a:spcPts val="800"/>
              </a:spcAft>
              <a:buChar char="•"/>
            </a:pPr>
            <a:r>
              <a:rPr sz="1700" b="0">
                <a:solidFill>
                  <a:srgbClr val="000000"/>
                </a:solidFill>
                <a:latin typeface="Arial Narrow"/>
                <a:cs typeface="Arial Narrow"/>
              </a:rPr>
              <a:t>Грейпфрут и его сок исключают на время лечения.</a:t>
            </a:r>
          </a:p>
        </p:txBody>
      </p:sp>
      <p:sp>
        <p:nvSpPr>
          <p:cNvPr id="1014" name="Итоговая_плашка"/>
          <p:cNvSpPr/>
          <p:nvPr/>
        </p:nvSpPr>
        <p:spPr>
          <a:xfrm>
            <a:off x="457200" y="5562600"/>
            <a:ext cx="11277600" cy="5080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Перед назначением нужен полный список лекарств, добавок и безрецептурных средств.</a:t>
            </a:r>
          </a:p>
        </p:txBody>
      </p:sp>
      <p:sp>
        <p:nvSpPr>
          <p:cNvPr id="1015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CYP3A4, CYP2C8: изоферменты цитохрома P450.</a:t>
            </a:r>
          </a:p>
        </p:txBody>
      </p:sp>
    </p:spTree>
    <p:extLst>
      <p:ext uri="{BB962C8B-B14F-4D97-AF65-F5344CB8AC3E}">
        <p14:creationId xmlns:p14="http://schemas.microsoft.com/office/powerpoint/2010/main" val="14879384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Три группы взаимодействий финеренона: что противопоказано, чего избегают и что требует контроля калия</a:t>
            </a:r>
            <a:endParaRPr lang="ru-RU" sz="2000" b="0" dirty="0"/>
          </a:p>
        </p:txBody>
      </p:sp>
      <p:sp>
        <p:nvSpPr>
          <p:cNvPr id="21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Kerendia. Summary of Product Characteristics, раздел 4.5. KDIGO 2024. Kidney Int. 2024;105(4S):S117–S314.</a:t>
            </a:r>
            <a:endParaRPr lang="ru-RU" sz="800" b="0" dirty="0"/>
          </a:p>
        </p:txBody>
      </p:sp>
      <p:pic>
        <p:nvPicPr>
          <p:cNvPr id="22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3" name="Светофор_полоса_1"/>
          <p:cNvSpPr/>
          <p:nvPr/>
        </p:nvSpPr>
        <p:spPr>
          <a:xfrm>
            <a:off x="45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Противопоказано</a:t>
            </a:r>
          </a:p>
        </p:txBody>
      </p:sp>
      <p:sp>
        <p:nvSpPr>
          <p:cNvPr id="24" name="Светофор_фон_1"/>
          <p:cNvSpPr/>
          <p:nvPr/>
        </p:nvSpPr>
        <p:spPr>
          <a:xfrm>
            <a:off x="45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Светофор_текст_1"/>
          <p:cNvSpPr txBox="1"/>
          <p:nvPr/>
        </p:nvSpPr>
        <p:spPr>
          <a:xfrm>
            <a:off x="609600" y="1574800"/>
            <a:ext cx="3352800" cy="30806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Сильные ингибиторы CYP3A4: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кларитромицин, кетоконазол, итраконазол, ритонавир, нелфинавир и др.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Концентрация финеренона повышается.</a:t>
            </a:r>
            <a:endParaRPr lang="ru-RU" sz="1600"/>
          </a:p>
        </p:txBody>
      </p:sp>
      <p:sp>
        <p:nvSpPr>
          <p:cNvPr id="26" name="Светофор_полоса_2"/>
          <p:cNvSpPr/>
          <p:nvPr/>
        </p:nvSpPr>
        <p:spPr>
          <a:xfrm>
            <a:off x="426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FFD009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 dirty="0">
                <a:solidFill>
                  <a:srgbClr val="000000"/>
                </a:solidFill>
                <a:latin typeface="Arial Narrow"/>
                <a:cs typeface="Arial Narrow"/>
              </a:rPr>
              <a:t>Избегают сочетаний</a:t>
            </a:r>
            <a:endParaRPr sz="1700" b="0" dirty="0"/>
          </a:p>
        </p:txBody>
      </p:sp>
      <p:sp>
        <p:nvSpPr>
          <p:cNvPr id="27" name="Светофор_фон_2"/>
          <p:cNvSpPr/>
          <p:nvPr/>
        </p:nvSpPr>
        <p:spPr>
          <a:xfrm>
            <a:off x="426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8" name="Светофор_текст_2"/>
          <p:cNvSpPr txBox="1"/>
          <p:nvPr/>
        </p:nvSpPr>
        <p:spPr>
          <a:xfrm>
            <a:off x="4419600" y="1574800"/>
            <a:ext cx="3352800" cy="30806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Другие антагонисты МКР: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спиронолактон, эплеренон.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Калийсберегающие диуретики: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амилорид, триамтерен.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Сильные и умеренные индукторы CYP3A4: 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рифампицин, карбамазепин, зверобой, эфавиренз.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Грейпфрут и его сок исключают.</a:t>
            </a:r>
            <a:endParaRPr lang="ru-RU" sz="1600"/>
          </a:p>
        </p:txBody>
      </p:sp>
      <p:sp>
        <p:nvSpPr>
          <p:cNvPr id="29" name="Светофор_полоса_3"/>
          <p:cNvSpPr/>
          <p:nvPr/>
        </p:nvSpPr>
        <p:spPr>
          <a:xfrm>
            <a:off x="8077200" y="1016000"/>
            <a:ext cx="36576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С контролем калия</a:t>
            </a:r>
          </a:p>
        </p:txBody>
      </p:sp>
      <p:sp>
        <p:nvSpPr>
          <p:cNvPr id="30" name="Светофор_фон_3"/>
          <p:cNvSpPr/>
          <p:nvPr/>
        </p:nvSpPr>
        <p:spPr>
          <a:xfrm>
            <a:off x="8077200" y="1473200"/>
            <a:ext cx="3657600" cy="3258433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Светофор_текст_3"/>
          <p:cNvSpPr txBox="1"/>
          <p:nvPr/>
        </p:nvSpPr>
        <p:spPr>
          <a:xfrm>
            <a:off x="8229600" y="1574800"/>
            <a:ext cx="3352800" cy="308063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Препараты калия.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Триметоприм, в том числе ко‑тримоксазол.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Умеренные и слабые ингибиторы CYP3A4.</a:t>
            </a:r>
            <a:endParaRPr lang="ru-RU" sz="1600"/>
          </a:p>
        </p:txBody>
      </p:sp>
      <p:sp>
        <p:nvSpPr>
          <p:cNvPr id="38" name="Карточка_фоновая_терапия"/>
          <p:cNvSpPr/>
          <p:nvPr/>
        </p:nvSpPr>
        <p:spPr>
          <a:xfrm>
            <a:off x="457200" y="4826000"/>
            <a:ext cx="11277600" cy="6096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2" name="Светофор_вывод"/>
          <p:cNvSpPr txBox="1"/>
          <p:nvPr/>
        </p:nvSpPr>
        <p:spPr>
          <a:xfrm>
            <a:off x="584200" y="4876800"/>
            <a:ext cx="110236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Фоновая терапия: 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 ингибитору АПФ или БРА в максимально переносимой дозе финеренон добавляют по показаниям. Калий и функцию почек продолжают контролировать.</a:t>
            </a:r>
          </a:p>
        </p:txBody>
      </p:sp>
      <p:sp>
        <p:nvSpPr>
          <p:cNvPr id="33" name="Значок_1"/>
          <p:cNvSpPr/>
          <p:nvPr/>
        </p:nvSpPr>
        <p:spPr>
          <a:xfrm>
            <a:off x="3683000" y="1066800"/>
            <a:ext cx="304800" cy="304800"/>
          </a:xfrm>
          <a:prstGeom prst="noSmoking">
            <a:avLst>
              <a:gd name="adj" fmla="val 14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Значок_2"/>
          <p:cNvSpPr/>
          <p:nvPr/>
        </p:nvSpPr>
        <p:spPr>
          <a:xfrm>
            <a:off x="7480300" y="1054100"/>
            <a:ext cx="342900" cy="317500"/>
          </a:xfrm>
          <a:prstGeom prst="triangle">
            <a:avLst/>
          </a:prstGeom>
          <a:solidFill>
            <a:srgbClr val="000000"/>
          </a:solidFill>
          <a:ln>
            <a:noFill/>
          </a:ln>
          <a:effectLst/>
        </p:spPr>
        <p:txBody>
          <a:bodyPr wrap="none" lIns="0" tIns="76200" rIns="0" bIns="0" rtlCol="0" anchor="ctr"/>
          <a:lstStyle/>
          <a:p/>
        </p:txBody>
      </p:sp>
      <p:sp>
        <p:nvSpPr>
          <p:cNvPr id="35" name="Значок_3"/>
          <p:cNvSpPr/>
          <p:nvPr/>
        </p:nvSpPr>
        <p:spPr>
          <a:xfrm>
            <a:off x="11303000" y="1066800"/>
            <a:ext cx="304800" cy="3048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156082"/>
                </a:solidFill>
                <a:latin typeface="Arial Narrow"/>
                <a:cs typeface="Arial Narrow"/>
              </a:rPr>
              <a:t>K</a:t>
            </a:r>
          </a:p>
        </p:txBody>
      </p:sp>
      <p:sp>
        <p:nvSpPr>
          <p:cNvPr id="36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АПФ: ангиотензинпревращающий фермент; БРА: блокатор рецепторов ангиотензина II; МКР: минералокортикоидный рецептор; CYP3A4: изофермент цитохрома P450; KDIGO: Kidney Disease: Improving Global Outcomes, международные рекомендации по болезням почек.</a:t>
            </a:r>
            <a:endParaRPr lang="ru-RU" sz="1000" b="0" dirty="0"/>
          </a:p>
        </p:txBody>
      </p:sp>
      <p:sp>
        <p:nvSpPr>
          <p:cNvPr id="37" name="Значок_2_знак"/>
          <p:cNvSpPr txBox="1"/>
          <p:nvPr/>
        </p:nvSpPr>
        <p:spPr>
          <a:xfrm>
            <a:off x="7480300" y="1136650"/>
            <a:ext cx="342900" cy="228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1600" b="1">
                <a:solidFill>
                  <a:srgbClr val="FFD009"/>
                </a:solidFill>
                <a:latin typeface="Arial Narrow"/>
                <a:cs typeface="Arial Narrow"/>
              </a:rPr>
              <a:t>!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Ячейка_калий_0"/>
          <p:cNvSpPr/>
          <p:nvPr/>
        </p:nvSpPr>
        <p:spPr>
          <a:xfrm>
            <a:off x="457200" y="2921000"/>
            <a:ext cx="2009073" cy="609600"/>
          </a:xfrm>
          <a:prstGeom prst="roundRect">
            <a:avLst>
              <a:gd name="adj" fmla="val 8333"/>
            </a:avLst>
          </a:prstGeom>
          <a:solidFill>
            <a:srgbClr val="196B2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3" name="Текст_калий_0"/>
          <p:cNvSpPr/>
          <p:nvPr/>
        </p:nvSpPr>
        <p:spPr>
          <a:xfrm>
            <a:off x="2519848" y="2921000"/>
            <a:ext cx="3321668" cy="6096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Ячейка_рскф_0"/>
          <p:cNvSpPr/>
          <p:nvPr/>
        </p:nvSpPr>
        <p:spPr>
          <a:xfrm>
            <a:off x="6350482" y="2921000"/>
            <a:ext cx="2009073" cy="609600"/>
          </a:xfrm>
          <a:prstGeom prst="roundRect">
            <a:avLst>
              <a:gd name="adj" fmla="val 8333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5" name="Текст_рскф_0"/>
          <p:cNvSpPr/>
          <p:nvPr/>
        </p:nvSpPr>
        <p:spPr>
          <a:xfrm>
            <a:off x="8413131" y="2921000"/>
            <a:ext cx="3321668" cy="609600"/>
          </a:xfrm>
          <a:prstGeom prst="roundRect">
            <a:avLst>
              <a:gd name="adj" fmla="val 1111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6" name="Ячейка_калий_1"/>
          <p:cNvSpPr/>
          <p:nvPr/>
        </p:nvSpPr>
        <p:spPr>
          <a:xfrm>
            <a:off x="457200" y="3606800"/>
            <a:ext cx="2009073" cy="914400"/>
          </a:xfrm>
          <a:prstGeom prst="roundRect">
            <a:avLst>
              <a:gd name="adj" fmla="val 6818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7" name="Текст_калий_1"/>
          <p:cNvSpPr/>
          <p:nvPr/>
        </p:nvSpPr>
        <p:spPr>
          <a:xfrm>
            <a:off x="2519848" y="3606800"/>
            <a:ext cx="3321668" cy="914400"/>
          </a:xfrm>
          <a:prstGeom prst="roundRect">
            <a:avLst>
              <a:gd name="adj" fmla="val 90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8" name="Ячейка_рскф_1"/>
          <p:cNvSpPr/>
          <p:nvPr/>
        </p:nvSpPr>
        <p:spPr>
          <a:xfrm>
            <a:off x="6350482" y="3606800"/>
            <a:ext cx="2009073" cy="914400"/>
          </a:xfrm>
          <a:prstGeom prst="roundRect">
            <a:avLst>
              <a:gd name="adj" fmla="val 6818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9" name="Текст_рскф_1"/>
          <p:cNvSpPr/>
          <p:nvPr/>
        </p:nvSpPr>
        <p:spPr>
          <a:xfrm>
            <a:off x="8413131" y="3606800"/>
            <a:ext cx="3321668" cy="914400"/>
          </a:xfrm>
          <a:prstGeom prst="roundRect">
            <a:avLst>
              <a:gd name="adj" fmla="val 909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0" name="Ячейка_калий_2"/>
          <p:cNvSpPr/>
          <p:nvPr/>
        </p:nvSpPr>
        <p:spPr>
          <a:xfrm>
            <a:off x="457200" y="4597400"/>
            <a:ext cx="2009073" cy="60960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1" name="Текст_калий_2"/>
          <p:cNvSpPr/>
          <p:nvPr/>
        </p:nvSpPr>
        <p:spPr>
          <a:xfrm>
            <a:off x="2519848" y="4597400"/>
            <a:ext cx="3321668" cy="6096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2" name="Ячейка_рскф_2"/>
          <p:cNvSpPr/>
          <p:nvPr/>
        </p:nvSpPr>
        <p:spPr>
          <a:xfrm>
            <a:off x="6350482" y="4597400"/>
            <a:ext cx="2009073" cy="609600"/>
          </a:xfrm>
          <a:prstGeom prst="roundRect">
            <a:avLst>
              <a:gd name="adj" fmla="val 12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3" name="Текст_рскф_2"/>
          <p:cNvSpPr/>
          <p:nvPr/>
        </p:nvSpPr>
        <p:spPr>
          <a:xfrm>
            <a:off x="8413131" y="4597400"/>
            <a:ext cx="3321668" cy="609600"/>
          </a:xfrm>
          <a:prstGeom prst="roundRect">
            <a:avLst>
              <a:gd name="adj" fmla="val 16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Правило старта простое: калий определяет, можно ли начать, рСКФ определяет дозу 10 или 20 мг</a:t>
            </a:r>
            <a:endParaRPr lang="ru-RU" sz="2000" b="0" dirty="0"/>
          </a:p>
        </p:txBody>
      </p:sp>
      <p:sp>
        <p:nvSpPr>
          <p:cNvPr id="37" name="Карточка_показание"/>
          <p:cNvSpPr/>
          <p:nvPr/>
        </p:nvSpPr>
        <p:spPr>
          <a:xfrm>
            <a:off x="457200" y="1320800"/>
            <a:ext cx="11277600" cy="81280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" name="Популяция"/>
          <p:cNvSpPr txBox="1"/>
          <p:nvPr/>
        </p:nvSpPr>
        <p:spPr>
          <a:xfrm>
            <a:off x="609600" y="1320800"/>
            <a:ext cx="10972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cs typeface="Arial Narrow"/>
              </a:rPr>
              <a:t>Финеренон показан для снижения риска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сердечной недостаточности у взрослых пациентов с хронической болезнью почек, связанной с сахарным диабетом 2 типа.</a:t>
            </a:r>
            <a:endParaRPr lang="ru-RU" sz="1600" b="0" dirty="0"/>
          </a:p>
        </p:txBody>
      </p:sp>
      <p:sp>
        <p:nvSpPr>
          <p:cNvPr id="4" name="Калий_название"/>
          <p:cNvSpPr txBox="1"/>
          <p:nvPr/>
        </p:nvSpPr>
        <p:spPr>
          <a:xfrm>
            <a:off x="457200" y="2197100"/>
            <a:ext cx="5123137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7030A0"/>
                </a:solidFill>
                <a:latin typeface="Arial Narrow"/>
                <a:cs typeface="Arial Narrow"/>
              </a:rPr>
              <a:t>Калий сыворотки</a:t>
            </a:r>
          </a:p>
        </p:txBody>
      </p:sp>
      <p:sp>
        <p:nvSpPr>
          <p:cNvPr id="5" name="Калий_единицы"/>
          <p:cNvSpPr txBox="1"/>
          <p:nvPr/>
        </p:nvSpPr>
        <p:spPr>
          <a:xfrm>
            <a:off x="457200" y="2578100"/>
            <a:ext cx="5123137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ммоль/л</a:t>
            </a:r>
          </a:p>
        </p:txBody>
      </p:sp>
      <p:sp>
        <p:nvSpPr>
          <p:cNvPr id="6" name="Доза_название"/>
          <p:cNvSpPr txBox="1"/>
          <p:nvPr/>
        </p:nvSpPr>
        <p:spPr>
          <a:xfrm>
            <a:off x="6350482" y="2197100"/>
            <a:ext cx="5103047" cy="37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7030A0"/>
                </a:solidFill>
                <a:latin typeface="Arial Narrow"/>
                <a:cs typeface="Arial Narrow"/>
              </a:rPr>
              <a:t>Начальная доза по функции почек</a:t>
            </a:r>
          </a:p>
        </p:txBody>
      </p:sp>
      <p:sp>
        <p:nvSpPr>
          <p:cNvPr id="7" name="Функция_почек_определение"/>
          <p:cNvSpPr txBox="1"/>
          <p:nvPr/>
        </p:nvSpPr>
        <p:spPr>
          <a:xfrm>
            <a:off x="6350482" y="2578100"/>
            <a:ext cx="5504861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Расчётная скорость клубочковой фильтрации (рСКФ), мл/мин/1,73 м²</a:t>
            </a:r>
          </a:p>
        </p:txBody>
      </p:sp>
      <p:sp>
        <p:nvSpPr>
          <p:cNvPr id="8" name="Калий_до_4_8"/>
          <p:cNvSpPr txBox="1"/>
          <p:nvPr/>
        </p:nvSpPr>
        <p:spPr>
          <a:xfrm>
            <a:off x="617925" y="2921000"/>
            <a:ext cx="190861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≤4,8</a:t>
            </a:r>
          </a:p>
        </p:txBody>
      </p:sp>
      <p:sp>
        <p:nvSpPr>
          <p:cNvPr id="9" name="Начало_возможно"/>
          <p:cNvSpPr txBox="1"/>
          <p:nvPr/>
        </p:nvSpPr>
        <p:spPr>
          <a:xfrm>
            <a:off x="2653787" y="29210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cs typeface="Arial Narrow"/>
              </a:rPr>
              <a:t>Лечение можно начать.</a:t>
            </a:r>
          </a:p>
        </p:txBody>
      </p:sp>
      <p:sp>
        <p:nvSpPr>
          <p:cNvPr id="10" name="Калий_от_4_8_до_5"/>
          <p:cNvSpPr txBox="1"/>
          <p:nvPr/>
        </p:nvSpPr>
        <p:spPr>
          <a:xfrm>
            <a:off x="617925" y="3606800"/>
            <a:ext cx="190861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&gt;4,8 и ≤5,0</a:t>
            </a:r>
          </a:p>
        </p:txBody>
      </p:sp>
      <p:sp>
        <p:nvSpPr>
          <p:cNvPr id="11" name="Начало_с_контролем"/>
          <p:cNvSpPr txBox="1"/>
          <p:nvPr/>
        </p:nvSpPr>
        <p:spPr>
          <a:xfrm>
            <a:off x="2653787" y="3606800"/>
            <a:ext cx="308057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Начало можно рассмотреть с учётом особенностей пациента при дополнительном контроле калия в первые 4 недели.</a:t>
            </a:r>
          </a:p>
        </p:txBody>
      </p:sp>
      <p:sp>
        <p:nvSpPr>
          <p:cNvPr id="12" name="Калий_больше_5"/>
          <p:cNvSpPr txBox="1"/>
          <p:nvPr/>
        </p:nvSpPr>
        <p:spPr>
          <a:xfrm>
            <a:off x="617925" y="4597400"/>
            <a:ext cx="190861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&gt;5,0</a:t>
            </a:r>
          </a:p>
        </p:txBody>
      </p:sp>
      <p:sp>
        <p:nvSpPr>
          <p:cNvPr id="13" name="Не_начинать_по_калию"/>
          <p:cNvSpPr txBox="1"/>
          <p:nvPr/>
        </p:nvSpPr>
        <p:spPr>
          <a:xfrm>
            <a:off x="2653787" y="45974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cs typeface="Arial Narrow"/>
              </a:rPr>
              <a:t>Лечение не начинают.</a:t>
            </a:r>
          </a:p>
        </p:txBody>
      </p:sp>
      <p:sp>
        <p:nvSpPr>
          <p:cNvPr id="14" name="Фильтрация_60"/>
          <p:cNvSpPr txBox="1"/>
          <p:nvPr/>
        </p:nvSpPr>
        <p:spPr>
          <a:xfrm>
            <a:off x="6511208" y="2921000"/>
            <a:ext cx="20593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≥60</a:t>
            </a:r>
          </a:p>
        </p:txBody>
      </p:sp>
      <p:sp>
        <p:nvSpPr>
          <p:cNvPr id="15" name="Доза_20"/>
          <p:cNvSpPr txBox="1"/>
          <p:nvPr/>
        </p:nvSpPr>
        <p:spPr>
          <a:xfrm>
            <a:off x="8573857" y="29210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20 мг один раз в сутки</a:t>
            </a:r>
          </a:p>
        </p:txBody>
      </p:sp>
      <p:sp>
        <p:nvSpPr>
          <p:cNvPr id="16" name="Фильтрация_25_60"/>
          <p:cNvSpPr txBox="1"/>
          <p:nvPr/>
        </p:nvSpPr>
        <p:spPr>
          <a:xfrm>
            <a:off x="6511208" y="3606800"/>
            <a:ext cx="205930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≥25 и &lt;60</a:t>
            </a:r>
          </a:p>
        </p:txBody>
      </p:sp>
      <p:sp>
        <p:nvSpPr>
          <p:cNvPr id="17" name="Доза_10"/>
          <p:cNvSpPr txBox="1"/>
          <p:nvPr/>
        </p:nvSpPr>
        <p:spPr>
          <a:xfrm>
            <a:off x="8573857" y="3606800"/>
            <a:ext cx="308057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10 мг один раз в сутки</a:t>
            </a:r>
          </a:p>
        </p:txBody>
      </p:sp>
      <p:sp>
        <p:nvSpPr>
          <p:cNvPr id="18" name="Фильтрация_ниже_25"/>
          <p:cNvSpPr txBox="1"/>
          <p:nvPr/>
        </p:nvSpPr>
        <p:spPr>
          <a:xfrm>
            <a:off x="6511208" y="4597400"/>
            <a:ext cx="20593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800" b="1">
                <a:solidFill>
                  <a:srgbClr val="FFFFFF"/>
                </a:solidFill>
                <a:latin typeface="Arial Narrow"/>
                <a:cs typeface="Arial Narrow"/>
              </a:rPr>
              <a:t>&lt;25</a:t>
            </a:r>
          </a:p>
        </p:txBody>
      </p:sp>
      <p:sp>
        <p:nvSpPr>
          <p:cNvPr id="19" name="Не_начинать_по_фильтрации"/>
          <p:cNvSpPr txBox="1"/>
          <p:nvPr/>
        </p:nvSpPr>
        <p:spPr>
          <a:xfrm>
            <a:off x="8573857" y="4597400"/>
            <a:ext cx="3080579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Начинать лечение не рекомендуется.</a:t>
            </a:r>
          </a:p>
        </p:txBody>
      </p:sp>
      <p:sp>
        <p:nvSpPr>
          <p:cNvPr id="20" name="Целевая_доза"/>
          <p:cNvSpPr txBox="1"/>
          <p:nvPr/>
        </p:nvSpPr>
        <p:spPr>
          <a:xfrm>
            <a:off x="457200" y="5562600"/>
            <a:ext cx="10989632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000000"/>
                </a:solidFill>
                <a:latin typeface="Arial Narrow"/>
                <a:cs typeface="Arial Narrow"/>
              </a:rPr>
              <a:t>Целевая и максимальная доза: </a:t>
            </a: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20 мг один раз в сутки, независимо от приёма пищи.</a:t>
            </a:r>
          </a:p>
        </p:txBody>
      </p:sp>
      <p:sp>
        <p:nvSpPr>
          <p:cNvPr id="21" name="Противопоказания"/>
          <p:cNvSpPr txBox="1"/>
          <p:nvPr/>
        </p:nvSpPr>
        <p:spPr>
          <a:xfrm>
            <a:off x="457200" y="5918200"/>
            <a:ext cx="10989632" cy="4381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1">
                <a:solidFill>
                  <a:srgbClr val="000000"/>
                </a:solidFill>
                <a:latin typeface="Arial Narrow"/>
                <a:cs typeface="Arial Narrow"/>
              </a:rPr>
              <a:t>Противопоказания:</a:t>
            </a: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 гиперчувствительность к компонентам препарата, болезнь Аддисона, одновременный приём сильных ингибиторов CYP3A4.</a:t>
            </a:r>
          </a:p>
        </p:txBody>
      </p:sp>
      <p:sp>
        <p:nvSpPr>
          <p:cNvPr id="34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 (перевод с узбекского): разделы «Показания», «Способ применения и дозы», «Противопоказания».</a:t>
            </a:r>
            <a:endParaRPr lang="ru-RU" sz="800" b="0" dirty="0"/>
          </a:p>
        </p:txBody>
      </p:sp>
      <p:pic>
        <p:nvPicPr>
          <p:cNvPr id="3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6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CYP3A4: изофермент цитохрома P450.</a:t>
            </a:r>
            <a:endParaRPr lang="ru-RU" sz="1000" b="0" dirty="0"/>
          </a:p>
        </p:txBody>
      </p:sp>
      <p:sp>
        <p:nvSpPr>
          <p:cNvPr id="38" name="Полоса_показание"/>
          <p:cNvSpPr/>
          <p:nvPr/>
        </p:nvSpPr>
        <p:spPr>
          <a:xfrm>
            <a:off x="457200" y="965200"/>
            <a:ext cx="1524000" cy="3302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Показание</a:t>
            </a:r>
          </a:p>
        </p:txBody>
      </p:sp>
      <p:sp>
        <p:nvSpPr>
          <p:cNvPr id="39" name="Условия_старта"/>
          <p:cNvSpPr txBox="1"/>
          <p:nvPr/>
        </p:nvSpPr>
        <p:spPr>
          <a:xfrm>
            <a:off x="457200" y="5257800"/>
            <a:ext cx="53848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Условия старта: 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рСКФ ≥25 и нет противопоказаний.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Калий и рСКФ проверяют до первой дозы, через 4 недели и далее периодически</a:t>
            </a:r>
            <a:endParaRPr lang="ru-RU" sz="2000" b="0" dirty="0"/>
          </a:p>
        </p:txBody>
      </p:sp>
      <p:cxnSp>
        <p:nvCxnSpPr>
          <p:cNvPr id="3" name="Ось_времени"/>
          <p:cNvCxnSpPr/>
          <p:nvPr/>
        </p:nvCxnSpPr>
        <p:spPr>
          <a:xfrm>
            <a:off x="635000" y="1625600"/>
            <a:ext cx="10947400" cy="0"/>
          </a:xfrm>
          <a:prstGeom prst="line">
            <a:avLst/>
          </a:prstGeom>
          <a:ln w="38100">
            <a:solidFill>
              <a:srgbClr val="A6A6A6"/>
            </a:solidFill>
            <a:tailEnd type="triangle" w="med" len="med"/>
          </a:ln>
        </p:spPr>
      </p:cxnSp>
      <p:cxnSp>
        <p:nvCxnSpPr>
          <p:cNvPr id="4" name="Отметка_180"/>
          <p:cNvCxnSpPr/>
          <p:nvPr/>
        </p:nvCxnSpPr>
        <p:spPr>
          <a:xfrm>
            <a:off x="228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5" name="Срок_180"/>
          <p:cNvSpPr txBox="1"/>
          <p:nvPr/>
        </p:nvSpPr>
        <p:spPr>
          <a:xfrm>
            <a:off x="76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Начало</a:t>
            </a:r>
          </a:p>
        </p:txBody>
      </p:sp>
      <p:sp>
        <p:nvSpPr>
          <p:cNvPr id="6" name="Этап_180"/>
          <p:cNvSpPr/>
          <p:nvPr/>
        </p:nvSpPr>
        <p:spPr>
          <a:xfrm>
            <a:off x="50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До первой дозы</a:t>
            </a:r>
          </a:p>
        </p:txBody>
      </p:sp>
      <p:sp>
        <p:nvSpPr>
          <p:cNvPr id="7" name="Этап_фон_180"/>
          <p:cNvSpPr/>
          <p:nvPr/>
        </p:nvSpPr>
        <p:spPr>
          <a:xfrm>
            <a:off x="50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" name="Этап_текст_180"/>
          <p:cNvSpPr txBox="1"/>
          <p:nvPr/>
        </p:nvSpPr>
        <p:spPr>
          <a:xfrm>
            <a:off x="68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Проверяют калий сыворотки, рСКФ, текущие лекарства и противопоказания.</a:t>
            </a:r>
          </a:p>
        </p:txBody>
      </p:sp>
      <p:cxnSp>
        <p:nvCxnSpPr>
          <p:cNvPr id="9" name="Отметка_480"/>
          <p:cNvCxnSpPr/>
          <p:nvPr/>
        </p:nvCxnSpPr>
        <p:spPr>
          <a:xfrm>
            <a:off x="609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10" name="Срок_480"/>
          <p:cNvSpPr txBox="1"/>
          <p:nvPr/>
        </p:nvSpPr>
        <p:spPr>
          <a:xfrm>
            <a:off x="457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4 недели</a:t>
            </a:r>
          </a:p>
        </p:txBody>
      </p:sp>
      <p:sp>
        <p:nvSpPr>
          <p:cNvPr id="11" name="Этап_480"/>
          <p:cNvSpPr/>
          <p:nvPr/>
        </p:nvSpPr>
        <p:spPr>
          <a:xfrm>
            <a:off x="431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Через 4 недели</a:t>
            </a:r>
          </a:p>
        </p:txBody>
      </p:sp>
      <p:sp>
        <p:nvSpPr>
          <p:cNvPr id="12" name="Этап_фон_480"/>
          <p:cNvSpPr/>
          <p:nvPr/>
        </p:nvSpPr>
        <p:spPr>
          <a:xfrm>
            <a:off x="431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3" name="Этап_текст_480"/>
          <p:cNvSpPr txBox="1"/>
          <p:nvPr/>
        </p:nvSpPr>
        <p:spPr>
          <a:xfrm>
            <a:off x="449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После начала или возобновления лечения и после повышения дозы повторно определяют калий сыворотки и рассчитывают рСКФ.</a:t>
            </a:r>
            <a:endParaRPr lang="ru-RU" sz="1600"/>
          </a:p>
        </p:txBody>
      </p:sp>
      <p:cxnSp>
        <p:nvCxnSpPr>
          <p:cNvPr id="14" name="Отметка_780"/>
          <p:cNvCxnSpPr/>
          <p:nvPr/>
        </p:nvCxnSpPr>
        <p:spPr>
          <a:xfrm>
            <a:off x="9906000" y="1511300"/>
            <a:ext cx="0" cy="228600"/>
          </a:xfrm>
          <a:prstGeom prst="line">
            <a:avLst/>
          </a:prstGeom>
          <a:ln w="25400">
            <a:solidFill>
              <a:srgbClr val="7F7F7F"/>
            </a:solidFill>
          </a:ln>
        </p:spPr>
      </p:cxnSp>
      <p:sp>
        <p:nvSpPr>
          <p:cNvPr id="15" name="Срок_780"/>
          <p:cNvSpPr txBox="1"/>
          <p:nvPr/>
        </p:nvSpPr>
        <p:spPr>
          <a:xfrm>
            <a:off x="8382000" y="1143000"/>
            <a:ext cx="3048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Далее</a:t>
            </a:r>
          </a:p>
        </p:txBody>
      </p:sp>
      <p:sp>
        <p:nvSpPr>
          <p:cNvPr id="16" name="Этап_780"/>
          <p:cNvSpPr/>
          <p:nvPr/>
        </p:nvSpPr>
        <p:spPr>
          <a:xfrm>
            <a:off x="8128000" y="1854200"/>
            <a:ext cx="35560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wrap="square" lIns="152400" tIns="0" rIns="0" bIns="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Далее периодически</a:t>
            </a:r>
            <a:endParaRPr lang="ru-RU" sz="1700"/>
          </a:p>
        </p:txBody>
      </p:sp>
      <p:sp>
        <p:nvSpPr>
          <p:cNvPr id="17" name="Этап_фон_780"/>
          <p:cNvSpPr/>
          <p:nvPr/>
        </p:nvSpPr>
        <p:spPr>
          <a:xfrm>
            <a:off x="8128000" y="2311400"/>
            <a:ext cx="3556000" cy="1168400"/>
          </a:xfrm>
          <a:prstGeom prst="roundRect">
            <a:avLst>
              <a:gd name="adj" fmla="val 869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Этап_текст_780"/>
          <p:cNvSpPr txBox="1"/>
          <p:nvPr/>
        </p:nvSpPr>
        <p:spPr>
          <a:xfrm>
            <a:off x="8305800" y="2438400"/>
            <a:ext cx="32004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Далее калий контролируют периодически, с учётом уровня калия и особенностей пациента.</a:t>
            </a:r>
            <a:endParaRPr lang="ru-RU" sz="1600"/>
          </a:p>
        </p:txBody>
      </p:sp>
      <p:sp>
        <p:nvSpPr>
          <p:cNvPr id="19" name="Внеплановый_контроль_название"/>
          <p:cNvSpPr/>
          <p:nvPr/>
        </p:nvSpPr>
        <p:spPr>
          <a:xfrm>
            <a:off x="508000" y="3708400"/>
            <a:ext cx="11176000" cy="4064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524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Когда анализы нужны раньше</a:t>
            </a:r>
          </a:p>
        </p:txBody>
      </p:sp>
      <p:sp>
        <p:nvSpPr>
          <p:cNvPr id="20" name="Внеплановый_фон"/>
          <p:cNvSpPr/>
          <p:nvPr/>
        </p:nvSpPr>
        <p:spPr>
          <a:xfrm>
            <a:off x="508000" y="4165600"/>
            <a:ext cx="111760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Внеплановый_контроль"/>
          <p:cNvSpPr txBox="1"/>
          <p:nvPr/>
        </p:nvSpPr>
        <p:spPr>
          <a:xfrm>
            <a:off x="736600" y="4267200"/>
            <a:ext cx="10718800" cy="1066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исходном калии &gt;4,8 и ≤5,0 ммоль/л калий дополнительно определяют в первые 4 недели.</a:t>
            </a:r>
          </a:p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При остром заболевании, обезвоживании, ухудшении функции почек или назначении взаимодействующего препарата нужен внеплановый контроль.</a:t>
            </a:r>
          </a:p>
        </p:txBody>
      </p:sp>
      <p:sp>
        <p:nvSpPr>
          <p:cNvPr id="22" name="Контроль_при_комбинации"/>
          <p:cNvSpPr txBox="1"/>
          <p:nvPr/>
        </p:nvSpPr>
        <p:spPr>
          <a:xfrm>
            <a:off x="508000" y="5511800"/>
            <a:ext cx="111760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С ингибитором НГЛТ2 калий контролируют так же: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 CONFIDENCE сочетание значимо не снижало риск гиперкалиемии.</a:t>
            </a:r>
          </a:p>
        </p:txBody>
      </p:sp>
      <p:sp>
        <p:nvSpPr>
          <p:cNvPr id="2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Kerendia. Summary of Product Characteristics. Agarwal R, et al. J Am Coll Cardiol. 2026;87:772–784.</a:t>
            </a:r>
            <a:endParaRPr lang="ru-RU" sz="800" b="0" dirty="0"/>
          </a:p>
        </p:txBody>
      </p:sp>
      <p:pic>
        <p:nvPicPr>
          <p:cNvPr id="24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5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НГЛТ2: натрий-глюкозный котранспортёр 2 типа.</a:t>
            </a:r>
            <a:endParaRPr lang="ru-RU" sz="1000" b="0" dirty="0"/>
          </a:p>
        </p:txBody>
      </p:sp>
      <p:sp>
        <p:nvSpPr>
          <p:cNvPr id="26" name="Строка_рСКФ"/>
          <p:cNvSpPr/>
          <p:nvPr/>
        </p:nvSpPr>
        <p:spPr>
          <a:xfrm>
            <a:off x="508000" y="5867400"/>
            <a:ext cx="11176000" cy="330200"/>
          </a:xfrm>
          <a:prstGeom prst="roundRect">
            <a:avLst>
              <a:gd name="adj" fmla="val 3076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В первые 4 недели рСКФ может немного снизиться, затем она стабилизируется.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Шаг_36"/>
          <p:cNvSpPr/>
          <p:nvPr/>
        </p:nvSpPr>
        <p:spPr>
          <a:xfrm>
            <a:off x="457200" y="4216400"/>
            <a:ext cx="35052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" name="Шаг_336"/>
          <p:cNvSpPr/>
          <p:nvPr/>
        </p:nvSpPr>
        <p:spPr>
          <a:xfrm>
            <a:off x="4267200" y="4216400"/>
            <a:ext cx="35052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1" name="Срочно_рамка"/>
          <p:cNvSpPr/>
          <p:nvPr/>
        </p:nvSpPr>
        <p:spPr>
          <a:xfrm>
            <a:off x="8077200" y="4216400"/>
            <a:ext cx="3657600" cy="1383080"/>
          </a:xfrm>
          <a:prstGeom prst="roundRect">
            <a:avLst>
              <a:gd name="adj" fmla="val 7345"/>
            </a:avLst>
          </a:prstGeom>
          <a:solidFill>
            <a:srgbClr val="F2F2F2"/>
          </a:solidFill>
          <a:ln w="19050">
            <a:solidFill>
              <a:srgbClr val="E97132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3" name="Ячейка_Порог_3"/>
          <p:cNvSpPr/>
          <p:nvPr/>
        </p:nvSpPr>
        <p:spPr>
          <a:xfrm>
            <a:off x="807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Карточка_Порог_3"/>
          <p:cNvSpPr/>
          <p:nvPr/>
        </p:nvSpPr>
        <p:spPr>
          <a:xfrm>
            <a:off x="807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Ячейка_Порог_2"/>
          <p:cNvSpPr/>
          <p:nvPr/>
        </p:nvSpPr>
        <p:spPr>
          <a:xfrm>
            <a:off x="426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2" name="Карточка_Порог_2"/>
          <p:cNvSpPr/>
          <p:nvPr/>
        </p:nvSpPr>
        <p:spPr>
          <a:xfrm>
            <a:off x="426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9" name="Ячейка_Порог_1"/>
          <p:cNvSpPr/>
          <p:nvPr/>
        </p:nvSpPr>
        <p:spPr>
          <a:xfrm>
            <a:off x="457200" y="1346200"/>
            <a:ext cx="3657600" cy="558800"/>
          </a:xfrm>
          <a:prstGeom prst="roundRect">
            <a:avLst>
              <a:gd name="adj" fmla="val 13636"/>
            </a:avLst>
          </a:prstGeom>
          <a:solidFill>
            <a:srgbClr val="196B24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0" name="Карточка_Порог_1"/>
          <p:cNvSpPr/>
          <p:nvPr/>
        </p:nvSpPr>
        <p:spPr>
          <a:xfrm>
            <a:off x="457200" y="1905000"/>
            <a:ext cx="365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cs typeface="Arial Narrow"/>
              </a:rPr>
              <a:t>Дозу финеренона выбирают по калию: повышают, сохраняют или временно отменяют</a:t>
            </a:r>
          </a:p>
        </p:txBody>
      </p:sp>
      <p:sp>
        <p:nvSpPr>
          <p:cNvPr id="6" name="Показатель"/>
          <p:cNvSpPr txBox="1"/>
          <p:nvPr/>
        </p:nvSpPr>
        <p:spPr>
          <a:xfrm>
            <a:off x="457200" y="1066800"/>
            <a:ext cx="11277600" cy="2381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>
                <a:solidFill>
                  <a:srgbClr val="000000"/>
                </a:solidFill>
                <a:latin typeface="Arial Narrow"/>
                <a:cs typeface="Arial Narrow"/>
              </a:rPr>
              <a:t>Калий сыворотки на плановом контроле, ммоль/л</a:t>
            </a:r>
          </a:p>
        </p:txBody>
      </p:sp>
      <p:sp>
        <p:nvSpPr>
          <p:cNvPr id="7" name="Порог_1"/>
          <p:cNvSpPr txBox="1"/>
          <p:nvPr/>
        </p:nvSpPr>
        <p:spPr>
          <a:xfrm>
            <a:off x="60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≤4,8</a:t>
            </a:r>
          </a:p>
        </p:txBody>
      </p:sp>
      <p:sp>
        <p:nvSpPr>
          <p:cNvPr id="8" name="Порог_2"/>
          <p:cNvSpPr txBox="1"/>
          <p:nvPr/>
        </p:nvSpPr>
        <p:spPr>
          <a:xfrm>
            <a:off x="441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&gt;4,8 и ≤5,5</a:t>
            </a:r>
          </a:p>
        </p:txBody>
      </p:sp>
      <p:sp>
        <p:nvSpPr>
          <p:cNvPr id="9" name="Порог_3"/>
          <p:cNvSpPr txBox="1"/>
          <p:nvPr/>
        </p:nvSpPr>
        <p:spPr>
          <a:xfrm>
            <a:off x="8229600" y="1346200"/>
            <a:ext cx="3352800" cy="5588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400" b="1">
                <a:solidFill>
                  <a:srgbClr val="FFFFFF"/>
                </a:solidFill>
                <a:latin typeface="Arial Narrow"/>
                <a:cs typeface="Arial Narrow"/>
              </a:rPr>
              <a:t>&gt;5,5</a:t>
            </a:r>
          </a:p>
        </p:txBody>
      </p:sp>
      <p:sp>
        <p:nvSpPr>
          <p:cNvPr id="10" name="Калий_до_4_8"/>
          <p:cNvSpPr txBox="1"/>
          <p:nvPr/>
        </p:nvSpPr>
        <p:spPr>
          <a:xfrm>
            <a:off x="60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Дозу 10 мг повышают до 20 мг один раз в сутки (целевая доза). Дозу 20 мг сохраняют.</a:t>
            </a:r>
          </a:p>
        </p:txBody>
      </p:sp>
      <p:sp>
        <p:nvSpPr>
          <p:cNvPr id="11" name="Калий_4_8_5_5"/>
          <p:cNvSpPr txBox="1"/>
          <p:nvPr/>
        </p:nvSpPr>
        <p:spPr>
          <a:xfrm>
            <a:off x="441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Сохраняют текущую дозу: 10 или 20 мг один раз в сутки.</a:t>
            </a:r>
          </a:p>
        </p:txBody>
      </p:sp>
      <p:sp>
        <p:nvSpPr>
          <p:cNvPr id="12" name="Калий_выше_5_5"/>
          <p:cNvSpPr txBox="1"/>
          <p:nvPr/>
        </p:nvSpPr>
        <p:spPr>
          <a:xfrm>
            <a:off x="8229600" y="2006600"/>
            <a:ext cx="3352800" cy="1038225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Финеренон временно отменяют. Повторно определяют калий и уточняют причину повышения.</a:t>
            </a:r>
          </a:p>
        </p:txBody>
      </p:sp>
      <p:sp>
        <p:nvSpPr>
          <p:cNvPr id="35" name="Карточка_исключение"/>
          <p:cNvSpPr/>
          <p:nvPr/>
        </p:nvSpPr>
        <p:spPr>
          <a:xfrm>
            <a:off x="457200" y="3276600"/>
            <a:ext cx="11277600" cy="5842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Условие_по_функции_почек"/>
          <p:cNvSpPr txBox="1"/>
          <p:nvPr/>
        </p:nvSpPr>
        <p:spPr>
          <a:xfrm>
            <a:off x="609600" y="3276600"/>
            <a:ext cx="10972800" cy="584200"/>
          </a:xfrm>
          <a:prstGeom prst="rect">
            <a:avLst/>
          </a:prstGeom>
          <a:noFill/>
          <a:effectLst/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Исключение: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дозу 10 мг не повышают, если рСКФ снизилась более чем на 30% от предыдущего измерения. Врач оценивает причину снижения.</a:t>
            </a:r>
          </a:p>
        </p:txBody>
      </p:sp>
      <p:sp>
        <p:nvSpPr>
          <p:cNvPr id="14" name="Условие_возобновления"/>
          <p:cNvSpPr txBox="1"/>
          <p:nvPr/>
        </p:nvSpPr>
        <p:spPr>
          <a:xfrm>
            <a:off x="609600" y="4343400"/>
            <a:ext cx="3200400" cy="1129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Возобновление: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> если после временной отмены калий в повторном анализе ≤5,0 ммоль/л, врач может возобновить лечение в дозе 10 мг один раз в сутки.</a:t>
            </a:r>
          </a:p>
        </p:txBody>
      </p:sp>
      <p:sp>
        <p:nvSpPr>
          <p:cNvPr id="15" name="Контроль_после_изменения"/>
          <p:cNvSpPr txBox="1"/>
          <p:nvPr/>
        </p:nvSpPr>
        <p:spPr>
          <a:xfrm>
            <a:off x="4419600" y="4343400"/>
            <a:ext cx="3200400" cy="1129080"/>
          </a:xfrm>
          <a:prstGeom prst="rect">
            <a:avLst/>
          </a:prstGeom>
          <a:noFill/>
          <a:effectLst/>
        </p:spPr>
        <p:txBody>
          <a:bodyPr wrap="square" lIns="0" tIns="0" rIns="0" bIns="0" anchor="t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lang="ru-RU" sz="1600" b="0">
                <a:solidFill>
                  <a:srgbClr val="000000"/>
                </a:solidFill>
                <a:latin typeface="Arial Narrow"/>
                <a:cs typeface="Arial Narrow"/>
              </a:rPr>
              <a:t xml:space="preserve"> калий и рСКФ проверяют через 4 недели после начала лечения, его возобновления или повышения дозы, далее периодически.</a:t>
            </a:r>
          </a:p>
        </p:txBody>
      </p:sp>
      <p:sp>
        <p:nvSpPr>
          <p:cNvPr id="25" name="Срочная_оценка"/>
          <p:cNvSpPr txBox="1"/>
          <p:nvPr/>
        </p:nvSpPr>
        <p:spPr>
          <a:xfrm>
            <a:off x="8229600" y="4343400"/>
            <a:ext cx="3352800" cy="1129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Срочно¹: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калий 6,0 ммоль/л и выше или ухудшение состояния. Врач оценивает пациента сразу, без ожидания планового контроля.</a:t>
            </a:r>
            <a:endParaRPr lang="ru-RU" sz="1600"/>
          </a:p>
        </p:txBody>
      </p:sp>
      <p:sp>
        <p:nvSpPr>
          <p:cNvPr id="26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UK Kidney Association. Clinical Practice Guideline: Management of Hyperkalaemia in Adults. Updated July 2026.</a:t>
            </a:r>
            <a:endParaRPr lang="ru-RU" sz="800" b="0" dirty="0"/>
          </a:p>
        </p:txBody>
      </p:sp>
      <p:pic>
        <p:nvPicPr>
          <p:cNvPr id="27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2" name="Стрелка_шаг"/>
          <p:cNvSpPr/>
          <p:nvPr/>
        </p:nvSpPr>
        <p:spPr>
          <a:xfrm>
            <a:off x="3987800" y="4730140"/>
            <a:ext cx="228600" cy="355600"/>
          </a:xfrm>
          <a:prstGeom prst="chevron">
            <a:avLst/>
          </a:prstGeom>
          <a:solidFill>
            <a:srgbClr val="D9D9D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фильтрации.</a:t>
            </a:r>
            <a:endParaRPr lang="ru-RU" sz="1000" b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Безопасность финеренона: калий контролируют по простому правилу, острое повреждение почек и серьёзные нежелательные явления сопоставимы с плацебо</a:t>
            </a:r>
          </a:p>
        </p:txBody>
      </p:sp>
      <p:sp>
        <p:nvSpPr>
          <p:cNvPr id="22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FIDELITY: Agarwal R, et al. Eur Heart J. 2022;43:474–484. ¹ Kerendia (finerenone). Summary of Product Characteristics. EMA.</a:t>
            </a:r>
            <a:endParaRPr lang="ru-RU" sz="800" b="0" dirty="0"/>
          </a:p>
        </p:txBody>
      </p:sp>
      <p:pic>
        <p:nvPicPr>
          <p:cNvPr id="23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МКР: минералокортикоидный рецептор; МП: медицинский представитель; FIDELITY: объединённый анализ исследований FIDELIO-DKD и FIGARO-DKD.</a:t>
            </a:r>
            <a:endParaRPr lang="ru-RU" sz="1000" b="0" dirty="0"/>
          </a:p>
        </p:txBody>
      </p:sp>
      <p:sp>
        <p:nvSpPr>
          <p:cNvPr id="32" name="Плашка_калий"/>
          <p:cNvSpPr/>
          <p:nvPr/>
        </p:nvSpPr>
        <p:spPr>
          <a:xfrm>
            <a:off x="4572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Калий</a:t>
            </a:r>
          </a:p>
        </p:txBody>
      </p:sp>
      <p:sp>
        <p:nvSpPr>
          <p:cNvPr id="33" name="Плашка_реакции"/>
          <p:cNvSpPr/>
          <p:nvPr/>
        </p:nvSpPr>
        <p:spPr>
          <a:xfrm>
            <a:off x="43434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Другие реакции</a:t>
            </a:r>
          </a:p>
        </p:txBody>
      </p:sp>
      <p:sp>
        <p:nvSpPr>
          <p:cNvPr id="34" name="Плашка_группы"/>
          <p:cNvSpPr/>
          <p:nvPr/>
        </p:nvSpPr>
        <p:spPr>
          <a:xfrm>
            <a:off x="8229600" y="1117600"/>
            <a:ext cx="3505200" cy="457200"/>
          </a:xfrm>
          <a:prstGeom prst="roundRect">
            <a:avLst>
              <a:gd name="adj" fmla="val 16666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Особые группы</a:t>
            </a:r>
          </a:p>
        </p:txBody>
      </p:sp>
      <p:sp>
        <p:nvSpPr>
          <p:cNvPr id="35" name="Карточка_калий"/>
          <p:cNvSpPr/>
          <p:nvPr/>
        </p:nvSpPr>
        <p:spPr>
          <a:xfrm>
            <a:off x="4572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 ожидаема при блокаде МКР: 14,0% на финереноне и 6,9% на плацебо (по сообщениям исследователей). Случаев смерти от гиперкалиемии не было.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2800" b="1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2800" b="1">
                <a:solidFill>
                  <a:srgbClr val="000000"/>
                </a:solidFill>
                <a:latin typeface="Arial Narrow"/>
                <a:cs typeface="Arial Narrow"/>
              </a:rPr>
              <a:t> и </a:t>
            </a:r>
            <a:r>
              <a:rPr sz="2800" b="1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</a:p>
          <a:p>
            <a:pPr algn="l">
              <a:lnSpc>
                <a:spcPct val="90000"/>
              </a:lnSpc>
              <a:spcAft>
                <a:spcPts val="80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 из-за гиперкалиемии: финеренон и плацебо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Контроль: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калий и рСКФ до начала, через 4 недели, далее периодически.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FIDELITY: 13 026 пациентов, медиана наблюдения 3,0 года.</a:t>
            </a:r>
          </a:p>
        </p:txBody>
      </p:sp>
      <p:sp>
        <p:nvSpPr>
          <p:cNvPr id="36" name="Карточка_реакции"/>
          <p:cNvSpPr/>
          <p:nvPr/>
        </p:nvSpPr>
        <p:spPr>
          <a:xfrm>
            <a:off x="43434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По инструкции: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гипотензия, гипонатриемия.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 FIDELITY острое повреждение почек было у 3,4% на финереноне и у 3,6% на плацебо; серьёзные нежелательные явления у 31,6% и у 33,7%.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Давление: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через 4 месяца среднее систолическое изменилось на −3,2 мм рт. ст. на финереноне и на +0,5 на плацебо.</a:t>
            </a:r>
          </a:p>
        </p:txBody>
      </p:sp>
      <p:sp>
        <p:nvSpPr>
          <p:cNvPr id="37" name="Карточка_группы"/>
          <p:cNvSpPr/>
          <p:nvPr/>
        </p:nvSpPr>
        <p:spPr>
          <a:xfrm>
            <a:off x="8229600" y="1651000"/>
            <a:ext cx="3505200" cy="3759200"/>
          </a:xfrm>
          <a:prstGeom prst="roundRect">
            <a:avLst>
              <a:gd name="adj" fmla="val 289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127000" bIns="127000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Почки: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начало лечения при рСКФ ≥25 мл/мин/1,73 м²; при рСКФ ниже 15 лечение прекращают¹.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Печень: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при классе C по Чайлд–Пью лечение не начинают; при классе B рассматривают дополнительный контроль калия¹.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Возраст: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пожилым дозу не меняют. До 18 лет эффективность и безопасность не установлены.</a:t>
            </a:r>
          </a:p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Беременность: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применяют только после тщательной оценки пользы для матери и риска для плода¹. Нужна эффективная контрацепция¹. При грудном вскармливании решают: прекратить кормление или лечение¹.</a:t>
            </a:r>
          </a:p>
        </p:txBody>
      </p:sp>
      <p:sp>
        <p:nvSpPr>
          <p:cNvPr id="38" name="Плашка_фармаконадзор"/>
          <p:cNvSpPr/>
          <p:nvPr/>
        </p:nvSpPr>
        <p:spPr>
          <a:xfrm>
            <a:off x="457200" y="5511800"/>
            <a:ext cx="2413000" cy="558800"/>
          </a:xfrm>
          <a:prstGeom prst="roundRect">
            <a:avLst>
              <a:gd name="adj" fmla="val 16666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Фармаконадзор</a:t>
            </a:r>
          </a:p>
        </p:txBody>
      </p:sp>
      <p:sp>
        <p:nvSpPr>
          <p:cNvPr id="39" name="Карточка_фармаконадзор"/>
          <p:cNvSpPr/>
          <p:nvPr/>
        </p:nvSpPr>
        <p:spPr>
          <a:xfrm>
            <a:off x="2946400" y="5511800"/>
            <a:ext cx="8788400" cy="558800"/>
          </a:xfrm>
          <a:prstGeom prst="roundRect">
            <a:avLst>
              <a:gd name="adj" fmla="val 1666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МП передаёт сообщение о нежелательном явлении в фармаконадзор по процедуре компании, не дожидаясь подтверждения связи с препаратом.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2800" b="0">
                <a:solidFill>
                  <a:srgbClr val="7030A0"/>
                </a:solidFill>
                <a:latin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cs typeface="Arial Narrow"/>
              </a:rPr>
              <a:t>У пациента 1 данных для решения о начале лечения достаточно, у пациента 2 их пока не хватает</a:t>
            </a:r>
            <a:endParaRPr lang="ru-RU" sz="2000" b="0" dirty="0"/>
          </a:p>
        </p:txBody>
      </p:sp>
      <p:sp>
        <p:nvSpPr>
          <p:cNvPr id="29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KDIGO 2024 Clinical Practice Guideline for the Evaluation and Management of CKD. Kidney Int. 2024;105(4S):S117–S314.</a:t>
            </a:r>
            <a:endParaRPr lang="ru-RU" sz="800" b="0" dirty="0"/>
          </a:p>
        </p:txBody>
      </p:sp>
      <p:pic>
        <p:nvPicPr>
          <p:cNvPr id="30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1" name="Чек_шапка_0"/>
          <p:cNvSpPr/>
          <p:nvPr/>
        </p:nvSpPr>
        <p:spPr>
          <a:xfrm>
            <a:off x="457200" y="914400"/>
            <a:ext cx="3810000" cy="355600"/>
          </a:xfrm>
          <a:prstGeom prst="roundRect">
            <a:avLst>
              <a:gd name="adj" fmla="val 25000"/>
            </a:avLst>
          </a:prstGeom>
          <a:solidFill>
            <a:srgbClr val="666666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Критерий</a:t>
            </a:r>
          </a:p>
        </p:txBody>
      </p:sp>
      <p:sp>
        <p:nvSpPr>
          <p:cNvPr id="32" name="Чек_шапка_1"/>
          <p:cNvSpPr/>
          <p:nvPr/>
        </p:nvSpPr>
        <p:spPr>
          <a:xfrm>
            <a:off x="4267200" y="914400"/>
            <a:ext cx="37338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1, 62 года</a:t>
            </a:r>
          </a:p>
        </p:txBody>
      </p:sp>
      <p:sp>
        <p:nvSpPr>
          <p:cNvPr id="33" name="Чек_шапка_2"/>
          <p:cNvSpPr/>
          <p:nvPr/>
        </p:nvSpPr>
        <p:spPr>
          <a:xfrm>
            <a:off x="8001000" y="914400"/>
            <a:ext cx="3733800" cy="3556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Пациент 2, 58 лет</a:t>
            </a:r>
          </a:p>
        </p:txBody>
      </p:sp>
      <p:sp>
        <p:nvSpPr>
          <p:cNvPr id="34" name="Чек_критерий_фон_0"/>
          <p:cNvSpPr/>
          <p:nvPr/>
        </p:nvSpPr>
        <p:spPr>
          <a:xfrm>
            <a:off x="457200" y="12954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5" name="Чек_критерий_0"/>
          <p:cNvSpPr txBox="1"/>
          <p:nvPr/>
        </p:nvSpPr>
        <p:spPr>
          <a:xfrm>
            <a:off x="558800" y="12954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Диагноз: сахарный диабет 2 типа</a:t>
            </a:r>
          </a:p>
        </p:txBody>
      </p:sp>
      <p:sp>
        <p:nvSpPr>
          <p:cNvPr id="36" name="Чек_ячейка_фон_0_0"/>
          <p:cNvSpPr/>
          <p:nvPr/>
        </p:nvSpPr>
        <p:spPr>
          <a:xfrm>
            <a:off x="4292600" y="12954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7" name="Чек_ячейка_0_0"/>
          <p:cNvSpPr txBox="1"/>
          <p:nvPr/>
        </p:nvSpPr>
        <p:spPr>
          <a:xfrm>
            <a:off x="4394200" y="12954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</a:t>
            </a:r>
          </a:p>
        </p:txBody>
      </p:sp>
      <p:sp>
        <p:nvSpPr>
          <p:cNvPr id="38" name="Чек_ячейка_фон_0_1"/>
          <p:cNvSpPr/>
          <p:nvPr/>
        </p:nvSpPr>
        <p:spPr>
          <a:xfrm>
            <a:off x="8026400" y="12954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39" name="Чек_ячейка_0_1"/>
          <p:cNvSpPr txBox="1"/>
          <p:nvPr/>
        </p:nvSpPr>
        <p:spPr>
          <a:xfrm>
            <a:off x="8128000" y="12954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</a:t>
            </a:r>
          </a:p>
        </p:txBody>
      </p:sp>
      <p:sp>
        <p:nvSpPr>
          <p:cNvPr id="40" name="Чек_критерий_фон_1"/>
          <p:cNvSpPr/>
          <p:nvPr/>
        </p:nvSpPr>
        <p:spPr>
          <a:xfrm>
            <a:off x="457200" y="1701800"/>
            <a:ext cx="3810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1" name="Чек_критерий_1"/>
          <p:cNvSpPr txBox="1"/>
          <p:nvPr/>
        </p:nvSpPr>
        <p:spPr>
          <a:xfrm>
            <a:off x="558800" y="1701800"/>
            <a:ext cx="3657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АКО ≥30 мг/г не менее 3 месяцев¹</a:t>
            </a:r>
          </a:p>
        </p:txBody>
      </p:sp>
      <p:sp>
        <p:nvSpPr>
          <p:cNvPr id="42" name="Чек_ячейка_фон_1_0"/>
          <p:cNvSpPr/>
          <p:nvPr/>
        </p:nvSpPr>
        <p:spPr>
          <a:xfrm>
            <a:off x="4292600" y="1701800"/>
            <a:ext cx="3683000" cy="4826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3" name="Чек_ячейка_1_0"/>
          <p:cNvSpPr txBox="1"/>
          <p:nvPr/>
        </p:nvSpPr>
        <p:spPr>
          <a:xfrm>
            <a:off x="4394200" y="17018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(320 и 360 мг/г, интервал 4 месяца)</a:t>
            </a:r>
          </a:p>
        </p:txBody>
      </p:sp>
      <p:sp>
        <p:nvSpPr>
          <p:cNvPr id="44" name="Чек_ячейка_фон_1_1"/>
          <p:cNvSpPr/>
          <p:nvPr/>
        </p:nvSpPr>
        <p:spPr>
          <a:xfrm>
            <a:off x="8026400" y="1701800"/>
            <a:ext cx="3683000" cy="4826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5" name="Чек_ячейка_1_1"/>
          <p:cNvSpPr txBox="1"/>
          <p:nvPr/>
        </p:nvSpPr>
        <p:spPr>
          <a:xfrm>
            <a:off x="8128000" y="17018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 подтверждено (110 мг/г однократно, при инфекции мочевых путей)</a:t>
            </a:r>
          </a:p>
        </p:txBody>
      </p:sp>
      <p:sp>
        <p:nvSpPr>
          <p:cNvPr id="46" name="Чек_критерий_фон_2"/>
          <p:cNvSpPr/>
          <p:nvPr/>
        </p:nvSpPr>
        <p:spPr>
          <a:xfrm>
            <a:off x="457200" y="22098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7" name="Чек_критерий_2"/>
          <p:cNvSpPr txBox="1"/>
          <p:nvPr/>
        </p:nvSpPr>
        <p:spPr>
          <a:xfrm>
            <a:off x="558800" y="22098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рСКФ ≥25 мл/мин/1,73 м²</a:t>
            </a:r>
          </a:p>
        </p:txBody>
      </p:sp>
      <p:sp>
        <p:nvSpPr>
          <p:cNvPr id="48" name="Чек_ячейка_фон_2_0"/>
          <p:cNvSpPr/>
          <p:nvPr/>
        </p:nvSpPr>
        <p:spPr>
          <a:xfrm>
            <a:off x="4292600" y="22098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49" name="Чек_ячейка_2_0"/>
          <p:cNvSpPr txBox="1"/>
          <p:nvPr/>
        </p:nvSpPr>
        <p:spPr>
          <a:xfrm>
            <a:off x="4394200" y="22098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(48, стабильна)</a:t>
            </a:r>
          </a:p>
        </p:txBody>
      </p:sp>
      <p:sp>
        <p:nvSpPr>
          <p:cNvPr id="50" name="Чек_ячейка_фон_2_1"/>
          <p:cNvSpPr/>
          <p:nvPr/>
        </p:nvSpPr>
        <p:spPr>
          <a:xfrm>
            <a:off x="8026400" y="22098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1" name="Чек_ячейка_2_1"/>
          <p:cNvSpPr txBox="1"/>
          <p:nvPr/>
        </p:nvSpPr>
        <p:spPr>
          <a:xfrm>
            <a:off x="8128000" y="22098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(78)</a:t>
            </a:r>
          </a:p>
        </p:txBody>
      </p:sp>
      <p:sp>
        <p:nvSpPr>
          <p:cNvPr id="52" name="Чек_критерий_фон_3"/>
          <p:cNvSpPr/>
          <p:nvPr/>
        </p:nvSpPr>
        <p:spPr>
          <a:xfrm>
            <a:off x="457200" y="26162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3" name="Чек_критерий_3"/>
          <p:cNvSpPr txBox="1"/>
          <p:nvPr/>
        </p:nvSpPr>
        <p:spPr>
          <a:xfrm>
            <a:off x="558800" y="26162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Калий ≤4,8 ммоль/л</a:t>
            </a:r>
          </a:p>
        </p:txBody>
      </p:sp>
      <p:sp>
        <p:nvSpPr>
          <p:cNvPr id="54" name="Чек_ячейка_фон_3_0"/>
          <p:cNvSpPr/>
          <p:nvPr/>
        </p:nvSpPr>
        <p:spPr>
          <a:xfrm>
            <a:off x="4292600" y="26162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5" name="Чек_ячейка_3_0"/>
          <p:cNvSpPr txBox="1"/>
          <p:nvPr/>
        </p:nvSpPr>
        <p:spPr>
          <a:xfrm>
            <a:off x="4394200" y="26162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(4,6)</a:t>
            </a:r>
          </a:p>
        </p:txBody>
      </p:sp>
      <p:sp>
        <p:nvSpPr>
          <p:cNvPr id="56" name="Чек_ячейка_фон_3_1"/>
          <p:cNvSpPr/>
          <p:nvPr/>
        </p:nvSpPr>
        <p:spPr>
          <a:xfrm>
            <a:off x="8026400" y="2616200"/>
            <a:ext cx="3683000" cy="3810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7" name="Чек_ячейка_3_1"/>
          <p:cNvSpPr txBox="1"/>
          <p:nvPr/>
        </p:nvSpPr>
        <p:spPr>
          <a:xfrm>
            <a:off x="8128000" y="26162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 (калий не определён)</a:t>
            </a:r>
          </a:p>
        </p:txBody>
      </p:sp>
      <p:sp>
        <p:nvSpPr>
          <p:cNvPr id="58" name="Чек_критерий_фон_4"/>
          <p:cNvSpPr/>
          <p:nvPr/>
        </p:nvSpPr>
        <p:spPr>
          <a:xfrm>
            <a:off x="457200" y="3022600"/>
            <a:ext cx="3810000" cy="482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9" name="Чек_критерий_4"/>
          <p:cNvSpPr txBox="1"/>
          <p:nvPr/>
        </p:nvSpPr>
        <p:spPr>
          <a:xfrm>
            <a:off x="558800" y="3022600"/>
            <a:ext cx="36576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Ингибитор АПФ или БРА в максимально переносимой дозе¹</a:t>
            </a:r>
          </a:p>
        </p:txBody>
      </p:sp>
      <p:sp>
        <p:nvSpPr>
          <p:cNvPr id="60" name="Чек_ячейка_фон_4_0"/>
          <p:cNvSpPr/>
          <p:nvPr/>
        </p:nvSpPr>
        <p:spPr>
          <a:xfrm>
            <a:off x="4292600" y="3022600"/>
            <a:ext cx="3683000" cy="4826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1" name="Чек_ячейка_4_0"/>
          <p:cNvSpPr txBox="1"/>
          <p:nvPr/>
        </p:nvSpPr>
        <p:spPr>
          <a:xfrm>
            <a:off x="4394200" y="30226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(лозартан 100 мг/сут)</a:t>
            </a:r>
          </a:p>
        </p:txBody>
      </p:sp>
      <p:sp>
        <p:nvSpPr>
          <p:cNvPr id="62" name="Чек_ячейка_фон_4_1"/>
          <p:cNvSpPr/>
          <p:nvPr/>
        </p:nvSpPr>
        <p:spPr>
          <a:xfrm>
            <a:off x="8026400" y="3022600"/>
            <a:ext cx="3683000" cy="4826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3" name="Чек_ячейка_4_1"/>
          <p:cNvSpPr txBox="1"/>
          <p:nvPr/>
        </p:nvSpPr>
        <p:spPr>
          <a:xfrm>
            <a:off x="8128000" y="3022600"/>
            <a:ext cx="347980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</a:t>
            </a:r>
          </a:p>
        </p:txBody>
      </p:sp>
      <p:sp>
        <p:nvSpPr>
          <p:cNvPr id="64" name="Чек_критерий_фон_5"/>
          <p:cNvSpPr/>
          <p:nvPr/>
        </p:nvSpPr>
        <p:spPr>
          <a:xfrm>
            <a:off x="457200" y="3530600"/>
            <a:ext cx="3810000" cy="381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5" name="Чек_критерий_5"/>
          <p:cNvSpPr txBox="1"/>
          <p:nvPr/>
        </p:nvSpPr>
        <p:spPr>
          <a:xfrm>
            <a:off x="558800" y="3530600"/>
            <a:ext cx="36576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Полный список лекарств</a:t>
            </a:r>
          </a:p>
        </p:txBody>
      </p:sp>
      <p:sp>
        <p:nvSpPr>
          <p:cNvPr id="66" name="Чек_ячейка_фон_5_0"/>
          <p:cNvSpPr/>
          <p:nvPr/>
        </p:nvSpPr>
        <p:spPr>
          <a:xfrm>
            <a:off x="4292600" y="3530600"/>
            <a:ext cx="3683000" cy="381000"/>
          </a:xfrm>
          <a:prstGeom prst="rect">
            <a:avLst/>
          </a:prstGeom>
          <a:solidFill>
            <a:srgbClr val="C2F1C8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7" name="Чек_ячейка_5_0"/>
          <p:cNvSpPr txBox="1"/>
          <p:nvPr/>
        </p:nvSpPr>
        <p:spPr>
          <a:xfrm>
            <a:off x="4394200" y="35306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да (лозартан, эмпаглифлозин 10 мг/сут)</a:t>
            </a:r>
          </a:p>
        </p:txBody>
      </p:sp>
      <p:sp>
        <p:nvSpPr>
          <p:cNvPr id="68" name="Чек_ячейка_фон_5_1"/>
          <p:cNvSpPr/>
          <p:nvPr/>
        </p:nvSpPr>
        <p:spPr>
          <a:xfrm>
            <a:off x="8026400" y="3530600"/>
            <a:ext cx="3683000" cy="381000"/>
          </a:xfrm>
          <a:prstGeom prst="rect">
            <a:avLst/>
          </a:prstGeom>
          <a:solidFill>
            <a:srgbClr val="FBE3D6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69" name="Чек_ячейка_5_1"/>
          <p:cNvSpPr txBox="1"/>
          <p:nvPr/>
        </p:nvSpPr>
        <p:spPr>
          <a:xfrm>
            <a:off x="8128000" y="3530600"/>
            <a:ext cx="34798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нет данных (список не уточнён)</a:t>
            </a:r>
          </a:p>
        </p:txBody>
      </p:sp>
      <p:sp>
        <p:nvSpPr>
          <p:cNvPr id="70" name="Чек_вывод_1"/>
          <p:cNvSpPr/>
          <p:nvPr/>
        </p:nvSpPr>
        <p:spPr>
          <a:xfrm>
            <a:off x="4292600" y="4013200"/>
            <a:ext cx="3683000" cy="355600"/>
          </a:xfrm>
          <a:prstGeom prst="roundRect">
            <a:avLst>
              <a:gd name="adj" fmla="val 25000"/>
            </a:avLst>
          </a:prstGeom>
          <a:solidFill>
            <a:srgbClr val="196B2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Врач может рассмотреть начало лечения</a:t>
            </a:r>
          </a:p>
        </p:txBody>
      </p:sp>
      <p:sp>
        <p:nvSpPr>
          <p:cNvPr id="71" name="Чек_действие_фон_1"/>
          <p:cNvSpPr/>
          <p:nvPr/>
        </p:nvSpPr>
        <p:spPr>
          <a:xfrm>
            <a:off x="4292600" y="4394200"/>
            <a:ext cx="36830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72" name="Чек_действие_1"/>
          <p:cNvSpPr txBox="1"/>
          <p:nvPr/>
        </p:nvSpPr>
        <p:spPr>
          <a:xfrm>
            <a:off x="4419600" y="4445000"/>
            <a:ext cx="342900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проверяет противопоказания и взаимодействия, может начать лечение в дозе 10 мг один раз в сутки (рСКФ 48). Контроль: калий и рСКФ через 4 недели.</a:t>
            </a:r>
            <a:endParaRPr lang="ru-RU" sz="1400"/>
          </a:p>
        </p:txBody>
      </p:sp>
      <p:sp>
        <p:nvSpPr>
          <p:cNvPr id="73" name="Чек_вывод_2"/>
          <p:cNvSpPr/>
          <p:nvPr/>
        </p:nvSpPr>
        <p:spPr>
          <a:xfrm>
            <a:off x="8026400" y="4013200"/>
            <a:ext cx="3683000" cy="3556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Данных для решения пока недостаточно</a:t>
            </a:r>
          </a:p>
        </p:txBody>
      </p:sp>
      <p:sp>
        <p:nvSpPr>
          <p:cNvPr id="74" name="Чек_действие_фон_2"/>
          <p:cNvSpPr/>
          <p:nvPr/>
        </p:nvSpPr>
        <p:spPr>
          <a:xfrm>
            <a:off x="8026400" y="4394200"/>
            <a:ext cx="36830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75" name="Чек_действие_2"/>
          <p:cNvSpPr txBox="1"/>
          <p:nvPr/>
        </p:nvSpPr>
        <p:spPr>
          <a:xfrm>
            <a:off x="8153400" y="4445000"/>
            <a:ext cx="3429000" cy="1676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определено один раз, во время инфекции. Врач повторяет АКО после её лечения, подтверждает, что изменения держатся не менее 3 месяцев, определяет калий и уточняет список лекарств.</a:t>
            </a:r>
            <a:endParaRPr lang="ru-RU" sz="1400"/>
          </a:p>
        </p:txBody>
      </p:sp>
      <p:sp>
        <p:nvSpPr>
          <p:cNvPr id="79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II.</a:t>
            </a:r>
            <a:endParaRPr lang="ru-RU" sz="1000" b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Калий повысился: лечение временно отменяют, повторяют анализ и возобновляют с 10 мг</a:t>
            </a:r>
            <a:endParaRPr lang="ru-RU" sz="2000" b="0" u="none" dirty="0"/>
          </a:p>
        </p:txBody>
      </p:sp>
      <p:sp>
        <p:nvSpPr>
          <p:cNvPr id="3" name="Условный_случай"/>
          <p:cNvSpPr txBox="1"/>
          <p:nvPr/>
        </p:nvSpPr>
        <p:spPr>
          <a:xfrm>
            <a:off x="457200" y="838200"/>
            <a:ext cx="112776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Условный случай для обучения: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взрослый с ХБП, связанной с сахарным диабетом 2 типа, состояние стабильное.</a:t>
            </a:r>
          </a:p>
        </p:txBody>
      </p:sp>
      <p:graphicFrame>
        <p:nvGraphicFramePr>
          <p:cNvPr id="4" name="График_калия"/>
          <p:cNvGraphicFramePr>
            <a:graphicFrameLocks noGrp="1"/>
          </p:cNvGraphicFramePr>
          <p:nvPr/>
        </p:nvGraphicFramePr>
        <p:xfrm>
          <a:off x="381000" y="1219200"/>
          <a:ext cx="5588000" cy="4521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Шаг_96"/>
          <p:cNvSpPr txBox="1"/>
          <p:nvPr/>
        </p:nvSpPr>
        <p:spPr>
          <a:xfrm>
            <a:off x="6756400" y="12192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До начала лечения: калий 4,5 ммоль/л, рСКФ 65</a:t>
            </a:r>
          </a:p>
        </p:txBody>
      </p:sp>
      <p:sp>
        <p:nvSpPr>
          <p:cNvPr id="6" name="Шаг_текст_96"/>
          <p:cNvSpPr txBox="1"/>
          <p:nvPr/>
        </p:nvSpPr>
        <p:spPr>
          <a:xfrm>
            <a:off x="6756400" y="15494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назначает финеренон 20 мг один раз в сутки (рСКФ ≥60, калий ≤4,8 ммоль/л).</a:t>
            </a:r>
            <a:endParaRPr lang="ru-RU" sz="1600"/>
          </a:p>
        </p:txBody>
      </p:sp>
      <p:sp>
        <p:nvSpPr>
          <p:cNvPr id="7" name="Шаг_170"/>
          <p:cNvSpPr txBox="1"/>
          <p:nvPr/>
        </p:nvSpPr>
        <p:spPr>
          <a:xfrm>
            <a:off x="6756400" y="21082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Через 4 недели: калий 5,7 ммоль/л, рСКФ 61</a:t>
            </a:r>
          </a:p>
        </p:txBody>
      </p:sp>
      <p:sp>
        <p:nvSpPr>
          <p:cNvPr id="8" name="Шаг_текст_170"/>
          <p:cNvSpPr txBox="1"/>
          <p:nvPr/>
        </p:nvSpPr>
        <p:spPr>
          <a:xfrm>
            <a:off x="6756400" y="2438400"/>
            <a:ext cx="49784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Возможная причина: недавно начат короткий курс ко-тримоксазола.</a:t>
            </a:r>
            <a:endParaRPr lang="ru-RU" sz="16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Врач временно отменяет финеренон, выясняет причину и повторяет анализ.</a:t>
            </a:r>
            <a:endParaRPr lang="ru-RU" sz="1600"/>
          </a:p>
        </p:txBody>
      </p:sp>
      <p:sp>
        <p:nvSpPr>
          <p:cNvPr id="9" name="Шаг_270"/>
          <p:cNvSpPr txBox="1"/>
          <p:nvPr/>
        </p:nvSpPr>
        <p:spPr>
          <a:xfrm>
            <a:off x="6756400" y="35306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7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Повторный анализ: срок определяет врач</a:t>
            </a:r>
            <a:endParaRPr lang="ru-RU" sz="1700"/>
          </a:p>
        </p:txBody>
      </p:sp>
      <p:sp>
        <p:nvSpPr>
          <p:cNvPr id="10" name="Шаг_текст_270"/>
          <p:cNvSpPr txBox="1"/>
          <p:nvPr/>
        </p:nvSpPr>
        <p:spPr>
          <a:xfrm>
            <a:off x="6756400" y="38608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4,9 ммоль/л. Врач может возобновить лечение в дозе 10 мг один раз в сутки.</a:t>
            </a:r>
            <a:endParaRPr lang="ru-RU" sz="1600"/>
          </a:p>
        </p:txBody>
      </p:sp>
      <p:sp>
        <p:nvSpPr>
          <p:cNvPr id="11" name="Шаг_356"/>
          <p:cNvSpPr txBox="1"/>
          <p:nvPr/>
        </p:nvSpPr>
        <p:spPr>
          <a:xfrm>
            <a:off x="6756400" y="4546600"/>
            <a:ext cx="4978400" cy="304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111111"/>
                </a:solidFill>
                <a:latin typeface="Arial Narrow"/>
                <a:cs typeface="Arial Narrow"/>
              </a:rPr>
              <a:t>Через 4 недели после возобновления</a:t>
            </a:r>
          </a:p>
        </p:txBody>
      </p:sp>
      <p:sp>
        <p:nvSpPr>
          <p:cNvPr id="12" name="Шаг_текст_356"/>
          <p:cNvSpPr txBox="1"/>
          <p:nvPr/>
        </p:nvSpPr>
        <p:spPr>
          <a:xfrm>
            <a:off x="6756400" y="4876800"/>
            <a:ext cx="49784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Калий ≤4,8 ммоль/л и снижение рСКФ не более чем на 30% от предыдущего измерения: дозу повышают до 20 мг.</a:t>
            </a:r>
          </a:p>
        </p:txBody>
      </p:sp>
      <p:sp>
        <p:nvSpPr>
          <p:cNvPr id="13" name="Срочность"/>
          <p:cNvSpPr txBox="1"/>
          <p:nvPr/>
        </p:nvSpPr>
        <p:spPr>
          <a:xfrm>
            <a:off x="6350000" y="5537200"/>
            <a:ext cx="5384800" cy="508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Срочно¹:</a:t>
            </a: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 xml:space="preserve"> калий 6,0 ммоль/л и выше или ухудшение состояния. Врач оценивает пациента сразу.</a:t>
            </a:r>
            <a:endParaRPr lang="ru-RU" sz="1600"/>
          </a:p>
        </p:txBody>
      </p:sp>
      <p:sp>
        <p:nvSpPr>
          <p:cNvPr id="14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UK Kidney Association. Clinical Practice Guideline: Management of Hyperkalaemia in Adults. Updated July 2026.</a:t>
            </a:r>
            <a:endParaRPr lang="ru-RU" sz="800" b="0" dirty="0"/>
          </a:p>
        </p:txBody>
      </p:sp>
      <p:pic>
        <p:nvPicPr>
          <p:cNvPr id="15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8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19" name="Маркер_шага_1"/>
          <p:cNvSpPr/>
          <p:nvPr/>
        </p:nvSpPr>
        <p:spPr>
          <a:xfrm>
            <a:off x="6350000" y="12192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</a:p>
        </p:txBody>
      </p:sp>
      <p:sp>
        <p:nvSpPr>
          <p:cNvPr id="20" name="Маркер_шага_2"/>
          <p:cNvSpPr/>
          <p:nvPr/>
        </p:nvSpPr>
        <p:spPr>
          <a:xfrm>
            <a:off x="6350000" y="2108200"/>
            <a:ext cx="304800" cy="30480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</a:p>
        </p:txBody>
      </p:sp>
      <p:sp>
        <p:nvSpPr>
          <p:cNvPr id="21" name="Маркер_шага_3"/>
          <p:cNvSpPr/>
          <p:nvPr/>
        </p:nvSpPr>
        <p:spPr>
          <a:xfrm>
            <a:off x="6350000" y="3530600"/>
            <a:ext cx="304800" cy="304800"/>
          </a:xfrm>
          <a:prstGeom prst="ellipse">
            <a:avLst/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</a:p>
        </p:txBody>
      </p:sp>
      <p:sp>
        <p:nvSpPr>
          <p:cNvPr id="22" name="Маркер_шага_4"/>
          <p:cNvSpPr/>
          <p:nvPr/>
        </p:nvSpPr>
        <p:spPr>
          <a:xfrm>
            <a:off x="6350000" y="4546600"/>
            <a:ext cx="304800" cy="304800"/>
          </a:xfrm>
          <a:prstGeom prst="ellipse">
            <a:avLst/>
          </a:prstGeom>
          <a:solidFill>
            <a:srgbClr val="196B24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Карточка_вопрос_1"/>
          <p:cNvSpPr/>
          <p:nvPr/>
        </p:nvSpPr>
        <p:spPr>
          <a:xfrm>
            <a:off x="457200" y="1143000"/>
            <a:ext cx="11277600" cy="2413000"/>
          </a:xfrm>
          <a:prstGeom prst="roundRect">
            <a:avLst>
              <a:gd name="adj" fmla="val 421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9" name="Карточка_вопрос_2"/>
          <p:cNvSpPr/>
          <p:nvPr/>
        </p:nvSpPr>
        <p:spPr>
          <a:xfrm>
            <a:off x="457200" y="3759200"/>
            <a:ext cx="11277600" cy="2413000"/>
          </a:xfrm>
          <a:prstGeom prst="roundRect">
            <a:avLst>
              <a:gd name="adj" fmla="val 421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grpSp>
        <p:nvGrpSpPr>
          <p:cNvPr id="5" name="Исходный_визуал_S13_1"/>
          <p:cNvGrpSpPr/>
          <p:nvPr/>
        </p:nvGrpSpPr>
        <p:grpSpPr>
          <a:xfrm>
            <a:off x="952500" y="1618261"/>
            <a:ext cx="1554480" cy="1157678"/>
            <a:chOff x="548640" y="4507992"/>
            <a:chExt cx="1737360" cy="1293876"/>
          </a:xfrm>
        </p:grpSpPr>
        <p:grpSp>
          <p:nvGrpSpPr>
            <p:cNvPr id="6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7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8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9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10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11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2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3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4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5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6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7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8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19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0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21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22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23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4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5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6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7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8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29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0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1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32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sp>
        <p:nvSpPr>
          <p:cNvPr id="34" name="Text_5"/>
          <p:cNvSpPr txBox="1"/>
          <p:nvPr/>
        </p:nvSpPr>
        <p:spPr>
          <a:xfrm>
            <a:off x="3095625" y="1810799"/>
            <a:ext cx="8382000" cy="5334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100" b="1" u="none">
                <a:solidFill>
                  <a:srgbClr val="7030A0"/>
                </a:solidFill>
                <a:latin typeface="Arial"/>
              </a:defRPr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Вопрос 1.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Взрослый с ХБП и диабетом 2 типа: уровень глюкозы в крови и давление в целевом диапазоне</a:t>
            </a:r>
            <a:endParaRPr lang="ru-RU" sz="1800"/>
          </a:p>
        </p:txBody>
      </p:sp>
      <p:sp>
        <p:nvSpPr>
          <p:cNvPr id="35" name="Text_6"/>
          <p:cNvSpPr txBox="1"/>
          <p:nvPr/>
        </p:nvSpPr>
        <p:spPr>
          <a:xfrm>
            <a:off x="3095625" y="2318799"/>
            <a:ext cx="8096250" cy="5948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Альбуминурия сохраняется.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Какие данные нужны, чтобы обсудить дополнительное лечение?</a:t>
            </a:r>
          </a:p>
        </p:txBody>
      </p:sp>
      <p:grpSp>
        <p:nvGrpSpPr>
          <p:cNvPr id="36" name="Исходный_визуал_S13_1"/>
          <p:cNvGrpSpPr/>
          <p:nvPr/>
        </p:nvGrpSpPr>
        <p:grpSpPr>
          <a:xfrm>
            <a:off x="1066800" y="4058920"/>
            <a:ext cx="1321266" cy="1508760"/>
            <a:chOff x="749808" y="1399032"/>
            <a:chExt cx="1536192" cy="1754184"/>
          </a:xfrm>
        </p:grpSpPr>
        <p:grpSp>
          <p:nvGrpSpPr>
            <p:cNvPr id="37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38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39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0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1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42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3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51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2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3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4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5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6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7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8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59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61" name="Text_8"/>
          <p:cNvSpPr txBox="1"/>
          <p:nvPr/>
        </p:nvSpPr>
        <p:spPr>
          <a:xfrm>
            <a:off x="3095625" y="4426999"/>
            <a:ext cx="8382000" cy="3556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100" b="1" u="none">
                <a:solidFill>
                  <a:srgbClr val="7030A0"/>
                </a:solidFill>
                <a:latin typeface="Arial"/>
              </a:defRPr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Вопрос 2.</a:t>
            </a: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 После начала приёма финеренона повысился уровень калия в крови</a:t>
            </a:r>
            <a:endParaRPr lang="ru-RU" sz="1800"/>
          </a:p>
        </p:txBody>
      </p:sp>
      <p:sp>
        <p:nvSpPr>
          <p:cNvPr id="62" name="Text_9"/>
          <p:cNvSpPr txBox="1"/>
          <p:nvPr/>
        </p:nvSpPr>
        <p:spPr>
          <a:xfrm>
            <a:off x="3095625" y="4934999"/>
            <a:ext cx="8096250" cy="594800"/>
          </a:xfrm>
          <a:prstGeom prst="rect">
            <a:avLst/>
          </a:prstGeom>
          <a:noFill/>
        </p:spPr>
        <p:txBody>
          <a:bodyPr wrap="square" lIns="0" tIns="10972" rIns="0" bIns="10972">
            <a:no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Всегда ли нужна окончательная отмена?</a:t>
            </a:r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2000" b="0" u="none">
                <a:solidFill>
                  <a:srgbClr val="000000"/>
                </a:solidFill>
                <a:latin typeface="Arial"/>
              </a:defRPr>
            </a:pPr>
            <a:r>
              <a:rPr lang="ru-RU" sz="1800" b="0">
                <a:solidFill>
                  <a:srgbClr val="000000"/>
                </a:solidFill>
                <a:latin typeface="Arial Narrow"/>
                <a:cs typeface="Arial Narrow"/>
              </a:rPr>
              <a:t>Когда можно возобновить лечение?</a:t>
            </a:r>
          </a:p>
        </p:txBody>
      </p:sp>
      <p:sp>
        <p:nvSpPr>
          <p:cNvPr id="63" name="Подпись_моча"/>
          <p:cNvSpPr txBox="1"/>
          <p:nvPr/>
        </p:nvSpPr>
        <p:spPr>
          <a:xfrm>
            <a:off x="660400" y="2826739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Моча: альбумин и креатинин</a:t>
            </a:r>
          </a:p>
        </p:txBody>
      </p:sp>
      <p:sp>
        <p:nvSpPr>
          <p:cNvPr id="64" name="Подпись_кровь"/>
          <p:cNvSpPr txBox="1"/>
          <p:nvPr/>
        </p:nvSpPr>
        <p:spPr>
          <a:xfrm>
            <a:off x="660400" y="5618480"/>
            <a:ext cx="2159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Кровь: калий и креатинин</a:t>
            </a:r>
          </a:p>
        </p:txBody>
      </p:sp>
      <p:sp>
        <p:nvSpPr>
          <p:cNvPr id="65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2000" b="0">
                <a:solidFill>
                  <a:srgbClr val="7030A0"/>
                </a:solidFill>
                <a:latin typeface="Arial Narrow"/>
                <a:cs typeface="Arial Narrow"/>
              </a:rPr>
              <a:t>Два вопроса из начала занятия: ответьте своими словами</a:t>
            </a:r>
          </a:p>
        </p:txBody>
      </p:sp>
      <p:pic>
        <p:nvPicPr>
          <p:cNvPr id="6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67" name="Источники"/>
          <p:cNvSpPr txBox="1"/>
          <p:nvPr/>
        </p:nvSpPr>
        <p:spPr>
          <a:xfrm>
            <a:off x="457200" y="6578600"/>
            <a:ext cx="10795000" cy="254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ru-RU" sz="800"/>
          </a:p>
        </p:txBody>
      </p:sp>
      <p:sp>
        <p:nvSpPr>
          <p:cNvPr id="70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почек.</a:t>
            </a:r>
            <a:endParaRPr lang="ru-RU" sz="1000" b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Альбуминурия сохраняется: для разговора о финереноне нужны пять сведений</a:t>
            </a:r>
            <a:endParaRPr lang="ru-RU" sz="2000" b="0" dirty="0"/>
          </a:p>
        </p:txBody>
      </p:sp>
      <p:sp>
        <p:nvSpPr>
          <p:cNvPr id="3" name="Вопрос"/>
          <p:cNvSpPr/>
          <p:nvPr/>
        </p:nvSpPr>
        <p:spPr>
          <a:xfrm>
            <a:off x="457200" y="914400"/>
            <a:ext cx="11277600" cy="5588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lang="ru-RU" sz="1700" b="1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Вопрос 1.</a:t>
            </a:r>
            <a:r>
              <a:rPr lang="ru-RU" sz="1700" b="0">
                <a:solidFill>
                  <a:srgbClr val="FFFFFF"/>
                </a:solidFill>
                <a:latin typeface="Arial Narrow"/>
                <a:ea typeface="Arial Narrow"/>
                <a:cs typeface="Arial Narrow"/>
              </a:rPr>
              <a:t> Взрослый с ХБП и сахарным диабетом 2 типа; давление и уровень глюкозы в крови под контролем, альбуминурия сохраняется. Какие данные нужны, чтобы обсудить дополнительное лечение?</a:t>
            </a:r>
            <a:endParaRPr lang="ru-RU" sz="1700"/>
          </a:p>
        </p:txBody>
      </p:sp>
      <p:sp>
        <p:nvSpPr>
          <p:cNvPr id="4" name="Пункт_фон_1"/>
          <p:cNvSpPr/>
          <p:nvPr/>
        </p:nvSpPr>
        <p:spPr>
          <a:xfrm>
            <a:off x="457200" y="1625600"/>
            <a:ext cx="11277600" cy="6604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5" name="Пункт_1"/>
          <p:cNvSpPr txBox="1"/>
          <p:nvPr/>
        </p:nvSpPr>
        <p:spPr>
          <a:xfrm>
            <a:off x="1066800" y="16256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111111"/>
                </a:solidFill>
                <a:latin typeface="Arial Narrow"/>
                <a:cs typeface="Arial Narrow"/>
              </a:rPr>
              <a:t>Альбуминурия подтверждена</a:t>
            </a:r>
          </a:p>
        </p:txBody>
      </p:sp>
      <p:sp>
        <p:nvSpPr>
          <p:cNvPr id="6" name="Пункт_1_текст"/>
          <p:cNvSpPr txBox="1"/>
          <p:nvPr/>
        </p:nvSpPr>
        <p:spPr>
          <a:xfrm>
            <a:off x="3759200" y="16256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АКО ≥30 мг/г подтверждено повторно, изменения держатся не менее 3 месяцев, временные причины (например, инфекция) исключены¹.</a:t>
            </a:r>
            <a:endParaRPr lang="ru-RU" sz="1600"/>
          </a:p>
        </p:txBody>
      </p:sp>
      <p:sp>
        <p:nvSpPr>
          <p:cNvPr id="7" name="Пункт_фон_2"/>
          <p:cNvSpPr/>
          <p:nvPr/>
        </p:nvSpPr>
        <p:spPr>
          <a:xfrm>
            <a:off x="457200" y="2362200"/>
            <a:ext cx="11277600" cy="6604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8" name="Пункт_2"/>
          <p:cNvSpPr txBox="1"/>
          <p:nvPr/>
        </p:nvSpPr>
        <p:spPr>
          <a:xfrm>
            <a:off x="1066800" y="23622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111111"/>
                </a:solidFill>
                <a:latin typeface="Arial Narrow"/>
                <a:cs typeface="Arial Narrow"/>
              </a:rPr>
              <a:t>Функция почек</a:t>
            </a:r>
          </a:p>
        </p:txBody>
      </p:sp>
      <p:sp>
        <p:nvSpPr>
          <p:cNvPr id="9" name="Пункт_2_текст"/>
          <p:cNvSpPr txBox="1"/>
          <p:nvPr/>
        </p:nvSpPr>
        <p:spPr>
          <a:xfrm>
            <a:off x="3759200" y="23622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 ≥25 мл/мин/1,73 м². Стартовая доза: 20 мг при рСКФ ≥60, 10 мг при рСКФ ≥25 и &lt;60.</a:t>
            </a:r>
            <a:endParaRPr lang="ru-RU" sz="1600"/>
          </a:p>
        </p:txBody>
      </p:sp>
      <p:sp>
        <p:nvSpPr>
          <p:cNvPr id="10" name="Пункт_фон_3"/>
          <p:cNvSpPr/>
          <p:nvPr/>
        </p:nvSpPr>
        <p:spPr>
          <a:xfrm>
            <a:off x="457200" y="3098800"/>
            <a:ext cx="11277600" cy="6604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1" name="Пункт_3"/>
          <p:cNvSpPr txBox="1"/>
          <p:nvPr/>
        </p:nvSpPr>
        <p:spPr>
          <a:xfrm>
            <a:off x="1066800" y="30988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111111"/>
                </a:solidFill>
                <a:latin typeface="Arial Narrow"/>
                <a:cs typeface="Arial Narrow"/>
              </a:rPr>
              <a:t>Калий сыворотки</a:t>
            </a:r>
          </a:p>
        </p:txBody>
      </p:sp>
      <p:sp>
        <p:nvSpPr>
          <p:cNvPr id="12" name="Пункт_3_текст"/>
          <p:cNvSpPr txBox="1"/>
          <p:nvPr/>
        </p:nvSpPr>
        <p:spPr>
          <a:xfrm>
            <a:off x="3759200" y="30988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Калий ≤4,8 ммоль/л: начать можно. &gt;4,8 и ≤5,0: начало с дополнительным контролем калия в первые 4 недели. &gt;5,0: не начинают.</a:t>
            </a:r>
            <a:endParaRPr lang="ru-RU" sz="1600"/>
          </a:p>
        </p:txBody>
      </p:sp>
      <p:sp>
        <p:nvSpPr>
          <p:cNvPr id="13" name="Пункт_фон_4"/>
          <p:cNvSpPr/>
          <p:nvPr/>
        </p:nvSpPr>
        <p:spPr>
          <a:xfrm>
            <a:off x="457200" y="3835400"/>
            <a:ext cx="11277600" cy="6604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4" name="Пункт_4"/>
          <p:cNvSpPr txBox="1"/>
          <p:nvPr/>
        </p:nvSpPr>
        <p:spPr>
          <a:xfrm>
            <a:off x="1066800" y="38354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111111"/>
                </a:solidFill>
                <a:latin typeface="Arial Narrow"/>
                <a:cs typeface="Arial Narrow"/>
              </a:rPr>
              <a:t>Текущая терапия</a:t>
            </a:r>
          </a:p>
        </p:txBody>
      </p:sp>
      <p:sp>
        <p:nvSpPr>
          <p:cNvPr id="15" name="Пункт_4_текст"/>
          <p:cNvSpPr txBox="1"/>
          <p:nvPr/>
        </p:nvSpPr>
        <p:spPr>
          <a:xfrm>
            <a:off x="3759200" y="38354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Ингибитор АПФ или БРА в максимально переносимой дозе: так лечили пациентов в FIDELIO-DKD и FIGARO-DKD². Уточнить приём ингибитора НГЛТ2 и полный список лекарств.</a:t>
            </a:r>
            <a:endParaRPr lang="ru-RU" sz="1600"/>
          </a:p>
        </p:txBody>
      </p:sp>
      <p:sp>
        <p:nvSpPr>
          <p:cNvPr id="16" name="Пункт_фон_5"/>
          <p:cNvSpPr/>
          <p:nvPr/>
        </p:nvSpPr>
        <p:spPr>
          <a:xfrm>
            <a:off x="457200" y="4572000"/>
            <a:ext cx="11277600" cy="660400"/>
          </a:xfrm>
          <a:prstGeom prst="roundRect">
            <a:avLst>
              <a:gd name="adj" fmla="val 13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7" name="Пункт_5"/>
          <p:cNvSpPr txBox="1"/>
          <p:nvPr/>
        </p:nvSpPr>
        <p:spPr>
          <a:xfrm>
            <a:off x="1066800" y="4572000"/>
            <a:ext cx="2590800" cy="660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90000"/>
              </a:lnSpc>
            </a:pPr>
            <a:r>
              <a:rPr lang="ru-RU" sz="16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Противопоказания</a:t>
            </a:r>
            <a:endParaRPr lang="ru-RU" sz="1600"/>
          </a:p>
        </p:txBody>
      </p:sp>
      <p:sp>
        <p:nvSpPr>
          <p:cNvPr id="18" name="Пункт_5_текст"/>
          <p:cNvSpPr txBox="1"/>
          <p:nvPr/>
        </p:nvSpPr>
        <p:spPr>
          <a:xfrm>
            <a:off x="3759200" y="4572000"/>
            <a:ext cx="7797800" cy="6604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Противопоказания: гиперчувствительность, болезнь Аддисона, сильные ингибиторы CYP3A4. Не назначают вместе со спиронолактоном, эплереноном и калийсберегающими диуретиками.</a:t>
            </a:r>
            <a:endParaRPr lang="ru-RU" sz="1600"/>
          </a:p>
        </p:txBody>
      </p:sp>
      <p:sp>
        <p:nvSpPr>
          <p:cNvPr id="19" name="Итог"/>
          <p:cNvSpPr txBox="1"/>
          <p:nvPr/>
        </p:nvSpPr>
        <p:spPr>
          <a:xfrm>
            <a:off x="457200" y="5384800"/>
            <a:ext cx="112776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Решение о лечении принимает врач.</a:t>
            </a:r>
          </a:p>
        </p:txBody>
      </p:sp>
      <p:sp>
        <p:nvSpPr>
          <p:cNvPr id="20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¹ KDIGO 2024 Clinical Practice Guideline for the Evaluation and Management of CKD. Kidney Int. 2024;105(4S):S117–S314. ² Bakris GL, et al. N Engl J Med. 2020;383:2219–2229; Pitt B, et al. N Engl J Med. 2021;385:2252–2263.</a:t>
            </a:r>
            <a:endParaRPr lang="ru-RU" sz="800" b="0" dirty="0"/>
          </a:p>
        </p:txBody>
      </p:sp>
      <p:pic>
        <p:nvPicPr>
          <p:cNvPr id="2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22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типа; CYP3A4: изофермент цитохрома P450 3A4.</a:t>
            </a:r>
            <a:endParaRPr lang="ru-RU" sz="1000" b="0" dirty="0"/>
          </a:p>
        </p:txBody>
      </p:sp>
      <p:sp>
        <p:nvSpPr>
          <p:cNvPr id="23" name="Номер_1"/>
          <p:cNvSpPr/>
          <p:nvPr/>
        </p:nvSpPr>
        <p:spPr>
          <a:xfrm>
            <a:off x="584200" y="17780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C71A4"/>
          </a:solidFill>
          <a:ln w="19050">
            <a:solidFill>
              <a:srgbClr val="FFFFFF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</a:p>
        </p:txBody>
      </p:sp>
      <p:sp>
        <p:nvSpPr>
          <p:cNvPr id="24" name="Номер_2"/>
          <p:cNvSpPr/>
          <p:nvPr/>
        </p:nvSpPr>
        <p:spPr>
          <a:xfrm>
            <a:off x="584200" y="25146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C71A4"/>
          </a:solidFill>
          <a:ln w="19050">
            <a:solidFill>
              <a:srgbClr val="FFFFFF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</a:p>
        </p:txBody>
      </p:sp>
      <p:sp>
        <p:nvSpPr>
          <p:cNvPr id="25" name="Номер_3"/>
          <p:cNvSpPr/>
          <p:nvPr/>
        </p:nvSpPr>
        <p:spPr>
          <a:xfrm>
            <a:off x="584200" y="32512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C71A4"/>
          </a:solidFill>
          <a:ln w="19050">
            <a:solidFill>
              <a:srgbClr val="FFFFFF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</a:p>
        </p:txBody>
      </p:sp>
      <p:sp>
        <p:nvSpPr>
          <p:cNvPr id="26" name="Номер_4"/>
          <p:cNvSpPr/>
          <p:nvPr/>
        </p:nvSpPr>
        <p:spPr>
          <a:xfrm>
            <a:off x="584200" y="39878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C71A4"/>
          </a:solidFill>
          <a:ln w="19050">
            <a:solidFill>
              <a:srgbClr val="FFFFFF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4</a:t>
            </a:r>
          </a:p>
        </p:txBody>
      </p:sp>
      <p:sp>
        <p:nvSpPr>
          <p:cNvPr id="27" name="Номер_5"/>
          <p:cNvSpPr/>
          <p:nvPr/>
        </p:nvSpPr>
        <p:spPr>
          <a:xfrm>
            <a:off x="584200" y="47244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C71A4"/>
          </a:solidFill>
          <a:ln w="19050">
            <a:solidFill>
              <a:srgbClr val="FFFFFF"/>
            </a:solidFill>
          </a:ln>
          <a:effectLst/>
        </p:spPr>
        <p:txBody>
          <a:bodyPr rtlCol="0" anchor="ctr" wrap="squar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Калий выше 5,5: финеренон временно отменяют, повторяют анализ и возобновляют с 10 мг</a:t>
            </a:r>
            <a:endParaRPr lang="ru-RU" sz="2000"/>
          </a:p>
        </p:txBody>
      </p:sp>
      <p:sp>
        <p:nvSpPr>
          <p:cNvPr id="19" name="Итог"/>
          <p:cNvSpPr txBox="1"/>
          <p:nvPr/>
        </p:nvSpPr>
        <p:spPr>
          <a:xfrm>
            <a:off x="457200" y="5384800"/>
            <a:ext cx="11277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Решение принимает врач.</a:t>
            </a:r>
            <a:endParaRPr lang="ru-RU" sz="1500"/>
          </a:p>
        </p:txBody>
      </p:sp>
      <p:sp>
        <p:nvSpPr>
          <p:cNvPr id="20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FIDELITY: Agarwal R, et al. Eur Heart J. 2022;43:474–484.</a:t>
            </a:r>
            <a:endParaRPr lang="ru-RU" sz="800" b="0" dirty="0"/>
          </a:p>
        </p:txBody>
      </p:sp>
      <p:pic>
        <p:nvPicPr>
          <p:cNvPr id="21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рСКФ: расчётная скорость клубочковой фильтрации; FIDELITY: объединённый анализ исследований FIDELIO-DKD и FIGARO-DKD.</a:t>
            </a:r>
            <a:endParaRPr lang="ru-RU" sz="1000" b="0" dirty="0"/>
          </a:p>
        </p:txBody>
      </p:sp>
      <p:sp>
        <p:nvSpPr>
          <p:cNvPr id="45" name="Плашка_вопрос_2"/>
          <p:cNvSpPr/>
          <p:nvPr/>
        </p:nvSpPr>
        <p:spPr>
          <a:xfrm>
            <a:off x="457200" y="1016000"/>
            <a:ext cx="11277600" cy="609600"/>
          </a:xfrm>
          <a:prstGeom prst="roundRect">
            <a:avLst>
              <a:gd name="adj" fmla="val 16666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</a:pPr>
            <a:r>
              <a:rPr sz="1700" b="1">
                <a:solidFill>
                  <a:srgbClr val="FFFFFF"/>
                </a:solidFill>
                <a:latin typeface="Arial Narrow"/>
                <a:cs typeface="Arial Narrow"/>
              </a:rPr>
              <a:t>Вопрос 2.</a:t>
            </a: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 После начала приёма финеренона повысился калий. Всегда ли нужна окончательная отмена? Когда можно возобновить лечение?</a:t>
            </a:r>
          </a:p>
        </p:txBody>
      </p:sp>
      <p:sp>
        <p:nvSpPr>
          <p:cNvPr id="46" name="Шаг_1"/>
          <p:cNvSpPr/>
          <p:nvPr/>
        </p:nvSpPr>
        <p:spPr>
          <a:xfrm>
            <a:off x="457200" y="1828800"/>
            <a:ext cx="2476500" cy="2286000"/>
          </a:xfrm>
          <a:prstGeom prst="roundRect">
            <a:avLst>
              <a:gd name="adj" fmla="val 4444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52400" rIns="152400" tIns="127000" bIns="1270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При плановом контроле калий выше 5,5 ммоль/л</a:t>
            </a:r>
          </a:p>
        </p:txBody>
      </p:sp>
      <p:sp>
        <p:nvSpPr>
          <p:cNvPr id="47" name="Шаг_2"/>
          <p:cNvSpPr/>
          <p:nvPr/>
        </p:nvSpPr>
        <p:spPr>
          <a:xfrm>
            <a:off x="3390900" y="1828800"/>
            <a:ext cx="2476500" cy="2286000"/>
          </a:xfrm>
          <a:prstGeom prst="roundRect">
            <a:avLst>
              <a:gd name="adj" fmla="val 4444"/>
            </a:avLst>
          </a:prstGeom>
          <a:solidFill>
            <a:srgbClr val="666666"/>
          </a:solidFill>
          <a:ln>
            <a:noFill/>
          </a:ln>
          <a:effectLst/>
        </p:spPr>
        <p:txBody>
          <a:bodyPr rtlCol="0" anchor="ctr" wrap="square" lIns="152400" rIns="152400" tIns="127000" bIns="1270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Финеренон временно отменяют, врач выясняет причину и повторяет анализ калия</a:t>
            </a:r>
          </a:p>
        </p:txBody>
      </p:sp>
      <p:sp>
        <p:nvSpPr>
          <p:cNvPr id="48" name="Шаг_3"/>
          <p:cNvSpPr/>
          <p:nvPr/>
        </p:nvSpPr>
        <p:spPr>
          <a:xfrm>
            <a:off x="6324600" y="1828800"/>
            <a:ext cx="2476500" cy="2286000"/>
          </a:xfrm>
          <a:prstGeom prst="roundRect">
            <a:avLst>
              <a:gd name="adj" fmla="val 4444"/>
            </a:avLst>
          </a:prstGeom>
          <a:solidFill>
            <a:srgbClr val="196B24"/>
          </a:solidFill>
          <a:ln>
            <a:noFill/>
          </a:ln>
          <a:effectLst/>
        </p:spPr>
        <p:txBody>
          <a:bodyPr rtlCol="0" anchor="ctr" wrap="square" lIns="152400" rIns="152400" tIns="127000" bIns="127000"/>
          <a:lstStyle/>
          <a:p>
            <a:pPr algn="l">
              <a:lnSpc>
                <a:spcPct val="90000"/>
              </a:lnSpc>
            </a:pPr>
            <a:r>
              <a:rPr sz="1600" b="0">
                <a:solidFill>
                  <a:srgbClr val="FFFFFF"/>
                </a:solidFill>
                <a:latin typeface="Arial Narrow"/>
                <a:cs typeface="Arial Narrow"/>
              </a:rPr>
              <a:t>Калий 5,0 ммоль/л и ниже: лечение возобновляют в дозе 10 мг один раз в сутки</a:t>
            </a:r>
          </a:p>
        </p:txBody>
      </p:sp>
      <p:sp>
        <p:nvSpPr>
          <p:cNvPr id="49" name="Шаг_4"/>
          <p:cNvSpPr/>
          <p:nvPr/>
        </p:nvSpPr>
        <p:spPr>
          <a:xfrm>
            <a:off x="9258300" y="1828800"/>
            <a:ext cx="2476500" cy="2286000"/>
          </a:xfrm>
          <a:prstGeom prst="roundRect">
            <a:avLst>
              <a:gd name="adj" fmla="val 444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127000" bIns="127000"/>
          <a:lstStyle/>
          <a:p>
            <a:pPr algn="l">
              <a:lnSpc>
                <a:spcPct val="90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Через 4 недели: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калий ≤4,8 и снижение рСКФ не более 30% от предыдущего измерения. Тогда дозу повышают до 20 мг.</a:t>
            </a:r>
          </a:p>
        </p:txBody>
      </p:sp>
      <p:sp>
        <p:nvSpPr>
          <p:cNvPr id="50" name="Шеврон_1"/>
          <p:cNvSpPr/>
          <p:nvPr/>
        </p:nvSpPr>
        <p:spPr>
          <a:xfrm>
            <a:off x="3009900" y="2717800"/>
            <a:ext cx="304800" cy="508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Шеврон_2"/>
          <p:cNvSpPr/>
          <p:nvPr/>
        </p:nvSpPr>
        <p:spPr>
          <a:xfrm>
            <a:off x="5943600" y="2717800"/>
            <a:ext cx="304800" cy="508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Шеврон_3"/>
          <p:cNvSpPr/>
          <p:nvPr/>
        </p:nvSpPr>
        <p:spPr>
          <a:xfrm>
            <a:off x="8877300" y="2717800"/>
            <a:ext cx="304800" cy="508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Карточка_FIDELITY"/>
          <p:cNvSpPr/>
          <p:nvPr/>
        </p:nvSpPr>
        <p:spPr>
          <a:xfrm>
            <a:off x="457200" y="4368800"/>
            <a:ext cx="11277600" cy="812800"/>
          </a:xfrm>
          <a:prstGeom prst="roundRect">
            <a:avLst>
              <a:gd name="adj" fmla="val 125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76200" bIns="76200"/>
          <a:lstStyle/>
          <a:p>
            <a:pPr algn="l">
              <a:lnSpc>
                <a:spcPct val="90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В FIDELITY из-за гиперкалиемии лечение окончательно отменили у </a:t>
            </a:r>
            <a:r>
              <a:rPr sz="1800" b="1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пациентов на финереноне и у </a:t>
            </a:r>
            <a:r>
              <a:rPr sz="1800" b="1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на плацебо (13 026 пациентов, медиана наблюдения 3,0 года).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Карточка_6"/>
          <p:cNvSpPr/>
          <p:nvPr/>
        </p:nvSpPr>
        <p:spPr>
          <a:xfrm>
            <a:off x="6248400" y="42164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7" name="Карточка_5"/>
          <p:cNvSpPr/>
          <p:nvPr/>
        </p:nvSpPr>
        <p:spPr>
          <a:xfrm>
            <a:off x="457200" y="42164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6" name="Карточка_4"/>
          <p:cNvSpPr/>
          <p:nvPr/>
        </p:nvSpPr>
        <p:spPr>
          <a:xfrm>
            <a:off x="6248400" y="26416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5" name="Карточка_3"/>
          <p:cNvSpPr/>
          <p:nvPr/>
        </p:nvSpPr>
        <p:spPr>
          <a:xfrm>
            <a:off x="457200" y="26416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4" name="Карточка_2"/>
          <p:cNvSpPr/>
          <p:nvPr/>
        </p:nvSpPr>
        <p:spPr>
          <a:xfrm>
            <a:off x="6248400" y="10668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43" name="Карточка_1"/>
          <p:cNvSpPr/>
          <p:nvPr/>
        </p:nvSpPr>
        <p:spPr>
          <a:xfrm>
            <a:off x="457200" y="1066800"/>
            <a:ext cx="5486400" cy="1473200"/>
          </a:xfrm>
          <a:prstGeom prst="roundRect">
            <a:avLst>
              <a:gd name="adj" fmla="val 689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Шесть вопросов для самопроверки: что вы ответите врачу</a:t>
            </a:r>
            <a:endParaRPr lang="ru-RU" sz="2000"/>
          </a:p>
        </p:txBody>
      </p:sp>
      <p:pic>
        <p:nvPicPr>
          <p:cNvPr id="29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0" name="Тема 1"/>
          <p:cNvSpPr txBox="1"/>
          <p:nvPr/>
        </p:nvSpPr>
        <p:spPr>
          <a:xfrm>
            <a:off x="609600" y="11938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1. Механизм</a:t>
            </a:r>
            <a:endParaRPr lang="ru-RU" sz="1800"/>
          </a:p>
        </p:txBody>
      </p:sp>
      <p:sp>
        <p:nvSpPr>
          <p:cNvPr id="31" name="Вопрос 1"/>
          <p:cNvSpPr txBox="1"/>
          <p:nvPr/>
        </p:nvSpPr>
        <p:spPr>
          <a:xfrm>
            <a:off x="609600" y="15494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Объясните врачу за 30 секунд, как блокада МКР защищает почки и сердце.</a:t>
            </a:r>
            <a:endParaRPr lang="ru-RU" sz="1800"/>
          </a:p>
        </p:txBody>
      </p:sp>
      <p:sp>
        <p:nvSpPr>
          <p:cNvPr id="32" name="Тема 2"/>
          <p:cNvSpPr txBox="1"/>
          <p:nvPr/>
        </p:nvSpPr>
        <p:spPr>
          <a:xfrm>
            <a:off x="6400800" y="11938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2. Доказательства</a:t>
            </a:r>
            <a:endParaRPr lang="ru-RU" sz="1800"/>
          </a:p>
        </p:txBody>
      </p:sp>
      <p:sp>
        <p:nvSpPr>
          <p:cNvPr id="33" name="Вопрос 2"/>
          <p:cNvSpPr txBox="1"/>
          <p:nvPr/>
        </p:nvSpPr>
        <p:spPr>
          <a:xfrm>
            <a:off x="6400800" y="15494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Что показали FIDELIO-DKD и FIGARO-DKD? Какие результаты вы назовёте врачу?</a:t>
            </a:r>
            <a:endParaRPr lang="ru-RU" sz="1800"/>
          </a:p>
        </p:txBody>
      </p:sp>
      <p:sp>
        <p:nvSpPr>
          <p:cNvPr id="34" name="Тема 3"/>
          <p:cNvSpPr txBox="1"/>
          <p:nvPr/>
        </p:nvSpPr>
        <p:spPr>
          <a:xfrm>
            <a:off x="609600" y="27686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3. Кого искать</a:t>
            </a:r>
            <a:endParaRPr lang="ru-RU" sz="1800"/>
          </a:p>
        </p:txBody>
      </p:sp>
      <p:sp>
        <p:nvSpPr>
          <p:cNvPr id="35" name="Вопрос 3"/>
          <p:cNvSpPr txBox="1"/>
          <p:nvPr/>
        </p:nvSpPr>
        <p:spPr>
          <a:xfrm>
            <a:off x="609600" y="31242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У каких пациентов с ХБП и диабетом 2 типа вы предложите врачу обсудить финеренон? Какие данные нужны для начала лечения?</a:t>
            </a:r>
            <a:endParaRPr lang="ru-RU" sz="1800"/>
          </a:p>
        </p:txBody>
      </p:sp>
      <p:sp>
        <p:nvSpPr>
          <p:cNvPr id="36" name="Тема 4"/>
          <p:cNvSpPr txBox="1"/>
          <p:nvPr/>
        </p:nvSpPr>
        <p:spPr>
          <a:xfrm>
            <a:off x="6400800" y="27686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4. Калий</a:t>
            </a:r>
            <a:endParaRPr lang="ru-RU" sz="1800"/>
          </a:p>
        </p:txBody>
      </p:sp>
      <p:sp>
        <p:nvSpPr>
          <p:cNvPr id="37" name="Вопрос 4"/>
          <p:cNvSpPr txBox="1"/>
          <p:nvPr/>
        </p:nvSpPr>
        <p:spPr>
          <a:xfrm>
            <a:off x="6400800" y="31242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Когда дозу повышают, сохраняют и временно отменяют? Как ответить на слова «я боюсь гиперкалиемии»?</a:t>
            </a:r>
            <a:endParaRPr lang="ru-RU" sz="1800"/>
          </a:p>
        </p:txBody>
      </p:sp>
      <p:sp>
        <p:nvSpPr>
          <p:cNvPr id="38" name="Тема 5"/>
          <p:cNvSpPr txBox="1"/>
          <p:nvPr/>
        </p:nvSpPr>
        <p:spPr>
          <a:xfrm>
            <a:off x="609600" y="43434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5. Место в лечении</a:t>
            </a:r>
            <a:endParaRPr lang="ru-RU" sz="1800"/>
          </a:p>
        </p:txBody>
      </p:sp>
      <p:sp>
        <p:nvSpPr>
          <p:cNvPr id="39" name="Вопрос 5"/>
          <p:cNvSpPr txBox="1"/>
          <p:nvPr/>
        </p:nvSpPr>
        <p:spPr>
          <a:xfrm>
            <a:off x="609600" y="46990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Чем финеренон отличается от спиронолактона и эплеренона? Как он сочетается с ингибиторами НГЛТ2?</a:t>
            </a:r>
            <a:endParaRPr lang="ru-RU" sz="1800"/>
          </a:p>
        </p:txBody>
      </p:sp>
      <p:sp>
        <p:nvSpPr>
          <p:cNvPr id="40" name="Тема 6"/>
          <p:cNvSpPr txBox="1"/>
          <p:nvPr/>
        </p:nvSpPr>
        <p:spPr>
          <a:xfrm>
            <a:off x="6400800" y="4343400"/>
            <a:ext cx="5181600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1">
                <a:solidFill>
                  <a:srgbClr val="111111"/>
                </a:solidFill>
                <a:latin typeface="Arial Narrow"/>
                <a:ea typeface="Arial Narrow"/>
                <a:cs typeface="Arial Narrow"/>
              </a:rPr>
              <a:t>6. Границы и безопасность</a:t>
            </a:r>
            <a:endParaRPr lang="ru-RU" sz="1800"/>
          </a:p>
        </p:txBody>
      </p:sp>
      <p:sp>
        <p:nvSpPr>
          <p:cNvPr id="41" name="Вопрос 6"/>
          <p:cNvSpPr txBox="1"/>
          <p:nvPr/>
        </p:nvSpPr>
        <p:spPr>
          <a:xfrm>
            <a:off x="6400800" y="4699000"/>
            <a:ext cx="5181600" cy="889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Как ответить на вопрос о применении вне зарегистрированного показания? Что делать, если врач сообщит о нежелательном явлении?</a:t>
            </a:r>
            <a:endParaRPr lang="ru-RU" sz="1800"/>
          </a:p>
        </p:txBody>
      </p:sp>
      <p:sp>
        <p:nvSpPr>
          <p:cNvPr id="42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МКР: минералокортикоидный рецептор; НГЛТ2: натрий-глюкозный котранспортёр 2 типа.</a:t>
            </a:r>
            <a:endParaRPr lang="ru-RU" sz="1000" b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Финеренон снижает риск почечных и сердечно-сосудистых исходов у взрослых с ХБП и диабетом 2 типа; контроль калия сводится к простому правилу</a:t>
            </a:r>
            <a:endParaRPr lang="ru-RU" sz="2000">
              <a:latin typeface="Arial Narrow"/>
              <a:cs typeface="Arial Narrow"/>
            </a:endParaRPr>
          </a:p>
        </p:txBody>
      </p:sp>
      <p:sp>
        <p:nvSpPr>
          <p:cNvPr id="44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Bakris GL, et al. N Engl J Med. 2020;383:2219–2229. Pitt B, et al. N Engl J Med. 2021;385:2252–2263. Agarwal R, et al. Eur Heart J. 2022;43:474–484.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4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56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СН: сердечная недостаточность; АПФ: ангиотензинпревращающий фермент; БРА: блокатор рецепторов ангиотензина II; ОР: отношение рисков.</a:t>
            </a:r>
            <a:endParaRPr lang="ru-RU" sz="1000" b="0" dirty="0"/>
          </a:p>
        </p:txBody>
      </p:sp>
      <p:sp>
        <p:nvSpPr>
          <p:cNvPr id="57" name="Плашка_Кого искать"/>
          <p:cNvSpPr/>
          <p:nvPr/>
        </p:nvSpPr>
        <p:spPr>
          <a:xfrm>
            <a:off x="457200" y="10668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Кого искать</a:t>
            </a:r>
          </a:p>
        </p:txBody>
      </p:sp>
      <p:sp>
        <p:nvSpPr>
          <p:cNvPr id="58" name="Карточка_Кого искать"/>
          <p:cNvSpPr/>
          <p:nvPr/>
        </p:nvSpPr>
        <p:spPr>
          <a:xfrm>
            <a:off x="457200" y="1485900"/>
            <a:ext cx="3657600" cy="3263900"/>
          </a:xfrm>
          <a:prstGeom prst="roundRect">
            <a:avLst>
              <a:gd name="adj" fmla="val 31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Взрослые с ХБП, связанной с диабетом 2 типа.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Показание: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снижение риска устойчивого снижения скорости клубочковой фильтрации, терминальной стадии болезни почек, смерти от осложнений сердечно-сосудистых заболеваний, нефатального инфаркта миокарда и госпитализации по поводу СН.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 исследованиях: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альбуминурия (АКО от 30 мг/г) на ингибиторе АПФ или БРА в максимально переносимой дозе.</a:t>
            </a:r>
          </a:p>
        </p:txBody>
      </p:sp>
      <p:sp>
        <p:nvSpPr>
          <p:cNvPr id="59" name="Плашка_Что доказано"/>
          <p:cNvSpPr/>
          <p:nvPr/>
        </p:nvSpPr>
        <p:spPr>
          <a:xfrm>
            <a:off x="4267200" y="10668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Что доказано</a:t>
            </a:r>
          </a:p>
        </p:txBody>
      </p:sp>
      <p:sp>
        <p:nvSpPr>
          <p:cNvPr id="60" name="Карточка_Что доказано"/>
          <p:cNvSpPr/>
          <p:nvPr/>
        </p:nvSpPr>
        <p:spPr>
          <a:xfrm>
            <a:off x="4267200" y="1485900"/>
            <a:ext cx="3657600" cy="3263900"/>
          </a:xfrm>
          <a:prstGeom prst="roundRect">
            <a:avLst>
              <a:gd name="adj" fmla="val 31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По сравнению с плацебо риск комбинированного почечного исхода ниже на </a:t>
            </a:r>
            <a:r>
              <a:rPr sz="1500" b="1">
                <a:solidFill>
                  <a:srgbClr val="7030A0"/>
                </a:solidFill>
                <a:latin typeface="Arial Narrow"/>
                <a:cs typeface="Arial Narrow"/>
              </a:rPr>
              <a:t>18%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(17,8% против 21,1%; FIDELIO-DKD, медиана 2,6 года), комбинированного сердечно-сосудистого исхода ниже на </a:t>
            </a:r>
            <a:r>
              <a:rPr sz="1500" b="1">
                <a:solidFill>
                  <a:srgbClr val="7030A0"/>
                </a:solidFill>
                <a:latin typeface="Arial Narrow"/>
                <a:cs typeface="Arial Narrow"/>
              </a:rPr>
              <a:t>13%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(12,4% против 14,2%; FIGARO-DKD, медиана 3,4 года).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Госпитализации по поводу СН в FIGARO-DKD: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риск ниже на 29% (ОР 0,71).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FIDELITY, 13 026 пациентов: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сердечно-сосудистый исход ОР 0,86, почечный исход ОР 0,77.</a:t>
            </a:r>
          </a:p>
        </p:txBody>
      </p:sp>
      <p:sp>
        <p:nvSpPr>
          <p:cNvPr id="61" name="Плашка_Как назначать"/>
          <p:cNvSpPr/>
          <p:nvPr/>
        </p:nvSpPr>
        <p:spPr>
          <a:xfrm>
            <a:off x="8077200" y="1066800"/>
            <a:ext cx="3657600" cy="3810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800" b="1">
                <a:solidFill>
                  <a:srgbClr val="FFFFFF"/>
                </a:solidFill>
                <a:latin typeface="Arial Narrow"/>
                <a:cs typeface="Arial Narrow"/>
              </a:rPr>
              <a:t>Как назначать и контролировать</a:t>
            </a:r>
          </a:p>
        </p:txBody>
      </p:sp>
      <p:sp>
        <p:nvSpPr>
          <p:cNvPr id="62" name="Карточка_Как назначать"/>
          <p:cNvSpPr/>
          <p:nvPr/>
        </p:nvSpPr>
        <p:spPr>
          <a:xfrm>
            <a:off x="8077200" y="1485900"/>
            <a:ext cx="3657600" cy="3263900"/>
          </a:xfrm>
          <a:prstGeom prst="roundRect">
            <a:avLst>
              <a:gd name="adj" fmla="val 31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Старт: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калий ≤4,8 ммоль/л (4,8–5,0 с дополнительным контролем), выше 5,0 не начинают; рСКФ ≥25. Доза 10 или 20 мг по рСКФ, цель 20 мг один раз в сутки.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Калий и рСКФ до начала, через 4 недели после начала, возобновления или повышения дозы, далее периодически.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Окончательная отмена из-за гиперкалиемии: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1,7% против 0,6% на плацебо (FIDELITY).</a:t>
            </a:r>
          </a:p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До назначения проверяют противопоказания и взаимодействия.</a:t>
            </a:r>
          </a:p>
        </p:txBody>
      </p:sp>
      <p:sp>
        <p:nvSpPr>
          <p:cNvPr id="63" name="Плашка_Вопрос врачу"/>
          <p:cNvSpPr/>
          <p:nvPr/>
        </p:nvSpPr>
        <p:spPr>
          <a:xfrm>
            <a:off x="457200" y="4927600"/>
            <a:ext cx="112776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Вопрос врачу на визите</a:t>
            </a:r>
          </a:p>
        </p:txBody>
      </p:sp>
      <p:sp>
        <p:nvSpPr>
          <p:cNvPr id="64" name="Карточка_Вопрос врачу"/>
          <p:cNvSpPr/>
          <p:nvPr/>
        </p:nvSpPr>
        <p:spPr>
          <a:xfrm>
            <a:off x="457200" y="5295900"/>
            <a:ext cx="11277600" cy="698500"/>
          </a:xfrm>
          <a:prstGeom prst="roundRect">
            <a:avLst>
              <a:gd name="adj" fmla="val 14545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У каких ваших пациентов с ХБП и диабетом 2 типа альбуминурия сохраняется, несмотря на ингибитор АПФ или БРА?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">
            <a:extLst>
              <a:ext uri="{FF2B5EF4-FFF2-40B4-BE49-F238E27FC236}">
                <a16:creationId xmlns:a16="http://schemas.microsoft.com/office/drawing/2014/main" id="{4952619C-D9E6-4078-B63E-A957242F725D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112776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 wrap="square">
            <a:noAutofit/>
          </a:bodyPr>
          <a:lstStyle/>
          <a:p>
            <a:pPr algn="l">
              <a:lnSpc>
                <a:spcPct val="95000"/>
              </a:lnSpc>
              <a:defRPr sz="255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defRPr>
            </a:pPr>
            <a:r>
              <a:rPr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Научные данные: другие группы пациентов</a:t>
            </a:r>
          </a:p>
        </p:txBody>
      </p:sp>
      <p:pic>
        <p:nvPicPr>
          <p:cNvPr id="25" name="Рисунок 2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86400" y="3022600"/>
            <a:ext cx="1219200" cy="2921000"/>
          </a:xfrm>
          <a:prstGeom prst="rect">
            <a:avLst/>
          </a:prstGeom>
        </p:spPr>
      </p:pic>
      <p:sp>
        <p:nvSpPr>
          <p:cNvPr id="22" name="Источники">
            <a:extLst>
              <a:ext uri="{FF2B5EF4-FFF2-40B4-BE49-F238E27FC236}">
                <a16:creationId xmlns:a16="http://schemas.microsoft.com/office/drawing/2014/main" id="{9E7773F8-C90E-4A93-9317-8E0F5E637C5C}"/>
              </a:ext>
            </a:extLst>
          </p:cNvPr>
          <p:cNvSpPr>
            <a:spLocks noGrp="1"/>
          </p:cNvSpPr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wrap="square" anchor="b">
            <a:noAutofit/>
          </a:bodyPr>
          <a:lstStyle/>
          <a:p>
            <a:pPr>
              <a:defRPr sz="900" b="0">
                <a:solidFill>
                  <a:srgbClr val="66616B"/>
                </a:solidFill>
                <a:latin typeface="Arial Narrow"/>
                <a:ea typeface="Arial Narrow"/>
                <a:cs typeface="Arial Narrow"/>
              </a:defRPr>
            </a:pPr>
            <a:r>
              <a:rPr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Финеренон-Орвилле. Инструкция по медицинскому применению. Статусы регистрации на 03.10.2026: решения регуляторов и сообщения разработчика; источники по каждому исследованию на следующих слайдах.</a:t>
            </a:r>
            <a:endParaRPr sz="800" b="0" dirty="0"/>
          </a:p>
        </p:txBody>
      </p:sp>
      <p:pic>
        <p:nvPicPr>
          <p:cNvPr id="46" name="Рисунок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7" name="Подзаголовок"/>
          <p:cNvSpPr txBox="1"/>
          <p:nvPr/>
        </p:nvSpPr>
        <p:spPr>
          <a:xfrm>
            <a:off x="457200" y="736600"/>
            <a:ext cx="11277600" cy="482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Группы пациентов вне показания Финеренон-Орвилле. Данные нужны, чтобы понять вопрос врача и передать его точно. Материал для обучения МП: врачам не показывать и не передавать.</a:t>
            </a:r>
          </a:p>
        </p:txBody>
      </p:sp>
      <p:sp>
        <p:nvSpPr>
          <p:cNvPr id="48" name="Плашка_Правило для МП"/>
          <p:cNvSpPr/>
          <p:nvPr/>
        </p:nvSpPr>
        <p:spPr>
          <a:xfrm>
            <a:off x="457200" y="1270000"/>
            <a:ext cx="11277600" cy="355600"/>
          </a:xfrm>
          <a:prstGeom prst="roundRect">
            <a:avLst>
              <a:gd name="adj" fmla="val 25000"/>
            </a:avLst>
          </a:prstGeom>
          <a:solidFill>
            <a:srgbClr val="E9713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Правило для медицинского представителя</a:t>
            </a:r>
          </a:p>
        </p:txBody>
      </p:sp>
      <p:sp>
        <p:nvSpPr>
          <p:cNvPr id="49" name="Карточка_Правило для МП"/>
          <p:cNvSpPr/>
          <p:nvPr/>
        </p:nvSpPr>
        <p:spPr>
          <a:xfrm>
            <a:off x="457200" y="1663700"/>
            <a:ext cx="11277600" cy="1231900"/>
          </a:xfrm>
          <a:prstGeom prst="roundRect">
            <a:avLst>
              <a:gd name="adj" fmla="val 824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t" wrap="square" lIns="152400" rIns="152400" tIns="63500" bIns="63500"/>
          <a:lstStyle/>
          <a:p/>
        </p:txBody>
      </p:sp>
      <p:sp>
        <p:nvSpPr>
          <p:cNvPr id="50" name="Правило_строка"/>
          <p:cNvSpPr txBox="1"/>
          <p:nvPr/>
        </p:nvSpPr>
        <p:spPr>
          <a:xfrm>
            <a:off x="635000" y="1727200"/>
            <a:ext cx="10922000" cy="304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95000"/>
              </a:lnSpc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МП эти темы сам не начинает.</a:t>
            </a:r>
          </a:p>
        </p:txBody>
      </p:sp>
      <p:sp>
        <p:nvSpPr>
          <p:cNvPr id="51" name="Шаг_1"/>
          <p:cNvSpPr/>
          <p:nvPr/>
        </p:nvSpPr>
        <p:spPr>
          <a:xfrm>
            <a:off x="6350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Врач спрашивает о другой группе пациентов</a:t>
            </a:r>
          </a:p>
        </p:txBody>
      </p:sp>
      <p:sp>
        <p:nvSpPr>
          <p:cNvPr id="52" name="Шаг_2"/>
          <p:cNvSpPr/>
          <p:nvPr/>
        </p:nvSpPr>
        <p:spPr>
          <a:xfrm>
            <a:off x="43434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МП не обсуждает применение и записывает вопрос</a:t>
            </a:r>
          </a:p>
        </p:txBody>
      </p:sp>
      <p:sp>
        <p:nvSpPr>
          <p:cNvPr id="53" name="Шаг_3"/>
          <p:cNvSpPr/>
          <p:nvPr/>
        </p:nvSpPr>
        <p:spPr>
          <a:xfrm>
            <a:off x="8051800" y="2108200"/>
            <a:ext cx="3378200" cy="7112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 lIns="101600" rIns="101600" tIns="38100" bIns="38100"/>
          <a:lstStyle/>
          <a:p>
            <a:pPr algn="ctr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Медицинский отдел или медицинский советник отвечает врачу</a:t>
            </a:r>
          </a:p>
        </p:txBody>
      </p:sp>
      <p:sp>
        <p:nvSpPr>
          <p:cNvPr id="54" name="Шеврон_1"/>
          <p:cNvSpPr/>
          <p:nvPr/>
        </p:nvSpPr>
        <p:spPr>
          <a:xfrm>
            <a:off x="4038600" y="2273300"/>
            <a:ext cx="279400" cy="381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Шеврон_2"/>
          <p:cNvSpPr/>
          <p:nvPr/>
        </p:nvSpPr>
        <p:spPr>
          <a:xfrm>
            <a:off x="7747000" y="2273300"/>
            <a:ext cx="279400" cy="3810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Плашка_FINEARTS-HF"/>
          <p:cNvSpPr/>
          <p:nvPr/>
        </p:nvSpPr>
        <p:spPr>
          <a:xfrm>
            <a:off x="457200" y="3022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FINEARTS-HF</a:t>
            </a:r>
          </a:p>
        </p:txBody>
      </p:sp>
      <p:sp>
        <p:nvSpPr>
          <p:cNvPr id="57" name="Карточка_FINEARTS-HF"/>
          <p:cNvSpPr/>
          <p:nvPr/>
        </p:nvSpPr>
        <p:spPr>
          <a:xfrm>
            <a:off x="457200" y="3390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Сердечная недостаточность с ФВ ЛЖ ≥40%, 6001 пациент. Зарегистрировано, включая США, Евросоюз, Японию, Великобританию.</a:t>
            </a:r>
          </a:p>
        </p:txBody>
      </p:sp>
      <p:sp>
        <p:nvSpPr>
          <p:cNvPr id="58" name="Плашка_FINE-ONE"/>
          <p:cNvSpPr/>
          <p:nvPr/>
        </p:nvSpPr>
        <p:spPr>
          <a:xfrm>
            <a:off x="6858000" y="3022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FINE-ONE</a:t>
            </a:r>
          </a:p>
        </p:txBody>
      </p:sp>
      <p:sp>
        <p:nvSpPr>
          <p:cNvPr id="59" name="Карточка_FINE-ONE"/>
          <p:cNvSpPr/>
          <p:nvPr/>
        </p:nvSpPr>
        <p:spPr>
          <a:xfrm>
            <a:off x="6858000" y="3390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ХБП при диабете 1 типа, 242 пациента. Зарегистрировано в США (16.09.2026).</a:t>
            </a:r>
          </a:p>
        </p:txBody>
      </p:sp>
      <p:sp>
        <p:nvSpPr>
          <p:cNvPr id="60" name="Плашка_FIND-CKD"/>
          <p:cNvSpPr/>
          <p:nvPr/>
        </p:nvSpPr>
        <p:spPr>
          <a:xfrm>
            <a:off x="457200" y="4546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FIND-CKD</a:t>
            </a:r>
          </a:p>
        </p:txBody>
      </p:sp>
      <p:sp>
        <p:nvSpPr>
          <p:cNvPr id="61" name="Карточка_FIND-CKD"/>
          <p:cNvSpPr/>
          <p:nvPr/>
        </p:nvSpPr>
        <p:spPr>
          <a:xfrm>
            <a:off x="457200" y="4914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ХБП без диабета, 1584 пациента. Нигде в мире не зарегистрировано.</a:t>
            </a:r>
          </a:p>
        </p:txBody>
      </p:sp>
      <p:sp>
        <p:nvSpPr>
          <p:cNvPr id="62" name="Плашка_ARTS"/>
          <p:cNvSpPr/>
          <p:nvPr/>
        </p:nvSpPr>
        <p:spPr>
          <a:xfrm>
            <a:off x="6858000" y="4546600"/>
            <a:ext cx="4876800" cy="3302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ARTS</a:t>
            </a:r>
          </a:p>
        </p:txBody>
      </p:sp>
      <p:sp>
        <p:nvSpPr>
          <p:cNvPr id="63" name="Карточка_ARTS"/>
          <p:cNvSpPr/>
          <p:nvPr/>
        </p:nvSpPr>
        <p:spPr>
          <a:xfrm>
            <a:off x="6858000" y="4914900"/>
            <a:ext cx="4876800" cy="1028700"/>
          </a:xfrm>
          <a:prstGeom prst="roundRect">
            <a:avLst>
              <a:gd name="adj" fmla="val 987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Сердечная недостаточность со сниженной ФВ ЛЖ и ХБП, II фаза, 4 недели: повышение калия, сравнение со спиронолактоном.</a:t>
            </a:r>
          </a:p>
        </p:txBody>
      </p:sp>
      <p:sp>
        <p:nvSpPr>
          <p:cNvPr id="64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0000"/>
                </a:solidFill>
                <a:latin typeface="Arial Narrow"/>
                <a:cs typeface="Arial Narrow"/>
              </a:rPr>
              <a:t>МП: медицинский представитель; СН: сердечная недостаточность; ХБП: хроническая болезнь почек; ФВ ЛЖ: фракция выброса левого желудочка.</a:t>
            </a:r>
          </a:p>
        </p:txBody>
      </p:sp>
    </p:spTree>
    <p:extLst>
      <p:ext uri="{BB962C8B-B14F-4D97-AF65-F5344CB8AC3E}">
        <p14:creationId xmlns:p14="http://schemas.microsoft.com/office/powerpoint/2010/main" val="19873580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Карточка_ARTS"/>
          <p:cNvSpPr/>
          <p:nvPr/>
        </p:nvSpPr>
        <p:spPr>
          <a:xfrm>
            <a:off x="7467600" y="1524000"/>
            <a:ext cx="4267200" cy="1473200"/>
          </a:xfrm>
          <a:prstGeom prst="roundRect">
            <a:avLst>
              <a:gd name="adj" fmla="val 712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8" name="Карточка_дозы"/>
          <p:cNvSpPr/>
          <p:nvPr/>
        </p:nvSpPr>
        <p:spPr>
          <a:xfrm>
            <a:off x="7467600" y="3556000"/>
            <a:ext cx="4267200" cy="914400"/>
          </a:xfrm>
          <a:prstGeom prst="roundRect">
            <a:avLst>
              <a:gd name="adj" fmla="val 1108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9" name="Карточка_ограничение"/>
          <p:cNvSpPr/>
          <p:nvPr/>
        </p:nvSpPr>
        <p:spPr>
          <a:xfrm>
            <a:off x="7467600" y="4597400"/>
            <a:ext cx="4267200" cy="1371600"/>
          </a:xfrm>
          <a:prstGeom prst="roundRect">
            <a:avLst>
              <a:gd name="adj" fmla="val 80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" name="Карточка_вывод"/>
          <p:cNvSpPr/>
          <p:nvPr/>
        </p:nvSpPr>
        <p:spPr>
          <a:xfrm>
            <a:off x="457200" y="4673600"/>
            <a:ext cx="6858000" cy="1295400"/>
          </a:xfrm>
          <a:prstGeom prst="roundRect">
            <a:avLst>
              <a:gd name="adj" fmla="val 893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Заголовок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dirty="0">
                <a:solidFill>
                  <a:srgbClr val="7030A0"/>
                </a:solidFill>
                <a:latin typeface="Arial Narrow"/>
                <a:cs typeface="Arial Narrow"/>
              </a:rPr>
              <a:t>ARTS, II фаза: при СН со сниженной ФВ ЛЖ и ХБП калий за 4 недели повышался реже на финереноне (5,3%), чем на спиронолактоне (12,7%)</a:t>
            </a:r>
            <a:endParaRPr sz="2000" b="0" dirty="0">
              <a:latin typeface="Arial Narrow"/>
              <a:cs typeface="Arial Narrow"/>
            </a:endParaRPr>
          </a:p>
        </p:txBody>
      </p:sp>
      <p:sp>
        <p:nvSpPr>
          <p:cNvPr id="4" name="Текст: Гиперкалиемия или повышение калия по сообщени"/>
          <p:cNvSpPr txBox="1"/>
          <p:nvPr/>
        </p:nvSpPr>
        <p:spPr>
          <a:xfrm>
            <a:off x="530352" y="1143000"/>
            <a:ext cx="6464808" cy="6400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 или повышение калия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по сообщениям исследователей, % пациентов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71500" y="1778000"/>
          <a:ext cx="64135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Текст: Калий и функцию почек контролируют при примен"/>
          <p:cNvSpPr txBox="1"/>
          <p:nvPr/>
        </p:nvSpPr>
        <p:spPr>
          <a:xfrm>
            <a:off x="609600" y="4749800"/>
            <a:ext cx="6553200" cy="1143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В ARTS исследователи реже сообщали о повышении калия при финереноне, чем при спиронолактоне.</a:t>
            </a:r>
            <a:endParaRPr lang="ru-RU" sz="16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Средний прирост калия за 4 недели: 0,04–0,30 ммоль/л на финереноне и 0,45 ммоль/л на спиронолактоне. Калий и функцию почек контролируют при обоих препаратах.</a:t>
            </a:r>
            <a:endParaRPr lang="ru-RU" sz="1600" b="0" dirty="0"/>
          </a:p>
        </p:txBody>
      </p:sp>
      <p:sp>
        <p:nvSpPr>
          <p:cNvPr id="8" name="Текст: 392 пациента в анализе безопасности. Сердечна"/>
          <p:cNvSpPr txBox="1"/>
          <p:nvPr/>
        </p:nvSpPr>
        <p:spPr>
          <a:xfrm>
            <a:off x="7645400" y="1600200"/>
            <a:ext cx="3937000" cy="1270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Кто участвовал: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 xml:space="preserve"> 392 пациента с сердечной недостаточностью, ФВ ЛЖ 40% и ниже, рСКФ от 30 до 60 мл/мин/1,73 м² (часть B, анализ безопасности).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Наблюдение: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лечение 4 недели.</a:t>
            </a:r>
          </a:p>
        </p:txBody>
      </p:sp>
      <p:sp>
        <p:nvSpPr>
          <p:cNvPr id="10" name="Текст: Финеренон: 2,5; 5 или 10 мг один раз в сутки "/>
          <p:cNvSpPr txBox="1"/>
          <p:nvPr/>
        </p:nvSpPr>
        <p:spPr>
          <a:xfrm>
            <a:off x="7645400" y="3657600"/>
            <a:ext cx="3937000" cy="7130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7030A0"/>
                </a:solidFill>
                <a:latin typeface="Arial Narrow"/>
                <a:cs typeface="Arial Narrow"/>
              </a:rPr>
              <a:t>Финеренон: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2,5; 5 или 10 мг один раз в сутки либо 5 мг дважды в сутки.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0F9ED5"/>
                </a:solidFill>
                <a:latin typeface="Arial Narrow"/>
                <a:cs typeface="Arial Narrow"/>
              </a:rPr>
              <a:t>Спиронолактон: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25–50 мг один раз в сутки.</a:t>
            </a:r>
          </a:p>
        </p:txBody>
      </p:sp>
      <p:sp>
        <p:nvSpPr>
          <p:cNvPr id="11" name="Текст: Группы доз финеренона объединены в дополнител"/>
          <p:cNvSpPr txBox="1"/>
          <p:nvPr/>
        </p:nvSpPr>
        <p:spPr>
          <a:xfrm>
            <a:off x="7645400" y="4597400"/>
            <a:ext cx="3937000" cy="1371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5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Группы доз финеренона объединены (дополнительный анализ). Спиронолактон применяли открыто.</a:t>
            </a:r>
            <a:endParaRPr lang="ru-RU" sz="1500" b="0" dirty="0"/>
          </a:p>
        </p:txBody>
      </p:sp>
      <p:sp>
        <p:nvSpPr>
          <p:cNvPr id="1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Pitt B, et al. Eur Heart J. 2013;34:2453–2463.</a:t>
            </a:r>
            <a:endParaRPr lang="ru-RU" sz="800" b="0" dirty="0"/>
          </a:p>
        </p:txBody>
      </p:sp>
      <p:pic>
        <p:nvPicPr>
          <p:cNvPr id="13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5" name="Плашка_ARTS"/>
          <p:cNvSpPr/>
          <p:nvPr/>
        </p:nvSpPr>
        <p:spPr>
          <a:xfrm>
            <a:off x="7467600" y="1092200"/>
            <a:ext cx="4267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ARTS, часть B</a:t>
            </a:r>
          </a:p>
        </p:txBody>
      </p:sp>
      <p:sp>
        <p:nvSpPr>
          <p:cNvPr id="17" name="Плашка_дозы"/>
          <p:cNvSpPr/>
          <p:nvPr/>
        </p:nvSpPr>
        <p:spPr>
          <a:xfrm>
            <a:off x="7467600" y="3124200"/>
            <a:ext cx="4267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/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Изученные дозы</a:t>
            </a:r>
          </a:p>
        </p:txBody>
      </p:sp>
      <p:sp>
        <p:nvSpPr>
          <p:cNvPr id="22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СН: сердечная недостаточность; ФВ ЛЖ: фракция выброса левого желудочка; рСКФ: расчётная скорость клубочковой фильтрации.</a:t>
            </a:r>
            <a:endParaRPr lang="ru-RU" sz="1000" b="0" dirty="0"/>
          </a:p>
        </p:txBody>
      </p:sp>
      <p:sp>
        <p:nvSpPr>
          <p:cNvPr id="23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24" name="Подпись диаграммы"/>
          <p:cNvSpPr txBox="1"/>
          <p:nvPr/>
        </p:nvSpPr>
        <p:spPr>
          <a:xfrm>
            <a:off x="533400" y="4165600"/>
            <a:ext cx="64770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p=0,048 (финеренон и спиронолактон); p=0,32 (финеренон и плацебо). Группы доз финеренона объединены (дополнительный анализ).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547BC36-2FE3-4B05-ABD4-8BA3B190B057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FIND-CKD: у взрослых с ХБП без диабета рСКФ на финереноне снижалась медленнее, чем на плацебо (−3,3 против −4,0 мл/мин/1,73 м² в год)</a:t>
            </a:r>
            <a:endParaRPr lang="ru-RU" sz="2000">
              <a:latin typeface="Arial Narrow"/>
              <a:cs typeface="Arial Narrow"/>
            </a:endParaRPr>
          </a:p>
        </p:txBody>
      </p:sp>
      <p:sp>
        <p:nvSpPr>
          <p:cNvPr id="305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Heerspink HJL, et al. N Engl J Med. 2026;395:533–545.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Статус регистрации на 03.10.2026: решения регуляторов и сообщения Bayer AG.</a:t>
            </a:r>
            <a:endParaRPr lang="ru-RU" sz="800" b="0" dirty="0"/>
          </a:p>
        </p:txBody>
      </p:sp>
      <p:pic>
        <p:nvPicPr>
          <p:cNvPr id="306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308" name="Годовой темп"/>
          <p:cNvSpPr txBox="1"/>
          <p:nvPr/>
        </p:nvSpPr>
        <p:spPr>
          <a:xfrm>
            <a:off x="457200" y="1930400"/>
            <a:ext cx="112776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600" b="1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исход: среднегодовое изменение рСКФ до 32-го месяца, мл/мин/1,73 м² в год</a:t>
            </a:r>
            <a:endParaRPr lang="ru-RU" sz="1800"/>
          </a:p>
        </p:txBody>
      </p:sp>
      <p:graphicFrame>
        <p:nvGraphicFramePr>
          <p:cNvPr id="315" name="Годовое изменение рСКФ"/>
          <p:cNvGraphicFramePr/>
          <p:nvPr/>
        </p:nvGraphicFramePr>
        <p:xfrm>
          <a:off x="457200" y="2235200"/>
          <a:ext cx="6858000" cy="165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16" name="ДИ групп"/>
          <p:cNvSpPr txBox="1"/>
          <p:nvPr/>
        </p:nvSpPr>
        <p:spPr>
          <a:xfrm>
            <a:off x="457200" y="3911600"/>
            <a:ext cx="7188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4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95% ДИ: финеренон −3,6…−3,1; плацебо −4,3…−3,8.</a:t>
            </a:r>
            <a:endParaRPr lang="ru-RU" sz="1200"/>
          </a:p>
        </p:txBody>
      </p:sp>
      <p:sp>
        <p:nvSpPr>
          <p:cNvPr id="317" name="Сокращения"/>
          <p:cNvSpPr txBox="1"/>
          <p:nvPr/>
        </p:nvSpPr>
        <p:spPr>
          <a:xfrm>
            <a:off x="457200" y="620522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СН: сердечная недостаточность; ДИ: доверительный интервал; ОР: отношение рисков.</a:t>
            </a:r>
            <a:endParaRPr lang="ru-RU" sz="1000" b="0" dirty="0"/>
          </a:p>
        </p:txBody>
      </p:sp>
      <p:sp>
        <p:nvSpPr>
          <p:cNvPr id="318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319" name="Плашка_Пациенты и сравнение"/>
          <p:cNvSpPr/>
          <p:nvPr/>
        </p:nvSpPr>
        <p:spPr>
          <a:xfrm>
            <a:off x="457200" y="1016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Пациенты и сравнение</a:t>
            </a:r>
          </a:p>
        </p:txBody>
      </p:sp>
      <p:sp>
        <p:nvSpPr>
          <p:cNvPr id="320" name="Карточка_Пациенты и сравнение"/>
          <p:cNvSpPr/>
          <p:nvPr/>
        </p:nvSpPr>
        <p:spPr>
          <a:xfrm>
            <a:off x="457200" y="1333500"/>
            <a:ext cx="11277600" cy="520700"/>
          </a:xfrm>
          <a:prstGeom prst="roundRect">
            <a:avLst>
              <a:gd name="adj" fmla="val 1951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1584 взрослых с ХБП без диабета: рСКФ от 25 до менее 90 мл/мин/1,73 м², АКО от 200 до 3500 мг/г. Финеренон 10 или 20 мг либо плацебо на фоне ингибитора ренин-ангиотензиновой системы.</a:t>
            </a:r>
          </a:p>
        </p:txBody>
      </p:sp>
      <p:sp>
        <p:nvSpPr>
          <p:cNvPr id="321" name="Карточка_разница"/>
          <p:cNvSpPr/>
          <p:nvPr/>
        </p:nvSpPr>
        <p:spPr>
          <a:xfrm>
            <a:off x="7620000" y="2235200"/>
            <a:ext cx="41148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200" b="1">
                <a:solidFill>
                  <a:srgbClr val="7030A0"/>
                </a:solidFill>
                <a:latin typeface="Arial Narrow"/>
                <a:cs typeface="Arial Narrow"/>
              </a:rPr>
              <a:t>Разница 0,7</a:t>
            </a:r>
          </a:p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мл/мин/1,73 м² в год в пользу финеренона</a:t>
            </a:r>
          </a:p>
          <a:p>
            <a:pPr algn="l">
              <a:lnSpc>
                <a:spcPct val="95000"/>
              </a:lnSpc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95% ДИ 0,3–1,1; p&lt;0,001</a:t>
            </a:r>
          </a:p>
        </p:txBody>
      </p:sp>
      <p:sp>
        <p:nvSpPr>
          <p:cNvPr id="322" name="Карточка_вторичный исход и безопасность"/>
          <p:cNvSpPr/>
          <p:nvPr/>
        </p:nvSpPr>
        <p:spPr>
          <a:xfrm>
            <a:off x="457200" y="4191000"/>
            <a:ext cx="11277600" cy="121920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50800" bIns="50800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Вторичный комбинированный исход (почечные и сердечно-сосудистые события):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риск ниже на 23% по сравнению с плацебо; ОР 0,77 (95% ДИ 0,60–0,99), p=0,04.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Состав: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снижение рСКФ на 57% и более от исходного, почечная недостаточность, госпитализация по поводу СН или сердечно-сосудистая смерть.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17,0% на финереноне и 13,3% на плацебо; окончательная отмена из-за неё: 1,5% и 0,1%.</a:t>
            </a:r>
          </a:p>
        </p:txBody>
      </p:sp>
      <p:sp>
        <p:nvSpPr>
          <p:cNvPr id="323" name="Плашка_Статус регистрации"/>
          <p:cNvSpPr/>
          <p:nvPr/>
        </p:nvSpPr>
        <p:spPr>
          <a:xfrm>
            <a:off x="457200" y="5461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324" name="Карточка_Статус регистрации"/>
          <p:cNvSpPr/>
          <p:nvPr/>
        </p:nvSpPr>
        <p:spPr>
          <a:xfrm>
            <a:off x="457200" y="5778500"/>
            <a:ext cx="11277600" cy="317500"/>
          </a:xfrm>
          <a:prstGeom prst="roundRect">
            <a:avLst>
              <a:gd name="adj" fmla="val 32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Показание при ХБП без диабета нигде в мире не зарегистрировано.</a:t>
            </a:r>
          </a:p>
        </p:txBody>
      </p:sp>
    </p:spTree>
    <p:extLst>
      <p:ext uri="{BB962C8B-B14F-4D97-AF65-F5344CB8AC3E}">
        <p14:creationId xmlns:p14="http://schemas.microsoft.com/office/powerpoint/2010/main" val="2477246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Карточка_результат"/>
          <p:cNvSpPr/>
          <p:nvPr/>
        </p:nvSpPr>
        <p:spPr>
          <a:xfrm>
            <a:off x="7366000" y="2133600"/>
            <a:ext cx="4368800" cy="2667000"/>
          </a:xfrm>
          <a:prstGeom prst="roundRect">
            <a:avLst>
              <a:gd name="adj" fmla="val 350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" name="Main_title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u="none" dirty="0">
                <a:solidFill>
                  <a:srgbClr val="7030A0"/>
                </a:solidFill>
                <a:latin typeface="Arial Narrow"/>
                <a:cs typeface="Arial Narrow"/>
              </a:rPr>
              <a:t>FINE-ONE: при ХБП и диабете 1 типа АКО за 6 месяцев снизилось на 34% на финереноне и на 12% на плацебо</a:t>
            </a:r>
            <a:endParaRPr lang="ru-RU" sz="2000" b="0" u="none" dirty="0">
              <a:latin typeface="Arial Narrow"/>
              <a:cs typeface="Arial Narrow"/>
            </a:endParaRPr>
          </a:p>
        </p:txBody>
      </p:sp>
      <p:sp>
        <p:nvSpPr>
          <p:cNvPr id="6" name="Text_5"/>
          <p:cNvSpPr txBox="1"/>
          <p:nvPr/>
        </p:nvSpPr>
        <p:spPr>
          <a:xfrm>
            <a:off x="457200" y="2133600"/>
            <a:ext cx="6858000" cy="5080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Снижение АКО от исходного уровня внутри групп, %</a:t>
            </a:r>
            <a:endParaRPr lang="ru-RU" sz="17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7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За 6 месяцев (среднее по визитам на 3-м и 6-м месяцах)</a:t>
            </a:r>
            <a:endParaRPr lang="ru-RU" sz="1700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82600" y="2641600"/>
          <a:ext cx="6083300" cy="215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_7"/>
          <p:cNvSpPr txBox="1"/>
          <p:nvPr/>
        </p:nvSpPr>
        <p:spPr>
          <a:xfrm>
            <a:off x="7569200" y="2286000"/>
            <a:ext cx="3962400" cy="5588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4300" b="1" u="none">
                <a:solidFill>
                  <a:srgbClr val="7030A0"/>
                </a:solidFill>
                <a:latin typeface="Arial"/>
              </a:defRPr>
            </a:pPr>
            <a:r>
              <a:rPr lang="ru-RU" sz="3200" b="1" u="none">
                <a:solidFill>
                  <a:srgbClr val="7030A0"/>
                </a:solidFill>
                <a:latin typeface="Arial Narrow"/>
                <a:cs typeface="Arial Narrow"/>
              </a:rPr>
              <a:t>25%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569200" y="2921000"/>
            <a:ext cx="3962400" cy="18034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Первичный исход достигнут: АКО снизилось на 25% больше, чем на плацебо (относительная разница между группами).</a:t>
            </a:r>
            <a:endParaRPr lang="ru-RU" sz="180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Отношение геометрических средних 0,75 (95% ДИ 0,65–0,87), p&lt;0,001.</a:t>
            </a:r>
            <a:endParaRPr lang="ru-RU" sz="1800"/>
          </a:p>
        </p:txBody>
      </p:sp>
      <p:sp>
        <p:nvSpPr>
          <p:cNvPr id="1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Heerspink HJL, et al. N Engl J Med. 2026;394:947–957. FDA. Supplement Approval Letter, NDA 215341/S-011, 16.09.2026.</a:t>
            </a:r>
            <a:endParaRPr lang="ru-RU" sz="800" b="0" dirty="0"/>
          </a:p>
        </p:txBody>
      </p:sp>
      <p:pic>
        <p:nvPicPr>
          <p:cNvPr id="13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314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ДИ: доверительный интервал.</a:t>
            </a:r>
            <a:endParaRPr lang="ru-RU" sz="1000" b="0" dirty="0"/>
          </a:p>
        </p:txBody>
      </p:sp>
      <p:sp>
        <p:nvSpPr>
          <p:cNvPr id="17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18" name="Плашка_Пациенты и сравнение"/>
          <p:cNvSpPr/>
          <p:nvPr/>
        </p:nvSpPr>
        <p:spPr>
          <a:xfrm>
            <a:off x="457200" y="1016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Пациенты и сравнение</a:t>
            </a:r>
          </a:p>
        </p:txBody>
      </p:sp>
      <p:sp>
        <p:nvSpPr>
          <p:cNvPr id="19" name="Карточка_Пациенты и сравнение"/>
          <p:cNvSpPr/>
          <p:nvPr/>
        </p:nvSpPr>
        <p:spPr>
          <a:xfrm>
            <a:off x="457200" y="13335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Кто участвовал: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242 взрослых с хронической болезнью почек и диабетом 1 типа; рСКФ ≥25 и &lt;90 мл/мин/1,73 м², АКО ≥200 и &lt;5000 мг/г.</a:t>
            </a:r>
          </a:p>
          <a:p>
            <a:pPr algn="l">
              <a:lnSpc>
                <a:spcPct val="95000"/>
              </a:lnSpc>
            </a:pPr>
            <a:r>
              <a:rPr sz="1600" b="1">
                <a:solidFill>
                  <a:srgbClr val="000000"/>
                </a:solidFill>
                <a:latin typeface="Arial Narrow"/>
                <a:cs typeface="Arial Narrow"/>
              </a:rPr>
              <a:t>Что сравнивали:</a:t>
            </a:r>
            <a:r>
              <a:rPr sz="1600" b="0">
                <a:solidFill>
                  <a:srgbClr val="000000"/>
                </a:solidFill>
                <a:latin typeface="Arial Narrow"/>
                <a:cs typeface="Arial Narrow"/>
              </a:rPr>
              <a:t> финеренон 10 или 20 мг (по рСКФ) либо плацебо на фоне инсулина и ингибитора АПФ или БРА.</a:t>
            </a:r>
          </a:p>
        </p:txBody>
      </p:sp>
      <p:sp>
        <p:nvSpPr>
          <p:cNvPr id="20" name="Карточка_выводы"/>
          <p:cNvSpPr/>
          <p:nvPr/>
        </p:nvSpPr>
        <p:spPr>
          <a:xfrm>
            <a:off x="457200" y="4838700"/>
            <a:ext cx="11277600" cy="558800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38100" bIns="381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В FINE-ONE оценивали АКО; клинические исходы не изучали.</a:t>
            </a:r>
          </a:p>
          <a:p>
            <a:pPr algn="l">
              <a:lnSpc>
                <a:spcPct val="95000"/>
              </a:lnSpc>
            </a:pPr>
            <a:r>
              <a:rPr sz="1500" b="1">
                <a:solidFill>
                  <a:srgbClr val="000000"/>
                </a:solidFill>
                <a:latin typeface="Arial Narrow"/>
                <a:cs typeface="Arial Narrow"/>
              </a:rPr>
              <a:t>Гиперкалиемия:</a:t>
            </a: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 10,1% на финереноне и 3,3% на плацебо; окончательная отмена из-за неё у 1,7% на финереноне.</a:t>
            </a:r>
          </a:p>
        </p:txBody>
      </p:sp>
      <p:sp>
        <p:nvSpPr>
          <p:cNvPr id="21" name="Плашка_Статус регистрации"/>
          <p:cNvSpPr/>
          <p:nvPr/>
        </p:nvSpPr>
        <p:spPr>
          <a:xfrm>
            <a:off x="457200" y="5461000"/>
            <a:ext cx="11277600" cy="279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22" name="Карточка_Статус регистрации"/>
          <p:cNvSpPr/>
          <p:nvPr/>
        </p:nvSpPr>
        <p:spPr>
          <a:xfrm>
            <a:off x="457200" y="5778500"/>
            <a:ext cx="11277600" cy="330200"/>
          </a:xfrm>
          <a:prstGeom prst="roundRect">
            <a:avLst>
              <a:gd name="adj" fmla="val 3076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25400" bIns="25400"/>
          <a:lstStyle/>
          <a:p>
            <a:pPr algn="l">
              <a:lnSpc>
                <a:spcPct val="95000"/>
              </a:lnSpc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США (FDA): 16.09.2026, подробности на следующем слайде. Решений других регуляторов по сообщениям нет.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>
            <a:extLst>
              <a:ext uri="{FF2B5EF4-FFF2-40B4-BE49-F238E27FC236}">
                <a16:creationId xmlns:a16="http://schemas.microsoft.com/office/drawing/2014/main" id="{151B9C7E-C6D4-415E-A353-5BE13C82060C}"/>
              </a:ext>
            </a:extLst>
          </p:cNvPr>
          <p:cNvSpPr>
            <a:spLocks noGrp="1"/>
          </p:cNvSpPr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2000" b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16.09.2026 FDA одобрило финеренон при ХБП и диабете 1 типа на основании снижения АКО в FINE-ONE и данных при диабете 2 типа</a:t>
            </a:r>
            <a:endParaRPr lang="ru-RU" sz="2000">
              <a:latin typeface="Arial Narrow"/>
              <a:cs typeface="Arial Narrow"/>
            </a:endParaRPr>
          </a:p>
        </p:txBody>
      </p:sp>
      <p:sp>
        <p:nvSpPr>
          <p:cNvPr id="14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FDA. Supplement Approval Letter, NDA 215341/S-011, 16.09.2026. Kerendia. Prescribing Information. US FDA.</a:t>
            </a:r>
            <a:endParaRPr lang="ru-RU" sz="800" b="0" dirty="0"/>
          </a:p>
        </p:txBody>
      </p:sp>
      <p:pic>
        <p:nvPicPr>
          <p:cNvPr id="15" name="Логотип Орвилле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6" name="США_полоса_1"/>
          <p:cNvSpPr/>
          <p:nvPr/>
        </p:nvSpPr>
        <p:spPr>
          <a:xfrm>
            <a:off x="457200" y="1066800"/>
            <a:ext cx="3810000" cy="3810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Решение FDA</a:t>
            </a:r>
          </a:p>
        </p:txBody>
      </p:sp>
      <p:sp>
        <p:nvSpPr>
          <p:cNvPr id="17" name="США_фон_1"/>
          <p:cNvSpPr/>
          <p:nvPr/>
        </p:nvSpPr>
        <p:spPr>
          <a:xfrm>
            <a:off x="457200" y="1498600"/>
            <a:ext cx="3810000" cy="2342225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18" name="США_текст_1"/>
          <p:cNvSpPr txBox="1"/>
          <p:nvPr/>
        </p:nvSpPr>
        <p:spPr>
          <a:xfrm>
            <a:off x="635000" y="1600200"/>
            <a:ext cx="3454400" cy="2113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Дата: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 xml:space="preserve"> 16.09.2026 (объявлено 17.09.2026).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Регулятор: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Управление по контролю качества пищевых продуктов и лекарственных средств США (FDA).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Препарат: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 Керендия (финеренон).</a:t>
            </a:r>
          </a:p>
        </p:txBody>
      </p:sp>
      <p:sp>
        <p:nvSpPr>
          <p:cNvPr id="19" name="США_полоса_2"/>
          <p:cNvSpPr/>
          <p:nvPr/>
        </p:nvSpPr>
        <p:spPr>
          <a:xfrm>
            <a:off x="4419600" y="1066800"/>
            <a:ext cx="73152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Показание в США</a:t>
            </a:r>
          </a:p>
        </p:txBody>
      </p:sp>
      <p:sp>
        <p:nvSpPr>
          <p:cNvPr id="20" name="США_фон_2"/>
          <p:cNvSpPr/>
          <p:nvPr/>
        </p:nvSpPr>
        <p:spPr>
          <a:xfrm>
            <a:off x="4419600" y="1498600"/>
            <a:ext cx="7315200" cy="2342225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1" name="США_текст_2"/>
          <p:cNvSpPr txBox="1"/>
          <p:nvPr/>
        </p:nvSpPr>
        <p:spPr>
          <a:xfrm>
            <a:off x="4597400" y="1600200"/>
            <a:ext cx="6654800" cy="2113625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>Снижение отношения альбумина к креатинину мочи, которое, как ожидается, уменьшит риск устойчивого снижения рСКФ и терминальной почечной недостаточности, у взрослых с хронической болезнью почек, связанной с диабетом 1 типа.</a:t>
            </a:r>
          </a:p>
          <a:p>
            <a:pPr algn="l">
              <a:lnSpc>
                <a:spcPct val="90000"/>
              </a:lnSpc>
              <a:spcAft>
                <a:spcPts val="300"/>
              </a:spcAft>
            </a:pPr>
            <a:r>
              <a:rPr sz="1800" b="1">
                <a:solidFill>
                  <a:srgbClr val="000000"/>
                </a:solidFill>
                <a:latin typeface="Arial Narrow"/>
                <a:cs typeface="Arial Narrow"/>
              </a:rPr>
              <a:t>Основание одобрения:</a:t>
            </a:r>
            <a:r>
              <a:rPr sz="1800" b="0">
                <a:solidFill>
                  <a:srgbClr val="000000"/>
                </a:solidFill>
                <a:latin typeface="Arial Narrow"/>
                <a:cs typeface="Arial Narrow"/>
              </a:rPr>
              <a:t xml:space="preserve"> снижение АКО в FINE-ONE (суррогатная конечная точка) и данные исследований при диабете 2 типа.</a:t>
            </a:r>
          </a:p>
        </p:txBody>
      </p:sp>
      <p:sp>
        <p:nvSpPr>
          <p:cNvPr id="22" name="США_полоса_3"/>
          <p:cNvSpPr/>
          <p:nvPr/>
        </p:nvSpPr>
        <p:spPr>
          <a:xfrm>
            <a:off x="457200" y="4018625"/>
            <a:ext cx="11277600" cy="3810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wrap="square" lIns="127000" tIns="25400" rIns="101600" bIns="25400" rtlCol="0" anchor="ctr"/>
          <a:lstStyle/>
          <a:p>
            <a:pPr algn="l">
              <a:lnSpc>
                <a:spcPct val="90000"/>
              </a:lnSpc>
            </a:pPr>
            <a:r>
              <a:rPr sz="1700" b="0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23" name="США_фон_3"/>
          <p:cNvSpPr/>
          <p:nvPr/>
        </p:nvSpPr>
        <p:spPr>
          <a:xfrm>
            <a:off x="457200" y="4450425"/>
            <a:ext cx="11277600" cy="852256"/>
          </a:xfrm>
          <a:prstGeom prst="roundRect">
            <a:avLst>
              <a:gd name="adj" fmla="val 2777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>
            <a:pPr>
              <a:lnSpc>
                <a:spcPct val="90000"/>
              </a:lnSpc>
            </a:pPr>
            <a:endParaRPr/>
          </a:p>
        </p:txBody>
      </p:sp>
      <p:sp>
        <p:nvSpPr>
          <p:cNvPr id="24" name="США_текст_3"/>
          <p:cNvSpPr txBox="1"/>
          <p:nvPr/>
        </p:nvSpPr>
        <p:spPr>
          <a:xfrm>
            <a:off x="635000" y="4552025"/>
            <a:ext cx="10922000" cy="623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b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США: одобрено 16.09.2026. Решений других регуляторов по сообщениям нет; актуальный статус даёт медицинский отдел.</a:t>
            </a:r>
            <a:endParaRPr lang="ru-RU" sz="1800"/>
          </a:p>
        </p:txBody>
      </p:sp>
      <p:sp>
        <p:nvSpPr>
          <p:cNvPr id="25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FDA: Управление по контролю качества пищевых продуктов и лекарств США.</a:t>
            </a:r>
            <a:endParaRPr lang="ru-RU" sz="1000" b="0" dirty="0"/>
          </a:p>
        </p:txBody>
      </p:sp>
      <p:sp>
        <p:nvSpPr>
          <p:cNvPr id="26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</p:spTree>
    <p:extLst>
      <p:ext uri="{BB962C8B-B14F-4D97-AF65-F5344CB8AC3E}">
        <p14:creationId xmlns:p14="http://schemas.microsoft.com/office/powerpoint/2010/main" val="15964649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in_title"/>
          <p:cNvSpPr txBox="1"/>
          <p:nvPr/>
        </p:nvSpPr>
        <p:spPr>
          <a:xfrm>
            <a:off x="457200" y="254000"/>
            <a:ext cx="838200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defRPr sz="2600" b="0" u="none">
                <a:solidFill>
                  <a:srgbClr val="7030A0"/>
                </a:solidFill>
                <a:latin typeface="Arial"/>
              </a:defRPr>
            </a:pPr>
            <a:r>
              <a:rPr lang="ru-RU" sz="2000" b="0" dirty="0">
                <a:solidFill>
                  <a:srgbClr val="7030A0"/>
                </a:solidFill>
                <a:latin typeface="Arial Narrow"/>
                <a:ea typeface="Arial Narrow"/>
                <a:cs typeface="Arial Narrow"/>
              </a:rPr>
              <a:t>FINEARTS-HF: при сердечной недостаточности с ФВ ЛЖ ≥40% частота ухудшений СН и сердечно-сосудистой смерти ниже на 16% по сравнению с плацебо</a:t>
            </a:r>
            <a:endParaRPr lang="ru-RU" sz="2000" b="0" dirty="0">
              <a:latin typeface="Arial Narrow"/>
              <a:cs typeface="Arial Narrow"/>
            </a:endParaRPr>
          </a:p>
        </p:txBody>
      </p:sp>
      <p:sp>
        <p:nvSpPr>
          <p:cNvPr id="5" name="Text_4"/>
          <p:cNvSpPr txBox="1"/>
          <p:nvPr/>
        </p:nvSpPr>
        <p:spPr>
          <a:xfrm>
            <a:off x="457200" y="990600"/>
            <a:ext cx="11277600" cy="6604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 dirty="0">
                <a:solidFill>
                  <a:srgbClr val="000000"/>
                </a:solidFill>
                <a:latin typeface="Arial Narrow"/>
                <a:cs typeface="Arial Narrow"/>
              </a:rPr>
              <a:t>В анализе: 6001 пациент с симптомной сердечной недостаточностью и ФВ ЛЖ ≥40%, с диабетом или без него.</a:t>
            </a:r>
            <a:endParaRPr lang="ru-RU" sz="1800" b="0" dirty="0"/>
          </a:p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0" u="none">
                <a:solidFill>
                  <a:srgbClr val="000000"/>
                </a:solidFill>
                <a:latin typeface="Arial"/>
              </a:defRPr>
            </a:pPr>
            <a:r>
              <a:rPr lang="ru-RU" sz="1600" b="0" dirty="0">
                <a:solidFill>
                  <a:srgbClr val="000000"/>
                </a:solidFill>
                <a:latin typeface="Arial Narrow"/>
                <a:cs typeface="Arial Narrow"/>
              </a:rPr>
              <a:t>Наблюдение: медиана 32 месяца. Доза в исследовании: до 20 или 40 мг один раз в сутки в зависимости от рСКФ. Максимальная доза Финеренон-Орвилле: 20 мг в сутки.</a:t>
            </a:r>
            <a:endParaRPr lang="ru-RU" sz="1800" b="0" dirty="0"/>
          </a:p>
        </p:txBody>
      </p:sp>
      <p:sp>
        <p:nvSpPr>
          <p:cNvPr id="6" name="Text_5"/>
          <p:cNvSpPr txBox="1"/>
          <p:nvPr/>
        </p:nvSpPr>
        <p:spPr>
          <a:xfrm>
            <a:off x="457200" y="1727200"/>
            <a:ext cx="6731000" cy="279400"/>
          </a:xfrm>
          <a:prstGeom prst="rect">
            <a:avLst/>
          </a:prstGeom>
          <a:noFill/>
        </p:spPr>
        <p:txBody>
          <a:bodyPr wrap="square" lIns="0" tIns="10972" rIns="0" bIns="10972">
            <a:spAutoFit/>
          </a:bodyPr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200"/>
              </a:spcAft>
              <a:defRPr sz="1850" b="1" u="none">
                <a:solidFill>
                  <a:srgbClr val="000000"/>
                </a:solidFill>
                <a:latin typeface="Arial"/>
              </a:defRPr>
            </a:pPr>
            <a:r>
              <a:rPr lang="ru-RU" sz="1600" b="1">
                <a:solidFill>
                  <a:srgbClr val="000000"/>
                </a:solidFill>
                <a:latin typeface="Arial Narrow"/>
                <a:cs typeface="Arial Narrow"/>
              </a:rPr>
              <a:t>Суммарное число событий первичного исхода с учётом повторных ухудшений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82600" y="2082800"/>
          <a:ext cx="6083300" cy="241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Text_10"/>
          <p:cNvSpPr txBox="1"/>
          <p:nvPr/>
        </p:nvSpPr>
        <p:spPr>
          <a:xfrm>
            <a:off x="457200" y="4546600"/>
            <a:ext cx="11277600" cy="431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Первичный исход:</a:t>
            </a:r>
            <a:r>
              <a:rPr sz="1400" b="0">
                <a:solidFill>
                  <a:srgbClr val="000000"/>
                </a:solidFill>
                <a:latin typeface="Arial Narrow"/>
                <a:ea typeface="Arial"/>
                <a:cs typeface="Arial Narrow"/>
              </a:rPr>
              <a:t> первые и повторные незапланированные госпитализации или срочные визиты по поводу сердечной недостаточности и сердечно-сосудистая смерть. На графике число событий: у одного пациента их может быть несколько.</a:t>
            </a:r>
          </a:p>
        </p:txBody>
      </p:sp>
      <p:sp>
        <p:nvSpPr>
          <p:cNvPr id="13" name="Источники"/>
          <p:cNvSpPr txBox="1"/>
          <p:nvPr/>
        </p:nvSpPr>
        <p:spPr>
          <a:xfrm>
            <a:off x="457200" y="6558280"/>
            <a:ext cx="10795000" cy="2743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Solomon SD, et al. N Engl J Med. 2024;391:1475–1485. Vaduganathan M, et al. Nat Med. 2024;30:3758–3764. FDA. Supplement Approval Letter, NDA 215341/S-009, July 2025. European Commission Decision C(2026) 2188 final, 26.03.2026.</a:t>
            </a:r>
            <a:endParaRPr lang="ru-RU" sz="800" b="0" dirty="0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8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Bayer AG. Сообщения о регистрации в Японии (12.2025) и Великобритании (04.2026). Финеренон-Орвилле. Инструкция по медицинскому применению.</a:t>
            </a:r>
            <a:endParaRPr lang="ru-RU" sz="800" b="0" dirty="0"/>
          </a:p>
        </p:txBody>
      </p:sp>
      <p:pic>
        <p:nvPicPr>
          <p:cNvPr id="14" name="Логотип Орвилле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17" name="Сокращения"/>
          <p:cNvSpPr txBox="1"/>
          <p:nvPr/>
        </p:nvSpPr>
        <p:spPr>
          <a:xfrm>
            <a:off x="457200" y="6273800"/>
            <a:ext cx="10795000" cy="157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000" b="0" dirty="0">
                <a:solidFill>
                  <a:srgbClr val="000000"/>
                </a:solidFill>
                <a:latin typeface="Arial Narrow"/>
                <a:ea typeface="Arial Narrow"/>
                <a:cs typeface="Arial Narrow"/>
              </a:rPr>
              <a:t>СН: сердечная недостаточность; ФВ ЛЖ: фракция выброса левого желудочка; рСКФ: расчётная скорость клубочковой фильтрации; ДИ: доверительный интервал; ОР: отношение рисков.</a:t>
            </a:r>
            <a:endParaRPr lang="ru-RU" sz="1000" b="0" dirty="0"/>
          </a:p>
        </p:txBody>
      </p:sp>
      <p:sp>
        <p:nvSpPr>
          <p:cNvPr id="19" name="Метка_раздела"/>
          <p:cNvSpPr/>
          <p:nvPr/>
        </p:nvSpPr>
        <p:spPr>
          <a:xfrm>
            <a:off x="8991600" y="304800"/>
            <a:ext cx="2743200" cy="508000"/>
          </a:xfrm>
          <a:prstGeom prst="roundRect">
            <a:avLst>
              <a:gd name="adj" fmla="val 20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50800" rIns="50800" tIns="25400" bIns="25400"/>
          <a:lstStyle/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Научные данные:</a:t>
            </a:r>
          </a:p>
          <a:p>
            <a:pPr algn="ctr">
              <a:lnSpc>
                <a:spcPct val="95000"/>
              </a:lnSpc>
            </a:pPr>
            <a:r>
              <a:rPr sz="1400" b="0">
                <a:solidFill>
                  <a:srgbClr val="FFFFFF"/>
                </a:solidFill>
                <a:latin typeface="Arial Narrow"/>
                <a:cs typeface="Arial Narrow"/>
              </a:rPr>
              <a:t>другие группы пациентов</a:t>
            </a:r>
          </a:p>
        </p:txBody>
      </p:sp>
      <p:sp>
        <p:nvSpPr>
          <p:cNvPr id="20" name="Карточка_результат"/>
          <p:cNvSpPr/>
          <p:nvPr/>
        </p:nvSpPr>
        <p:spPr>
          <a:xfrm>
            <a:off x="7264400" y="1778000"/>
            <a:ext cx="4470400" cy="2717800"/>
          </a:xfrm>
          <a:prstGeom prst="roundRect">
            <a:avLst>
              <a:gd name="adj" fmla="val 3738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76200" bIns="76200"/>
          <a:lstStyle/>
          <a:p>
            <a:pPr algn="l">
              <a:lnSpc>
                <a:spcPct val="95000"/>
              </a:lnSpc>
              <a:spcAft>
                <a:spcPts val="200"/>
              </a:spcAft>
            </a:pPr>
            <a:r>
              <a:rPr sz="3200" b="1">
                <a:solidFill>
                  <a:srgbClr val="7030A0"/>
                </a:solidFill>
                <a:latin typeface="Arial Narrow"/>
                <a:cs typeface="Arial Narrow"/>
              </a:rPr>
              <a:t>0,84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Отношение частот (95% ДИ 0,74–0,95); p=0,007</a:t>
            </a:r>
          </a:p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Arial Narrow"/>
                <a:cs typeface="Arial Narrow"/>
              </a:rPr>
              <a:t>Частота событий ниже на 16% по сравнению с плацебо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Ухудшения СН (первые и повторные):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842 события против 1024, отношение частот 0,82 (95% ДИ 0,71–0,94).</a:t>
            </a:r>
          </a:p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400" b="1">
                <a:solidFill>
                  <a:srgbClr val="000000"/>
                </a:solidFill>
                <a:latin typeface="Arial Narrow"/>
                <a:cs typeface="Arial Narrow"/>
              </a:rPr>
              <a:t>Сердечно-сосудистая смерть:</a:t>
            </a: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 8,1% на финереноне и 8,7% на плацебо; ОР 0,93 (95% ДИ 0,78–1,11).</a:t>
            </a:r>
          </a:p>
          <a:p>
            <a:pPr algn="l">
              <a:lnSpc>
                <a:spcPct val="95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Гиперкалиемия встречалась чаще, чем на плацебо, гипокалиемия реже. Калий контролируют.</a:t>
            </a:r>
          </a:p>
        </p:txBody>
      </p:sp>
      <p:sp>
        <p:nvSpPr>
          <p:cNvPr id="21" name="Плашка_FINE-HEART"/>
          <p:cNvSpPr/>
          <p:nvPr/>
        </p:nvSpPr>
        <p:spPr>
          <a:xfrm>
            <a:off x="457200" y="5054600"/>
            <a:ext cx="66548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FINE-HEART</a:t>
            </a:r>
          </a:p>
        </p:txBody>
      </p:sp>
      <p:sp>
        <p:nvSpPr>
          <p:cNvPr id="22" name="Карточка_FINE-HEART"/>
          <p:cNvSpPr/>
          <p:nvPr/>
        </p:nvSpPr>
        <p:spPr>
          <a:xfrm>
            <a:off x="457200" y="5397500"/>
            <a:ext cx="6654800" cy="749300"/>
          </a:xfrm>
          <a:prstGeom prst="roundRect">
            <a:avLst>
              <a:gd name="adj" fmla="val 1355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Сводный анализ FIDELIO-DKD, FIGARO-DKD и FINEARTS-HF: 18 991 пациент, медиана 2,9 года. Госпитализации по поводу СН: ОР 0,83 (95% ДИ 0,75–0,92). Смерть от любой причины: ОР 0,91 (0,84–0,99). Сердечно-сосудистая смерть: ОР 0,89 (0,78–1,01), p=0,076.</a:t>
            </a:r>
          </a:p>
        </p:txBody>
      </p:sp>
      <p:sp>
        <p:nvSpPr>
          <p:cNvPr id="23" name="Плашка_Статус регистрации"/>
          <p:cNvSpPr/>
          <p:nvPr/>
        </p:nvSpPr>
        <p:spPr>
          <a:xfrm>
            <a:off x="7264400" y="5054600"/>
            <a:ext cx="4470400" cy="3048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27000" rIns="101600" tIns="25400" bIns="25400"/>
          <a:lstStyle/>
          <a:p>
            <a:pPr algn="l"/>
            <a:r>
              <a:rPr sz="1600" b="1">
                <a:solidFill>
                  <a:srgbClr val="FFFFFF"/>
                </a:solidFill>
                <a:latin typeface="Arial Narrow"/>
                <a:cs typeface="Arial Narrow"/>
              </a:rPr>
              <a:t>Статус регистрации на 03.10.2026</a:t>
            </a:r>
          </a:p>
        </p:txBody>
      </p:sp>
      <p:sp>
        <p:nvSpPr>
          <p:cNvPr id="24" name="Карточка_Статус регистрации"/>
          <p:cNvSpPr/>
          <p:nvPr/>
        </p:nvSpPr>
        <p:spPr>
          <a:xfrm>
            <a:off x="7264400" y="5397500"/>
            <a:ext cx="4470400" cy="749300"/>
          </a:xfrm>
          <a:prstGeom prst="roundRect">
            <a:avLst>
              <a:gd name="adj" fmla="val 1355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52400" tIns="63500" bIns="63500"/>
          <a:lstStyle/>
          <a:p>
            <a:pPr algn="l">
              <a:lnSpc>
                <a:spcPct val="90000"/>
              </a:lnSpc>
            </a:pPr>
            <a:r>
              <a:rPr sz="1400" b="0">
                <a:solidFill>
                  <a:srgbClr val="000000"/>
                </a:solidFill>
                <a:latin typeface="Arial Narrow"/>
                <a:cs typeface="Arial Narrow"/>
              </a:rPr>
              <a:t>СН с ФВ ЛЖ ≥40%: США (FDA), июль 2025; Евросоюз, 26.03.2026. Япония (22.12.2025) и Великобритания (апрель 2026): по сообщениям разработчика.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При хронической болезни почек и диабете 2 типа риск остаётся высоким на стандартном лечении; финеренон снижал его по сравнению с плацебо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1_Риск_остаётся"/>
          <p:cNvSpPr/>
          <p:nvPr/>
        </p:nvSpPr>
        <p:spPr>
          <a:xfrm>
            <a:off x="4572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1. Риск остаётся</a:t>
            </a:r>
          </a:p>
        </p:txBody>
      </p:sp>
      <p:sp>
        <p:nvSpPr>
          <p:cNvPr id="5" name="Плашка_2_Другая_мишень"/>
          <p:cNvSpPr/>
          <p:nvPr/>
        </p:nvSpPr>
        <p:spPr>
          <a:xfrm>
            <a:off x="42926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2. Другая мишень</a:t>
            </a:r>
          </a:p>
        </p:txBody>
      </p:sp>
      <p:sp>
        <p:nvSpPr>
          <p:cNvPr id="6" name="Плашка_3_Риск_ниже"/>
          <p:cNvSpPr/>
          <p:nvPr/>
        </p:nvSpPr>
        <p:spPr>
          <a:xfrm>
            <a:off x="8128000" y="1168400"/>
            <a:ext cx="3606800" cy="431800"/>
          </a:xfrm>
          <a:prstGeom prst="roundRect">
            <a:avLst>
              <a:gd name="adj" fmla="val 23529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3. Риск ниже</a:t>
            </a:r>
          </a:p>
        </p:txBody>
      </p:sp>
      <p:sp>
        <p:nvSpPr>
          <p:cNvPr id="7" name="Карточка_1"/>
          <p:cNvSpPr/>
          <p:nvPr/>
        </p:nvSpPr>
        <p:spPr>
          <a:xfrm>
            <a:off x="4572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Карточка_2"/>
          <p:cNvSpPr/>
          <p:nvPr/>
        </p:nvSpPr>
        <p:spPr>
          <a:xfrm>
            <a:off x="42926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Карточка_3"/>
          <p:cNvSpPr/>
          <p:nvPr/>
        </p:nvSpPr>
        <p:spPr>
          <a:xfrm>
            <a:off x="8128000" y="1651000"/>
            <a:ext cx="3606800" cy="3683000"/>
          </a:xfrm>
          <a:prstGeom prst="roundRect">
            <a:avLst>
              <a:gd name="adj" fmla="val 281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Число_плацебо_21,1%"/>
          <p:cNvSpPr txBox="1"/>
          <p:nvPr/>
        </p:nvSpPr>
        <p:spPr>
          <a:xfrm>
            <a:off x="635000" y="1752600"/>
            <a:ext cx="3251200" cy="482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</a:p>
        </p:txBody>
      </p:sp>
      <p:sp>
        <p:nvSpPr>
          <p:cNvPr id="11" name="Подпись_плацебо_FIDELIO-DKD"/>
          <p:cNvSpPr txBox="1"/>
          <p:nvPr/>
        </p:nvSpPr>
        <p:spPr>
          <a:xfrm>
            <a:off x="635000" y="2260600"/>
            <a:ext cx="3251200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пациентов в группе плацебо перенесли почечный исход за время наблюдения (медиана 2,6 года), все на ингибиторе АПФ или БРА (FIDELIO-DKD)</a:t>
            </a:r>
          </a:p>
        </p:txBody>
      </p:sp>
      <p:sp>
        <p:nvSpPr>
          <p:cNvPr id="12" name="Текст_CREDENCE"/>
          <p:cNvSpPr txBox="1"/>
          <p:nvPr/>
        </p:nvSpPr>
        <p:spPr>
          <a:xfrm>
            <a:off x="635000" y="3759200"/>
            <a:ext cx="3251200" cy="111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остаётся и при добавлении ингибитора НГЛТ2: в CREDENCE события возникали и на канаглифлозине¹</a:t>
            </a:r>
          </a:p>
        </p:txBody>
      </p:sp>
      <p:pic>
        <p:nvPicPr>
          <p:cNvPr id="13" name="Рисунок_клетка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70500" y="1752631"/>
            <a:ext cx="1650364" cy="1225881"/>
          </a:xfrm>
          <a:prstGeom prst="rect">
            <a:avLst/>
          </a:prstGeom>
        </p:spPr>
      </p:pic>
      <p:pic>
        <p:nvPicPr>
          <p:cNvPr id="14" name="Рисунок_рецептор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533390" y="2322195"/>
            <a:ext cx="438150" cy="438150"/>
          </a:xfrm>
          <a:prstGeom prst="rect">
            <a:avLst/>
          </a:prstGeom>
        </p:spPr>
      </p:pic>
      <p:sp>
        <p:nvSpPr>
          <p:cNvPr id="15" name="Подпись_МКР"/>
          <p:cNvSpPr txBox="1"/>
          <p:nvPr/>
        </p:nvSpPr>
        <p:spPr>
          <a:xfrm>
            <a:off x="6146800" y="2322195"/>
            <a:ext cx="7112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МКР</a:t>
            </a:r>
          </a:p>
        </p:txBody>
      </p:sp>
      <p:sp>
        <p:nvSpPr>
          <p:cNvPr id="16" name="Текст_карточки_2"/>
          <p:cNvSpPr txBox="1"/>
          <p:nvPr/>
        </p:nvSpPr>
        <p:spPr>
          <a:xfrm>
            <a:off x="4470400" y="3098800"/>
            <a:ext cx="3251200" cy="1600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Финеренон блокирует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МКР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. У ингибиторов АПФ, БРА и НГЛТ2 мишени другие. При диабете и ХБП избыточная активация МКР поддерживает воспаление и фиброз².</a:t>
            </a:r>
          </a:p>
        </p:txBody>
      </p:sp>
      <p:sp>
        <p:nvSpPr>
          <p:cNvPr id="17" name="Легенда_финеренон_плацебо"/>
          <p:cNvSpPr txBox="1"/>
          <p:nvPr/>
        </p:nvSpPr>
        <p:spPr>
          <a:xfrm>
            <a:off x="8305800" y="1752600"/>
            <a:ext cx="3251200" cy="254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400" b="1" lang="ru-RU">
                <a:solidFill>
                  <a:srgbClr val="7F7F7F"/>
                </a:solidFill>
                <a:latin typeface="Arial Narrow"/>
                <a:cs typeface="Arial Narrow"/>
              </a:rPr>
              <a:t>плацебо</a:t>
            </a:r>
          </a:p>
        </p:txBody>
      </p:sp>
      <p:sp>
        <p:nvSpPr>
          <p:cNvPr id="18" name="Подпись_исход_1"/>
          <p:cNvSpPr txBox="1"/>
          <p:nvPr/>
        </p:nvSpPr>
        <p:spPr>
          <a:xfrm>
            <a:off x="8305800" y="2057400"/>
            <a:ext cx="3251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Комбинированный почечный исход, FIDELIO-DKD</a:t>
            </a:r>
          </a:p>
        </p:txBody>
      </p:sp>
      <p:sp>
        <p:nvSpPr>
          <p:cNvPr id="19" name="Число_исход_1"/>
          <p:cNvSpPr txBox="1"/>
          <p:nvPr/>
        </p:nvSpPr>
        <p:spPr>
          <a:xfrm>
            <a:off x="8305800" y="2514600"/>
            <a:ext cx="325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</a:p>
        </p:txBody>
      </p:sp>
      <p:sp>
        <p:nvSpPr>
          <p:cNvPr id="20" name="Пояснение_исход_1"/>
          <p:cNvSpPr txBox="1"/>
          <p:nvPr/>
        </p:nvSpPr>
        <p:spPr>
          <a:xfrm>
            <a:off x="8305800" y="2997200"/>
            <a:ext cx="32512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ниже на 18% по сравнению с плацебо</a:t>
            </a:r>
          </a:p>
        </p:txBody>
      </p:sp>
      <p:sp>
        <p:nvSpPr>
          <p:cNvPr id="21" name="Подпись_исход_2"/>
          <p:cNvSpPr txBox="1"/>
          <p:nvPr/>
        </p:nvSpPr>
        <p:spPr>
          <a:xfrm>
            <a:off x="8305800" y="3581400"/>
            <a:ext cx="3251200" cy="431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Комбинированный сердечно-сосудистый исход, FIGARO-DKD</a:t>
            </a:r>
          </a:p>
        </p:txBody>
      </p:sp>
      <p:sp>
        <p:nvSpPr>
          <p:cNvPr id="22" name="Число_исход_2"/>
          <p:cNvSpPr txBox="1"/>
          <p:nvPr/>
        </p:nvSpPr>
        <p:spPr>
          <a:xfrm>
            <a:off x="8305800" y="4038600"/>
            <a:ext cx="32512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28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</a:p>
        </p:txBody>
      </p:sp>
      <p:sp>
        <p:nvSpPr>
          <p:cNvPr id="23" name="Пояснение_исход_2"/>
          <p:cNvSpPr txBox="1"/>
          <p:nvPr/>
        </p:nvSpPr>
        <p:spPr>
          <a:xfrm>
            <a:off x="8305800" y="4521200"/>
            <a:ext cx="3251200" cy="736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Риск ниже на 13% по сравнению с плацебо; госпитализации по поводу сердечной недостаточности: на 29%</a:t>
            </a:r>
          </a:p>
        </p:txBody>
      </p:sp>
      <p:sp>
        <p:nvSpPr>
          <p:cNvPr id="24" name="Итоговая_строка"/>
          <p:cNvSpPr txBox="1"/>
          <p:nvPr/>
        </p:nvSpPr>
        <p:spPr>
          <a:xfrm>
            <a:off x="457200" y="5461000"/>
            <a:ext cx="11277600" cy="431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Группа пациентов:</a:t>
            </a:r>
            <a:r>
              <a:rPr sz="1800" b="0" lang="ru-RU">
                <a:solidFill>
                  <a:srgbClr val="7030A0"/>
                </a:solidFill>
                <a:latin typeface="Arial Narrow"/>
                <a:cs typeface="Arial Narrow"/>
              </a:rPr>
              <a:t> взрослые с ХБП, связанной с сахарным диабетом 2 типа. Калий и рСКФ контролируют.</a:t>
            </a:r>
          </a:p>
        </p:txBody>
      </p:sp>
      <p:sp>
        <p:nvSpPr>
          <p:cNvPr id="25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рецептор; АПФ: ангиотензинпревращающий фермент; БРА: блокатор рецепторов ангиотензина II; НГЛТ2: натрий-глюкозный котранспортёр 2 типа; рСКФ: расчётная скорость клубочковой фильтрации.</a:t>
            </a:r>
          </a:p>
        </p:txBody>
      </p:sp>
      <p:sp>
        <p:nvSpPr>
          <p:cNvPr id="26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¹ В CREDENCE финеренон не изучали. ² Доклинические данные. В FIDELIO-DKD и FIGARO-DKD включали взрослых с альбуминурией. Bakris GL, et al. N Engl J Med. 2020;383:2219–2229. Pitt B, et al. N Engl J Med. 2021;385:2252–2263. Perkovic V, et al. N Engl J Med. 2019;380:2295–2306. Amazit L, et al. J Biol Chem. 2015;290:21876–21889. Финеренон-Орвилле. Инструкция по медицинскому применению. Иллюстрации: Servier Medical Art.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Кого искать: взрослых с ХБП и диабетом 2 типа, прежде всего тех, у кого альбуминурия сохраняется на ингибиторе АПФ или БРА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Портрет_пациента"/>
          <p:cNvSpPr/>
          <p:nvPr/>
        </p:nvSpPr>
        <p:spPr>
          <a:xfrm>
            <a:off x="457200" y="11176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Портрет пациента</a:t>
            </a:r>
          </a:p>
        </p:txBody>
      </p:sp>
      <p:sp>
        <p:nvSpPr>
          <p:cNvPr id="5" name="Плашка_Поводы_для_разговора"/>
          <p:cNvSpPr/>
          <p:nvPr/>
        </p:nvSpPr>
        <p:spPr>
          <a:xfrm>
            <a:off x="6248400" y="1117600"/>
            <a:ext cx="5486400" cy="406400"/>
          </a:xfrm>
          <a:prstGeom prst="roundRect">
            <a:avLst>
              <a:gd name="adj" fmla="val 25000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Поводы для разговора с врачом</a:t>
            </a:r>
          </a:p>
        </p:txBody>
      </p:sp>
      <p:sp>
        <p:nvSpPr>
          <p:cNvPr id="6" name="Карточка_портрет_A"/>
          <p:cNvSpPr/>
          <p:nvPr/>
        </p:nvSpPr>
        <p:spPr>
          <a:xfrm>
            <a:off x="457200" y="16002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Подпись_портрет_A"/>
          <p:cNvSpPr txBox="1"/>
          <p:nvPr/>
        </p:nvSpPr>
        <p:spPr>
          <a:xfrm>
            <a:off x="635000" y="16764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Показание</a:t>
            </a:r>
          </a:p>
        </p:txBody>
      </p:sp>
      <p:sp>
        <p:nvSpPr>
          <p:cNvPr id="8" name="Текст_портрет_A"/>
          <p:cNvSpPr txBox="1"/>
          <p:nvPr/>
        </p:nvSpPr>
        <p:spPr>
          <a:xfrm>
            <a:off x="635000" y="19558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Взрослый с ХБП, связанной с сахарным диабетом 2 типа.</a:t>
            </a:r>
          </a:p>
        </p:txBody>
      </p:sp>
      <p:sp>
        <p:nvSpPr>
          <p:cNvPr id="9" name="Карточка_повод_1"/>
          <p:cNvSpPr/>
          <p:nvPr/>
        </p:nvSpPr>
        <p:spPr>
          <a:xfrm>
            <a:off x="6248400" y="16002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Текст_повод_1"/>
          <p:cNvSpPr txBox="1"/>
          <p:nvPr/>
        </p:nvSpPr>
        <p:spPr>
          <a:xfrm>
            <a:off x="6908800" y="1701800"/>
            <a:ext cx="46482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Альбуминурия сохраняется на ингибиторе АПФ или БРА в максимальной переносимой дозе, с ингибитором НГЛТ2 или без.</a:t>
            </a:r>
          </a:p>
        </p:txBody>
      </p:sp>
      <p:sp>
        <p:nvSpPr>
          <p:cNvPr id="11" name="Номер_повода_1"/>
          <p:cNvSpPr/>
          <p:nvPr/>
        </p:nvSpPr>
        <p:spPr>
          <a:xfrm>
            <a:off x="6400800" y="19177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1</a:t>
            </a:r>
          </a:p>
        </p:txBody>
      </p:sp>
      <p:sp>
        <p:nvSpPr>
          <p:cNvPr id="12" name="Карточка_портрет_B"/>
          <p:cNvSpPr/>
          <p:nvPr/>
        </p:nvSpPr>
        <p:spPr>
          <a:xfrm>
            <a:off x="457200" y="26670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Подпись_портрет_B"/>
          <p:cNvSpPr txBox="1"/>
          <p:nvPr/>
        </p:nvSpPr>
        <p:spPr>
          <a:xfrm>
            <a:off x="635000" y="27432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Условия начала по инструкции</a:t>
            </a:r>
          </a:p>
        </p:txBody>
      </p:sp>
      <p:sp>
        <p:nvSpPr>
          <p:cNvPr id="14" name="Текст_портрет_B"/>
          <p:cNvSpPr txBox="1"/>
          <p:nvPr/>
        </p:nvSpPr>
        <p:spPr>
          <a:xfrm>
            <a:off x="635000" y="30226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рСКФ ≥25 мл/мин/1,73 м². Калий ≤4,8 ммоль/л; при 4,8–5,0 можно начинать с контролем калия в первые 4 недели.</a:t>
            </a:r>
          </a:p>
        </p:txBody>
      </p:sp>
      <p:sp>
        <p:nvSpPr>
          <p:cNvPr id="15" name="Карточка_повод_2"/>
          <p:cNvSpPr/>
          <p:nvPr/>
        </p:nvSpPr>
        <p:spPr>
          <a:xfrm>
            <a:off x="6248400" y="26670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Текст_повод_2"/>
          <p:cNvSpPr txBox="1"/>
          <p:nvPr/>
        </p:nvSpPr>
        <p:spPr>
          <a:xfrm>
            <a:off x="6908800" y="2768600"/>
            <a:ext cx="39624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В карте нет АКО за последние 12 месяцев.</a:t>
            </a:r>
          </a:p>
        </p:txBody>
      </p:sp>
      <p:sp>
        <p:nvSpPr>
          <p:cNvPr id="17" name="Номер_повода_2"/>
          <p:cNvSpPr/>
          <p:nvPr/>
        </p:nvSpPr>
        <p:spPr>
          <a:xfrm>
            <a:off x="6400800" y="29845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2</a:t>
            </a:r>
          </a:p>
        </p:txBody>
      </p:sp>
      <p:sp>
        <p:nvSpPr>
          <p:cNvPr id="18" name="Карточка_портрет_C"/>
          <p:cNvSpPr/>
          <p:nvPr/>
        </p:nvSpPr>
        <p:spPr>
          <a:xfrm>
            <a:off x="457200" y="37338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Подпись_портрет_C"/>
          <p:cNvSpPr txBox="1"/>
          <p:nvPr/>
        </p:nvSpPr>
        <p:spPr>
          <a:xfrm>
            <a:off x="635000" y="3810000"/>
            <a:ext cx="51308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Критерии исследований и KDIGO</a:t>
            </a:r>
          </a:p>
        </p:txBody>
      </p:sp>
      <p:sp>
        <p:nvSpPr>
          <p:cNvPr id="20" name="Текст_портрет_C"/>
          <p:cNvSpPr txBox="1"/>
          <p:nvPr/>
        </p:nvSpPr>
        <p:spPr>
          <a:xfrm>
            <a:off x="635000" y="4089400"/>
            <a:ext cx="5130800" cy="558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АКО ≥30 мг/г. Ингибитор АПФ или БРА в максимально переносимой дозе.</a:t>
            </a:r>
          </a:p>
        </p:txBody>
      </p:sp>
      <p:sp>
        <p:nvSpPr>
          <p:cNvPr id="21" name="Карточка_повод_3"/>
          <p:cNvSpPr/>
          <p:nvPr/>
        </p:nvSpPr>
        <p:spPr>
          <a:xfrm>
            <a:off x="6248400" y="3733800"/>
            <a:ext cx="5486400" cy="965200"/>
          </a:xfrm>
          <a:prstGeom prst="roundRect">
            <a:avLst>
              <a:gd name="adj" fmla="val 10526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Текст_повод_3"/>
          <p:cNvSpPr txBox="1"/>
          <p:nvPr/>
        </p:nvSpPr>
        <p:spPr>
          <a:xfrm>
            <a:off x="6908800" y="3835400"/>
            <a:ext cx="3962400" cy="762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АКО ≥30 мг/г при сохранной рСКФ.</a:t>
            </a:r>
          </a:p>
        </p:txBody>
      </p:sp>
      <p:sp>
        <p:nvSpPr>
          <p:cNvPr id="23" name="Номер_повода_3"/>
          <p:cNvSpPr/>
          <p:nvPr/>
        </p:nvSpPr>
        <p:spPr>
          <a:xfrm>
            <a:off x="6400800" y="4051300"/>
            <a:ext cx="330200" cy="330200"/>
          </a:xfrm>
          <a:prstGeom prst="ellipse">
            <a:avLst/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FFFFFF"/>
                </a:solidFill>
                <a:latin typeface="Arial Narrow"/>
                <a:cs typeface="Arial Narrow"/>
              </a:rPr>
              <a:t>3</a:t>
            </a:r>
          </a:p>
        </p:txBody>
      </p:sp>
      <p:grpSp>
        <p:nvGrpSpPr>
          <p:cNvPr id="24" name="Иконка_моча"/>
          <p:cNvGrpSpPr/>
          <p:nvPr/>
        </p:nvGrpSpPr>
        <p:grpSpPr>
          <a:xfrm>
            <a:off x="11023600" y="2933700"/>
            <a:ext cx="508000" cy="378326"/>
            <a:chOff x="548640" y="4507992"/>
            <a:chExt cx="1737360" cy="1293876"/>
          </a:xfrm>
        </p:grpSpPr>
        <p:grpSp>
          <p:nvGrpSpPr>
            <p:cNvPr id="25" name="Urine_illustration_editable"/>
            <p:cNvGrpSpPr/>
            <p:nvPr/>
          </p:nvGrpSpPr>
          <p:grpSpPr>
            <a:xfrm>
              <a:off x="548640" y="4507992"/>
              <a:ext cx="1737360" cy="1293876"/>
              <a:chOff x="548640" y="4507992"/>
              <a:chExt cx="1737360" cy="1293876"/>
            </a:xfrm>
          </p:grpSpPr>
          <p:sp>
            <p:nvSpPr>
              <p:cNvPr id="26" name="Urine_cup"/>
              <p:cNvSpPr/>
              <p:nvPr/>
            </p:nvSpPr>
            <p:spPr>
              <a:xfrm>
                <a:off x="598018" y="4734763"/>
                <a:ext cx="918058" cy="1067105"/>
              </a:xfrm>
              <a:custGeom>
                <a:avLst/>
                <a:gdLst/>
                <a:ahLst/>
                <a:cxnLst/>
                <a:rect l="l" t="t" r="r" b="b"/>
                <a:pathLst>
                  <a:path w="1004" h="1167">
                    <a:moveTo>
                      <a:pt x="0" y="0"/>
                    </a:moveTo>
                    <a:lnTo>
                      <a:pt x="1004" y="0"/>
                    </a:lnTo>
                    <a:lnTo>
                      <a:pt x="875" y="1167"/>
                    </a:lnTo>
                    <a:lnTo>
                      <a:pt x="130" y="1167"/>
                    </a:lnTo>
                    <a:close/>
                  </a:path>
                </a:pathLst>
              </a:cu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7" name="Urine_urine"/>
              <p:cNvSpPr/>
              <p:nvPr/>
            </p:nvSpPr>
            <p:spPr>
              <a:xfrm>
                <a:off x="667512" y="5189220"/>
                <a:ext cx="779983" cy="533095"/>
              </a:xfrm>
              <a:custGeom>
                <a:avLst/>
                <a:gdLst/>
                <a:ahLst/>
                <a:cxnLst/>
                <a:rect l="l" t="t" r="r" b="b"/>
                <a:pathLst>
                  <a:path w="853" h="583">
                    <a:moveTo>
                      <a:pt x="0" y="0"/>
                    </a:moveTo>
                    <a:lnTo>
                      <a:pt x="853" y="0"/>
                    </a:lnTo>
                    <a:lnTo>
                      <a:pt x="788" y="583"/>
                    </a:lnTo>
                    <a:lnTo>
                      <a:pt x="64" y="583"/>
                    </a:lnTo>
                    <a:close/>
                  </a:path>
                </a:pathLst>
              </a:custGeom>
              <a:solidFill>
                <a:srgbClr val="FFF2C2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8" name="Urine_surface"/>
              <p:cNvSpPr/>
              <p:nvPr/>
            </p:nvSpPr>
            <p:spPr>
              <a:xfrm>
                <a:off x="667146" y="5149900"/>
                <a:ext cx="780166" cy="128381"/>
              </a:xfrm>
              <a:prstGeom prst="ellipse">
                <a:avLst/>
              </a:prstGeom>
              <a:solidFill>
                <a:srgbClr val="EBC96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29" name="Urine_lid"/>
              <p:cNvSpPr/>
              <p:nvPr/>
            </p:nvSpPr>
            <p:spPr>
              <a:xfrm>
                <a:off x="548640" y="4507992"/>
                <a:ext cx="1017178" cy="296265"/>
              </a:xfrm>
              <a:prstGeom prst="roundRect">
                <a:avLst/>
              </a:prstGeom>
              <a:solidFill>
                <a:srgbClr val="C8104E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30" name="Urine_ridge1"/>
              <p:cNvCxnSpPr/>
              <p:nvPr/>
            </p:nvCxnSpPr>
            <p:spPr>
              <a:xfrm>
                <a:off x="62863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1" name="Urine_ridge2"/>
              <p:cNvCxnSpPr/>
              <p:nvPr/>
            </p:nvCxnSpPr>
            <p:spPr>
              <a:xfrm>
                <a:off x="70862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2" name="Urine_ridge3"/>
              <p:cNvCxnSpPr/>
              <p:nvPr/>
            </p:nvCxnSpPr>
            <p:spPr>
              <a:xfrm>
                <a:off x="78861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3" name="Urine_ridge4"/>
              <p:cNvCxnSpPr/>
              <p:nvPr/>
            </p:nvCxnSpPr>
            <p:spPr>
              <a:xfrm>
                <a:off x="868606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4" name="Urine_ridge5"/>
              <p:cNvCxnSpPr/>
              <p:nvPr/>
            </p:nvCxnSpPr>
            <p:spPr>
              <a:xfrm>
                <a:off x="94859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5" name="Urine_ridge6"/>
              <p:cNvCxnSpPr/>
              <p:nvPr/>
            </p:nvCxnSpPr>
            <p:spPr>
              <a:xfrm>
                <a:off x="1028590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6" name="Urine_ridge7"/>
              <p:cNvCxnSpPr/>
              <p:nvPr/>
            </p:nvCxnSpPr>
            <p:spPr>
              <a:xfrm>
                <a:off x="1108581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7" name="Urine_ridge8"/>
              <p:cNvCxnSpPr/>
              <p:nvPr/>
            </p:nvCxnSpPr>
            <p:spPr>
              <a:xfrm>
                <a:off x="1188573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8" name="Urine_ridge9"/>
              <p:cNvCxnSpPr/>
              <p:nvPr/>
            </p:nvCxnSpPr>
            <p:spPr>
              <a:xfrm>
                <a:off x="1268565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39" name="Urine_ridge10"/>
              <p:cNvCxnSpPr/>
              <p:nvPr/>
            </p:nvCxnSpPr>
            <p:spPr>
              <a:xfrm>
                <a:off x="1348557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cxnSp>
            <p:nvCxnSpPr>
              <p:cNvPr id="40" name="Urine_ridge11"/>
              <p:cNvCxnSpPr/>
              <p:nvPr/>
            </p:nvCxnSpPr>
            <p:spPr>
              <a:xfrm>
                <a:off x="1428548" y="4557369"/>
                <a:ext cx="0" cy="197510"/>
              </a:xfrm>
              <a:prstGeom prst="line">
                <a:avLst/>
              </a:prstGeom>
              <a:ln w="8890">
                <a:solidFill>
                  <a:srgbClr val="D95A83"/>
                </a:solidFill>
              </a:ln>
              <a:effectLst/>
            </p:spPr>
          </p:cxnSp>
          <p:sp>
            <p:nvSpPr>
              <p:cNvPr id="41" name="Urine_label"/>
              <p:cNvSpPr/>
              <p:nvPr/>
            </p:nvSpPr>
            <p:spPr>
              <a:xfrm>
                <a:off x="775776" y="4991892"/>
                <a:ext cx="562904" cy="36539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42" name="Urine_barcode0"/>
              <p:cNvCxnSpPr/>
              <p:nvPr/>
            </p:nvCxnSpPr>
            <p:spPr>
              <a:xfrm>
                <a:off x="864656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3" name="Urine_barcode1"/>
              <p:cNvCxnSpPr/>
              <p:nvPr/>
            </p:nvCxnSpPr>
            <p:spPr>
              <a:xfrm>
                <a:off x="917984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4" name="Urine_barcode2"/>
              <p:cNvCxnSpPr/>
              <p:nvPr/>
            </p:nvCxnSpPr>
            <p:spPr>
              <a:xfrm>
                <a:off x="971312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5" name="Urine_barcode3"/>
              <p:cNvCxnSpPr/>
              <p:nvPr/>
            </p:nvCxnSpPr>
            <p:spPr>
              <a:xfrm>
                <a:off x="1024640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6" name="Urine_barcode4"/>
              <p:cNvCxnSpPr/>
              <p:nvPr/>
            </p:nvCxnSpPr>
            <p:spPr>
              <a:xfrm>
                <a:off x="1077967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7" name="Urine_barcode5"/>
              <p:cNvCxnSpPr/>
              <p:nvPr/>
            </p:nvCxnSpPr>
            <p:spPr>
              <a:xfrm>
                <a:off x="1131295" y="5070896"/>
                <a:ext cx="0" cy="177760"/>
              </a:xfrm>
              <a:prstGeom prst="line">
                <a:avLst/>
              </a:prstGeom>
              <a:ln w="8890">
                <a:solidFill>
                  <a:srgbClr val="9BADB9"/>
                </a:solidFill>
              </a:ln>
              <a:effectLst/>
            </p:spPr>
          </p:cxnSp>
          <p:cxnSp>
            <p:nvCxnSpPr>
              <p:cNvPr id="48" name="Urine_measure0"/>
              <p:cNvCxnSpPr/>
              <p:nvPr/>
            </p:nvCxnSpPr>
            <p:spPr>
              <a:xfrm>
                <a:off x="677021" y="4942514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49" name="Urine_measure1"/>
              <p:cNvCxnSpPr/>
              <p:nvPr/>
            </p:nvCxnSpPr>
            <p:spPr>
              <a:xfrm>
                <a:off x="677021" y="5110398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50" name="Urine_measure2"/>
              <p:cNvCxnSpPr/>
              <p:nvPr/>
            </p:nvCxnSpPr>
            <p:spPr>
              <a:xfrm>
                <a:off x="677021" y="5278282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  <p:cxnSp>
            <p:nvCxnSpPr>
              <p:cNvPr id="51" name="Urine_measure3"/>
              <p:cNvCxnSpPr/>
              <p:nvPr/>
            </p:nvCxnSpPr>
            <p:spPr>
              <a:xfrm>
                <a:off x="677021" y="5446166"/>
                <a:ext cx="69129" cy="0"/>
              </a:xfrm>
              <a:prstGeom prst="line">
                <a:avLst/>
              </a:prstGeom>
              <a:ln w="7620">
                <a:solidFill>
                  <a:srgbClr val="9BADB9"/>
                </a:solidFill>
              </a:ln>
              <a:effectLst/>
            </p:spPr>
          </p:cxnSp>
        </p:grpSp>
      </p:grpSp>
      <p:grpSp>
        <p:nvGrpSpPr>
          <p:cNvPr id="52" name="Иконка_кровь"/>
          <p:cNvGrpSpPr/>
          <p:nvPr/>
        </p:nvGrpSpPr>
        <p:grpSpPr>
          <a:xfrm>
            <a:off x="11023600" y="4000500"/>
            <a:ext cx="508000" cy="580087"/>
            <a:chOff x="749808" y="1399032"/>
            <a:chExt cx="1536192" cy="1754184"/>
          </a:xfrm>
        </p:grpSpPr>
        <p:grpSp>
          <p:nvGrpSpPr>
            <p:cNvPr id="53" name="Blood_illustration_editable"/>
            <p:cNvGrpSpPr/>
            <p:nvPr/>
          </p:nvGrpSpPr>
          <p:grpSpPr>
            <a:xfrm>
              <a:off x="749808" y="1399032"/>
              <a:ext cx="1536192" cy="1754184"/>
              <a:chOff x="749808" y="1399032"/>
              <a:chExt cx="1536192" cy="1754184"/>
            </a:xfrm>
          </p:grpSpPr>
          <p:sp>
            <p:nvSpPr>
              <p:cNvPr id="54" name="Blood_glass"/>
              <p:cNvSpPr/>
              <p:nvPr/>
            </p:nvSpPr>
            <p:spPr>
              <a:xfrm>
                <a:off x="839510" y="1648206"/>
                <a:ext cx="468447" cy="1505010"/>
              </a:xfrm>
              <a:prstGeom prst="roundRect">
                <a:avLst>
                  <a:gd name="adj" fmla="val 32000"/>
                </a:avLst>
              </a:prstGeom>
              <a:solidFill>
                <a:srgbClr val="EEF5F8"/>
              </a:solidFill>
              <a:ln w="12700">
                <a:solidFill>
                  <a:srgbClr val="9BADB9"/>
                </a:solidFill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5" name="Blood_blood"/>
              <p:cNvSpPr/>
              <p:nvPr/>
            </p:nvSpPr>
            <p:spPr>
              <a:xfrm>
                <a:off x="889345" y="2355860"/>
                <a:ext cx="368777" cy="687720"/>
              </a:xfrm>
              <a:prstGeom prst="roundRect">
                <a:avLst>
                  <a:gd name="adj" fmla="val 32000"/>
                </a:avLst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6" name="Blood_liquid_top"/>
              <p:cNvSpPr/>
              <p:nvPr/>
            </p:nvSpPr>
            <p:spPr>
              <a:xfrm>
                <a:off x="889345" y="2315992"/>
                <a:ext cx="368777" cy="348843"/>
              </a:xfrm>
              <a:prstGeom prst="rect">
                <a:avLst/>
              </a:prstGeom>
              <a:solidFill>
                <a:srgbClr val="A63249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7" name="Blood_blood_surface"/>
              <p:cNvSpPr/>
              <p:nvPr/>
            </p:nvSpPr>
            <p:spPr>
              <a:xfrm>
                <a:off x="889345" y="2276124"/>
                <a:ext cx="368777" cy="109636"/>
              </a:xfrm>
              <a:prstGeom prst="ellipse">
                <a:avLst/>
              </a:prstGeom>
              <a:solidFill>
                <a:srgbClr val="CA6475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sp>
            <p:nvSpPr>
              <p:cNvPr id="58" name="Blood_label"/>
              <p:cNvSpPr/>
              <p:nvPr/>
            </p:nvSpPr>
            <p:spPr>
              <a:xfrm>
                <a:off x="859444" y="1947214"/>
                <a:ext cx="428579" cy="34884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59" name="Blood_barcode0"/>
              <p:cNvCxnSpPr/>
              <p:nvPr/>
            </p:nvCxnSpPr>
            <p:spPr>
              <a:xfrm>
                <a:off x="91924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0" name="Blood_barcode1"/>
              <p:cNvCxnSpPr/>
              <p:nvPr/>
            </p:nvCxnSpPr>
            <p:spPr>
              <a:xfrm>
                <a:off x="954130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1" name="Blood_barcode2"/>
              <p:cNvCxnSpPr/>
              <p:nvPr/>
            </p:nvCxnSpPr>
            <p:spPr>
              <a:xfrm>
                <a:off x="989015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2" name="Blood_barcode3"/>
              <p:cNvCxnSpPr/>
              <p:nvPr/>
            </p:nvCxnSpPr>
            <p:spPr>
              <a:xfrm>
                <a:off x="1023899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3" name="Blood_barcode4"/>
              <p:cNvCxnSpPr/>
              <p:nvPr/>
            </p:nvCxnSpPr>
            <p:spPr>
              <a:xfrm>
                <a:off x="1058783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4" name="Blood_barcode5"/>
              <p:cNvCxnSpPr/>
              <p:nvPr/>
            </p:nvCxnSpPr>
            <p:spPr>
              <a:xfrm>
                <a:off x="1093668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5" name="Blood_barcode6"/>
              <p:cNvCxnSpPr/>
              <p:nvPr/>
            </p:nvCxnSpPr>
            <p:spPr>
              <a:xfrm>
                <a:off x="1128552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cxnSp>
            <p:nvCxnSpPr>
              <p:cNvPr id="66" name="Blood_barcode7"/>
              <p:cNvCxnSpPr/>
              <p:nvPr/>
            </p:nvCxnSpPr>
            <p:spPr>
              <a:xfrm>
                <a:off x="1163436" y="2016983"/>
                <a:ext cx="0" cy="199339"/>
              </a:xfrm>
              <a:prstGeom prst="line">
                <a:avLst/>
              </a:prstGeom>
              <a:ln w="6350">
                <a:solidFill>
                  <a:srgbClr val="9BADB9"/>
                </a:solidFill>
              </a:ln>
              <a:effectLst/>
            </p:spPr>
          </p:cxnSp>
          <p:sp>
            <p:nvSpPr>
              <p:cNvPr id="67" name="Blood_cap"/>
              <p:cNvSpPr/>
              <p:nvPr/>
            </p:nvSpPr>
            <p:spPr>
              <a:xfrm>
                <a:off x="749808" y="1399032"/>
                <a:ext cx="647852" cy="328909"/>
              </a:xfrm>
              <a:prstGeom prst="roundRect">
                <a:avLst/>
              </a:prstGeom>
              <a:solidFill>
                <a:srgbClr val="3A8E3A"/>
              </a:solidFill>
              <a:ln>
                <a:noFill/>
              </a:ln>
              <a:effectLst/>
            </p:spPr>
            <p:txBody>
              <a:bodyPr rtlCol="0" anchor="ctr"/>
              <a:lstStyle/>
              <a:p>
                <a:pPr algn="ctr">
                  <a:lnSpc>
                    <a:spcPct val="90000"/>
                  </a:lnSpc>
                </a:pPr>
                <a:endParaRPr/>
              </a:p>
            </p:txBody>
          </p:sp>
          <p:cxnSp>
            <p:nvCxnSpPr>
              <p:cNvPr id="68" name="Blood_ridge1"/>
              <p:cNvCxnSpPr/>
              <p:nvPr/>
            </p:nvCxnSpPr>
            <p:spPr>
              <a:xfrm>
                <a:off x="827550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69" name="Blood_ridge2"/>
              <p:cNvCxnSpPr/>
              <p:nvPr/>
            </p:nvCxnSpPr>
            <p:spPr>
              <a:xfrm>
                <a:off x="905292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0" name="Blood_ridge3"/>
              <p:cNvCxnSpPr/>
              <p:nvPr/>
            </p:nvCxnSpPr>
            <p:spPr>
              <a:xfrm>
                <a:off x="98303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1" name="Blood_ridge4"/>
              <p:cNvCxnSpPr/>
              <p:nvPr/>
            </p:nvCxnSpPr>
            <p:spPr>
              <a:xfrm>
                <a:off x="1060777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2" name="Blood_ridge5"/>
              <p:cNvCxnSpPr/>
              <p:nvPr/>
            </p:nvCxnSpPr>
            <p:spPr>
              <a:xfrm>
                <a:off x="1138519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3" name="Blood_ridge6"/>
              <p:cNvCxnSpPr/>
              <p:nvPr/>
            </p:nvCxnSpPr>
            <p:spPr>
              <a:xfrm>
                <a:off x="1216261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4" name="Blood_ridge7"/>
              <p:cNvCxnSpPr/>
              <p:nvPr/>
            </p:nvCxnSpPr>
            <p:spPr>
              <a:xfrm>
                <a:off x="1294004" y="1478767"/>
                <a:ext cx="0" cy="199339"/>
              </a:xfrm>
              <a:prstGeom prst="line">
                <a:avLst/>
              </a:prstGeom>
              <a:ln w="6985">
                <a:solidFill>
                  <a:srgbClr val="647D93"/>
                </a:solidFill>
              </a:ln>
              <a:effectLst/>
            </p:spPr>
          </p:cxnSp>
          <p:cxnSp>
            <p:nvCxnSpPr>
              <p:cNvPr id="75" name="Blood_shine"/>
              <p:cNvCxnSpPr/>
              <p:nvPr/>
            </p:nvCxnSpPr>
            <p:spPr>
              <a:xfrm>
                <a:off x="949147" y="1757842"/>
                <a:ext cx="0" cy="159471"/>
              </a:xfrm>
              <a:prstGeom prst="line">
                <a:avLst/>
              </a:prstGeom>
              <a:ln w="19050">
                <a:solidFill>
                  <a:srgbClr val="FFFFFF"/>
                </a:solidFill>
              </a:ln>
              <a:effectLst/>
            </p:spPr>
          </p:cxnSp>
        </p:grpSp>
      </p:grpSp>
      <p:sp>
        <p:nvSpPr>
          <p:cNvPr id="76" name="Подпись_специалисты"/>
          <p:cNvSpPr txBox="1"/>
          <p:nvPr/>
        </p:nvSpPr>
        <p:spPr>
          <a:xfrm>
            <a:off x="457200" y="4927600"/>
            <a:ext cx="3048000" cy="4318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000000"/>
                </a:solidFill>
                <a:latin typeface="Arial Narrow"/>
                <a:cs typeface="Arial Narrow"/>
              </a:rPr>
              <a:t>Кто видит таких пациентов:</a:t>
            </a:r>
          </a:p>
        </p:txBody>
      </p:sp>
      <p:sp>
        <p:nvSpPr>
          <p:cNvPr id="77" name="Плашка_Эндокринолог"/>
          <p:cNvSpPr/>
          <p:nvPr/>
        </p:nvSpPr>
        <p:spPr>
          <a:xfrm>
            <a:off x="35814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Эндокринолог</a:t>
            </a:r>
          </a:p>
        </p:txBody>
      </p:sp>
      <p:sp>
        <p:nvSpPr>
          <p:cNvPr id="78" name="Плашка_Терапевт"/>
          <p:cNvSpPr/>
          <p:nvPr/>
        </p:nvSpPr>
        <p:spPr>
          <a:xfrm>
            <a:off x="56388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Терапевт</a:t>
            </a:r>
          </a:p>
        </p:txBody>
      </p:sp>
      <p:sp>
        <p:nvSpPr>
          <p:cNvPr id="79" name="Плашка_Нефролог"/>
          <p:cNvSpPr/>
          <p:nvPr/>
        </p:nvSpPr>
        <p:spPr>
          <a:xfrm>
            <a:off x="76962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Нефролог</a:t>
            </a:r>
          </a:p>
        </p:txBody>
      </p:sp>
      <p:sp>
        <p:nvSpPr>
          <p:cNvPr id="80" name="Плашка_Кардиолог"/>
          <p:cNvSpPr/>
          <p:nvPr/>
        </p:nvSpPr>
        <p:spPr>
          <a:xfrm>
            <a:off x="9753600" y="4927600"/>
            <a:ext cx="1905000" cy="431800"/>
          </a:xfrm>
          <a:prstGeom prst="roundRect">
            <a:avLst>
              <a:gd name="adj" fmla="val 23529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Кардиолог</a:t>
            </a:r>
          </a:p>
        </p:txBody>
      </p:sp>
      <p:sp>
        <p:nvSpPr>
          <p:cNvPr id="81" name="Решение_врача"/>
          <p:cNvSpPr txBox="1"/>
          <p:nvPr/>
        </p:nvSpPr>
        <p:spPr>
          <a:xfrm>
            <a:off x="457200" y="5537200"/>
            <a:ext cx="11277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Решение о лечении принимает врач.</a:t>
            </a:r>
          </a:p>
        </p:txBody>
      </p:sp>
      <p:sp>
        <p:nvSpPr>
          <p:cNvPr id="82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типа.</a:t>
            </a:r>
          </a:p>
        </p:txBody>
      </p:sp>
      <p:sp>
        <p:nvSpPr>
          <p:cNvPr id="83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Финеренон-Орвилле. Инструкция по медицинскому применению. KDIGO 2024. Kidney Int. 105(4S):S117–S314. Bakris GL, et al. N Engl J Med. 2020;383:2219–2229. Pitt B, et al. N Engl J Med. 2021;385:2252–2263.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 блокирует МКР; в исследованиях альбуминурия и риск почечных и сердечно-сосудистых исходов были ниже, чем на плацебо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звено_1"/>
          <p:cNvSpPr/>
          <p:nvPr/>
        </p:nvSpPr>
        <p:spPr>
          <a:xfrm>
            <a:off x="4572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1. Блокада МКР</a:t>
            </a:r>
          </a:p>
        </p:txBody>
      </p:sp>
      <p:sp>
        <p:nvSpPr>
          <p:cNvPr id="5" name="Карточка_звено_1"/>
          <p:cNvSpPr/>
          <p:nvPr/>
        </p:nvSpPr>
        <p:spPr>
          <a:xfrm>
            <a:off x="4572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Текст_звено_1"/>
          <p:cNvSpPr txBox="1"/>
          <p:nvPr/>
        </p:nvSpPr>
        <p:spPr>
          <a:xfrm>
            <a:off x="5588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Блокирует МКР в почках, сердце и сосудах.</a:t>
            </a:r>
          </a:p>
        </p:txBody>
      </p:sp>
      <p:sp>
        <p:nvSpPr>
          <p:cNvPr id="7" name="Плашка_звено_2"/>
          <p:cNvSpPr/>
          <p:nvPr/>
        </p:nvSpPr>
        <p:spPr>
          <a:xfrm>
            <a:off x="25019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2. Воспаление и фиброз слабее²</a:t>
            </a:r>
          </a:p>
        </p:txBody>
      </p:sp>
      <p:sp>
        <p:nvSpPr>
          <p:cNvPr id="8" name="Карточка_звено_2"/>
          <p:cNvSpPr/>
          <p:nvPr/>
        </p:nvSpPr>
        <p:spPr>
          <a:xfrm>
            <a:off x="25019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Текст_звено_2"/>
          <p:cNvSpPr txBox="1"/>
          <p:nvPr/>
        </p:nvSpPr>
        <p:spPr>
          <a:xfrm>
            <a:off x="26035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Рецептор не включает гены воспаления и фиброза.</a:t>
            </a:r>
          </a:p>
        </p:txBody>
      </p:sp>
      <p:sp>
        <p:nvSpPr>
          <p:cNvPr id="10" name="Плашка_звено_3"/>
          <p:cNvSpPr/>
          <p:nvPr/>
        </p:nvSpPr>
        <p:spPr>
          <a:xfrm>
            <a:off x="4546600" y="2235200"/>
            <a:ext cx="1841500" cy="584200"/>
          </a:xfrm>
          <a:prstGeom prst="roundRect">
            <a:avLst>
              <a:gd name="adj" fmla="val 17391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01600" rIns="762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FFFFFF"/>
                </a:solidFill>
                <a:latin typeface="Arial Narrow"/>
                <a:cs typeface="Arial Narrow"/>
              </a:rPr>
              <a:t>3. Альбуминурия ниже</a:t>
            </a:r>
          </a:p>
        </p:txBody>
      </p:sp>
      <p:sp>
        <p:nvSpPr>
          <p:cNvPr id="11" name="Карточка_звено_3"/>
          <p:cNvSpPr/>
          <p:nvPr/>
        </p:nvSpPr>
        <p:spPr>
          <a:xfrm>
            <a:off x="4546600" y="2870200"/>
            <a:ext cx="1841500" cy="1422400"/>
          </a:xfrm>
          <a:prstGeom prst="roundRect">
            <a:avLst>
              <a:gd name="adj" fmla="val 7142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Текст_звено_3"/>
          <p:cNvSpPr txBox="1"/>
          <p:nvPr/>
        </p:nvSpPr>
        <p:spPr>
          <a:xfrm>
            <a:off x="4648200" y="2971800"/>
            <a:ext cx="1638300" cy="1219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К 4-му месяцу АКО ниже, чем на плацебо: на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31%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(FIDELIO-DKD), на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32%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(FIGARO-DKD).</a:t>
            </a:r>
          </a:p>
        </p:txBody>
      </p:sp>
      <p:sp>
        <p:nvSpPr>
          <p:cNvPr id="13" name="Шеврон_1_2"/>
          <p:cNvSpPr/>
          <p:nvPr/>
        </p:nvSpPr>
        <p:spPr>
          <a:xfrm>
            <a:off x="2298700" y="3048000"/>
            <a:ext cx="203200" cy="4318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Шеврон_2_3"/>
          <p:cNvSpPr/>
          <p:nvPr/>
        </p:nvSpPr>
        <p:spPr>
          <a:xfrm>
            <a:off x="4343400" y="3048000"/>
            <a:ext cx="203200" cy="431800"/>
          </a:xfrm>
          <a:prstGeom prst="chevron">
            <a:avLst/>
          </a:prstGeom>
          <a:solidFill>
            <a:srgbClr val="D9D9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Подпись_под_цепочкой"/>
          <p:cNvSpPr txBox="1"/>
          <p:nvPr/>
        </p:nvSpPr>
        <p:spPr>
          <a:xfrm>
            <a:off x="457200" y="4445000"/>
            <a:ext cx="5930900" cy="508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Раннее снижение АКО связано с меньшим риском почечных исходов³.</a:t>
            </a:r>
          </a:p>
        </p:txBody>
      </p:sp>
      <p:cxnSp>
        <p:nvCxnSpPr>
          <p:cNvPr id="16" name="Стрелка_к_сердечно-сосудистым_исходам"/>
          <p:cNvCxnSpPr/>
          <p:nvPr/>
        </p:nvCxnSpPr>
        <p:spPr>
          <a:xfrm>
            <a:off x="6388100" y="3263900"/>
            <a:ext cx="596900" cy="0"/>
          </a:xfrm>
          <a:prstGeom prst="line">
            <a:avLst/>
          </a:prstGeom>
          <a:ln w="38100">
            <a:solidFill>
              <a:srgbClr val="AEAEAE"/>
            </a:solidFill>
            <a:tailEnd type="triangle" w="med" len="med"/>
          </a:ln>
        </p:spPr>
      </p:cxnSp>
      <p:sp>
        <p:nvSpPr>
          <p:cNvPr id="17" name="Стрелка_к_почечным_исходам"/>
          <p:cNvSpPr/>
          <p:nvPr/>
        </p:nvSpPr>
        <p:spPr>
          <a:xfrm>
            <a:off x="6388100" y="1384300"/>
            <a:ext cx="596900" cy="1879600"/>
          </a:xfrm>
          <a:custGeom>
            <a:avLst/>
            <a:gdLst/>
            <a:ahLst/>
            <a:cxnLst/>
            <a:rect l="l" t="t" r="r" b="b"/>
            <a:pathLst>
              <a:path w="596900" h="1879600">
                <a:moveTo>
                  <a:pt x="0" y="1879600"/>
                </a:moveTo>
                <a:lnTo>
                  <a:pt x="292100" y="1879600"/>
                </a:lnTo>
                <a:lnTo>
                  <a:pt x="292100" y="0"/>
                </a:lnTo>
                <a:lnTo>
                  <a:pt x="596900" y="0"/>
                </a:lnTo>
              </a:path>
            </a:pathLst>
          </a:custGeom>
          <a:noFill/>
          <a:ln w="38100">
            <a:solidFill>
              <a:srgbClr val="AEAEA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Плашка_почечные_исходы"/>
          <p:cNvSpPr/>
          <p:nvPr/>
        </p:nvSpPr>
        <p:spPr>
          <a:xfrm>
            <a:off x="6985000" y="1168400"/>
            <a:ext cx="47498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5080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Почечные исходы</a:t>
            </a:r>
          </a:p>
        </p:txBody>
      </p:sp>
      <p:sp>
        <p:nvSpPr>
          <p:cNvPr id="19" name="Карточка_почечные_исходы"/>
          <p:cNvSpPr/>
          <p:nvPr/>
        </p:nvSpPr>
        <p:spPr>
          <a:xfrm>
            <a:off x="6985000" y="1651000"/>
            <a:ext cx="4749800" cy="127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Текст_почечные_исходы"/>
          <p:cNvSpPr txBox="1"/>
          <p:nvPr/>
        </p:nvSpPr>
        <p:spPr>
          <a:xfrm>
            <a:off x="7137400" y="1701800"/>
            <a:ext cx="4445000" cy="1168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ru-RU">
                <a:solidFill>
                  <a:srgbClr val="000000"/>
                </a:solidFill>
                <a:latin typeface="Arial Narrow"/>
                <a:cs typeface="Arial Narrow"/>
              </a:rPr>
              <a:t>FIDELIO-DKD: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комбинированный почечный исход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17,8%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500" b="1" lang="ru-RU">
                <a:solidFill>
                  <a:srgbClr val="7F7F7F"/>
                </a:solidFill>
                <a:latin typeface="Arial Narrow"/>
                <a:cs typeface="Arial Narrow"/>
              </a:rPr>
              <a:t>21,1%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на плацебо; риск ниже на 18%.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В показании: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устойчивое снижение рСКФ, терминальная стадия болезни почек.</a:t>
            </a:r>
          </a:p>
        </p:txBody>
      </p:sp>
      <p:sp>
        <p:nvSpPr>
          <p:cNvPr id="21" name="Плашка_сердечно-сосудистые_исходы"/>
          <p:cNvSpPr/>
          <p:nvPr/>
        </p:nvSpPr>
        <p:spPr>
          <a:xfrm>
            <a:off x="6985000" y="3048000"/>
            <a:ext cx="4749800" cy="431800"/>
          </a:xfrm>
          <a:prstGeom prst="roundRect">
            <a:avLst>
              <a:gd name="adj" fmla="val 23529"/>
            </a:avLst>
          </a:prstGeom>
          <a:solidFill>
            <a:srgbClr val="2C71A4"/>
          </a:solidFill>
          <a:ln>
            <a:noFill/>
          </a:ln>
          <a:effectLst/>
        </p:spPr>
        <p:txBody>
          <a:bodyPr rtlCol="0" anchor="ctr" wrap="square" lIns="5080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Сердечно-сосудистые исходы</a:t>
            </a:r>
          </a:p>
        </p:txBody>
      </p:sp>
      <p:sp>
        <p:nvSpPr>
          <p:cNvPr id="22" name="Карточка_сердечно-сосудистые_исходы"/>
          <p:cNvSpPr/>
          <p:nvPr/>
        </p:nvSpPr>
        <p:spPr>
          <a:xfrm>
            <a:off x="6985000" y="3530600"/>
            <a:ext cx="4749800" cy="1905000"/>
          </a:xfrm>
          <a:prstGeom prst="roundRect">
            <a:avLst>
              <a:gd name="adj" fmla="val 533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Текст_сердечно-сосудистые_исходы"/>
          <p:cNvSpPr txBox="1"/>
          <p:nvPr/>
        </p:nvSpPr>
        <p:spPr>
          <a:xfrm>
            <a:off x="7137400" y="3581400"/>
            <a:ext cx="4445000" cy="1803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ru-RU">
                <a:solidFill>
                  <a:srgbClr val="000000"/>
                </a:solidFill>
                <a:latin typeface="Arial Narrow"/>
                <a:cs typeface="Arial Narrow"/>
              </a:rPr>
              <a:t>FIGARO-DKD: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комбинированный сердечно-сосудистый исход </a:t>
            </a:r>
            <a:r>
              <a:rPr sz="15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5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500" b="0" lang="ru-RU">
                <a:solidFill>
                  <a:srgbClr val="000000"/>
                </a:solidFill>
                <a:latin typeface="Arial Narrow"/>
                <a:cs typeface="Arial Narrow"/>
              </a:rPr>
              <a:t> на плацебо; риск ниже на 13%.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Госпитализации по поводу сердечной недостаточности: риск ниже на 29%.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400" b="1" lang="ru-RU">
                <a:solidFill>
                  <a:srgbClr val="000000"/>
                </a:solidFill>
                <a:latin typeface="Arial Narrow"/>
                <a:cs typeface="Arial Narrow"/>
              </a:rPr>
              <a:t>В показании:</a:t>
            </a:r>
            <a:r>
              <a:rPr sz="1400" b="0" lang="ru-RU">
                <a:solidFill>
                  <a:srgbClr val="000000"/>
                </a:solidFill>
                <a:latin typeface="Arial Narrow"/>
                <a:cs typeface="Arial Narrow"/>
              </a:rPr>
              <a:t> смерть от сердечно-сосудистых осложнений, нефатальный инфаркт миокарда, госпитализация по поводу сердечной недостаточности.</a:t>
            </a:r>
          </a:p>
        </p:txBody>
      </p:sp>
      <p:sp>
        <p:nvSpPr>
          <p:cNvPr id="24" name="Круг_Почка_финеренон"/>
          <p:cNvSpPr/>
          <p:nvPr/>
        </p:nvSpPr>
        <p:spPr>
          <a:xfrm>
            <a:off x="7061200" y="12065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Значок_Почка_финеренон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670" y="1231900"/>
            <a:ext cx="200660" cy="304800"/>
          </a:xfrm>
          <a:prstGeom prst="rect">
            <a:avLst/>
          </a:prstGeom>
        </p:spPr>
      </p:pic>
      <p:sp>
        <p:nvSpPr>
          <p:cNvPr id="26" name="Круг_Сердце_финеренон"/>
          <p:cNvSpPr/>
          <p:nvPr/>
        </p:nvSpPr>
        <p:spPr>
          <a:xfrm>
            <a:off x="7061200" y="3086100"/>
            <a:ext cx="355600" cy="355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Значок_Сердце_финеренон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3124200"/>
            <a:ext cx="213360" cy="279400"/>
          </a:xfrm>
          <a:prstGeom prst="rect">
            <a:avLst/>
          </a:prstGeom>
        </p:spPr>
      </p:pic>
      <p:sp>
        <p:nvSpPr>
          <p:cNvPr id="28" name="Итоговая_полоса"/>
          <p:cNvSpPr/>
          <p:nvPr/>
        </p:nvSpPr>
        <p:spPr>
          <a:xfrm>
            <a:off x="457200" y="5588000"/>
            <a:ext cx="11277600" cy="406400"/>
          </a:xfrm>
          <a:prstGeom prst="roundRect">
            <a:avLst>
              <a:gd name="adj" fmla="val 25000"/>
            </a:avLst>
          </a:prstGeom>
          <a:solidFill>
            <a:srgbClr val="7030A0"/>
          </a:solidFill>
          <a:ln>
            <a:noFill/>
          </a:ln>
          <a:effectLst/>
        </p:spPr>
        <p:txBody>
          <a:bodyPr rtlCol="0" anchor="ctr" wrap="square" lIns="1778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FFFFFF"/>
                </a:solidFill>
                <a:latin typeface="Arial Narrow"/>
                <a:cs typeface="Arial Narrow"/>
              </a:rPr>
              <a:t>Группа по показанию:</a:t>
            </a: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 взрослые с ХБП, связанной с сахарным диабетом 2 типа</a:t>
            </a:r>
          </a:p>
        </p:txBody>
      </p:sp>
      <p:sp>
        <p:nvSpPr>
          <p:cNvPr id="29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МКР: минералокортикоидный рецептор; АКО: отношение альбумина к креатинину мочи; ХБП: хроническая болезнь почек; рСКФ: расчётная скорость клубочковой фильтрации.</a:t>
            </a:r>
          </a:p>
        </p:txBody>
      </p:sp>
      <p:sp>
        <p:nvSpPr>
          <p:cNvPr id="30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² Доклинические данные. ³ Апостериорный анализ объединённых данных FIDELIO-DKD и FIGARO-DKD. Amazit L, et al. J Biol Chem. 2015;290:21876–21889. Bakris GL, et al. N Engl J Med. 2020;383:2219–2229. Pitt B, et al. N Engl J Med. 2021;385:2252–2263. Agarwal R, et al. Ann Intern Med. 2023;176:1606–1616. Финеренон-Орвилле. Инструкция по медицинскому применению. Иллюстрации: Servier Medical Art.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Возражения о других препаратах: у финеренона исходы изучены при ХБП и диабете 2 типа, а мишень отличается от ингибиторов НГЛТ2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вопрос_1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«У меня уже есть ингибитор НГЛТ2»</a:t>
            </a:r>
          </a:p>
        </p:txBody>
      </p:sp>
      <p:sp>
        <p:nvSpPr>
          <p:cNvPr id="5" name="Карточка_ответ_1"/>
          <p:cNvSpPr/>
          <p:nvPr/>
        </p:nvSpPr>
        <p:spPr>
          <a:xfrm>
            <a:off x="4572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Ответ_1"/>
          <p:cNvSpPr txBox="1"/>
          <p:nvPr/>
        </p:nvSpPr>
        <p:spPr>
          <a:xfrm>
            <a:off x="6350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Мишени разные. В CONFIDENCE (800 пациентов с ХБП и диабетом 2 типа, 180 дней) АКО снизилось на </a:t>
            </a:r>
            <a:r>
              <a:rPr sz="1800" b="1" lang="ru-RU">
                <a:solidFill>
                  <a:srgbClr val="4EA72E"/>
                </a:solidFill>
                <a:latin typeface="Arial Narrow"/>
                <a:cs typeface="Arial Narrow"/>
              </a:rPr>
              <a:t>52%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при начале обоих препаратов, 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32%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на финереноне, на </a:t>
            </a:r>
            <a:r>
              <a:rPr sz="1800" b="1" lang="ru-RU">
                <a:solidFill>
                  <a:srgbClr val="0F9ED5"/>
                </a:solidFill>
                <a:latin typeface="Arial Narrow"/>
                <a:cs typeface="Arial Narrow"/>
              </a:rPr>
              <a:t>29%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на эмпаглифлозине.</a:t>
            </a:r>
          </a:p>
        </p:txBody>
      </p:sp>
      <p:sp>
        <p:nvSpPr>
          <p:cNvPr id="7" name="Плашка_вопрос_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«Пациент и так принимает много таблеток»</a:t>
            </a:r>
          </a:p>
        </p:txBody>
      </p:sp>
      <p:sp>
        <p:nvSpPr>
          <p:cNvPr id="8" name="Карточка_ответ_2"/>
          <p:cNvSpPr/>
          <p:nvPr/>
        </p:nvSpPr>
        <p:spPr>
          <a:xfrm>
            <a:off x="62484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Ответ_2"/>
          <p:cNvSpPr txBox="1"/>
          <p:nvPr/>
        </p:nvSpPr>
        <p:spPr>
          <a:xfrm>
            <a:off x="64262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Одна таблетка раз в сутки, 10 или 20 мг, независимо от еды. В FIDELIO-DKD, чтобы предотвратить 1 почечное событие за 3 года, лечили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29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пациентов.</a:t>
            </a:r>
          </a:p>
        </p:txBody>
      </p:sp>
      <p:sp>
        <p:nvSpPr>
          <p:cNvPr id="10" name="Плашка_вопрос_3"/>
          <p:cNvSpPr/>
          <p:nvPr/>
        </p:nvSpPr>
        <p:spPr>
          <a:xfrm>
            <a:off x="4572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«Чем он лучше спиронолактона?»</a:t>
            </a:r>
          </a:p>
        </p:txBody>
      </p:sp>
      <p:sp>
        <p:nvSpPr>
          <p:cNvPr id="11" name="Карточка_ответ_3"/>
          <p:cNvSpPr/>
          <p:nvPr/>
        </p:nvSpPr>
        <p:spPr>
          <a:xfrm>
            <a:off x="4572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Ответ_3"/>
          <p:cNvSpPr txBox="1"/>
          <p:nvPr/>
        </p:nvSpPr>
        <p:spPr>
          <a:xfrm>
            <a:off x="6350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Финеренон нестероидный, метаболиты неактивны. Исходы при ХБП и диабете 2 типа изучены в FIDELIO-DKD и FIGARO-DKD. В ARTS (II фаза, сердечная недостаточность и ХБП, 4 недели) калий повышался реже: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5,3%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800" b="1" lang="ru-RU">
                <a:solidFill>
                  <a:srgbClr val="0F9ED5"/>
                </a:solidFill>
                <a:latin typeface="Arial Narrow"/>
                <a:cs typeface="Arial Narrow"/>
              </a:rPr>
              <a:t>12,7%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на спиронолактоне².</a:t>
            </a:r>
          </a:p>
        </p:txBody>
      </p:sp>
      <p:sp>
        <p:nvSpPr>
          <p:cNvPr id="13" name="Плашка_вопрос_4"/>
          <p:cNvSpPr/>
          <p:nvPr/>
        </p:nvSpPr>
        <p:spPr>
          <a:xfrm>
            <a:off x="62484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0F9ED5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«Почему не эплеренон?»</a:t>
            </a:r>
          </a:p>
        </p:txBody>
      </p:sp>
      <p:sp>
        <p:nvSpPr>
          <p:cNvPr id="14" name="Карточка_ответ_4"/>
          <p:cNvSpPr/>
          <p:nvPr/>
        </p:nvSpPr>
        <p:spPr>
          <a:xfrm>
            <a:off x="62484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Ответ_4"/>
          <p:cNvSpPr txBox="1"/>
          <p:nvPr/>
        </p:nvSpPr>
        <p:spPr>
          <a:xfrm>
            <a:off x="64262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Эплеренон, как и спиронолактон, стероидный антагонист МКР. Крупных исследований исходов при ХБП и диабете 2 типа у него нет, у финеренона они есть: FIDELIO-DKD и FIGARO-DKD.</a:t>
            </a:r>
          </a:p>
        </p:txBody>
      </p:sp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МКР: минералокортикоидный рецептор; АКО: отношение альбумина к креатинину мочи; НГЛТ2: натрий-глюкозный котранспортёр 2 типа.</a:t>
            </a:r>
          </a:p>
        </p:txBody>
      </p:sp>
      <p:sp>
        <p:nvSpPr>
          <p:cNvPr id="17" name="Источники"/>
          <p:cNvSpPr txBox="1"/>
          <p:nvPr/>
        </p:nvSpPr>
        <p:spPr>
          <a:xfrm>
            <a:off x="457200" y="6553200"/>
            <a:ext cx="10795000" cy="279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² ARTS, часть B: II фаза, 392 пациента с сердечной недостаточностью со сниженной фракцией выброса и умеренным нарушением функции почек, 4 недели; финеренон: объединённые группы доз, спиронолактон открыто. Agarwal R, et al. N Engl J Med. 2025;393:533–543. Bakris GL, et al. N Engl J Med. 2020;383:2219–2229. Pitt B, et al. N Engl J Med. 2021;385:2252–2263. Pitt B, et al. Eur Heart J. 2013;34:2453–2463.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Возражения о калии, функции почек и стоимости: на каждое есть правило инструкции или число из исследования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лашка_вопрос_1"/>
          <p:cNvSpPr/>
          <p:nvPr/>
        </p:nvSpPr>
        <p:spPr>
          <a:xfrm>
            <a:off x="4572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«Боюсь гиперкалиемии»</a:t>
            </a:r>
          </a:p>
        </p:txBody>
      </p:sp>
      <p:sp>
        <p:nvSpPr>
          <p:cNvPr id="5" name="Карточка_ответ_1"/>
          <p:cNvSpPr/>
          <p:nvPr/>
        </p:nvSpPr>
        <p:spPr>
          <a:xfrm>
            <a:off x="4572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Ответ_1"/>
          <p:cNvSpPr txBox="1"/>
          <p:nvPr/>
        </p:nvSpPr>
        <p:spPr>
          <a:xfrm>
            <a:off x="6350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Правило простое: калий до начала, через 4 недели и далее периодически. В FIDELITY гиперкалиемия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14,0%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6,9%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на плацебо; окончательная отмена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1,7%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0,6%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7" name="Плашка_вопрос_2"/>
          <p:cNvSpPr/>
          <p:nvPr/>
        </p:nvSpPr>
        <p:spPr>
          <a:xfrm>
            <a:off x="6248400" y="10668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«У пациента низкая рСКФ»</a:t>
            </a:r>
          </a:p>
        </p:txBody>
      </p:sp>
      <p:sp>
        <p:nvSpPr>
          <p:cNvPr id="8" name="Карточка_ответ_2"/>
          <p:cNvSpPr/>
          <p:nvPr/>
        </p:nvSpPr>
        <p:spPr>
          <a:xfrm>
            <a:off x="6248400" y="15494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Ответ_2"/>
          <p:cNvSpPr txBox="1"/>
          <p:nvPr/>
        </p:nvSpPr>
        <p:spPr>
          <a:xfrm>
            <a:off x="6426200" y="16764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Начинать можно при рСКФ ≥25 мл/мин/1,73 м² (доза 10 мг при рСКФ от 25 до 60). В FIDELIO-DKD рСКФ была 25–75, преимущественно 3–4-я стадия ХБП; в целом риск комбинированного почечного исхода ниже на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18%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по сравнению с плацебо.</a:t>
            </a:r>
          </a:p>
        </p:txBody>
      </p:sp>
      <p:sp>
        <p:nvSpPr>
          <p:cNvPr id="10" name="Плашка_вопрос_3"/>
          <p:cNvSpPr/>
          <p:nvPr/>
        </p:nvSpPr>
        <p:spPr>
          <a:xfrm>
            <a:off x="4572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«Альбуминурия небольшая, пациент стабилен»</a:t>
            </a:r>
          </a:p>
        </p:txBody>
      </p:sp>
      <p:sp>
        <p:nvSpPr>
          <p:cNvPr id="11" name="Карточка_ответ_3"/>
          <p:cNvSpPr/>
          <p:nvPr/>
        </p:nvSpPr>
        <p:spPr>
          <a:xfrm>
            <a:off x="4572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Ответ_3"/>
          <p:cNvSpPr txBox="1"/>
          <p:nvPr/>
        </p:nvSpPr>
        <p:spPr>
          <a:xfrm>
            <a:off x="6350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ХБП долго протекает без симптомов. FIGARO-DKD включал пациентов с умеренно повышенной альбуминурией (АКО 30–300 мг/г); в целом по исследованию сердечно-сосудистый исход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12,4%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против </a:t>
            </a:r>
            <a:r>
              <a:rPr sz="1800" b="1" lang="ru-RU">
                <a:solidFill>
                  <a:srgbClr val="7F7F7F"/>
                </a:solidFill>
                <a:latin typeface="Arial Narrow"/>
                <a:cs typeface="Arial Narrow"/>
              </a:rPr>
              <a:t>14,2%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на плацебо.</a:t>
            </a:r>
          </a:p>
        </p:txBody>
      </p:sp>
      <p:sp>
        <p:nvSpPr>
          <p:cNvPr id="13" name="Плашка_вопрос_4"/>
          <p:cNvSpPr/>
          <p:nvPr/>
        </p:nvSpPr>
        <p:spPr>
          <a:xfrm>
            <a:off x="6248400" y="3505200"/>
            <a:ext cx="5486400" cy="431800"/>
          </a:xfrm>
          <a:prstGeom prst="roundRect">
            <a:avLst>
              <a:gd name="adj" fmla="val 23529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524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«Дорого»</a:t>
            </a:r>
          </a:p>
        </p:txBody>
      </p:sp>
      <p:sp>
        <p:nvSpPr>
          <p:cNvPr id="14" name="Карточка_ответ_4"/>
          <p:cNvSpPr/>
          <p:nvPr/>
        </p:nvSpPr>
        <p:spPr>
          <a:xfrm>
            <a:off x="6248400" y="3987800"/>
            <a:ext cx="5486400" cy="1778000"/>
          </a:xfrm>
          <a:prstGeom prst="roundRect">
            <a:avLst>
              <a:gd name="adj" fmla="val 5714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Ответ_4"/>
          <p:cNvSpPr txBox="1"/>
          <p:nvPr/>
        </p:nvSpPr>
        <p:spPr>
          <a:xfrm>
            <a:off x="6426200" y="4114800"/>
            <a:ext cx="5130800" cy="1625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Цену и условия поставки уточню по процедуре компании. По пользе: чтобы предотвратить 1 событие, нужно лечить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29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пациентов за 3 года (почечный исход, FIDELIO-DKD) или </a:t>
            </a:r>
            <a:r>
              <a:rPr sz="1800" b="1" lang="ru-RU">
                <a:solidFill>
                  <a:srgbClr val="7030A0"/>
                </a:solidFill>
                <a:latin typeface="Arial Narrow"/>
                <a:cs typeface="Arial Narrow"/>
              </a:rPr>
              <a:t>47</a:t>
            </a:r>
            <a:r>
              <a:rPr sz="1800" b="0" lang="ru-RU">
                <a:solidFill>
                  <a:srgbClr val="000000"/>
                </a:solidFill>
                <a:latin typeface="Arial Narrow"/>
                <a:cs typeface="Arial Narrow"/>
              </a:rPr>
              <a:t> за 3,5 года (сердечно-сосудистый исход, FIGARO-DKD).</a:t>
            </a:r>
          </a:p>
        </p:txBody>
      </p:sp>
      <p:sp>
        <p:nvSpPr>
          <p:cNvPr id="16" name="Сокращения"/>
          <p:cNvSpPr txBox="1"/>
          <p:nvPr/>
        </p:nvSpPr>
        <p:spPr>
          <a:xfrm>
            <a:off x="457200" y="6273800"/>
            <a:ext cx="10795000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рСКФ: расчётная скорость клубочковой фильтрации; АКО: отношение альбумина к креатинину мочи.</a:t>
            </a:r>
          </a:p>
        </p:txBody>
      </p:sp>
      <p:sp>
        <p:nvSpPr>
          <p:cNvPr id="17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 Pitt B, et al. N Engl J Med. 2021;385:2252–2263. Agarwal R, et al. Eur Heart J. 2022;43:474–484.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Заголовок"/>
          <p:cNvSpPr txBox="1"/>
          <p:nvPr/>
        </p:nvSpPr>
        <p:spPr>
          <a:xfrm>
            <a:off x="457200" y="254000"/>
            <a:ext cx="1127760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lang="ru-RU">
                <a:solidFill>
                  <a:srgbClr val="7030A0"/>
                </a:solidFill>
                <a:latin typeface="Arial Narrow"/>
                <a:cs typeface="Arial Narrow"/>
              </a:rPr>
              <a:t>Визит в пять шагов: от вопроса о пациентах врача до просьбы проверить АКО и рассмотреть финеренон</a:t>
            </a:r>
          </a:p>
        </p:txBody>
      </p:sp>
      <p:pic>
        <p:nvPicPr>
          <p:cNvPr id="3" name="Логотип Орвилле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4600" y="6350000"/>
            <a:ext cx="711200" cy="431800"/>
          </a:xfrm>
          <a:prstGeom prst="rect">
            <a:avLst/>
          </a:prstGeom>
        </p:spPr>
      </p:pic>
      <p:sp>
        <p:nvSpPr>
          <p:cNvPr id="4" name="Полоса_цель_визита"/>
          <p:cNvSpPr/>
          <p:nvPr/>
        </p:nvSpPr>
        <p:spPr>
          <a:xfrm>
            <a:off x="457200" y="914400"/>
            <a:ext cx="11277600" cy="406400"/>
          </a:xfrm>
          <a:prstGeom prst="roundRect">
            <a:avLst>
              <a:gd name="adj" fmla="val 25000"/>
            </a:avLst>
          </a:prstGeom>
          <a:solidFill>
            <a:srgbClr val="156082"/>
          </a:solidFill>
          <a:ln>
            <a:noFill/>
          </a:ln>
          <a:effectLst/>
        </p:spPr>
        <p:txBody>
          <a:bodyPr rtlCol="0" anchor="ctr" wrap="square" lIns="177800" rIns="101600" tIns="25400" bIns="2540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lang="ru-RU">
                <a:solidFill>
                  <a:srgbClr val="FFFFFF"/>
                </a:solidFill>
                <a:latin typeface="Arial Narrow"/>
                <a:cs typeface="Arial Narrow"/>
              </a:rPr>
              <a:t>Цель визита:</a:t>
            </a:r>
            <a:r>
              <a:rPr sz="1700" b="0" lang="ru-RU">
                <a:solidFill>
                  <a:srgbClr val="FFFFFF"/>
                </a:solidFill>
                <a:latin typeface="Arial Narrow"/>
                <a:cs typeface="Arial Narrow"/>
              </a:rPr>
              <a:t> врач проверяет АКО у пациентов с ХБП и диабетом 2 типа и рассматривает финеренон</a:t>
            </a:r>
          </a:p>
        </p:txBody>
      </p:sp>
      <p:sp>
        <p:nvSpPr>
          <p:cNvPr id="5" name="Строка_1"/>
          <p:cNvSpPr/>
          <p:nvPr/>
        </p:nvSpPr>
        <p:spPr>
          <a:xfrm>
            <a:off x="457200" y="14478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Подпись_шага_1"/>
          <p:cNvSpPr txBox="1"/>
          <p:nvPr/>
        </p:nvSpPr>
        <p:spPr>
          <a:xfrm>
            <a:off x="660400" y="14478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1. Вопрос врачу</a:t>
            </a:r>
          </a:p>
        </p:txBody>
      </p:sp>
      <p:sp>
        <p:nvSpPr>
          <p:cNvPr id="7" name="Фраза_шага_1"/>
          <p:cNvSpPr txBox="1"/>
          <p:nvPr/>
        </p:nvSpPr>
        <p:spPr>
          <a:xfrm>
            <a:off x="3048000" y="14478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У каких ваших пациентов с диабетом 2 типа и ХБП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альбуминурия сохраняется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на ингибиторе АПФ или БРА?</a:t>
            </a:r>
          </a:p>
        </p:txBody>
      </p:sp>
      <p:sp>
        <p:nvSpPr>
          <p:cNvPr id="8" name="Строка_2"/>
          <p:cNvSpPr/>
          <p:nvPr/>
        </p:nvSpPr>
        <p:spPr>
          <a:xfrm>
            <a:off x="457200" y="23114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Подпись_шага_2"/>
          <p:cNvSpPr txBox="1"/>
          <p:nvPr/>
        </p:nvSpPr>
        <p:spPr>
          <a:xfrm>
            <a:off x="660400" y="23114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2. Сообщение</a:t>
            </a:r>
          </a:p>
        </p:txBody>
      </p:sp>
      <p:sp>
        <p:nvSpPr>
          <p:cNvPr id="10" name="Фраза_шага_2"/>
          <p:cNvSpPr txBox="1"/>
          <p:nvPr/>
        </p:nvSpPr>
        <p:spPr>
          <a:xfrm>
            <a:off x="3048000" y="23114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Финеренон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блокирует минералокортикоидный рецептор. У ингибиторов АПФ, БРА и НГЛТ2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мишени другие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.</a:t>
            </a:r>
          </a:p>
        </p:txBody>
      </p:sp>
      <p:sp>
        <p:nvSpPr>
          <p:cNvPr id="11" name="Строка_3"/>
          <p:cNvSpPr/>
          <p:nvPr/>
        </p:nvSpPr>
        <p:spPr>
          <a:xfrm>
            <a:off x="457200" y="31750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Подпись_шага_3"/>
          <p:cNvSpPr txBox="1"/>
          <p:nvPr/>
        </p:nvSpPr>
        <p:spPr>
          <a:xfrm>
            <a:off x="660400" y="31750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3. Доказательство</a:t>
            </a:r>
          </a:p>
        </p:txBody>
      </p:sp>
      <p:sp>
        <p:nvSpPr>
          <p:cNvPr id="13" name="Фраза_шага_3"/>
          <p:cNvSpPr txBox="1"/>
          <p:nvPr/>
        </p:nvSpPr>
        <p:spPr>
          <a:xfrm>
            <a:off x="3048000" y="31750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По сравнению с плацебо риск комбинированного почечного исхода </a:t>
            </a: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ниже на 18%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в FIDELIO-DKD, сердечно-сосудистого </a:t>
            </a:r>
            <a:r>
              <a:rPr sz="1600" b="1" lang="ru-RU">
                <a:solidFill>
                  <a:srgbClr val="7030A0"/>
                </a:solidFill>
                <a:latin typeface="Arial Narrow"/>
                <a:cs typeface="Arial Narrow"/>
              </a:rPr>
              <a:t>на 13%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в FIGARO-DKD.</a:t>
            </a:r>
          </a:p>
        </p:txBody>
      </p:sp>
      <p:sp>
        <p:nvSpPr>
          <p:cNvPr id="14" name="Строка_4"/>
          <p:cNvSpPr/>
          <p:nvPr/>
        </p:nvSpPr>
        <p:spPr>
          <a:xfrm>
            <a:off x="457200" y="40386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Подпись_шага_4"/>
          <p:cNvSpPr txBox="1"/>
          <p:nvPr/>
        </p:nvSpPr>
        <p:spPr>
          <a:xfrm>
            <a:off x="660400" y="40386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4. Калий</a:t>
            </a:r>
          </a:p>
        </p:txBody>
      </p:sp>
      <p:sp>
        <p:nvSpPr>
          <p:cNvPr id="16" name="Фраза_шага_4"/>
          <p:cNvSpPr txBox="1"/>
          <p:nvPr/>
        </p:nvSpPr>
        <p:spPr>
          <a:xfrm>
            <a:off x="3048000" y="40386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Правило простое: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калий до начала, через 4 недели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и далее периодически.</a:t>
            </a:r>
          </a:p>
        </p:txBody>
      </p:sp>
      <p:sp>
        <p:nvSpPr>
          <p:cNvPr id="17" name="Строка_5"/>
          <p:cNvSpPr/>
          <p:nvPr/>
        </p:nvSpPr>
        <p:spPr>
          <a:xfrm>
            <a:off x="457200" y="4902200"/>
            <a:ext cx="11277600" cy="736600"/>
          </a:xfrm>
          <a:prstGeom prst="roundRect">
            <a:avLst>
              <a:gd name="adj" fmla="val 13793"/>
            </a:avLst>
          </a:prstGeom>
          <a:solidFill>
            <a:srgbClr val="F2F2F2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Подпись_шага_5"/>
          <p:cNvSpPr txBox="1"/>
          <p:nvPr/>
        </p:nvSpPr>
        <p:spPr>
          <a:xfrm>
            <a:off x="660400" y="4902200"/>
            <a:ext cx="22860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156082"/>
                </a:solidFill>
                <a:latin typeface="Arial Narrow"/>
                <a:cs typeface="Arial Narrow"/>
              </a:rPr>
              <a:t>5. Просьба</a:t>
            </a:r>
          </a:p>
        </p:txBody>
      </p:sp>
      <p:sp>
        <p:nvSpPr>
          <p:cNvPr id="19" name="Фраза_шага_5"/>
          <p:cNvSpPr txBox="1"/>
          <p:nvPr/>
        </p:nvSpPr>
        <p:spPr>
          <a:xfrm>
            <a:off x="3048000" y="4902200"/>
            <a:ext cx="8534400" cy="7366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Прошу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проверить АКО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 у таких пациентов и </a:t>
            </a: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рассмотреть финеренон</a:t>
            </a:r>
            <a:r>
              <a:rPr sz="1600" b="0" lang="ru-RU">
                <a:solidFill>
                  <a:srgbClr val="000000"/>
                </a:solidFill>
                <a:latin typeface="Arial Narrow"/>
                <a:cs typeface="Arial Narrow"/>
              </a:rPr>
              <a:t>, если есть показание. Решение о лечении остаётся за вами.</a:t>
            </a:r>
          </a:p>
        </p:txBody>
      </p:sp>
      <p:sp>
        <p:nvSpPr>
          <p:cNvPr id="20" name="Нижняя_строка"/>
          <p:cNvSpPr txBox="1"/>
          <p:nvPr/>
        </p:nvSpPr>
        <p:spPr>
          <a:xfrm>
            <a:off x="457200" y="5740400"/>
            <a:ext cx="11277600" cy="330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lang="ru-RU">
                <a:solidFill>
                  <a:srgbClr val="000000"/>
                </a:solidFill>
                <a:latin typeface="Arial Narrow"/>
                <a:cs typeface="Arial Narrow"/>
              </a:rPr>
              <a:t>Вне показания: тему сам не открываю, вопрос врача передаю в медицинский отдел.</a:t>
            </a:r>
          </a:p>
        </p:txBody>
      </p:sp>
      <p:sp>
        <p:nvSpPr>
          <p:cNvPr id="21" name="Сокращения"/>
          <p:cNvSpPr txBox="1"/>
          <p:nvPr/>
        </p:nvSpPr>
        <p:spPr>
          <a:xfrm>
            <a:off x="457200" y="6184900"/>
            <a:ext cx="10795000" cy="342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lang="ru-RU">
                <a:solidFill>
                  <a:srgbClr val="000000"/>
                </a:solidFill>
                <a:latin typeface="Arial Narrow"/>
                <a:cs typeface="Arial Narrow"/>
              </a:rPr>
              <a:t>ХБП: хроническая болезнь почек; АКО: отношение альбумина к креатинину мочи; АПФ: ангиотензинпревращающий фермент; БРА: блокатор рецепторов ангиотензина II; НГЛТ2: натрий-глюкозный котранспортёр 2 типа.</a:t>
            </a:r>
          </a:p>
        </p:txBody>
      </p:sp>
      <p:sp>
        <p:nvSpPr>
          <p:cNvPr id="22" name="Источники"/>
          <p:cNvSpPr txBox="1"/>
          <p:nvPr/>
        </p:nvSpPr>
        <p:spPr>
          <a:xfrm>
            <a:off x="457200" y="6629400"/>
            <a:ext cx="1079500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lang="ru-RU">
                <a:solidFill>
                  <a:srgbClr val="000000"/>
                </a:solidFill>
                <a:latin typeface="Arial Narrow"/>
                <a:cs typeface="Arial Narrow"/>
              </a:rPr>
              <a:t>Bakris GL, et al. N Engl J Med. 2020;383:2219–2229. Pitt B, et al. N Engl J Med. 2021;385:2252–2263. Финеренон-Орвилле. Инструкция по медицинскому применению.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12700">
          <a:solidFill>
            <a:schemeClr val="phClr">
              <a:shade val="95000"/>
              <a:satMod val="105000"/>
            </a:schemeClr>
          </a:solidFill>
          <a:prstDash val="solid"/>
        </a:ln>
        <a:ln w="33867">
          <a:solidFill>
            <a:schemeClr val="phClr"/>
          </a:solidFill>
          <a:prstDash val="solid"/>
        </a:ln>
        <a:ln w="508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0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826</TotalTime>
  <Words>14897</Words>
  <Application>Microsoft Office PowerPoint</Application>
  <PresentationFormat>Широкоэкранный</PresentationFormat>
  <Paragraphs>1219</Paragraphs>
  <Slides>47</Slides>
  <Notes>47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29</vt:i4>
      </vt:variant>
      <vt:variant>
        <vt:lpstr>Заголовки слайдов</vt:lpstr>
      </vt:variant>
      <vt:variant>
        <vt:i4>47</vt:i4>
      </vt:variant>
    </vt:vector>
  </HeadingPairs>
  <TitlesOfParts>
    <vt:vector size="80" baseType="lpstr">
      <vt:lpstr>Arial</vt:lpstr>
      <vt:lpstr>Arial Narrow</vt:lpstr>
      <vt:lpstr>Calibri</vt:lpstr>
      <vt:lpstr>Calibri Light</vt:lpstr>
      <vt:lpstr>Office Theme</vt:lpstr>
      <vt:lpstr>Office Theme</vt:lpstr>
      <vt:lpstr>Simple Light</vt:lpstr>
      <vt:lpstr>ChatGPT</vt:lpstr>
      <vt:lpstr>Office Theme</vt:lpstr>
      <vt:lpstr>Office Theme</vt:lpstr>
      <vt:lpstr>Office Theme</vt:lpstr>
      <vt:lpstr>ChatGPT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ChatGPT</vt:lpstr>
      <vt:lpstr>ChatGPT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Финеренон при хронической болезни почек и сахарном диабете 2 типа</dc:title>
  <dc:subject>Редакция по предоставленным презентациям и замечаниям медицинской поддержки</dc:subject>
  <dc:creator>Абдулбосит Сиддиков</dc:creator>
  <cp:keywords/>
  <dc:description>generated using python-pptx</dc:description>
  <cp:lastModifiedBy>Odina Siddikova</cp:lastModifiedBy>
  <cp:revision>15</cp:revision>
  <dcterms:created xsi:type="dcterms:W3CDTF">2013-01-27T09:14:16Z</dcterms:created>
  <dcterms:modified xsi:type="dcterms:W3CDTF">2026-10-01T17:55:58Z</dcterms:modified>
  <cp:category/>
</cp:coreProperties>
</file>